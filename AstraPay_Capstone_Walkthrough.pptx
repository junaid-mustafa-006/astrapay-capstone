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1.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charts/chart2.xml" ContentType="application/vnd.openxmlformats-officedocument.drawingml.chart+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Contribution per successful txn (USD)</c:v>
                </c:pt>
              </c:strCache>
            </c:strRef>
          </c:tx>
          <c:spPr>
            <a:solidFill>
              <a:srgbClr val="D98324"/>
            </a:solidFill>
            <a:ln w="38100" cap="flat">
              <a:solidFill>
                <a:srgbClr val="D98324"/>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6"/>
            <c:spPr>
              <a:solidFill>
                <a:srgbClr val="D98324"/>
              </a:solidFill>
              <a:ln w="9525" cap="flat">
                <a:solidFill>
                  <a:srgbClr val="D98324"/>
                </a:solidFill>
                <a:prstDash val="solid"/>
                <a:round/>
              </a:ln>
              <a:effectLst/>
            </c:spPr>
          </c:marker>
          <c:cat>
            <c:multiLvlStrRef>
              <c:f>Sheet1!$A$2:$A$13</c:f>
              <c:multiLvlStrCache>
                <c:ptCount val="12"/>
                <c:lvl>
                  <c:pt idx="0">
                    <c:v>Jan</c:v>
                  </c:pt>
                  <c:pt idx="1">
                    <c:v>Feb</c:v>
                  </c:pt>
                  <c:pt idx="2">
                    <c:v>Mar</c:v>
                  </c:pt>
                  <c:pt idx="3">
                    <c:v>Apr</c:v>
                  </c:pt>
                  <c:pt idx="4">
                    <c:v>May</c:v>
                  </c:pt>
                  <c:pt idx="5">
                    <c:v>Jun</c:v>
                  </c:pt>
                  <c:pt idx="6">
                    <c:v>Jul</c:v>
                  </c:pt>
                  <c:pt idx="7">
                    <c:v>Aug</c:v>
                  </c:pt>
                  <c:pt idx="8">
                    <c:v>Sep</c:v>
                  </c:pt>
                  <c:pt idx="9">
                    <c:v>Oct</c:v>
                  </c:pt>
                  <c:pt idx="10">
                    <c:v>Nov</c:v>
                  </c:pt>
                  <c:pt idx="11">
                    <c:v>Dec</c:v>
                  </c:pt>
                </c:lvl>
              </c:multiLvlStrCache>
            </c:multiLvlStrRef>
          </c:cat>
          <c:val>
            <c:numRef>
              <c:f>Sheet1!$B$2:$B$13</c:f>
              <c:numCache>
                <c:formatCode>General</c:formatCode>
                <c:ptCount val="12"/>
                <c:pt idx="0">
                  <c:v>1.62</c:v>
                </c:pt>
                <c:pt idx="1">
                  <c:v>1.649</c:v>
                </c:pt>
                <c:pt idx="2">
                  <c:v>1.666</c:v>
                </c:pt>
                <c:pt idx="3">
                  <c:v>1.564</c:v>
                </c:pt>
                <c:pt idx="4">
                  <c:v>1.546</c:v>
                </c:pt>
                <c:pt idx="5">
                  <c:v>1.434</c:v>
                </c:pt>
                <c:pt idx="6">
                  <c:v>1.389</c:v>
                </c:pt>
                <c:pt idx="7">
                  <c:v>1.359</c:v>
                </c:pt>
                <c:pt idx="8">
                  <c:v>1.269</c:v>
                </c:pt>
                <c:pt idx="9">
                  <c:v>1.153</c:v>
                </c:pt>
                <c:pt idx="10">
                  <c:v>1.083</c:v>
                </c:pt>
                <c:pt idx="11">
                  <c:v>1.089</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44525F"/>
                </a:solidFill>
                <a:latin typeface="Calibri"/>
              </a:defRPr>
            </a:pPr>
            <a:endParaRPr lang="en-US"/>
          </a:p>
        </c:txPr>
        <c:crossAx val="2094734552"/>
        <c:crosses val="autoZero"/>
        <c:auto val="1"/>
        <c:lblAlgn val="ctr"/>
        <c:noMultiLvlLbl val="1"/>
      </c:catAx>
      <c:valAx>
        <c:axId val="2094734552"/>
        <c:scaling>
          <c:orientation val="minMax"/>
          <c:max val="1.75"/>
          <c:min val="1"/>
        </c:scaling>
        <c:delete val="0"/>
        <c:axPos val="l"/>
        <c:majorGridlines>
          <c:spPr>
            <a:ln w="12700" cap="flat">
              <a:solidFill>
                <a:srgbClr val="E6EAEE"/>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8A95A1"/>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Effect on contribution per successful txn</c:v>
                </c:pt>
              </c:strCache>
            </c:strRef>
          </c:tx>
          <c:spPr>
            <a:solidFill>
              <a:srgbClr val="D98324"/>
            </a:solidFill>
            <a:effectLst/>
          </c:spPr>
          <c:invertIfNegative val="0"/>
          <c:dLbls>
            <c:numFmt formatCode="$0.000" sourceLinked="0"/>
            <c:txPr>
              <a:bodyPr/>
              <a:lstStyle/>
              <a:p>
                <a:pPr>
                  <a:defRPr b="0" i="0" strike="noStrike" sz="1000" u="none">
                    <a:solidFill>
                      <a:srgbClr val="1A1A1A"/>
                    </a:solidFill>
                    <a:latin typeface="Calibri"/>
                  </a:defRPr>
                </a:pPr>
              </a:p>
            </c:txPr>
            <c:showLegendKey val="0"/>
            <c:showVal val="1"/>
            <c:showCatName val="0"/>
            <c:showSerName val="0"/>
            <c:showPercent val="0"/>
            <c:showBubbleSize val="0"/>
            <c:showLeaderLines val="0"/>
          </c:dLbls>
          <c:dPt>
            <c:idx val="0"/>
            <c:invertIfNegative val="0"/>
            <c:bubble3D val="0"/>
            <c:spPr>
              <a:solidFill>
                <a:srgbClr val="D98324"/>
              </a:solidFill>
              <a:effectLst/>
            </c:spPr>
          </c:dPt>
          <c:dPt>
            <c:idx val="1"/>
            <c:invertIfNegative val="0"/>
            <c:bubble3D val="0"/>
            <c:spPr>
              <a:solidFill>
                <a:srgbClr val="0E7C7B"/>
              </a:solidFill>
              <a:effectLst/>
            </c:spPr>
          </c:dPt>
          <c:dPt>
            <c:idx val="2"/>
            <c:invertIfNegative val="0"/>
            <c:bubble3D val="0"/>
            <c:spPr>
              <a:solidFill>
                <a:srgbClr val="0E7C7B"/>
              </a:solidFill>
              <a:effectLst/>
            </c:spPr>
          </c:dPt>
          <c:dPt>
            <c:idx val="3"/>
            <c:invertIfNegative val="0"/>
            <c:bubble3D val="0"/>
            <c:spPr>
              <a:solidFill>
                <a:srgbClr val="12233C"/>
              </a:solidFill>
              <a:effectLst/>
            </c:spPr>
          </c:dPt>
          <c:cat>
            <c:multiLvlStrRef>
              <c:f>Sheet1!$A$2:$A$5</c:f>
              <c:multiLvlStrCache>
                <c:ptCount val="4"/>
                <c:lvl>
                  <c:pt idx="0">
                    <c:v>Merchant revenue</c:v>
                  </c:pt>
                  <c:pt idx="1">
                    <c:v>Processing cost</c:v>
                  </c:pt>
                  <c:pt idx="2">
                    <c:v>Chargeback cost</c:v>
                  </c:pt>
                  <c:pt idx="3">
                    <c:v>Net change</c:v>
                  </c:pt>
                </c:lvl>
              </c:multiLvlStrCache>
            </c:multiLvlStrRef>
          </c:cat>
          <c:val>
            <c:numRef>
              <c:f>Sheet1!$B$2:$B$5</c:f>
              <c:numCache>
                <c:formatCode>General</c:formatCode>
                <c:ptCount val="4"/>
                <c:pt idx="0">
                  <c:v>-0.744</c:v>
                </c:pt>
                <c:pt idx="1">
                  <c:v>0.109</c:v>
                </c:pt>
                <c:pt idx="2">
                  <c:v>0.102</c:v>
                </c:pt>
                <c:pt idx="3">
                  <c:v>-0.533</c:v>
                </c:pt>
              </c:numCache>
            </c:numRef>
          </c:val>
        </c:ser>
        <c:dLbls>
          <c:numFmt formatCode="$0.000" sourceLinked="0"/>
          <c:txPr>
            <a:bodyPr/>
            <a:lstStyle/>
            <a:p>
              <a:pPr>
                <a:defRPr b="0" i="0" strike="noStrike" sz="1000" u="none">
                  <a:solidFill>
                    <a:srgbClr val="1A1A1A"/>
                  </a:solidFill>
                  <a:latin typeface="Calibri"/>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50" b="0" i="0" u="none" strike="noStrike">
                <a:solidFill>
                  <a:srgbClr val="44525F"/>
                </a:solidFill>
                <a:latin typeface="Calibri"/>
              </a:defRPr>
            </a:pPr>
            <a:endParaRPr lang="en-US"/>
          </a:p>
        </c:txPr>
        <c:crossAx val="2094734552"/>
        <c:crosses val="autoZero"/>
        <c:auto val="1"/>
        <c:lblAlgn val="ctr"/>
        <c:noMultiLvlLbl val="1"/>
      </c:catAx>
      <c:valAx>
        <c:axId val="2094734552"/>
        <c:scaling>
          <c:orientation val="minMax"/>
          <c:max val="0.3"/>
          <c:min val="-0.9"/>
        </c:scaling>
        <c:delete val="0"/>
        <c:axPos val="l"/>
        <c:majorGridlines>
          <c:spPr>
            <a:ln w="12700" cap="flat">
              <a:solidFill>
                <a:srgbClr val="E6EAEE"/>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8A95A1"/>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233C"/>
        </a:solidFill>
      </p:bgPr>
    </p:bg>
    <p:spTree>
      <p:nvGrpSpPr>
        <p:cNvPr id="1" name=""/>
        <p:cNvGrpSpPr/>
        <p:nvPr/>
      </p:nvGrpSpPr>
      <p:grpSpPr>
        <a:xfrm>
          <a:off x="0" y="0"/>
          <a:ext cx="0" cy="0"/>
          <a:chOff x="0" y="0"/>
          <a:chExt cx="0" cy="0"/>
        </a:xfrm>
      </p:grpSpPr>
      <p:sp>
        <p:nvSpPr>
          <p:cNvPr id="2" name="Text 0"/>
          <p:cNvSpPr txBox="1"/>
          <p:nvPr/>
        </p:nvSpPr>
        <p:spPr>
          <a:xfrm>
            <a:off x="731520" y="1051560"/>
            <a:ext cx="10058400" cy="274320"/>
          </a:xfrm>
          <a:prstGeom prst="rect">
            <a:avLst/>
          </a:prstGeom>
          <a:noFill/>
          <a:ln/>
        </p:spPr>
        <p:txBody>
          <a:bodyPr wrap="square" lIns="0" tIns="0" rIns="0" bIns="0" rtlCol="0" anchor="ctr"/>
          <a:lstStyle/>
          <a:p>
            <a:pPr indent="0" marL="0">
              <a:buNone/>
            </a:pPr>
            <a:r>
              <a:rPr lang="en-US" sz="1200" spc="200" kern="0" dirty="0">
                <a:solidFill>
                  <a:srgbClr val="8FA6C4"/>
                </a:solidFill>
                <a:latin typeface="Calibri" pitchFamily="34" charset="0"/>
                <a:ea typeface="Calibri" pitchFamily="34" charset="-122"/>
                <a:cs typeface="Calibri" pitchFamily="34" charset="-120"/>
              </a:rPr>
              <a:t>CAPSTONE PROJECT 1  ·  STRAIVE DATA ANALYST PROGRAMME</a:t>
            </a:r>
            <a:endParaRPr lang="en-US" sz="1200" dirty="0"/>
          </a:p>
        </p:txBody>
      </p:sp>
      <p:sp>
        <p:nvSpPr>
          <p:cNvPr id="3" name="Text 1"/>
          <p:cNvSpPr txBox="1"/>
          <p:nvPr/>
        </p:nvSpPr>
        <p:spPr>
          <a:xfrm>
            <a:off x="731520" y="1508760"/>
            <a:ext cx="10515600" cy="1645920"/>
          </a:xfrm>
          <a:prstGeom prst="rect">
            <a:avLst/>
          </a:prstGeom>
          <a:noFill/>
          <a:ln/>
        </p:spPr>
        <p:txBody>
          <a:bodyPr wrap="square" lIns="0" tIns="0" rIns="0" bIns="0" rtlCol="0" anchor="ctr"/>
          <a:lstStyle/>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Payment Profitability,</a:t>
            </a:r>
            <a:endParaRPr lang="en-US" sz="4000" dirty="0"/>
          </a:p>
          <a:p>
            <a:pPr indent="0" marL="0">
              <a:lnSpc>
                <a:spcPts val="4600"/>
              </a:lnSpc>
              <a:buNone/>
            </a:pPr>
            <a:r>
              <a:rPr lang="en-US" sz="4000" b="1" dirty="0">
                <a:solidFill>
                  <a:srgbClr val="FFFFFF"/>
                </a:solidFill>
                <a:latin typeface="Cambria" pitchFamily="34" charset="0"/>
                <a:ea typeface="Cambria" pitchFamily="34" charset="-122"/>
                <a:cs typeface="Cambria" pitchFamily="34" charset="-120"/>
              </a:rPr>
              <a:t>Data Trust &amp; Executive Decision</a:t>
            </a:r>
            <a:endParaRPr lang="en-US" sz="4000" dirty="0"/>
          </a:p>
        </p:txBody>
      </p:sp>
      <p:sp>
        <p:nvSpPr>
          <p:cNvPr id="4" name="Text 2"/>
          <p:cNvSpPr txBox="1"/>
          <p:nvPr/>
        </p:nvSpPr>
        <p:spPr>
          <a:xfrm>
            <a:off x="731520" y="3383280"/>
            <a:ext cx="8595360" cy="822960"/>
          </a:xfrm>
          <a:prstGeom prst="rect">
            <a:avLst/>
          </a:prstGeom>
          <a:noFill/>
          <a:ln/>
        </p:spPr>
        <p:txBody>
          <a:bodyPr wrap="square" lIns="0" tIns="0" rIns="0" bIns="0" rtlCol="0" anchor="ctr"/>
          <a:lstStyle/>
          <a:p>
            <a:pPr indent="0" marL="0">
              <a:lnSpc>
                <a:spcPts val="2200"/>
              </a:lnSpc>
              <a:buNone/>
            </a:pPr>
            <a:r>
              <a:rPr lang="en-US" sz="1500" i="1" dirty="0">
                <a:solidFill>
                  <a:srgbClr val="CBD7E6"/>
                </a:solidFill>
                <a:latin typeface="Calibri" pitchFamily="34" charset="0"/>
                <a:ea typeface="Calibri" pitchFamily="34" charset="-122"/>
                <a:cs typeface="Calibri" pitchFamily="34" charset="-120"/>
              </a:rPr>
              <a:t>Why is payment contribution profit per successful transaction falling even though payment volume is increasing, and what should AstraPay change in the next 60 days?</a:t>
            </a:r>
            <a:endParaRPr lang="en-US" sz="1500" dirty="0"/>
          </a:p>
        </p:txBody>
      </p:sp>
      <p:sp>
        <p:nvSpPr>
          <p:cNvPr id="5" name="Shape 3"/>
          <p:cNvSpPr/>
          <p:nvPr/>
        </p:nvSpPr>
        <p:spPr>
          <a:xfrm>
            <a:off x="731520" y="4434840"/>
            <a:ext cx="5120640" cy="1234440"/>
          </a:xfrm>
          <a:prstGeom prst="roundRect">
            <a:avLst>
              <a:gd name="adj" fmla="val 4444"/>
            </a:avLst>
          </a:prstGeom>
          <a:solidFill>
            <a:srgbClr val="1B3A5F"/>
          </a:solidFill>
          <a:ln w="12700">
            <a:solidFill>
              <a:srgbClr val="2E5580"/>
            </a:solidFill>
            <a:prstDash val="solid"/>
          </a:ln>
        </p:spPr>
      </p:sp>
      <p:sp>
        <p:nvSpPr>
          <p:cNvPr id="6" name="Text 4"/>
          <p:cNvSpPr txBox="1"/>
          <p:nvPr/>
        </p:nvSpPr>
        <p:spPr>
          <a:xfrm>
            <a:off x="960120" y="4572000"/>
            <a:ext cx="4663440" cy="256032"/>
          </a:xfrm>
          <a:prstGeom prst="rect">
            <a:avLst/>
          </a:prstGeom>
          <a:noFill/>
          <a:ln/>
        </p:spPr>
        <p:txBody>
          <a:bodyPr wrap="square" lIns="0" tIns="0" rIns="0" bIns="0" rtlCol="0" anchor="ctr"/>
          <a:lstStyle/>
          <a:p>
            <a:pPr indent="0" marL="0">
              <a:buNone/>
            </a:pPr>
            <a:r>
              <a:rPr lang="en-US" sz="1100" b="1" spc="150" kern="0" dirty="0">
                <a:solidFill>
                  <a:srgbClr val="F2B366"/>
                </a:solidFill>
                <a:latin typeface="Calibri" pitchFamily="34" charset="0"/>
                <a:ea typeface="Calibri" pitchFamily="34" charset="-122"/>
                <a:cs typeface="Calibri" pitchFamily="34" charset="-120"/>
              </a:rPr>
              <a:t>The answer, in one line</a:t>
            </a:r>
            <a:endParaRPr lang="en-US" sz="1100" dirty="0"/>
          </a:p>
        </p:txBody>
      </p:sp>
      <p:sp>
        <p:nvSpPr>
          <p:cNvPr id="7" name="Text 5"/>
          <p:cNvSpPr txBox="1"/>
          <p:nvPr/>
        </p:nvSpPr>
        <p:spPr>
          <a:xfrm>
            <a:off x="960120" y="4864608"/>
            <a:ext cx="4663440" cy="685800"/>
          </a:xfrm>
          <a:prstGeom prst="rect">
            <a:avLst/>
          </a:prstGeom>
          <a:noFill/>
          <a:ln/>
        </p:spPr>
        <p:txBody>
          <a:bodyPr wrap="square" lIns="0" tIns="0" rIns="0" bIns="0" rtlCol="0" anchor="ctr"/>
          <a:lstStyle/>
          <a:p>
            <a:pPr indent="0" marL="0">
              <a:lnSpc>
                <a:spcPts val="1800"/>
              </a:lnSpc>
              <a:buNone/>
            </a:pPr>
            <a:r>
              <a:rPr lang="en-US" sz="1350" dirty="0">
                <a:solidFill>
                  <a:srgbClr val="FFFFFF"/>
                </a:solidFill>
                <a:latin typeface="Calibri" pitchFamily="34" charset="0"/>
                <a:ea typeface="Calibri" pitchFamily="34" charset="-122"/>
                <a:cs typeface="Calibri" pitchFamily="34" charset="-120"/>
              </a:rPr>
              <a:t>Dilution, not deterioration. 88.6% of the fall is the mix of ticket sizes moving.</a:t>
            </a:r>
            <a:endParaRPr lang="en-US" sz="1350" dirty="0"/>
          </a:p>
        </p:txBody>
      </p:sp>
      <p:sp>
        <p:nvSpPr>
          <p:cNvPr id="8" name="Text 6"/>
          <p:cNvSpPr txBox="1"/>
          <p:nvPr/>
        </p:nvSpPr>
        <p:spPr>
          <a:xfrm>
            <a:off x="731520" y="6080760"/>
            <a:ext cx="10515600" cy="274320"/>
          </a:xfrm>
          <a:prstGeom prst="rect">
            <a:avLst/>
          </a:prstGeom>
          <a:noFill/>
          <a:ln/>
        </p:spPr>
        <p:txBody>
          <a:bodyPr wrap="square" lIns="0" tIns="0" rIns="0" bIns="0" rtlCol="0" anchor="ctr"/>
          <a:lstStyle/>
          <a:p>
            <a:pPr indent="0" marL="0">
              <a:buNone/>
            </a:pPr>
            <a:r>
              <a:rPr lang="en-US" sz="1100" dirty="0">
                <a:solidFill>
                  <a:srgbClr val="6E86A6"/>
                </a:solidFill>
                <a:latin typeface="Calibri" pitchFamily="34" charset="0"/>
                <a:ea typeface="Calibri" pitchFamily="34" charset="-122"/>
                <a:cs typeface="Calibri" pitchFamily="34" charset="-120"/>
              </a:rPr>
              <a:t>Junaid Mustafa  ·  Data Analyst Trainee  ·  Technical and executive walkthrough  ·  Tasks 1–8</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2233C"/>
        </a:solidFill>
      </p:bgPr>
    </p:bg>
    <p:spTree>
      <p:nvGrpSpPr>
        <p:cNvPr id="1" name=""/>
        <p:cNvGrpSpPr/>
        <p:nvPr/>
      </p:nvGrpSpPr>
      <p:grpSpPr>
        <a:xfrm>
          <a:off x="0" y="0"/>
          <a:ext cx="0" cy="0"/>
          <a:chOff x="0" y="0"/>
          <a:chExt cx="0" cy="0"/>
        </a:xfrm>
      </p:grpSpPr>
      <p:sp>
        <p:nvSpPr>
          <p:cNvPr id="2" name="Text 0"/>
          <p:cNvSpPr txBox="1"/>
          <p:nvPr/>
        </p:nvSpPr>
        <p:spPr>
          <a:xfrm>
            <a:off x="594360" y="329184"/>
            <a:ext cx="7315200" cy="237744"/>
          </a:xfrm>
          <a:prstGeom prst="rect">
            <a:avLst/>
          </a:prstGeom>
          <a:noFill/>
          <a:ln/>
        </p:spPr>
        <p:txBody>
          <a:bodyPr wrap="square" lIns="0" tIns="0" rIns="0" bIns="0" rtlCol="0" anchor="ctr"/>
          <a:lstStyle/>
          <a:p>
            <a:pPr indent="0" marL="0">
              <a:buNone/>
            </a:pPr>
            <a:r>
              <a:rPr lang="en-US" sz="1050" b="1" spc="200" kern="0" dirty="0">
                <a:solidFill>
                  <a:srgbClr val="F2B366"/>
                </a:solidFill>
                <a:latin typeface="Calibri" pitchFamily="34" charset="0"/>
                <a:ea typeface="Calibri" pitchFamily="34" charset="-122"/>
                <a:cs typeface="Calibri" pitchFamily="34" charset="-120"/>
              </a:rPr>
              <a:t>EXECUTIVE SUMMARY</a:t>
            </a:r>
            <a:endParaRPr lang="en-US" sz="1050" dirty="0"/>
          </a:p>
        </p:txBody>
      </p:sp>
      <p:sp>
        <p:nvSpPr>
          <p:cNvPr id="3" name="Text 1"/>
          <p:cNvSpPr txBox="1"/>
          <p:nvPr/>
        </p:nvSpPr>
        <p:spPr>
          <a:xfrm>
            <a:off x="594360" y="603504"/>
            <a:ext cx="10972800" cy="50292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Three true statements that look like a contradiction</a:t>
            </a:r>
            <a:endParaRPr lang="en-US" sz="2600" dirty="0"/>
          </a:p>
        </p:txBody>
      </p:sp>
      <p:sp>
        <p:nvSpPr>
          <p:cNvPr id="4" name="Text 2"/>
          <p:cNvSpPr txBox="1"/>
          <p:nvPr/>
        </p:nvSpPr>
        <p:spPr>
          <a:xfrm>
            <a:off x="594360" y="1115568"/>
            <a:ext cx="10972800" cy="310896"/>
          </a:xfrm>
          <a:prstGeom prst="rect">
            <a:avLst/>
          </a:prstGeom>
          <a:noFill/>
          <a:ln/>
        </p:spPr>
        <p:txBody>
          <a:bodyPr wrap="square" lIns="0" tIns="0" rIns="0" bIns="0" rtlCol="0" anchor="ctr"/>
          <a:lstStyle/>
          <a:p>
            <a:pPr indent="0" marL="0">
              <a:buNone/>
            </a:pPr>
            <a:r>
              <a:rPr lang="en-US" sz="1300" dirty="0">
                <a:solidFill>
                  <a:srgbClr val="CBD7E6"/>
                </a:solidFill>
                <a:latin typeface="Calibri" pitchFamily="34" charset="0"/>
                <a:ea typeface="Calibri" pitchFamily="34" charset="-122"/>
                <a:cs typeface="Calibri" pitchFamily="34" charset="-120"/>
              </a:rPr>
              <a:t>Every stakeholder can cite a number and be right. That is what makes this a diagnosis problem, not a reporting problem.</a:t>
            </a:r>
            <a:endParaRPr lang="en-US" sz="1300" dirty="0"/>
          </a:p>
        </p:txBody>
      </p:sp>
      <p:sp>
        <p:nvSpPr>
          <p:cNvPr id="5" name="Shape 3"/>
          <p:cNvSpPr/>
          <p:nvPr/>
        </p:nvSpPr>
        <p:spPr>
          <a:xfrm>
            <a:off x="594360" y="1737360"/>
            <a:ext cx="3438144" cy="1737360"/>
          </a:xfrm>
          <a:prstGeom prst="roundRect">
            <a:avLst>
              <a:gd name="adj" fmla="val 3158"/>
            </a:avLst>
          </a:prstGeom>
          <a:solidFill>
            <a:srgbClr val="1B3A5F"/>
          </a:solidFill>
          <a:ln w="12700">
            <a:solidFill>
              <a:srgbClr val="2E5580"/>
            </a:solidFill>
            <a:prstDash val="solid"/>
          </a:ln>
        </p:spPr>
      </p:sp>
      <p:sp>
        <p:nvSpPr>
          <p:cNvPr id="6" name="Text 4"/>
          <p:cNvSpPr txBox="1"/>
          <p:nvPr/>
        </p:nvSpPr>
        <p:spPr>
          <a:xfrm>
            <a:off x="822960" y="1901952"/>
            <a:ext cx="2980944" cy="274320"/>
          </a:xfrm>
          <a:prstGeom prst="rect">
            <a:avLst/>
          </a:prstGeom>
          <a:noFill/>
          <a:ln/>
        </p:spPr>
        <p:txBody>
          <a:bodyPr wrap="square" lIns="0" tIns="0" rIns="0" bIns="0" rtlCol="0" anchor="ctr"/>
          <a:lstStyle/>
          <a:p>
            <a:pPr indent="0" marL="0">
              <a:buNone/>
            </a:pPr>
            <a:r>
              <a:rPr lang="en-US" sz="1250" b="1" dirty="0">
                <a:solidFill>
                  <a:srgbClr val="CBD7E6"/>
                </a:solidFill>
                <a:latin typeface="Calibri" pitchFamily="34" charset="0"/>
                <a:ea typeface="Calibri" pitchFamily="34" charset="-122"/>
                <a:cs typeface="Calibri" pitchFamily="34" charset="-120"/>
              </a:rPr>
              <a:t>Volume is up</a:t>
            </a:r>
            <a:endParaRPr lang="en-US" sz="1250" dirty="0"/>
          </a:p>
        </p:txBody>
      </p:sp>
      <p:sp>
        <p:nvSpPr>
          <p:cNvPr id="7" name="Text 5"/>
          <p:cNvSpPr txBox="1"/>
          <p:nvPr/>
        </p:nvSpPr>
        <p:spPr>
          <a:xfrm>
            <a:off x="822960" y="2240280"/>
            <a:ext cx="2980944" cy="594360"/>
          </a:xfrm>
          <a:prstGeom prst="rect">
            <a:avLst/>
          </a:prstGeom>
          <a:noFill/>
          <a:ln/>
        </p:spPr>
        <p:txBody>
          <a:bodyPr wrap="square" lIns="0" tIns="0" rIns="0" bIns="0" rtlCol="0" anchor="ctr"/>
          <a:lstStyle/>
          <a:p>
            <a:pPr indent="0" marL="0">
              <a:buNone/>
            </a:pPr>
            <a:r>
              <a:rPr lang="en-US" sz="3200" b="1" dirty="0">
                <a:solidFill>
                  <a:srgbClr val="7FD4D2"/>
                </a:solidFill>
                <a:latin typeface="Cambria" pitchFamily="34" charset="0"/>
                <a:ea typeface="Cambria" pitchFamily="34" charset="-122"/>
                <a:cs typeface="Cambria" pitchFamily="34" charset="-120"/>
              </a:rPr>
              <a:t>+70.1%</a:t>
            </a:r>
            <a:endParaRPr lang="en-US" sz="3200" dirty="0"/>
          </a:p>
        </p:txBody>
      </p:sp>
      <p:sp>
        <p:nvSpPr>
          <p:cNvPr id="8" name="Text 6"/>
          <p:cNvSpPr txBox="1"/>
          <p:nvPr/>
        </p:nvSpPr>
        <p:spPr>
          <a:xfrm>
            <a:off x="822960" y="2907792"/>
            <a:ext cx="2980944" cy="457200"/>
          </a:xfrm>
          <a:prstGeom prst="rect">
            <a:avLst/>
          </a:prstGeom>
          <a:noFill/>
          <a:ln/>
        </p:spPr>
        <p:txBody>
          <a:bodyPr wrap="square" lIns="0" tIns="0" rIns="0" bIns="0" rtlCol="0" anchor="ctr"/>
          <a:lstStyle/>
          <a:p>
            <a:pPr indent="0" marL="0">
              <a:lnSpc>
                <a:spcPts val="1300"/>
              </a:lnSpc>
              <a:buNone/>
            </a:pPr>
            <a:r>
              <a:rPr lang="en-US" sz="1100" dirty="0">
                <a:solidFill>
                  <a:srgbClr val="8FA6C4"/>
                </a:solidFill>
                <a:latin typeface="Calibri" pitchFamily="34" charset="0"/>
                <a:ea typeface="Calibri" pitchFamily="34" charset="-122"/>
                <a:cs typeface="Calibri" pitchFamily="34" charset="-120"/>
              </a:rPr>
              <a:t>16,400 → 27,903 attempts per month</a:t>
            </a:r>
            <a:endParaRPr lang="en-US" sz="1100" dirty="0"/>
          </a:p>
        </p:txBody>
      </p:sp>
      <p:sp>
        <p:nvSpPr>
          <p:cNvPr id="9" name="Shape 7"/>
          <p:cNvSpPr/>
          <p:nvPr/>
        </p:nvSpPr>
        <p:spPr>
          <a:xfrm>
            <a:off x="4306824" y="1737360"/>
            <a:ext cx="3438144" cy="1737360"/>
          </a:xfrm>
          <a:prstGeom prst="roundRect">
            <a:avLst>
              <a:gd name="adj" fmla="val 3158"/>
            </a:avLst>
          </a:prstGeom>
          <a:solidFill>
            <a:srgbClr val="1B3A5F"/>
          </a:solidFill>
          <a:ln w="12700">
            <a:solidFill>
              <a:srgbClr val="2E5580"/>
            </a:solidFill>
            <a:prstDash val="solid"/>
          </a:ln>
        </p:spPr>
      </p:sp>
      <p:sp>
        <p:nvSpPr>
          <p:cNvPr id="10" name="Text 8"/>
          <p:cNvSpPr txBox="1"/>
          <p:nvPr/>
        </p:nvSpPr>
        <p:spPr>
          <a:xfrm>
            <a:off x="4535424" y="1901952"/>
            <a:ext cx="2980944" cy="274320"/>
          </a:xfrm>
          <a:prstGeom prst="rect">
            <a:avLst/>
          </a:prstGeom>
          <a:noFill/>
          <a:ln/>
        </p:spPr>
        <p:txBody>
          <a:bodyPr wrap="square" lIns="0" tIns="0" rIns="0" bIns="0" rtlCol="0" anchor="ctr"/>
          <a:lstStyle/>
          <a:p>
            <a:pPr indent="0" marL="0">
              <a:buNone/>
            </a:pPr>
            <a:r>
              <a:rPr lang="en-US" sz="1250" b="1" dirty="0">
                <a:solidFill>
                  <a:srgbClr val="CBD7E6"/>
                </a:solidFill>
                <a:latin typeface="Calibri" pitchFamily="34" charset="0"/>
                <a:ea typeface="Calibri" pitchFamily="34" charset="-122"/>
                <a:cs typeface="Calibri" pitchFamily="34" charset="-120"/>
              </a:rPr>
              <a:t>Total profit is up</a:t>
            </a:r>
            <a:endParaRPr lang="en-US" sz="1250" dirty="0"/>
          </a:p>
        </p:txBody>
      </p:sp>
      <p:sp>
        <p:nvSpPr>
          <p:cNvPr id="11" name="Text 9"/>
          <p:cNvSpPr txBox="1"/>
          <p:nvPr/>
        </p:nvSpPr>
        <p:spPr>
          <a:xfrm>
            <a:off x="4535424" y="2240280"/>
            <a:ext cx="2980944" cy="594360"/>
          </a:xfrm>
          <a:prstGeom prst="rect">
            <a:avLst/>
          </a:prstGeom>
          <a:noFill/>
          <a:ln/>
        </p:spPr>
        <p:txBody>
          <a:bodyPr wrap="square" lIns="0" tIns="0" rIns="0" bIns="0" rtlCol="0" anchor="ctr"/>
          <a:lstStyle/>
          <a:p>
            <a:pPr indent="0" marL="0">
              <a:buNone/>
            </a:pPr>
            <a:r>
              <a:rPr lang="en-US" sz="3200" b="1" dirty="0">
                <a:solidFill>
                  <a:srgbClr val="7FD4D2"/>
                </a:solidFill>
                <a:latin typeface="Cambria" pitchFamily="34" charset="0"/>
                <a:ea typeface="Cambria" pitchFamily="34" charset="-122"/>
                <a:cs typeface="Cambria" pitchFamily="34" charset="-120"/>
              </a:rPr>
              <a:t>+13.6%</a:t>
            </a:r>
            <a:endParaRPr lang="en-US" sz="3200" dirty="0"/>
          </a:p>
        </p:txBody>
      </p:sp>
      <p:sp>
        <p:nvSpPr>
          <p:cNvPr id="12" name="Text 10"/>
          <p:cNvSpPr txBox="1"/>
          <p:nvPr/>
        </p:nvSpPr>
        <p:spPr>
          <a:xfrm>
            <a:off x="4535424" y="2907792"/>
            <a:ext cx="2980944" cy="457200"/>
          </a:xfrm>
          <a:prstGeom prst="rect">
            <a:avLst/>
          </a:prstGeom>
          <a:noFill/>
          <a:ln/>
        </p:spPr>
        <p:txBody>
          <a:bodyPr wrap="square" lIns="0" tIns="0" rIns="0" bIns="0" rtlCol="0" anchor="ctr"/>
          <a:lstStyle/>
          <a:p>
            <a:pPr indent="0" marL="0">
              <a:lnSpc>
                <a:spcPts val="1300"/>
              </a:lnSpc>
              <a:buNone/>
            </a:pPr>
            <a:r>
              <a:rPr lang="en-US" sz="1100" dirty="0">
                <a:solidFill>
                  <a:srgbClr val="8FA6C4"/>
                </a:solidFill>
                <a:latin typeface="Calibri" pitchFamily="34" charset="0"/>
                <a:ea typeface="Calibri" pitchFamily="34" charset="-122"/>
                <a:cs typeface="Calibri" pitchFamily="34" charset="-120"/>
              </a:rPr>
              <a:t>$23,974 → $27,227 per month</a:t>
            </a:r>
            <a:endParaRPr lang="en-US" sz="1100" dirty="0"/>
          </a:p>
        </p:txBody>
      </p:sp>
      <p:sp>
        <p:nvSpPr>
          <p:cNvPr id="13" name="Shape 11"/>
          <p:cNvSpPr/>
          <p:nvPr/>
        </p:nvSpPr>
        <p:spPr>
          <a:xfrm>
            <a:off x="8019288" y="1737360"/>
            <a:ext cx="3438144" cy="1737360"/>
          </a:xfrm>
          <a:prstGeom prst="roundRect">
            <a:avLst>
              <a:gd name="adj" fmla="val 3158"/>
            </a:avLst>
          </a:prstGeom>
          <a:solidFill>
            <a:srgbClr val="1B3A5F"/>
          </a:solidFill>
          <a:ln w="12700">
            <a:solidFill>
              <a:srgbClr val="2E5580"/>
            </a:solidFill>
            <a:prstDash val="solid"/>
          </a:ln>
        </p:spPr>
      </p:sp>
      <p:sp>
        <p:nvSpPr>
          <p:cNvPr id="14" name="Text 12"/>
          <p:cNvSpPr txBox="1"/>
          <p:nvPr/>
        </p:nvSpPr>
        <p:spPr>
          <a:xfrm>
            <a:off x="8247888" y="1901952"/>
            <a:ext cx="2980944" cy="274320"/>
          </a:xfrm>
          <a:prstGeom prst="rect">
            <a:avLst/>
          </a:prstGeom>
          <a:noFill/>
          <a:ln/>
        </p:spPr>
        <p:txBody>
          <a:bodyPr wrap="square" lIns="0" tIns="0" rIns="0" bIns="0" rtlCol="0" anchor="ctr"/>
          <a:lstStyle/>
          <a:p>
            <a:pPr indent="0" marL="0">
              <a:buNone/>
            </a:pPr>
            <a:r>
              <a:rPr lang="en-US" sz="1250" b="1" dirty="0">
                <a:solidFill>
                  <a:srgbClr val="CBD7E6"/>
                </a:solidFill>
                <a:latin typeface="Calibri" pitchFamily="34" charset="0"/>
                <a:ea typeface="Calibri" pitchFamily="34" charset="-122"/>
                <a:cs typeface="Calibri" pitchFamily="34" charset="-120"/>
              </a:rPr>
              <a:t>Profit per transaction is down</a:t>
            </a:r>
            <a:endParaRPr lang="en-US" sz="1250" dirty="0"/>
          </a:p>
        </p:txBody>
      </p:sp>
      <p:sp>
        <p:nvSpPr>
          <p:cNvPr id="15" name="Text 13"/>
          <p:cNvSpPr txBox="1"/>
          <p:nvPr/>
        </p:nvSpPr>
        <p:spPr>
          <a:xfrm>
            <a:off x="8247888" y="2240280"/>
            <a:ext cx="2980944" cy="594360"/>
          </a:xfrm>
          <a:prstGeom prst="rect">
            <a:avLst/>
          </a:prstGeom>
          <a:noFill/>
          <a:ln/>
        </p:spPr>
        <p:txBody>
          <a:bodyPr wrap="square" lIns="0" tIns="0" rIns="0" bIns="0" rtlCol="0" anchor="ctr"/>
          <a:lstStyle/>
          <a:p>
            <a:pPr indent="0" marL="0">
              <a:buNone/>
            </a:pPr>
            <a:r>
              <a:rPr lang="en-US" sz="3200" b="1" dirty="0">
                <a:solidFill>
                  <a:srgbClr val="F2B366"/>
                </a:solidFill>
                <a:latin typeface="Cambria" pitchFamily="34" charset="0"/>
                <a:ea typeface="Cambria" pitchFamily="34" charset="-122"/>
                <a:cs typeface="Cambria" pitchFamily="34" charset="-120"/>
              </a:rPr>
              <a:t>−32.8%</a:t>
            </a:r>
            <a:endParaRPr lang="en-US" sz="3200" dirty="0"/>
          </a:p>
        </p:txBody>
      </p:sp>
      <p:sp>
        <p:nvSpPr>
          <p:cNvPr id="16" name="Text 14"/>
          <p:cNvSpPr txBox="1"/>
          <p:nvPr/>
        </p:nvSpPr>
        <p:spPr>
          <a:xfrm>
            <a:off x="8247888" y="2907792"/>
            <a:ext cx="2980944" cy="457200"/>
          </a:xfrm>
          <a:prstGeom prst="rect">
            <a:avLst/>
          </a:prstGeom>
          <a:noFill/>
          <a:ln/>
        </p:spPr>
        <p:txBody>
          <a:bodyPr wrap="square" lIns="0" tIns="0" rIns="0" bIns="0" rtlCol="0" anchor="ctr"/>
          <a:lstStyle/>
          <a:p>
            <a:pPr indent="0" marL="0">
              <a:lnSpc>
                <a:spcPts val="1300"/>
              </a:lnSpc>
              <a:buNone/>
            </a:pPr>
            <a:r>
              <a:rPr lang="en-US" sz="1100" dirty="0">
                <a:solidFill>
                  <a:srgbClr val="8FA6C4"/>
                </a:solidFill>
                <a:latin typeface="Calibri" pitchFamily="34" charset="0"/>
                <a:ea typeface="Calibri" pitchFamily="34" charset="-122"/>
                <a:cs typeface="Calibri" pitchFamily="34" charset="-120"/>
              </a:rPr>
              <a:t>$1.620 → $1.089 per successful txn</a:t>
            </a:r>
            <a:endParaRPr lang="en-US" sz="1100" dirty="0"/>
          </a:p>
        </p:txBody>
      </p:sp>
      <p:sp>
        <p:nvSpPr>
          <p:cNvPr id="17" name="Text 15"/>
          <p:cNvSpPr txBox="1"/>
          <p:nvPr/>
        </p:nvSpPr>
        <p:spPr>
          <a:xfrm>
            <a:off x="594360" y="3703320"/>
            <a:ext cx="5486400" cy="292608"/>
          </a:xfrm>
          <a:prstGeom prst="rect">
            <a:avLst/>
          </a:prstGeom>
          <a:noFill/>
          <a:ln/>
        </p:spPr>
        <p:txBody>
          <a:bodyPr wrap="square" lIns="0" tIns="0" rIns="0" bIns="0" rtlCol="0" anchor="ctr"/>
          <a:lstStyle/>
          <a:p>
            <a:pPr indent="0" marL="0">
              <a:buNone/>
            </a:pPr>
            <a:r>
              <a:rPr lang="en-US" sz="1300" b="1" spc="150" kern="0" dirty="0">
                <a:solidFill>
                  <a:srgbClr val="F2B366"/>
                </a:solidFill>
                <a:latin typeface="Calibri" pitchFamily="34" charset="0"/>
                <a:ea typeface="Calibri" pitchFamily="34" charset="-122"/>
                <a:cs typeface="Calibri" pitchFamily="34" charset="-120"/>
              </a:rPr>
              <a:t>The resolution</a:t>
            </a:r>
            <a:endParaRPr lang="en-US" sz="1300" dirty="0"/>
          </a:p>
        </p:txBody>
      </p:sp>
      <p:sp>
        <p:nvSpPr>
          <p:cNvPr id="18" name="Text 16"/>
          <p:cNvSpPr txBox="1"/>
          <p:nvPr/>
        </p:nvSpPr>
        <p:spPr>
          <a:xfrm>
            <a:off x="594360" y="4069080"/>
            <a:ext cx="3291840" cy="457200"/>
          </a:xfrm>
          <a:prstGeom prst="rect">
            <a:avLst/>
          </a:prstGeom>
          <a:noFill/>
          <a:ln/>
        </p:spPr>
        <p:txBody>
          <a:bodyPr wrap="square" lIns="0" tIns="0" rIns="0" bIns="0" rtlCol="0" anchor="ctr"/>
          <a:lstStyle/>
          <a:p>
            <a:pPr indent="0" marL="0">
              <a:lnSpc>
                <a:spcPts val="1400"/>
              </a:lnSpc>
              <a:buNone/>
            </a:pPr>
            <a:r>
              <a:rPr lang="en-US" sz="1200" b="1" dirty="0">
                <a:solidFill>
                  <a:srgbClr val="FFFFFF"/>
                </a:solidFill>
                <a:latin typeface="Calibri" pitchFamily="34" charset="0"/>
                <a:ea typeface="Calibri" pitchFamily="34" charset="-122"/>
                <a:cs typeface="Calibri" pitchFamily="34" charset="-120"/>
              </a:rPr>
              <a:t>Dilution, not deterioration</a:t>
            </a:r>
            <a:endParaRPr lang="en-US" sz="1200" dirty="0"/>
          </a:p>
        </p:txBody>
      </p:sp>
      <p:sp>
        <p:nvSpPr>
          <p:cNvPr id="19" name="Text 17"/>
          <p:cNvSpPr txBox="1"/>
          <p:nvPr/>
        </p:nvSpPr>
        <p:spPr>
          <a:xfrm>
            <a:off x="4023360" y="4069080"/>
            <a:ext cx="7543800" cy="457200"/>
          </a:xfrm>
          <a:prstGeom prst="rect">
            <a:avLst/>
          </a:prstGeom>
          <a:noFill/>
          <a:ln/>
        </p:spPr>
        <p:txBody>
          <a:bodyPr wrap="square" lIns="0" tIns="0" rIns="0" bIns="0" rtlCol="0" anchor="ctr"/>
          <a:lstStyle/>
          <a:p>
            <a:pPr indent="0" marL="0">
              <a:lnSpc>
                <a:spcPts val="1400"/>
              </a:lnSpc>
              <a:buNone/>
            </a:pPr>
            <a:r>
              <a:rPr lang="en-US" sz="1150" dirty="0">
                <a:solidFill>
                  <a:srgbClr val="CBD7E6"/>
                </a:solidFill>
                <a:latin typeface="Calibri" pitchFamily="34" charset="0"/>
                <a:ea typeface="Calibri" pitchFamily="34" charset="-122"/>
                <a:cs typeface="Calibri" pitchFamily="34" charset="-120"/>
              </a:rPr>
              <a:t>88.6% of the fall is ticket-size mix shifting. Almost every segment held its own economics or improved.</a:t>
            </a:r>
            <a:endParaRPr lang="en-US" sz="1150" dirty="0"/>
          </a:p>
        </p:txBody>
      </p:sp>
      <p:sp>
        <p:nvSpPr>
          <p:cNvPr id="20" name="Text 18"/>
          <p:cNvSpPr txBox="1"/>
          <p:nvPr/>
        </p:nvSpPr>
        <p:spPr>
          <a:xfrm>
            <a:off x="594360" y="4599432"/>
            <a:ext cx="3291840" cy="457200"/>
          </a:xfrm>
          <a:prstGeom prst="rect">
            <a:avLst/>
          </a:prstGeom>
          <a:noFill/>
          <a:ln/>
        </p:spPr>
        <p:txBody>
          <a:bodyPr wrap="square" lIns="0" tIns="0" rIns="0" bIns="0" rtlCol="0" anchor="ctr"/>
          <a:lstStyle/>
          <a:p>
            <a:pPr indent="0" marL="0">
              <a:lnSpc>
                <a:spcPts val="1400"/>
              </a:lnSpc>
              <a:buNone/>
            </a:pPr>
            <a:r>
              <a:rPr lang="en-US" sz="1200" b="1" dirty="0">
                <a:solidFill>
                  <a:srgbClr val="FFFFFF"/>
                </a:solidFill>
                <a:latin typeface="Calibri" pitchFamily="34" charset="0"/>
                <a:ea typeface="Calibri" pitchFamily="34" charset="-122"/>
                <a:cs typeface="Calibri" pitchFamily="34" charset="-120"/>
              </a:rPr>
              <a:t>Growth landed in the wrong place</a:t>
            </a:r>
            <a:endParaRPr lang="en-US" sz="1200" dirty="0"/>
          </a:p>
        </p:txBody>
      </p:sp>
      <p:sp>
        <p:nvSpPr>
          <p:cNvPr id="21" name="Text 19"/>
          <p:cNvSpPr txBox="1"/>
          <p:nvPr/>
        </p:nvSpPr>
        <p:spPr>
          <a:xfrm>
            <a:off x="4023360" y="4599432"/>
            <a:ext cx="7543800" cy="457200"/>
          </a:xfrm>
          <a:prstGeom prst="rect">
            <a:avLst/>
          </a:prstGeom>
          <a:noFill/>
          <a:ln/>
        </p:spPr>
        <p:txBody>
          <a:bodyPr wrap="square" lIns="0" tIns="0" rIns="0" bIns="0" rtlCol="0" anchor="ctr"/>
          <a:lstStyle/>
          <a:p>
            <a:pPr indent="0" marL="0">
              <a:lnSpc>
                <a:spcPts val="1400"/>
              </a:lnSpc>
              <a:buNone/>
            </a:pPr>
            <a:r>
              <a:rPr lang="en-US" sz="1150" dirty="0">
                <a:solidFill>
                  <a:srgbClr val="CBD7E6"/>
                </a:solidFill>
                <a:latin typeface="Calibri" pitchFamily="34" charset="0"/>
                <a:ea typeface="Calibri" pitchFamily="34" charset="-122"/>
                <a:cs typeface="Calibri" pitchFamily="34" charset="-120"/>
              </a:rPr>
              <a:t>A $14-median digital-goods cohort went 8.1% → 33.9% of successful transactions, while TRAVEL, ELECTRONICS and GROCERY lost share.</a:t>
            </a:r>
            <a:endParaRPr lang="en-US" sz="1150" dirty="0"/>
          </a:p>
        </p:txBody>
      </p:sp>
      <p:sp>
        <p:nvSpPr>
          <p:cNvPr id="22" name="Text 20"/>
          <p:cNvSpPr txBox="1"/>
          <p:nvPr/>
        </p:nvSpPr>
        <p:spPr>
          <a:xfrm>
            <a:off x="594360" y="5129784"/>
            <a:ext cx="3291840" cy="457200"/>
          </a:xfrm>
          <a:prstGeom prst="rect">
            <a:avLst/>
          </a:prstGeom>
          <a:noFill/>
          <a:ln/>
        </p:spPr>
        <p:txBody>
          <a:bodyPr wrap="square" lIns="0" tIns="0" rIns="0" bIns="0" rtlCol="0" anchor="ctr"/>
          <a:lstStyle/>
          <a:p>
            <a:pPr indent="0" marL="0">
              <a:lnSpc>
                <a:spcPts val="1400"/>
              </a:lnSpc>
              <a:buNone/>
            </a:pPr>
            <a:r>
              <a:rPr lang="en-US" sz="1200" b="1" dirty="0">
                <a:solidFill>
                  <a:srgbClr val="FFFFFF"/>
                </a:solidFill>
                <a:latin typeface="Calibri" pitchFamily="34" charset="0"/>
                <a:ea typeface="Calibri" pitchFamily="34" charset="-122"/>
                <a:cs typeface="Calibri" pitchFamily="34" charset="-120"/>
              </a:rPr>
              <a:t>We routed and priced it as if it were large</a:t>
            </a:r>
            <a:endParaRPr lang="en-US" sz="1200" dirty="0"/>
          </a:p>
        </p:txBody>
      </p:sp>
      <p:sp>
        <p:nvSpPr>
          <p:cNvPr id="23" name="Text 21"/>
          <p:cNvSpPr txBox="1"/>
          <p:nvPr/>
        </p:nvSpPr>
        <p:spPr>
          <a:xfrm>
            <a:off x="4023360" y="5129784"/>
            <a:ext cx="7543800" cy="457200"/>
          </a:xfrm>
          <a:prstGeom prst="rect">
            <a:avLst/>
          </a:prstGeom>
          <a:noFill/>
          <a:ln/>
        </p:spPr>
        <p:txBody>
          <a:bodyPr wrap="square" lIns="0" tIns="0" rIns="0" bIns="0" rtlCol="0" anchor="ctr"/>
          <a:lstStyle/>
          <a:p>
            <a:pPr indent="0" marL="0">
              <a:lnSpc>
                <a:spcPts val="1400"/>
              </a:lnSpc>
              <a:buNone/>
            </a:pPr>
            <a:r>
              <a:rPr lang="en-US" sz="1150" dirty="0">
                <a:solidFill>
                  <a:srgbClr val="CBD7E6"/>
                </a:solidFill>
                <a:latin typeface="Calibri" pitchFamily="34" charset="0"/>
                <a:ea typeface="Calibri" pitchFamily="34" charset="-122"/>
                <a:cs typeface="Calibri" pitchFamily="34" charset="-120"/>
              </a:rPr>
              <a:t>Sub-$90 traffic drifted onto the provider whose fixed fee is built for $500 tickets — and that fee rose 50.6% mid-year.</a:t>
            </a:r>
            <a:endParaRPr lang="en-US" sz="1150" dirty="0"/>
          </a:p>
        </p:txBody>
      </p:sp>
      <p:sp>
        <p:nvSpPr>
          <p:cNvPr id="24" name="Text 22"/>
          <p:cNvSpPr txBox="1"/>
          <p:nvPr/>
        </p:nvSpPr>
        <p:spPr>
          <a:xfrm>
            <a:off x="594360" y="5660136"/>
            <a:ext cx="3291840" cy="457200"/>
          </a:xfrm>
          <a:prstGeom prst="rect">
            <a:avLst/>
          </a:prstGeom>
          <a:noFill/>
          <a:ln/>
        </p:spPr>
        <p:txBody>
          <a:bodyPr wrap="square" lIns="0" tIns="0" rIns="0" bIns="0" rtlCol="0" anchor="ctr"/>
          <a:lstStyle/>
          <a:p>
            <a:pPr indent="0" marL="0">
              <a:lnSpc>
                <a:spcPts val="1400"/>
              </a:lnSpc>
              <a:buNone/>
            </a:pPr>
            <a:r>
              <a:rPr lang="en-US" sz="1200" b="1" dirty="0">
                <a:solidFill>
                  <a:srgbClr val="FFFFFF"/>
                </a:solidFill>
                <a:latin typeface="Calibri" pitchFamily="34" charset="0"/>
                <a:ea typeface="Calibri" pitchFamily="34" charset="-122"/>
                <a:cs typeface="Calibri" pitchFamily="34" charset="-120"/>
              </a:rPr>
              <a:t>Three of four stakeholder theories are wrong</a:t>
            </a:r>
            <a:endParaRPr lang="en-US" sz="1200" dirty="0"/>
          </a:p>
        </p:txBody>
      </p:sp>
      <p:sp>
        <p:nvSpPr>
          <p:cNvPr id="25" name="Text 23"/>
          <p:cNvSpPr txBox="1"/>
          <p:nvPr/>
        </p:nvSpPr>
        <p:spPr>
          <a:xfrm>
            <a:off x="4023360" y="5660136"/>
            <a:ext cx="7543800" cy="457200"/>
          </a:xfrm>
          <a:prstGeom prst="rect">
            <a:avLst/>
          </a:prstGeom>
          <a:noFill/>
          <a:ln/>
        </p:spPr>
        <p:txBody>
          <a:bodyPr wrap="square" lIns="0" tIns="0" rIns="0" bIns="0" rtlCol="0" anchor="ctr"/>
          <a:lstStyle/>
          <a:p>
            <a:pPr indent="0" marL="0">
              <a:lnSpc>
                <a:spcPts val="1400"/>
              </a:lnSpc>
              <a:buNone/>
            </a:pPr>
            <a:r>
              <a:rPr lang="en-US" sz="1150" dirty="0">
                <a:solidFill>
                  <a:srgbClr val="CBD7E6"/>
                </a:solidFill>
                <a:latin typeface="Calibri" pitchFamily="34" charset="0"/>
                <a:ea typeface="Calibri" pitchFamily="34" charset="-122"/>
                <a:cs typeface="Calibri" pitchFamily="34" charset="-120"/>
              </a:rPr>
              <a:t>Pricing, fraud and chargebacks were each tested and disproved. One was disproved by a data-quality artefact, not a business fact.</a:t>
            </a:r>
            <a:endParaRPr lang="en-US" sz="1150" dirty="0"/>
          </a:p>
        </p:txBody>
      </p:sp>
      <p:sp>
        <p:nvSpPr>
          <p:cNvPr id="26" name="Text 24"/>
          <p:cNvSpPr txBox="1"/>
          <p:nvPr/>
        </p:nvSpPr>
        <p:spPr>
          <a:xfrm>
            <a:off x="548640" y="6199632"/>
            <a:ext cx="11064240" cy="411480"/>
          </a:xfrm>
          <a:prstGeom prst="rect">
            <a:avLst/>
          </a:prstGeom>
          <a:noFill/>
          <a:ln/>
        </p:spPr>
        <p:txBody>
          <a:bodyPr wrap="square" lIns="0" tIns="0" rIns="0" bIns="0" rtlCol="0" anchor="ctr"/>
          <a:lstStyle/>
          <a:p>
            <a:pPr indent="0" marL="0">
              <a:lnSpc>
                <a:spcPts val="1300"/>
              </a:lnSpc>
              <a:buNone/>
            </a:pPr>
            <a:r>
              <a:rPr lang="en-US" sz="1100" i="1" dirty="0">
                <a:solidFill>
                  <a:srgbClr val="8FA6C4"/>
                </a:solidFill>
                <a:latin typeface="Calibri" pitchFamily="34" charset="0"/>
                <a:ea typeface="Calibri" pitchFamily="34" charset="-122"/>
                <a:cs typeface="Calibri" pitchFamily="34" charset="-120"/>
              </a:rPr>
              <a:t>Sections follow the eight tasks: framing, data contract, quality, model, root cause, diagnosis, dashboard, decision.</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8"/>
        </a:solidFill>
      </p:bgPr>
    </p:bg>
    <p:spTree>
      <p:nvGrpSpPr>
        <p:cNvPr id="1" name=""/>
        <p:cNvGrpSpPr/>
        <p:nvPr/>
      </p:nvGrpSpPr>
      <p:grpSpPr>
        <a:xfrm>
          <a:off x="0" y="0"/>
          <a:ext cx="0" cy="0"/>
          <a:chOff x="0" y="0"/>
          <a:chExt cx="0" cy="0"/>
        </a:xfrm>
      </p:grpSpPr>
      <p:sp>
        <p:nvSpPr>
          <p:cNvPr id="2" name="Text 0"/>
          <p:cNvSpPr txBox="1"/>
          <p:nvPr/>
        </p:nvSpPr>
        <p:spPr>
          <a:xfrm>
            <a:off x="548640" y="329184"/>
            <a:ext cx="7315200" cy="237744"/>
          </a:xfrm>
          <a:prstGeom prst="rect">
            <a:avLst/>
          </a:prstGeom>
          <a:noFill/>
          <a:ln/>
        </p:spPr>
        <p:txBody>
          <a:bodyPr wrap="square" lIns="0" tIns="0" rIns="0" bIns="0" rtlCol="0" anchor="ctr"/>
          <a:lstStyle/>
          <a:p>
            <a:pPr indent="0" marL="0">
              <a:buNone/>
            </a:pPr>
            <a:r>
              <a:rPr lang="en-US" sz="1050" b="1" spc="200" kern="0" dirty="0">
                <a:solidFill>
                  <a:srgbClr val="D98324"/>
                </a:solidFill>
                <a:latin typeface="Calibri" pitchFamily="34" charset="0"/>
                <a:ea typeface="Calibri" pitchFamily="34" charset="-122"/>
                <a:cs typeface="Calibri" pitchFamily="34" charset="-120"/>
              </a:rPr>
              <a:t>TASK 1 · FRAMING</a:t>
            </a:r>
            <a:endParaRPr lang="en-US" sz="1050" dirty="0"/>
          </a:p>
        </p:txBody>
      </p:sp>
      <p:sp>
        <p:nvSpPr>
          <p:cNvPr id="3" name="Text 1"/>
          <p:cNvSpPr txBox="1"/>
          <p:nvPr/>
        </p:nvSpPr>
        <p:spPr>
          <a:xfrm>
            <a:off x="548640" y="603504"/>
            <a:ext cx="11064240" cy="502920"/>
          </a:xfrm>
          <a:prstGeom prst="rect">
            <a:avLst/>
          </a:prstGeom>
          <a:noFill/>
          <a:ln/>
        </p:spPr>
        <p:txBody>
          <a:bodyPr wrap="square" lIns="0" tIns="0" rIns="0" bIns="0" rtlCol="0" anchor="ctr"/>
          <a:lstStyle/>
          <a:p>
            <a:pPr indent="0" marL="0">
              <a:buNone/>
            </a:pPr>
            <a:r>
              <a:rPr lang="en-US" sz="2600" b="1" dirty="0">
                <a:solidFill>
                  <a:srgbClr val="12233C"/>
                </a:solidFill>
                <a:latin typeface="Cambria" pitchFamily="34" charset="0"/>
                <a:ea typeface="Cambria" pitchFamily="34" charset="-122"/>
                <a:cs typeface="Cambria" pitchFamily="34" charset="-120"/>
              </a:rPr>
              <a:t>The business, the question, and the KPI it is asked in</a:t>
            </a:r>
            <a:endParaRPr lang="en-US" sz="2600" dirty="0"/>
          </a:p>
        </p:txBody>
      </p:sp>
      <p:sp>
        <p:nvSpPr>
          <p:cNvPr id="4" name="Text 2"/>
          <p:cNvSpPr txBox="1"/>
          <p:nvPr/>
        </p:nvSpPr>
        <p:spPr>
          <a:xfrm>
            <a:off x="548640" y="1115568"/>
            <a:ext cx="11064240" cy="310896"/>
          </a:xfrm>
          <a:prstGeom prst="rect">
            <a:avLst/>
          </a:prstGeom>
          <a:noFill/>
          <a:ln/>
        </p:spPr>
        <p:txBody>
          <a:bodyPr wrap="square" lIns="0" tIns="0" rIns="0" bIns="0" rtlCol="0" anchor="ctr"/>
          <a:lstStyle/>
          <a:p>
            <a:pPr indent="0" marL="0">
              <a:buNone/>
            </a:pPr>
            <a:r>
              <a:rPr lang="en-US" sz="1300" dirty="0">
                <a:solidFill>
                  <a:srgbClr val="6B7785"/>
                </a:solidFill>
                <a:latin typeface="Calibri" pitchFamily="34" charset="0"/>
                <a:ea typeface="Calibri" pitchFamily="34" charset="-122"/>
                <a:cs typeface="Calibri" pitchFamily="34" charset="-120"/>
              </a:rPr>
              <a:t>AstraPay is a cross-border payments company in India, Singapore and the UAE. It earns a fee from merchants and pays a fee to providers.</a:t>
            </a:r>
            <a:endParaRPr lang="en-US" sz="1300" dirty="0"/>
          </a:p>
        </p:txBody>
      </p:sp>
      <p:sp>
        <p:nvSpPr>
          <p:cNvPr id="5" name="Shape 3"/>
          <p:cNvSpPr/>
          <p:nvPr/>
        </p:nvSpPr>
        <p:spPr>
          <a:xfrm>
            <a:off x="548640" y="1572768"/>
            <a:ext cx="3566160" cy="2011680"/>
          </a:xfrm>
          <a:prstGeom prst="roundRect">
            <a:avLst>
              <a:gd name="adj" fmla="val 2727"/>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sp>
        <p:nvSpPr>
          <p:cNvPr id="6" name="Text 4"/>
          <p:cNvSpPr txBox="1"/>
          <p:nvPr/>
        </p:nvSpPr>
        <p:spPr>
          <a:xfrm>
            <a:off x="749808" y="1700784"/>
            <a:ext cx="3200400" cy="256032"/>
          </a:xfrm>
          <a:prstGeom prst="rect">
            <a:avLst/>
          </a:prstGeom>
          <a:noFill/>
          <a:ln/>
        </p:spPr>
        <p:txBody>
          <a:bodyPr wrap="square" lIns="0" tIns="0" rIns="0" bIns="0" rtlCol="0" anchor="ctr"/>
          <a:lstStyle/>
          <a:p>
            <a:pPr indent="0" marL="0">
              <a:buNone/>
            </a:pPr>
            <a:r>
              <a:rPr lang="en-US" sz="1250" b="1" dirty="0">
                <a:solidFill>
                  <a:srgbClr val="12233C"/>
                </a:solidFill>
                <a:latin typeface="Calibri" pitchFamily="34" charset="0"/>
                <a:ea typeface="Calibri" pitchFamily="34" charset="-122"/>
                <a:cs typeface="Calibri" pitchFamily="34" charset="-120"/>
              </a:rPr>
              <a:t>Who pays whom</a:t>
            </a:r>
            <a:endParaRPr lang="en-US" sz="1250" dirty="0"/>
          </a:p>
        </p:txBody>
      </p:sp>
      <p:sp>
        <p:nvSpPr>
          <p:cNvPr id="7" name="Shape 5"/>
          <p:cNvSpPr/>
          <p:nvPr/>
        </p:nvSpPr>
        <p:spPr>
          <a:xfrm>
            <a:off x="749808" y="2029968"/>
            <a:ext cx="1143000" cy="384048"/>
          </a:xfrm>
          <a:prstGeom prst="roundRect">
            <a:avLst>
              <a:gd name="adj" fmla="val 11905"/>
            </a:avLst>
          </a:prstGeom>
          <a:solidFill>
            <a:srgbClr val="0E7C7B"/>
          </a:solidFill>
          <a:ln/>
        </p:spPr>
      </p:sp>
      <p:sp>
        <p:nvSpPr>
          <p:cNvPr id="8" name="Text 6"/>
          <p:cNvSpPr txBox="1"/>
          <p:nvPr/>
        </p:nvSpPr>
        <p:spPr>
          <a:xfrm>
            <a:off x="749808" y="2029968"/>
            <a:ext cx="1143000" cy="38404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Merchant</a:t>
            </a:r>
            <a:endParaRPr lang="en-US" sz="1050" dirty="0"/>
          </a:p>
        </p:txBody>
      </p:sp>
      <p:sp>
        <p:nvSpPr>
          <p:cNvPr id="9" name="Text 7"/>
          <p:cNvSpPr txBox="1"/>
          <p:nvPr/>
        </p:nvSpPr>
        <p:spPr>
          <a:xfrm>
            <a:off x="1993392" y="2029968"/>
            <a:ext cx="1325880" cy="384048"/>
          </a:xfrm>
          <a:prstGeom prst="rect">
            <a:avLst/>
          </a:prstGeom>
          <a:noFill/>
          <a:ln/>
        </p:spPr>
        <p:txBody>
          <a:bodyPr wrap="square" lIns="0" tIns="0" rIns="0" bIns="0" rtlCol="0" anchor="ctr"/>
          <a:lstStyle/>
          <a:p>
            <a:pPr indent="0" marL="0">
              <a:buNone/>
            </a:pPr>
            <a:r>
              <a:rPr lang="en-US" sz="950" dirty="0">
                <a:solidFill>
                  <a:srgbClr val="4A5663"/>
                </a:solidFill>
                <a:latin typeface="Calibri" pitchFamily="34" charset="0"/>
                <a:ea typeface="Calibri" pitchFamily="34" charset="-122"/>
                <a:cs typeface="Calibri" pitchFamily="34" charset="-120"/>
              </a:rPr>
              <a:t>the shop — our customer</a:t>
            </a:r>
            <a:endParaRPr lang="en-US" sz="950" dirty="0"/>
          </a:p>
        </p:txBody>
      </p:sp>
      <p:sp>
        <p:nvSpPr>
          <p:cNvPr id="10" name="Text 8"/>
          <p:cNvSpPr txBox="1"/>
          <p:nvPr/>
        </p:nvSpPr>
        <p:spPr>
          <a:xfrm>
            <a:off x="3291840" y="2029968"/>
            <a:ext cx="685800" cy="384048"/>
          </a:xfrm>
          <a:prstGeom prst="rect">
            <a:avLst/>
          </a:prstGeom>
          <a:noFill/>
          <a:ln/>
        </p:spPr>
        <p:txBody>
          <a:bodyPr wrap="square" lIns="0" tIns="0" rIns="0" bIns="0" rtlCol="0" anchor="ctr"/>
          <a:lstStyle/>
          <a:p>
            <a:pPr algn="r" indent="0" marL="0">
              <a:buNone/>
            </a:pPr>
            <a:r>
              <a:rPr lang="en-US" sz="950" b="1" dirty="0">
                <a:solidFill>
                  <a:srgbClr val="0E7C7B"/>
                </a:solidFill>
                <a:latin typeface="Calibri" pitchFamily="34" charset="0"/>
                <a:ea typeface="Calibri" pitchFamily="34" charset="-122"/>
                <a:cs typeface="Calibri" pitchFamily="34" charset="-120"/>
              </a:rPr>
              <a:t>pays us</a:t>
            </a:r>
            <a:endParaRPr lang="en-US" sz="950" dirty="0"/>
          </a:p>
        </p:txBody>
      </p:sp>
      <p:sp>
        <p:nvSpPr>
          <p:cNvPr id="11" name="Shape 9"/>
          <p:cNvSpPr/>
          <p:nvPr/>
        </p:nvSpPr>
        <p:spPr>
          <a:xfrm>
            <a:off x="749808" y="2505456"/>
            <a:ext cx="1143000" cy="384048"/>
          </a:xfrm>
          <a:prstGeom prst="roundRect">
            <a:avLst>
              <a:gd name="adj" fmla="val 11905"/>
            </a:avLst>
          </a:prstGeom>
          <a:solidFill>
            <a:srgbClr val="12233C"/>
          </a:solidFill>
          <a:ln/>
        </p:spPr>
      </p:sp>
      <p:sp>
        <p:nvSpPr>
          <p:cNvPr id="12" name="Text 10"/>
          <p:cNvSpPr txBox="1"/>
          <p:nvPr/>
        </p:nvSpPr>
        <p:spPr>
          <a:xfrm>
            <a:off x="749808" y="2505456"/>
            <a:ext cx="1143000" cy="38404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AstraPay</a:t>
            </a:r>
            <a:endParaRPr lang="en-US" sz="1050" dirty="0"/>
          </a:p>
        </p:txBody>
      </p:sp>
      <p:sp>
        <p:nvSpPr>
          <p:cNvPr id="13" name="Text 11"/>
          <p:cNvSpPr txBox="1"/>
          <p:nvPr/>
        </p:nvSpPr>
        <p:spPr>
          <a:xfrm>
            <a:off x="1993392" y="2505456"/>
            <a:ext cx="1325880" cy="384048"/>
          </a:xfrm>
          <a:prstGeom prst="rect">
            <a:avLst/>
          </a:prstGeom>
          <a:noFill/>
          <a:ln/>
        </p:spPr>
        <p:txBody>
          <a:bodyPr wrap="square" lIns="0" tIns="0" rIns="0" bIns="0" rtlCol="0" anchor="ctr"/>
          <a:lstStyle/>
          <a:p>
            <a:pPr indent="0" marL="0">
              <a:buNone/>
            </a:pPr>
            <a:r>
              <a:rPr lang="en-US" sz="950" dirty="0">
                <a:solidFill>
                  <a:srgbClr val="4A5663"/>
                </a:solidFill>
                <a:latin typeface="Calibri" pitchFamily="34" charset="0"/>
                <a:ea typeface="Calibri" pitchFamily="34" charset="-122"/>
                <a:cs typeface="Calibri" pitchFamily="34" charset="-120"/>
              </a:rPr>
              <a:t>the platform in between</a:t>
            </a:r>
            <a:endParaRPr lang="en-US" sz="950" dirty="0"/>
          </a:p>
        </p:txBody>
      </p:sp>
      <p:sp>
        <p:nvSpPr>
          <p:cNvPr id="14" name="Text 12"/>
          <p:cNvSpPr txBox="1"/>
          <p:nvPr/>
        </p:nvSpPr>
        <p:spPr>
          <a:xfrm>
            <a:off x="3291840" y="2505456"/>
            <a:ext cx="685800" cy="384048"/>
          </a:xfrm>
          <a:prstGeom prst="rect">
            <a:avLst/>
          </a:prstGeom>
          <a:noFill/>
          <a:ln/>
        </p:spPr>
        <p:txBody>
          <a:bodyPr wrap="square" lIns="0" tIns="0" rIns="0" bIns="0" rtlCol="0" anchor="ctr"/>
          <a:lstStyle/>
          <a:p>
            <a:pPr algn="r" indent="0" marL="0">
              <a:buNone/>
            </a:pPr>
            <a:r>
              <a:rPr lang="en-US" sz="950" b="1" dirty="0">
                <a:solidFill>
                  <a:srgbClr val="12233C"/>
                </a:solidFill>
                <a:latin typeface="Calibri" pitchFamily="34" charset="0"/>
                <a:ea typeface="Calibri" pitchFamily="34" charset="-122"/>
                <a:cs typeface="Calibri" pitchFamily="34" charset="-120"/>
              </a:rPr>
              <a:t>keeps the gap</a:t>
            </a:r>
            <a:endParaRPr lang="en-US" sz="950" dirty="0"/>
          </a:p>
        </p:txBody>
      </p:sp>
      <p:sp>
        <p:nvSpPr>
          <p:cNvPr id="15" name="Shape 13"/>
          <p:cNvSpPr/>
          <p:nvPr/>
        </p:nvSpPr>
        <p:spPr>
          <a:xfrm>
            <a:off x="749808" y="2980944"/>
            <a:ext cx="1143000" cy="384048"/>
          </a:xfrm>
          <a:prstGeom prst="roundRect">
            <a:avLst>
              <a:gd name="adj" fmla="val 11905"/>
            </a:avLst>
          </a:prstGeom>
          <a:solidFill>
            <a:srgbClr val="D98324"/>
          </a:solidFill>
          <a:ln/>
        </p:spPr>
      </p:sp>
      <p:sp>
        <p:nvSpPr>
          <p:cNvPr id="16" name="Text 14"/>
          <p:cNvSpPr txBox="1"/>
          <p:nvPr/>
        </p:nvSpPr>
        <p:spPr>
          <a:xfrm>
            <a:off x="749808" y="2980944"/>
            <a:ext cx="1143000" cy="384048"/>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Provider</a:t>
            </a:r>
            <a:endParaRPr lang="en-US" sz="1050" dirty="0"/>
          </a:p>
        </p:txBody>
      </p:sp>
      <p:sp>
        <p:nvSpPr>
          <p:cNvPr id="17" name="Text 15"/>
          <p:cNvSpPr txBox="1"/>
          <p:nvPr/>
        </p:nvSpPr>
        <p:spPr>
          <a:xfrm>
            <a:off x="1993392" y="2980944"/>
            <a:ext cx="1325880" cy="384048"/>
          </a:xfrm>
          <a:prstGeom prst="rect">
            <a:avLst/>
          </a:prstGeom>
          <a:noFill/>
          <a:ln/>
        </p:spPr>
        <p:txBody>
          <a:bodyPr wrap="square" lIns="0" tIns="0" rIns="0" bIns="0" rtlCol="0" anchor="ctr"/>
          <a:lstStyle/>
          <a:p>
            <a:pPr indent="0" marL="0">
              <a:buNone/>
            </a:pPr>
            <a:r>
              <a:rPr lang="en-US" sz="950" dirty="0">
                <a:solidFill>
                  <a:srgbClr val="4A5663"/>
                </a:solidFill>
                <a:latin typeface="Calibri" pitchFamily="34" charset="0"/>
                <a:ea typeface="Calibri" pitchFamily="34" charset="-122"/>
                <a:cs typeface="Calibri" pitchFamily="34" charset="-120"/>
              </a:rPr>
              <a:t>the rails — our supplier</a:t>
            </a:r>
            <a:endParaRPr lang="en-US" sz="950" dirty="0"/>
          </a:p>
        </p:txBody>
      </p:sp>
      <p:sp>
        <p:nvSpPr>
          <p:cNvPr id="18" name="Text 16"/>
          <p:cNvSpPr txBox="1"/>
          <p:nvPr/>
        </p:nvSpPr>
        <p:spPr>
          <a:xfrm>
            <a:off x="3291840" y="2980944"/>
            <a:ext cx="685800" cy="384048"/>
          </a:xfrm>
          <a:prstGeom prst="rect">
            <a:avLst/>
          </a:prstGeom>
          <a:noFill/>
          <a:ln/>
        </p:spPr>
        <p:txBody>
          <a:bodyPr wrap="square" lIns="0" tIns="0" rIns="0" bIns="0" rtlCol="0" anchor="ctr"/>
          <a:lstStyle/>
          <a:p>
            <a:pPr algn="r" indent="0" marL="0">
              <a:buNone/>
            </a:pPr>
            <a:r>
              <a:rPr lang="en-US" sz="950" b="1" dirty="0">
                <a:solidFill>
                  <a:srgbClr val="D98324"/>
                </a:solidFill>
                <a:latin typeface="Calibri" pitchFamily="34" charset="0"/>
                <a:ea typeface="Calibri" pitchFamily="34" charset="-122"/>
                <a:cs typeface="Calibri" pitchFamily="34" charset="-120"/>
              </a:rPr>
              <a:t>we pay them</a:t>
            </a:r>
            <a:endParaRPr lang="en-US" sz="950" dirty="0"/>
          </a:p>
        </p:txBody>
      </p:sp>
      <p:sp>
        <p:nvSpPr>
          <p:cNvPr id="19" name="Shape 17"/>
          <p:cNvSpPr/>
          <p:nvPr/>
        </p:nvSpPr>
        <p:spPr>
          <a:xfrm>
            <a:off x="4297680" y="1572768"/>
            <a:ext cx="3840480" cy="2011680"/>
          </a:xfrm>
          <a:prstGeom prst="roundRect">
            <a:avLst>
              <a:gd name="adj" fmla="val 2727"/>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sp>
        <p:nvSpPr>
          <p:cNvPr id="20" name="Text 18"/>
          <p:cNvSpPr txBox="1"/>
          <p:nvPr/>
        </p:nvSpPr>
        <p:spPr>
          <a:xfrm>
            <a:off x="4498848" y="1700784"/>
            <a:ext cx="3474720" cy="256032"/>
          </a:xfrm>
          <a:prstGeom prst="rect">
            <a:avLst/>
          </a:prstGeom>
          <a:noFill/>
          <a:ln/>
        </p:spPr>
        <p:txBody>
          <a:bodyPr wrap="square" lIns="0" tIns="0" rIns="0" bIns="0" rtlCol="0" anchor="ctr"/>
          <a:lstStyle/>
          <a:p>
            <a:pPr indent="0" marL="0">
              <a:buNone/>
            </a:pPr>
            <a:r>
              <a:rPr lang="en-US" sz="1250" b="1" dirty="0">
                <a:solidFill>
                  <a:srgbClr val="12233C"/>
                </a:solidFill>
                <a:latin typeface="Calibri" pitchFamily="34" charset="0"/>
                <a:ea typeface="Calibri" pitchFamily="34" charset="-122"/>
                <a:cs typeface="Calibri" pitchFamily="34" charset="-120"/>
              </a:rPr>
              <a:t>The executive KPI</a:t>
            </a:r>
            <a:endParaRPr lang="en-US" sz="1250" dirty="0"/>
          </a:p>
        </p:txBody>
      </p:sp>
      <p:sp>
        <p:nvSpPr>
          <p:cNvPr id="21" name="Shape 19"/>
          <p:cNvSpPr/>
          <p:nvPr/>
        </p:nvSpPr>
        <p:spPr>
          <a:xfrm>
            <a:off x="4498848" y="2011680"/>
            <a:ext cx="3474720" cy="1417320"/>
          </a:xfrm>
          <a:prstGeom prst="roundRect">
            <a:avLst>
              <a:gd name="adj" fmla="val 3226"/>
            </a:avLst>
          </a:prstGeom>
          <a:solidFill>
            <a:srgbClr val="16243A"/>
          </a:solidFill>
          <a:ln w="12700">
            <a:solidFill>
              <a:srgbClr val="2E5580"/>
            </a:solidFill>
            <a:prstDash val="solid"/>
          </a:ln>
        </p:spPr>
      </p:sp>
      <p:sp>
        <p:nvSpPr>
          <p:cNvPr id="22" name="Text 20"/>
          <p:cNvSpPr txBox="1"/>
          <p:nvPr/>
        </p:nvSpPr>
        <p:spPr>
          <a:xfrm>
            <a:off x="4681728" y="2157984"/>
            <a:ext cx="3108960" cy="1124712"/>
          </a:xfrm>
          <a:prstGeom prst="rect">
            <a:avLst/>
          </a:prstGeom>
          <a:noFill/>
          <a:ln/>
        </p:spPr>
        <p:txBody>
          <a:bodyPr wrap="square" lIns="0" tIns="0" rIns="0" bIns="0" rtlCol="0" anchor="ctr"/>
          <a:lstStyle/>
          <a:p>
            <a:pPr indent="0" marL="0">
              <a:lnSpc>
                <a:spcPts val="1250"/>
              </a:lnSpc>
              <a:buNone/>
            </a:pPr>
            <a:r>
              <a:rPr lang="en-US" sz="950" b="1" dirty="0">
                <a:solidFill>
                  <a:srgbClr val="7FD4D2"/>
                </a:solidFill>
                <a:latin typeface="Courier New" pitchFamily="34" charset="0"/>
                <a:ea typeface="Courier New" pitchFamily="34" charset="-122"/>
                <a:cs typeface="Courier New" pitchFamily="34" charset="-120"/>
              </a:rPr>
              <a:t>contribution per successful txn</a:t>
            </a:r>
            <a:endParaRPr lang="en-US" sz="950" dirty="0"/>
          </a:p>
          <a:p>
            <a:pPr indent="0" marL="0">
              <a:lnSpc>
                <a:spcPts val="1250"/>
              </a:lnSpc>
              <a:buNone/>
            </a:pPr>
            <a:endParaRPr lang="en-US" sz="950" dirty="0"/>
          </a:p>
          <a:p>
            <a:pPr indent="0" marL="0">
              <a:lnSpc>
                <a:spcPts val="1250"/>
              </a:lnSpc>
              <a:buNone/>
            </a:pPr>
            <a:r>
              <a:rPr lang="en-US" sz="950" dirty="0">
                <a:solidFill>
                  <a:srgbClr val="D6E2F0"/>
                </a:solidFill>
                <a:latin typeface="Courier New" pitchFamily="34" charset="0"/>
                <a:ea typeface="Courier New" pitchFamily="34" charset="-122"/>
                <a:cs typeface="Courier New" pitchFamily="34" charset="-120"/>
              </a:rPr>
              <a:t> = ( merchant revenue</a:t>
            </a:r>
            <a:endParaRPr lang="en-US" sz="950" dirty="0"/>
          </a:p>
          <a:p>
            <a:pPr indent="0" marL="0">
              <a:lnSpc>
                <a:spcPts val="1250"/>
              </a:lnSpc>
              <a:buNone/>
            </a:pPr>
            <a:r>
              <a:rPr lang="en-US" sz="950" dirty="0">
                <a:solidFill>
                  <a:srgbClr val="D6E2F0"/>
                </a:solidFill>
                <a:latin typeface="Courier New" pitchFamily="34" charset="0"/>
                <a:ea typeface="Courier New" pitchFamily="34" charset="-122"/>
                <a:cs typeface="Courier New" pitchFamily="34" charset="-120"/>
              </a:rPr>
              <a:t>   − processing cost</a:t>
            </a:r>
            <a:endParaRPr lang="en-US" sz="950" dirty="0"/>
          </a:p>
          <a:p>
            <a:pPr indent="0" marL="0">
              <a:lnSpc>
                <a:spcPts val="1250"/>
              </a:lnSpc>
              <a:buNone/>
            </a:pPr>
            <a:r>
              <a:rPr lang="en-US" sz="950" dirty="0">
                <a:solidFill>
                  <a:srgbClr val="D6E2F0"/>
                </a:solidFill>
                <a:latin typeface="Courier New" pitchFamily="34" charset="0"/>
                <a:ea typeface="Courier New" pitchFamily="34" charset="-122"/>
                <a:cs typeface="Courier New" pitchFamily="34" charset="-120"/>
              </a:rPr>
              <a:t>   − risk cost )</a:t>
            </a:r>
            <a:endParaRPr lang="en-US" sz="950" dirty="0"/>
          </a:p>
          <a:p>
            <a:pPr indent="0" marL="0">
              <a:lnSpc>
                <a:spcPts val="1250"/>
              </a:lnSpc>
              <a:buNone/>
            </a:pPr>
            <a:r>
              <a:rPr lang="en-US" sz="950" dirty="0">
                <a:solidFill>
                  <a:srgbClr val="D6E2F0"/>
                </a:solidFill>
                <a:latin typeface="Courier New" pitchFamily="34" charset="0"/>
                <a:ea typeface="Courier New" pitchFamily="34" charset="-122"/>
                <a:cs typeface="Courier New" pitchFamily="34" charset="-120"/>
              </a:rPr>
              <a:t>   / successful transactions</a:t>
            </a:r>
            <a:endParaRPr lang="en-US" sz="950" dirty="0"/>
          </a:p>
          <a:p>
            <a:pPr indent="0" marL="0">
              <a:lnSpc>
                <a:spcPts val="1250"/>
              </a:lnSpc>
              <a:buNone/>
            </a:pPr>
            <a:r>
              <a:rPr lang="en-US" sz="950" i="1" dirty="0">
                <a:solidFill>
                  <a:srgbClr val="8FA6C4"/>
                </a:solidFill>
                <a:latin typeface="Courier New" pitchFamily="34" charset="0"/>
                <a:ea typeface="Courier New" pitchFamily="34" charset="-122"/>
                <a:cs typeface="Courier New" pitchFamily="34" charset="-120"/>
              </a:rPr>
              <a:t>   USD at the SETTLEMENT rate</a:t>
            </a:r>
            <a:endParaRPr lang="en-US" sz="950" dirty="0"/>
          </a:p>
        </p:txBody>
      </p:sp>
      <p:sp>
        <p:nvSpPr>
          <p:cNvPr id="23" name="Shape 21"/>
          <p:cNvSpPr/>
          <p:nvPr/>
        </p:nvSpPr>
        <p:spPr>
          <a:xfrm>
            <a:off x="8321040" y="1572768"/>
            <a:ext cx="3291840" cy="2011680"/>
          </a:xfrm>
          <a:prstGeom prst="roundRect">
            <a:avLst>
              <a:gd name="adj" fmla="val 2727"/>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sp>
        <p:nvSpPr>
          <p:cNvPr id="24" name="Text 22"/>
          <p:cNvSpPr txBox="1"/>
          <p:nvPr/>
        </p:nvSpPr>
        <p:spPr>
          <a:xfrm>
            <a:off x="8522208" y="1700784"/>
            <a:ext cx="2926080" cy="256032"/>
          </a:xfrm>
          <a:prstGeom prst="rect">
            <a:avLst/>
          </a:prstGeom>
          <a:noFill/>
          <a:ln/>
        </p:spPr>
        <p:txBody>
          <a:bodyPr wrap="square" lIns="0" tIns="0" rIns="0" bIns="0" rtlCol="0" anchor="ctr"/>
          <a:lstStyle/>
          <a:p>
            <a:pPr indent="0" marL="0">
              <a:buNone/>
            </a:pPr>
            <a:r>
              <a:rPr lang="en-US" sz="1250" b="1" dirty="0">
                <a:solidFill>
                  <a:srgbClr val="12233C"/>
                </a:solidFill>
                <a:latin typeface="Calibri" pitchFamily="34" charset="0"/>
                <a:ea typeface="Calibri" pitchFamily="34" charset="-122"/>
                <a:cs typeface="Calibri" pitchFamily="34" charset="-120"/>
              </a:rPr>
              <a:t>SMART, in short</a:t>
            </a:r>
            <a:endParaRPr lang="en-US" sz="1250" dirty="0"/>
          </a:p>
        </p:txBody>
      </p:sp>
      <p:sp>
        <p:nvSpPr>
          <p:cNvPr id="25" name="Text 23"/>
          <p:cNvSpPr txBox="1"/>
          <p:nvPr/>
        </p:nvSpPr>
        <p:spPr>
          <a:xfrm>
            <a:off x="8558784" y="2011680"/>
            <a:ext cx="2889504" cy="1463040"/>
          </a:xfrm>
          <a:prstGeom prst="rect">
            <a:avLst/>
          </a:prstGeom>
          <a:noFill/>
          <a:ln/>
        </p:spPr>
        <p:txBody>
          <a:bodyPr wrap="square" lIns="0" tIns="0" rIns="0" bIns="0" rtlCol="0" anchor="ctr"/>
          <a:lstStyle/>
          <a:p>
            <a:pPr marL="342900" indent="-342900">
              <a:lnSpc>
                <a:spcPts val="1200"/>
              </a:lnSpc>
              <a:spcAft>
                <a:spcPts val="500"/>
              </a:spcAft>
              <a:buSzPct val="100000"/>
              <a:buChar char="•"/>
            </a:pPr>
            <a:r>
              <a:rPr lang="en-US" sz="950" dirty="0">
                <a:solidFill>
                  <a:srgbClr val="4A5663"/>
                </a:solidFill>
                <a:latin typeface="Calibri" pitchFamily="34" charset="0"/>
                <a:ea typeface="Calibri" pitchFamily="34" charset="-122"/>
                <a:cs typeface="Calibri" pitchFamily="34" charset="-120"/>
              </a:rPr>
              <a:t>Size the drivers of the decline across 2025, separating business performance from data artefacts.</a:t>
            </a:r>
            <a:endParaRPr lang="en-US" sz="950" dirty="0"/>
          </a:p>
          <a:p>
            <a:pPr marL="342900" indent="-342900">
              <a:lnSpc>
                <a:spcPts val="1200"/>
              </a:lnSpc>
              <a:spcAft>
                <a:spcPts val="500"/>
              </a:spcAft>
              <a:buSzPct val="100000"/>
              <a:buChar char="•"/>
            </a:pPr>
            <a:r>
              <a:rPr lang="en-US" sz="950" dirty="0">
                <a:solidFill>
                  <a:srgbClr val="4A5663"/>
                </a:solidFill>
                <a:latin typeface="Calibri" pitchFamily="34" charset="0"/>
                <a:ea typeface="Calibri" pitchFamily="34" charset="-122"/>
                <a:cs typeface="Calibri" pitchFamily="34" charset="-120"/>
              </a:rPr>
              <a:t>Attribute at least 90% of the fall to named drivers in USD per txn, residual stated.</a:t>
            </a:r>
            <a:endParaRPr lang="en-US" sz="950" dirty="0"/>
          </a:p>
          <a:p>
            <a:pPr marL="342900" indent="-342900">
              <a:lnSpc>
                <a:spcPts val="1200"/>
              </a:lnSpc>
              <a:spcAft>
                <a:spcPts val="500"/>
              </a:spcAft>
              <a:buSzPct val="100000"/>
              <a:buChar char="•"/>
            </a:pPr>
            <a:r>
              <a:rPr lang="en-US" sz="950" dirty="0">
                <a:solidFill>
                  <a:srgbClr val="4A5663"/>
                </a:solidFill>
                <a:latin typeface="Calibri" pitchFamily="34" charset="0"/>
                <a:ea typeface="Calibri" pitchFamily="34" charset="-122"/>
                <a:cs typeface="Calibri" pitchFamily="34" charset="-120"/>
              </a:rPr>
              <a:t>Five-day diagnostic; actions startable and measurable inside 60 days.</a:t>
            </a:r>
            <a:endParaRPr lang="en-US" sz="95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3703320"/>
          <a:ext cx="11064240" cy="914400"/>
        </p:xfrm>
        <a:graphic>
          <a:graphicData uri="http://schemas.openxmlformats.org/drawingml/2006/table">
            <a:tbl>
              <a:tblPr/>
              <a:tblGrid>
                <a:gridCol w="1600200"/>
                <a:gridCol w="9464040"/>
              </a:tblGrid>
              <a:tr h="329184">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KPI element</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2233C"/>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Defined to the row</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2233C"/>
                    </a:solidFill>
                  </a:tcPr>
                </a:tc>
              </a:tr>
              <a:tr h="329184">
                <a:tc>
                  <a:txBody>
                    <a:bodyPr/>
                    <a:lstStyle/>
                    <a:p>
                      <a:pPr algn="l" indent="0" marL="0">
                        <a:buNone/>
                      </a:pPr>
                      <a:r>
                        <a:rPr lang="en-US" sz="1050" b="1" dirty="0">
                          <a:solidFill>
                            <a:srgbClr val="1A1A1A"/>
                          </a:solidFill>
                          <a:latin typeface="Calibri" pitchFamily="34" charset="0"/>
                          <a:ea typeface="Calibri" pitchFamily="34" charset="-122"/>
                          <a:cs typeface="Calibri" pitchFamily="34" charset="-120"/>
                        </a:rPr>
                        <a:t>Numerator</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Merchant revenue − processing cost − risk cost, in USD</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r>
              <a:tr h="329184">
                <a:tc>
                  <a:txBody>
                    <a:bodyPr/>
                    <a:lstStyle/>
                    <a:p>
                      <a:pPr algn="l" indent="0" marL="0">
                        <a:buNone/>
                      </a:pPr>
                      <a:r>
                        <a:rPr lang="en-US" sz="1050" b="1" dirty="0">
                          <a:solidFill>
                            <a:srgbClr val="1A1A1A"/>
                          </a:solidFill>
                          <a:latin typeface="Calibri" pitchFamily="34" charset="0"/>
                          <a:ea typeface="Calibri" pitchFamily="34" charset="-122"/>
                          <a:cs typeface="Calibri" pitchFamily="34" charset="-120"/>
                        </a:rPr>
                        <a:t>Denominator</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Count of transactions with status CAPTURED</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r>
              <a:tr h="329184">
                <a:tc>
                  <a:txBody>
                    <a:bodyPr/>
                    <a:lstStyle/>
                    <a:p>
                      <a:pPr algn="l" indent="0" marL="0">
                        <a:buNone/>
                      </a:pPr>
                      <a:r>
                        <a:rPr lang="en-US" sz="1050" b="1" dirty="0">
                          <a:solidFill>
                            <a:srgbClr val="1A1A1A"/>
                          </a:solidFill>
                          <a:latin typeface="Calibri" pitchFamily="34" charset="0"/>
                          <a:ea typeface="Calibri" pitchFamily="34" charset="-122"/>
                          <a:cs typeface="Calibri" pitchFamily="34" charset="-120"/>
                        </a:rPr>
                        <a:t>Date basis</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transaction.created_at — the month we transacted, not the month cash settled</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r>
              <a:tr h="329184">
                <a:tc>
                  <a:txBody>
                    <a:bodyPr/>
                    <a:lstStyle/>
                    <a:p>
                      <a:pPr algn="l" indent="0" marL="0">
                        <a:buNone/>
                      </a:pPr>
                      <a:r>
                        <a:rPr lang="en-US" sz="1050" b="1" dirty="0">
                          <a:solidFill>
                            <a:srgbClr val="1A1A1A"/>
                          </a:solidFill>
                          <a:latin typeface="Calibri" pitchFamily="34" charset="0"/>
                          <a:ea typeface="Calibri" pitchFamily="34" charset="-122"/>
                          <a:cs typeface="Calibri" pitchFamily="34" charset="-120"/>
                        </a:rPr>
                        <a:t>Exclusions</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REVERSED out of both sides; negatives on CAPTURED with no parent quarantined; declined attempts leave the denominator</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r>
            </a:tbl>
          </a:graphicData>
        </a:graphic>
      </p:graphicFrame>
      <p:sp>
        <p:nvSpPr>
          <p:cNvPr id="27" name="Text 24"/>
          <p:cNvSpPr txBox="1"/>
          <p:nvPr/>
        </p:nvSpPr>
        <p:spPr>
          <a:xfrm>
            <a:off x="548640" y="5413248"/>
            <a:ext cx="11064240" cy="256032"/>
          </a:xfrm>
          <a:prstGeom prst="rect">
            <a:avLst/>
          </a:prstGeom>
          <a:noFill/>
          <a:ln/>
        </p:spPr>
        <p:txBody>
          <a:bodyPr wrap="square" lIns="0" tIns="0" rIns="0" bIns="0" rtlCol="0" anchor="ctr"/>
          <a:lstStyle/>
          <a:p>
            <a:pPr indent="0" marL="0">
              <a:buNone/>
            </a:pPr>
            <a:r>
              <a:rPr lang="en-US" sz="1250" b="1" dirty="0">
                <a:solidFill>
                  <a:srgbClr val="12233C"/>
                </a:solidFill>
                <a:latin typeface="Calibri" pitchFamily="34" charset="0"/>
                <a:ea typeface="Calibri" pitchFamily="34" charset="-122"/>
                <a:cs typeface="Calibri" pitchFamily="34" charset="-120"/>
              </a:rPr>
              <a:t>Four competing explanations, offered before anyone looked at the data</a:t>
            </a:r>
            <a:endParaRPr lang="en-US" sz="1250" dirty="0"/>
          </a:p>
        </p:txBody>
      </p:sp>
      <p:sp>
        <p:nvSpPr>
          <p:cNvPr id="28" name="Shape 25"/>
          <p:cNvSpPr/>
          <p:nvPr/>
        </p:nvSpPr>
        <p:spPr>
          <a:xfrm>
            <a:off x="548640" y="5715000"/>
            <a:ext cx="2606040" cy="1051560"/>
          </a:xfrm>
          <a:prstGeom prst="roundRect">
            <a:avLst>
              <a:gd name="adj" fmla="val 5217"/>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sp>
        <p:nvSpPr>
          <p:cNvPr id="29" name="Text 26"/>
          <p:cNvSpPr txBox="1"/>
          <p:nvPr/>
        </p:nvSpPr>
        <p:spPr>
          <a:xfrm>
            <a:off x="731520" y="5806440"/>
            <a:ext cx="2240280" cy="237744"/>
          </a:xfrm>
          <a:prstGeom prst="rect">
            <a:avLst/>
          </a:prstGeom>
          <a:noFill/>
          <a:ln/>
        </p:spPr>
        <p:txBody>
          <a:bodyPr wrap="square" lIns="0" tIns="0" rIns="0" bIns="0" rtlCol="0" anchor="ctr"/>
          <a:lstStyle/>
          <a:p>
            <a:pPr indent="0" marL="0">
              <a:buNone/>
            </a:pPr>
            <a:r>
              <a:rPr lang="en-US" sz="1150" b="1" dirty="0">
                <a:solidFill>
                  <a:srgbClr val="12233C"/>
                </a:solidFill>
                <a:latin typeface="Calibri" pitchFamily="34" charset="0"/>
                <a:ea typeface="Calibri" pitchFamily="34" charset="-122"/>
                <a:cs typeface="Calibri" pitchFamily="34" charset="-120"/>
              </a:rPr>
              <a:t>CFO</a:t>
            </a:r>
            <a:endParaRPr lang="en-US" sz="1150" dirty="0"/>
          </a:p>
        </p:txBody>
      </p:sp>
      <p:sp>
        <p:nvSpPr>
          <p:cNvPr id="30" name="Text 27"/>
          <p:cNvSpPr txBox="1"/>
          <p:nvPr/>
        </p:nvSpPr>
        <p:spPr>
          <a:xfrm>
            <a:off x="731520" y="6025896"/>
            <a:ext cx="2240280" cy="457200"/>
          </a:xfrm>
          <a:prstGeom prst="rect">
            <a:avLst/>
          </a:prstGeom>
          <a:noFill/>
          <a:ln/>
        </p:spPr>
        <p:txBody>
          <a:bodyPr wrap="square" lIns="0" tIns="0" rIns="0" bIns="0" rtlCol="0" anchor="ctr"/>
          <a:lstStyle/>
          <a:p>
            <a:pPr indent="0" marL="0">
              <a:lnSpc>
                <a:spcPts val="1200"/>
              </a:lnSpc>
              <a:buNone/>
            </a:pPr>
            <a:r>
              <a:rPr lang="en-US" sz="1000" i="1" dirty="0">
                <a:solidFill>
                  <a:srgbClr val="4A5663"/>
                </a:solidFill>
                <a:latin typeface="Calibri" pitchFamily="34" charset="0"/>
                <a:ea typeface="Calibri" pitchFamily="34" charset="-122"/>
                <a:cs typeface="Calibri" pitchFamily="34" charset="-120"/>
              </a:rPr>
              <a:t>"Merchants negotiated us down on price."</a:t>
            </a:r>
            <a:endParaRPr lang="en-US" sz="1000" dirty="0"/>
          </a:p>
        </p:txBody>
      </p:sp>
      <p:sp>
        <p:nvSpPr>
          <p:cNvPr id="31" name="Text 28"/>
          <p:cNvSpPr txBox="1"/>
          <p:nvPr/>
        </p:nvSpPr>
        <p:spPr>
          <a:xfrm>
            <a:off x="731520" y="6473952"/>
            <a:ext cx="2240280" cy="219456"/>
          </a:xfrm>
          <a:prstGeom prst="rect">
            <a:avLst/>
          </a:prstGeom>
          <a:noFill/>
          <a:ln/>
        </p:spPr>
        <p:txBody>
          <a:bodyPr wrap="square" lIns="0" tIns="0" rIns="0" bIns="0" rtlCol="0" anchor="ctr"/>
          <a:lstStyle/>
          <a:p>
            <a:pPr indent="0" marL="0">
              <a:buNone/>
            </a:pPr>
            <a:r>
              <a:rPr lang="en-US" sz="950" b="1" dirty="0">
                <a:solidFill>
                  <a:srgbClr val="D98324"/>
                </a:solidFill>
                <a:latin typeface="Calibri" pitchFamily="34" charset="0"/>
                <a:ea typeface="Calibri" pitchFamily="34" charset="-122"/>
                <a:cs typeface="Calibri" pitchFamily="34" charset="-120"/>
              </a:rPr>
              <a:t>H1b</a:t>
            </a:r>
            <a:endParaRPr lang="en-US" sz="950" dirty="0"/>
          </a:p>
        </p:txBody>
      </p:sp>
      <p:sp>
        <p:nvSpPr>
          <p:cNvPr id="32" name="Shape 29"/>
          <p:cNvSpPr/>
          <p:nvPr/>
        </p:nvSpPr>
        <p:spPr>
          <a:xfrm>
            <a:off x="3355848" y="5715000"/>
            <a:ext cx="2606040" cy="1051560"/>
          </a:xfrm>
          <a:prstGeom prst="roundRect">
            <a:avLst>
              <a:gd name="adj" fmla="val 5217"/>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sp>
        <p:nvSpPr>
          <p:cNvPr id="33" name="Text 30"/>
          <p:cNvSpPr txBox="1"/>
          <p:nvPr/>
        </p:nvSpPr>
        <p:spPr>
          <a:xfrm>
            <a:off x="3538728" y="5806440"/>
            <a:ext cx="2240280" cy="237744"/>
          </a:xfrm>
          <a:prstGeom prst="rect">
            <a:avLst/>
          </a:prstGeom>
          <a:noFill/>
          <a:ln/>
        </p:spPr>
        <p:txBody>
          <a:bodyPr wrap="square" lIns="0" tIns="0" rIns="0" bIns="0" rtlCol="0" anchor="ctr"/>
          <a:lstStyle/>
          <a:p>
            <a:pPr indent="0" marL="0">
              <a:buNone/>
            </a:pPr>
            <a:r>
              <a:rPr lang="en-US" sz="1150" b="1" dirty="0">
                <a:solidFill>
                  <a:srgbClr val="12233C"/>
                </a:solidFill>
                <a:latin typeface="Calibri" pitchFamily="34" charset="0"/>
                <a:ea typeface="Calibri" pitchFamily="34" charset="-122"/>
                <a:cs typeface="Calibri" pitchFamily="34" charset="-120"/>
              </a:rPr>
              <a:t>Head of Payments</a:t>
            </a:r>
            <a:endParaRPr lang="en-US" sz="1150" dirty="0"/>
          </a:p>
        </p:txBody>
      </p:sp>
      <p:sp>
        <p:nvSpPr>
          <p:cNvPr id="34" name="Text 31"/>
          <p:cNvSpPr txBox="1"/>
          <p:nvPr/>
        </p:nvSpPr>
        <p:spPr>
          <a:xfrm>
            <a:off x="3538728" y="6025896"/>
            <a:ext cx="2240280" cy="457200"/>
          </a:xfrm>
          <a:prstGeom prst="rect">
            <a:avLst/>
          </a:prstGeom>
          <a:noFill/>
          <a:ln/>
        </p:spPr>
        <p:txBody>
          <a:bodyPr wrap="square" lIns="0" tIns="0" rIns="0" bIns="0" rtlCol="0" anchor="ctr"/>
          <a:lstStyle/>
          <a:p>
            <a:pPr indent="0" marL="0">
              <a:lnSpc>
                <a:spcPts val="1200"/>
              </a:lnSpc>
              <a:buNone/>
            </a:pPr>
            <a:r>
              <a:rPr lang="en-US" sz="1000" i="1" dirty="0">
                <a:solidFill>
                  <a:srgbClr val="4A5663"/>
                </a:solidFill>
                <a:latin typeface="Calibri" pitchFamily="34" charset="0"/>
                <a:ea typeface="Calibri" pitchFamily="34" charset="-122"/>
                <a:cs typeface="Calibri" pitchFamily="34" charset="-120"/>
              </a:rPr>
              <a:t>"Provider latency is destroying conversion."</a:t>
            </a:r>
            <a:endParaRPr lang="en-US" sz="1000" dirty="0"/>
          </a:p>
        </p:txBody>
      </p:sp>
      <p:sp>
        <p:nvSpPr>
          <p:cNvPr id="35" name="Text 32"/>
          <p:cNvSpPr txBox="1"/>
          <p:nvPr/>
        </p:nvSpPr>
        <p:spPr>
          <a:xfrm>
            <a:off x="3538728" y="6473952"/>
            <a:ext cx="2240280" cy="219456"/>
          </a:xfrm>
          <a:prstGeom prst="rect">
            <a:avLst/>
          </a:prstGeom>
          <a:noFill/>
          <a:ln/>
        </p:spPr>
        <p:txBody>
          <a:bodyPr wrap="square" lIns="0" tIns="0" rIns="0" bIns="0" rtlCol="0" anchor="ctr"/>
          <a:lstStyle/>
          <a:p>
            <a:pPr indent="0" marL="0">
              <a:buNone/>
            </a:pPr>
            <a:r>
              <a:rPr lang="en-US" sz="950" b="1" dirty="0">
                <a:solidFill>
                  <a:srgbClr val="D98324"/>
                </a:solidFill>
                <a:latin typeface="Calibri" pitchFamily="34" charset="0"/>
                <a:ea typeface="Calibri" pitchFamily="34" charset="-122"/>
                <a:cs typeface="Calibri" pitchFamily="34" charset="-120"/>
              </a:rPr>
              <a:t>H2 / volume</a:t>
            </a:r>
            <a:endParaRPr lang="en-US" sz="950" dirty="0"/>
          </a:p>
        </p:txBody>
      </p:sp>
      <p:sp>
        <p:nvSpPr>
          <p:cNvPr id="36" name="Shape 33"/>
          <p:cNvSpPr/>
          <p:nvPr/>
        </p:nvSpPr>
        <p:spPr>
          <a:xfrm>
            <a:off x="6163056" y="5715000"/>
            <a:ext cx="2606040" cy="1051560"/>
          </a:xfrm>
          <a:prstGeom prst="roundRect">
            <a:avLst>
              <a:gd name="adj" fmla="val 5217"/>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sp>
        <p:nvSpPr>
          <p:cNvPr id="37" name="Text 34"/>
          <p:cNvSpPr txBox="1"/>
          <p:nvPr/>
        </p:nvSpPr>
        <p:spPr>
          <a:xfrm>
            <a:off x="6345936" y="5806440"/>
            <a:ext cx="2240280" cy="237744"/>
          </a:xfrm>
          <a:prstGeom prst="rect">
            <a:avLst/>
          </a:prstGeom>
          <a:noFill/>
          <a:ln/>
        </p:spPr>
        <p:txBody>
          <a:bodyPr wrap="square" lIns="0" tIns="0" rIns="0" bIns="0" rtlCol="0" anchor="ctr"/>
          <a:lstStyle/>
          <a:p>
            <a:pPr indent="0" marL="0">
              <a:buNone/>
            </a:pPr>
            <a:r>
              <a:rPr lang="en-US" sz="1150" b="1" dirty="0">
                <a:solidFill>
                  <a:srgbClr val="12233C"/>
                </a:solidFill>
                <a:latin typeface="Calibri" pitchFamily="34" charset="0"/>
                <a:ea typeface="Calibri" pitchFamily="34" charset="-122"/>
                <a:cs typeface="Calibri" pitchFamily="34" charset="-120"/>
              </a:rPr>
              <a:t>Risk Head</a:t>
            </a:r>
            <a:endParaRPr lang="en-US" sz="1150" dirty="0"/>
          </a:p>
        </p:txBody>
      </p:sp>
      <p:sp>
        <p:nvSpPr>
          <p:cNvPr id="38" name="Text 35"/>
          <p:cNvSpPr txBox="1"/>
          <p:nvPr/>
        </p:nvSpPr>
        <p:spPr>
          <a:xfrm>
            <a:off x="6345936" y="6025896"/>
            <a:ext cx="2240280" cy="457200"/>
          </a:xfrm>
          <a:prstGeom prst="rect">
            <a:avLst/>
          </a:prstGeom>
          <a:noFill/>
          <a:ln/>
        </p:spPr>
        <p:txBody>
          <a:bodyPr wrap="square" lIns="0" tIns="0" rIns="0" bIns="0" rtlCol="0" anchor="ctr"/>
          <a:lstStyle/>
          <a:p>
            <a:pPr indent="0" marL="0">
              <a:lnSpc>
                <a:spcPts val="1200"/>
              </a:lnSpc>
              <a:buNone/>
            </a:pPr>
            <a:r>
              <a:rPr lang="en-US" sz="1000" i="1" dirty="0">
                <a:solidFill>
                  <a:srgbClr val="4A5663"/>
                </a:solidFill>
                <a:latin typeface="Calibri" pitchFamily="34" charset="0"/>
                <a:ea typeface="Calibri" pitchFamily="34" charset="-122"/>
                <a:cs typeface="Calibri" pitchFamily="34" charset="-120"/>
              </a:rPr>
              <a:t>"The new fraud model declines good payments."</a:t>
            </a:r>
            <a:endParaRPr lang="en-US" sz="1000" dirty="0"/>
          </a:p>
        </p:txBody>
      </p:sp>
      <p:sp>
        <p:nvSpPr>
          <p:cNvPr id="39" name="Text 36"/>
          <p:cNvSpPr txBox="1"/>
          <p:nvPr/>
        </p:nvSpPr>
        <p:spPr>
          <a:xfrm>
            <a:off x="6345936" y="6473952"/>
            <a:ext cx="2240280" cy="219456"/>
          </a:xfrm>
          <a:prstGeom prst="rect">
            <a:avLst/>
          </a:prstGeom>
          <a:noFill/>
          <a:ln/>
        </p:spPr>
        <p:txBody>
          <a:bodyPr wrap="square" lIns="0" tIns="0" rIns="0" bIns="0" rtlCol="0" anchor="ctr"/>
          <a:lstStyle/>
          <a:p>
            <a:pPr indent="0" marL="0">
              <a:buNone/>
            </a:pPr>
            <a:r>
              <a:rPr lang="en-US" sz="950" b="1" dirty="0">
                <a:solidFill>
                  <a:srgbClr val="D98324"/>
                </a:solidFill>
                <a:latin typeface="Calibri" pitchFamily="34" charset="0"/>
                <a:ea typeface="Calibri" pitchFamily="34" charset="-122"/>
                <a:cs typeface="Calibri" pitchFamily="34" charset="-120"/>
              </a:rPr>
              <a:t>H3b</a:t>
            </a:r>
            <a:endParaRPr lang="en-US" sz="950" dirty="0"/>
          </a:p>
        </p:txBody>
      </p:sp>
      <p:sp>
        <p:nvSpPr>
          <p:cNvPr id="40" name="Shape 37"/>
          <p:cNvSpPr/>
          <p:nvPr/>
        </p:nvSpPr>
        <p:spPr>
          <a:xfrm>
            <a:off x="8970264" y="5715000"/>
            <a:ext cx="2606040" cy="1051560"/>
          </a:xfrm>
          <a:prstGeom prst="roundRect">
            <a:avLst>
              <a:gd name="adj" fmla="val 5217"/>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sp>
        <p:nvSpPr>
          <p:cNvPr id="41" name="Text 38"/>
          <p:cNvSpPr txBox="1"/>
          <p:nvPr/>
        </p:nvSpPr>
        <p:spPr>
          <a:xfrm>
            <a:off x="9153144" y="5806440"/>
            <a:ext cx="2240280" cy="237744"/>
          </a:xfrm>
          <a:prstGeom prst="rect">
            <a:avLst/>
          </a:prstGeom>
          <a:noFill/>
          <a:ln/>
        </p:spPr>
        <p:txBody>
          <a:bodyPr wrap="square" lIns="0" tIns="0" rIns="0" bIns="0" rtlCol="0" anchor="ctr"/>
          <a:lstStyle/>
          <a:p>
            <a:pPr indent="0" marL="0">
              <a:buNone/>
            </a:pPr>
            <a:r>
              <a:rPr lang="en-US" sz="1150" b="1" dirty="0">
                <a:solidFill>
                  <a:srgbClr val="12233C"/>
                </a:solidFill>
                <a:latin typeface="Calibri" pitchFamily="34" charset="0"/>
                <a:ea typeface="Calibri" pitchFamily="34" charset="-122"/>
                <a:cs typeface="Calibri" pitchFamily="34" charset="-120"/>
              </a:rPr>
              <a:t>Data Head</a:t>
            </a:r>
            <a:endParaRPr lang="en-US" sz="1150" dirty="0"/>
          </a:p>
        </p:txBody>
      </p:sp>
      <p:sp>
        <p:nvSpPr>
          <p:cNvPr id="42" name="Text 39"/>
          <p:cNvSpPr txBox="1"/>
          <p:nvPr/>
        </p:nvSpPr>
        <p:spPr>
          <a:xfrm>
            <a:off x="9153144" y="6025896"/>
            <a:ext cx="2240280" cy="457200"/>
          </a:xfrm>
          <a:prstGeom prst="rect">
            <a:avLst/>
          </a:prstGeom>
          <a:noFill/>
          <a:ln/>
        </p:spPr>
        <p:txBody>
          <a:bodyPr wrap="square" lIns="0" tIns="0" rIns="0" bIns="0" rtlCol="0" anchor="ctr"/>
          <a:lstStyle/>
          <a:p>
            <a:pPr indent="0" marL="0">
              <a:lnSpc>
                <a:spcPts val="1200"/>
              </a:lnSpc>
              <a:buNone/>
            </a:pPr>
            <a:r>
              <a:rPr lang="en-US" sz="1000" i="1" dirty="0">
                <a:solidFill>
                  <a:srgbClr val="4A5663"/>
                </a:solidFill>
                <a:latin typeface="Calibri" pitchFamily="34" charset="0"/>
                <a:ea typeface="Calibri" pitchFamily="34" charset="-122"/>
                <a:cs typeface="Calibri" pitchFamily="34" charset="-120"/>
              </a:rPr>
              <a:t>"None of the reporting can be trusted anyway."</a:t>
            </a:r>
            <a:endParaRPr lang="en-US" sz="1000" dirty="0"/>
          </a:p>
        </p:txBody>
      </p:sp>
      <p:sp>
        <p:nvSpPr>
          <p:cNvPr id="43" name="Text 40"/>
          <p:cNvSpPr txBox="1"/>
          <p:nvPr/>
        </p:nvSpPr>
        <p:spPr>
          <a:xfrm>
            <a:off x="9153144" y="6473952"/>
            <a:ext cx="2240280" cy="219456"/>
          </a:xfrm>
          <a:prstGeom prst="rect">
            <a:avLst/>
          </a:prstGeom>
          <a:noFill/>
          <a:ln/>
        </p:spPr>
        <p:txBody>
          <a:bodyPr wrap="square" lIns="0" tIns="0" rIns="0" bIns="0" rtlCol="0" anchor="ctr"/>
          <a:lstStyle/>
          <a:p>
            <a:pPr indent="0" marL="0">
              <a:buNone/>
            </a:pPr>
            <a:r>
              <a:rPr lang="en-US" sz="950" b="1" dirty="0">
                <a:solidFill>
                  <a:srgbClr val="D98324"/>
                </a:solidFill>
                <a:latin typeface="Calibri" pitchFamily="34" charset="0"/>
                <a:ea typeface="Calibri" pitchFamily="34" charset="-122"/>
                <a:cs typeface="Calibri" pitchFamily="34" charset="-120"/>
              </a:rPr>
              <a:t>H0 — the gate</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8"/>
        </a:solidFill>
      </p:bgPr>
    </p:bg>
    <p:spTree>
      <p:nvGrpSpPr>
        <p:cNvPr id="1" name=""/>
        <p:cNvGrpSpPr/>
        <p:nvPr/>
      </p:nvGrpSpPr>
      <p:grpSpPr>
        <a:xfrm>
          <a:off x="0" y="0"/>
          <a:ext cx="0" cy="0"/>
          <a:chOff x="0" y="0"/>
          <a:chExt cx="0" cy="0"/>
        </a:xfrm>
      </p:grpSpPr>
      <p:sp>
        <p:nvSpPr>
          <p:cNvPr id="2" name="Text 0"/>
          <p:cNvSpPr txBox="1"/>
          <p:nvPr/>
        </p:nvSpPr>
        <p:spPr>
          <a:xfrm>
            <a:off x="548640" y="329184"/>
            <a:ext cx="7315200" cy="237744"/>
          </a:xfrm>
          <a:prstGeom prst="rect">
            <a:avLst/>
          </a:prstGeom>
          <a:noFill/>
          <a:ln/>
        </p:spPr>
        <p:txBody>
          <a:bodyPr wrap="square" lIns="0" tIns="0" rIns="0" bIns="0" rtlCol="0" anchor="ctr"/>
          <a:lstStyle/>
          <a:p>
            <a:pPr indent="0" marL="0">
              <a:buNone/>
            </a:pPr>
            <a:r>
              <a:rPr lang="en-US" sz="1050" b="1" spc="200" kern="0" dirty="0">
                <a:solidFill>
                  <a:srgbClr val="D98324"/>
                </a:solidFill>
                <a:latin typeface="Calibri" pitchFamily="34" charset="0"/>
                <a:ea typeface="Calibri" pitchFamily="34" charset="-122"/>
                <a:cs typeface="Calibri" pitchFamily="34" charset="-120"/>
              </a:rPr>
              <a:t>TASK 1 · HYPOTHESIS STRUCTURE</a:t>
            </a:r>
            <a:endParaRPr lang="en-US" sz="1050" dirty="0"/>
          </a:p>
        </p:txBody>
      </p:sp>
      <p:sp>
        <p:nvSpPr>
          <p:cNvPr id="3" name="Text 1"/>
          <p:cNvSpPr txBox="1"/>
          <p:nvPr/>
        </p:nvSpPr>
        <p:spPr>
          <a:xfrm>
            <a:off x="548640" y="603504"/>
            <a:ext cx="11064240" cy="502920"/>
          </a:xfrm>
          <a:prstGeom prst="rect">
            <a:avLst/>
          </a:prstGeom>
          <a:noFill/>
          <a:ln/>
        </p:spPr>
        <p:txBody>
          <a:bodyPr wrap="square" lIns="0" tIns="0" rIns="0" bIns="0" rtlCol="0" anchor="ctr"/>
          <a:lstStyle/>
          <a:p>
            <a:pPr indent="0" marL="0">
              <a:buNone/>
            </a:pPr>
            <a:r>
              <a:rPr lang="en-US" sz="2600" b="1" dirty="0">
                <a:solidFill>
                  <a:srgbClr val="12233C"/>
                </a:solidFill>
                <a:latin typeface="Cambria" pitchFamily="34" charset="0"/>
                <a:ea typeface="Cambria" pitchFamily="34" charset="-122"/>
                <a:cs typeface="Cambria" pitchFamily="34" charset="-120"/>
              </a:rPr>
              <a:t>The hypothesis tree comes from the arithmetic, not from the room</a:t>
            </a:r>
            <a:endParaRPr lang="en-US" sz="2600" dirty="0"/>
          </a:p>
        </p:txBody>
      </p:sp>
      <p:sp>
        <p:nvSpPr>
          <p:cNvPr id="4" name="Text 2"/>
          <p:cNvSpPr txBox="1"/>
          <p:nvPr/>
        </p:nvSpPr>
        <p:spPr>
          <a:xfrm>
            <a:off x="548640" y="1115568"/>
            <a:ext cx="11064240" cy="310896"/>
          </a:xfrm>
          <a:prstGeom prst="rect">
            <a:avLst/>
          </a:prstGeom>
          <a:noFill/>
          <a:ln/>
        </p:spPr>
        <p:txBody>
          <a:bodyPr wrap="square" lIns="0" tIns="0" rIns="0" bIns="0" rtlCol="0" anchor="ctr"/>
          <a:lstStyle/>
          <a:p>
            <a:pPr indent="0" marL="0">
              <a:buNone/>
            </a:pPr>
            <a:r>
              <a:rPr lang="en-US" sz="1300" dirty="0">
                <a:solidFill>
                  <a:srgbClr val="6B7785"/>
                </a:solidFill>
                <a:latin typeface="Calibri" pitchFamily="34" charset="0"/>
                <a:ea typeface="Calibri" pitchFamily="34" charset="-122"/>
                <a:cs typeface="Calibri" pitchFamily="34" charset="-120"/>
              </a:rPr>
              <a:t>Deriving the tree from the KPI formula is what makes it mutually exclusive and collectively exhaustive.</a:t>
            </a:r>
            <a:endParaRPr lang="en-US" sz="1300" dirty="0"/>
          </a:p>
        </p:txBody>
      </p:sp>
      <p:pic>
        <p:nvPicPr>
          <p:cNvPr id="5" name="Image 0" descr="preencoded.png">    </p:cNvPr>
          <p:cNvPicPr>
            <a:picLocks noChangeAspect="1"/>
          </p:cNvPicPr>
          <p:nvPr/>
        </p:nvPicPr>
        <p:blipFill>
          <a:blip r:embed="rId1"/>
          <a:stretch>
            <a:fillRect/>
          </a:stretch>
        </p:blipFill>
        <p:spPr>
          <a:xfrm>
            <a:off x="779890" y="1572768"/>
            <a:ext cx="10601739" cy="4572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8"/>
        </a:solidFill>
      </p:bgPr>
    </p:bg>
    <p:spTree>
      <p:nvGrpSpPr>
        <p:cNvPr id="1" name=""/>
        <p:cNvGrpSpPr/>
        <p:nvPr/>
      </p:nvGrpSpPr>
      <p:grpSpPr>
        <a:xfrm>
          <a:off x="0" y="0"/>
          <a:ext cx="0" cy="0"/>
          <a:chOff x="0" y="0"/>
          <a:chExt cx="0" cy="0"/>
        </a:xfrm>
      </p:grpSpPr>
      <p:sp>
        <p:nvSpPr>
          <p:cNvPr id="2" name="Text 0"/>
          <p:cNvSpPr txBox="1"/>
          <p:nvPr/>
        </p:nvSpPr>
        <p:spPr>
          <a:xfrm>
            <a:off x="548640" y="329184"/>
            <a:ext cx="7315200" cy="237744"/>
          </a:xfrm>
          <a:prstGeom prst="rect">
            <a:avLst/>
          </a:prstGeom>
          <a:noFill/>
          <a:ln/>
        </p:spPr>
        <p:txBody>
          <a:bodyPr wrap="square" lIns="0" tIns="0" rIns="0" bIns="0" rtlCol="0" anchor="ctr"/>
          <a:lstStyle/>
          <a:p>
            <a:pPr indent="0" marL="0">
              <a:buNone/>
            </a:pPr>
            <a:r>
              <a:rPr lang="en-US" sz="1050" b="1" spc="200" kern="0" dirty="0">
                <a:solidFill>
                  <a:srgbClr val="D98324"/>
                </a:solidFill>
                <a:latin typeface="Calibri" pitchFamily="34" charset="0"/>
                <a:ea typeface="Calibri" pitchFamily="34" charset="-122"/>
                <a:cs typeface="Calibri" pitchFamily="34" charset="-120"/>
              </a:rPr>
              <a:t>TASK 1 · HYPOTHESES</a:t>
            </a:r>
            <a:endParaRPr lang="en-US" sz="1050" dirty="0"/>
          </a:p>
        </p:txBody>
      </p:sp>
      <p:sp>
        <p:nvSpPr>
          <p:cNvPr id="3" name="Text 1"/>
          <p:cNvSpPr txBox="1"/>
          <p:nvPr/>
        </p:nvSpPr>
        <p:spPr>
          <a:xfrm>
            <a:off x="548640" y="603504"/>
            <a:ext cx="11064240" cy="502920"/>
          </a:xfrm>
          <a:prstGeom prst="rect">
            <a:avLst/>
          </a:prstGeom>
          <a:noFill/>
          <a:ln/>
        </p:spPr>
        <p:txBody>
          <a:bodyPr wrap="square" lIns="0" tIns="0" rIns="0" bIns="0" rtlCol="0" anchor="ctr"/>
          <a:lstStyle/>
          <a:p>
            <a:pPr indent="0" marL="0">
              <a:buNone/>
            </a:pPr>
            <a:r>
              <a:rPr lang="en-US" sz="2600" b="1" dirty="0">
                <a:solidFill>
                  <a:srgbClr val="12233C"/>
                </a:solidFill>
                <a:latin typeface="Cambria" pitchFamily="34" charset="0"/>
                <a:ea typeface="Cambria" pitchFamily="34" charset="-122"/>
                <a:cs typeface="Cambria" pitchFamily="34" charset="-120"/>
              </a:rPr>
              <a:t>Seven hypotheses, each with its falsification condition written first</a:t>
            </a:r>
            <a:endParaRPr lang="en-US" sz="2600" dirty="0"/>
          </a:p>
        </p:txBody>
      </p:sp>
      <p:sp>
        <p:nvSpPr>
          <p:cNvPr id="4" name="Text 2"/>
          <p:cNvSpPr txBox="1"/>
          <p:nvPr/>
        </p:nvSpPr>
        <p:spPr>
          <a:xfrm>
            <a:off x="548640" y="1115568"/>
            <a:ext cx="11064240" cy="310896"/>
          </a:xfrm>
          <a:prstGeom prst="rect">
            <a:avLst/>
          </a:prstGeom>
          <a:noFill/>
          <a:ln/>
        </p:spPr>
        <p:txBody>
          <a:bodyPr wrap="square" lIns="0" tIns="0" rIns="0" bIns="0" rtlCol="0" anchor="ctr"/>
          <a:lstStyle/>
          <a:p>
            <a:pPr indent="0" marL="0">
              <a:buNone/>
            </a:pPr>
            <a:r>
              <a:rPr lang="en-US" sz="1300" dirty="0">
                <a:solidFill>
                  <a:srgbClr val="6B7785"/>
                </a:solidFill>
                <a:latin typeface="Calibri" pitchFamily="34" charset="0"/>
                <a:ea typeface="Calibri" pitchFamily="34" charset="-122"/>
                <a:cs typeface="Calibri" pitchFamily="34" charset="-120"/>
              </a:rPr>
              <a:t>Stating what would reject a hypothesis before running the test is what stops the analysis becoming a search for confirmation.</a:t>
            </a:r>
            <a:endParaRPr lang="en-US" sz="13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627632"/>
          <a:ext cx="11064240" cy="914400"/>
        </p:xfrm>
        <a:graphic>
          <a:graphicData uri="http://schemas.openxmlformats.org/drawingml/2006/table">
            <a:tbl>
              <a:tblPr/>
              <a:tblGrid>
                <a:gridCol w="566928"/>
                <a:gridCol w="3291840"/>
                <a:gridCol w="3602736"/>
                <a:gridCol w="3602736"/>
              </a:tblGrid>
              <a:tr h="475488">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ID</a:t>
                      </a:r>
                      <a:endParaRPr lang="en-US" sz="11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2233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Hypothesis</a:t>
                      </a:r>
                      <a:endParaRPr lang="en-US" sz="11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2233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Confirms if</a:t>
                      </a:r>
                      <a:endParaRPr lang="en-US" sz="11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2233C"/>
                    </a:solidFill>
                  </a:tcPr>
                </a:tc>
                <a:tc>
                  <a:txBody>
                    <a:bodyPr/>
                    <a:lstStyle/>
                    <a:p>
                      <a:pPr indent="0" marL="0">
                        <a:buNone/>
                      </a:pPr>
                      <a:r>
                        <a:rPr lang="en-US" sz="1100" b="1" dirty="0">
                          <a:solidFill>
                            <a:srgbClr val="FFFFFF"/>
                          </a:solidFill>
                          <a:latin typeface="Calibri" pitchFamily="34" charset="0"/>
                          <a:ea typeface="Calibri" pitchFamily="34" charset="-122"/>
                          <a:cs typeface="Calibri" pitchFamily="34" charset="-120"/>
                        </a:rPr>
                        <a:t>Rejects if</a:t>
                      </a:r>
                      <a:endParaRPr lang="en-US" sz="11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2233C"/>
                    </a:solidFill>
                  </a:tcPr>
                </a:tc>
              </a:tr>
              <a:tr h="475488">
                <a:tc>
                  <a:txBody>
                    <a:bodyPr/>
                    <a:lstStyle/>
                    <a:p>
                      <a:pPr algn="ctr" indent="0" marL="0">
                        <a:buNone/>
                      </a:pPr>
                      <a:r>
                        <a:rPr lang="en-US" sz="1100" b="1" dirty="0">
                          <a:solidFill>
                            <a:srgbClr val="D98324"/>
                          </a:solidFill>
                          <a:latin typeface="Calibri" pitchFamily="34" charset="0"/>
                          <a:ea typeface="Calibri" pitchFamily="34" charset="-122"/>
                          <a:cs typeface="Calibri" pitchFamily="34" charset="-120"/>
                        </a:rPr>
                        <a:t>H0</a:t>
                      </a:r>
                      <a:endParaRPr lang="en-US" sz="11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A1A"/>
                          </a:solidFill>
                          <a:latin typeface="Calibri" pitchFamily="34" charset="0"/>
                          <a:ea typeface="Calibri" pitchFamily="34" charset="-122"/>
                          <a:cs typeface="Calibri" pitchFamily="34" charset="-120"/>
                        </a:rPr>
                        <a:t>The deterioration is partly a data artefact</a:t>
                      </a:r>
                      <a:endParaRPr lang="en-US" sz="11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A1A"/>
                          </a:solidFill>
                          <a:latin typeface="Calibri" pitchFamily="34" charset="0"/>
                          <a:ea typeface="Calibri" pitchFamily="34" charset="-122"/>
                          <a:cs typeface="Calibri" pitchFamily="34" charset="-120"/>
                        </a:rPr>
                        <a:t>Transaction and settlement totals fail to reconcile</a:t>
                      </a:r>
                      <a:endParaRPr lang="en-US" sz="11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A1A"/>
                          </a:solidFill>
                          <a:latin typeface="Calibri" pitchFamily="34" charset="0"/>
                          <a:ea typeface="Calibri" pitchFamily="34" charset="-122"/>
                          <a:cs typeface="Calibri" pitchFamily="34" charset="-120"/>
                        </a:rPr>
                        <a:t>Reconciliation closes and the defect log explains the gap</a:t>
                      </a:r>
                      <a:endParaRPr lang="en-US" sz="11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r>
              <a:tr h="475488">
                <a:tc>
                  <a:txBody>
                    <a:bodyPr/>
                    <a:lstStyle/>
                    <a:p>
                      <a:pPr algn="ctr" indent="0" marL="0">
                        <a:buNone/>
                      </a:pPr>
                      <a:r>
                        <a:rPr lang="en-US" sz="1100" b="1" dirty="0">
                          <a:solidFill>
                            <a:srgbClr val="D98324"/>
                          </a:solidFill>
                          <a:latin typeface="Calibri" pitchFamily="34" charset="0"/>
                          <a:ea typeface="Calibri" pitchFamily="34" charset="-122"/>
                          <a:cs typeface="Calibri" pitchFamily="34" charset="-120"/>
                        </a:rPr>
                        <a:t>H1a</a:t>
                      </a:r>
                      <a:endParaRPr lang="en-US" sz="11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1100" dirty="0">
                          <a:solidFill>
                            <a:srgbClr val="1A1A1A"/>
                          </a:solidFill>
                          <a:latin typeface="Calibri" pitchFamily="34" charset="0"/>
                          <a:ea typeface="Calibri" pitchFamily="34" charset="-122"/>
                          <a:cs typeface="Calibri" pitchFamily="34" charset="-120"/>
                        </a:rPr>
                        <a:t>Revenue per txn fell because the book shifted</a:t>
                      </a:r>
                      <a:endParaRPr lang="en-US" sz="11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1100" dirty="0">
                          <a:solidFill>
                            <a:srgbClr val="1A1A1A"/>
                          </a:solidFill>
                          <a:latin typeface="Calibri" pitchFamily="34" charset="0"/>
                          <a:ea typeface="Calibri" pitchFamily="34" charset="-122"/>
                          <a:cs typeface="Calibri" pitchFamily="34" charset="-120"/>
                        </a:rPr>
                        <a:t>Segment weights shift materially across the period</a:t>
                      </a:r>
                      <a:endParaRPr lang="en-US" sz="11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1100" dirty="0">
                          <a:solidFill>
                            <a:srgbClr val="1A1A1A"/>
                          </a:solidFill>
                          <a:latin typeface="Calibri" pitchFamily="34" charset="0"/>
                          <a:ea typeface="Calibri" pitchFamily="34" charset="-122"/>
                          <a:cs typeface="Calibri" pitchFamily="34" charset="-120"/>
                        </a:rPr>
                        <a:t>Weights are stable, or reweighting removes the fall</a:t>
                      </a:r>
                      <a:endParaRPr lang="en-US" sz="11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r>
              <a:tr h="475488">
                <a:tc>
                  <a:txBody>
                    <a:bodyPr/>
                    <a:lstStyle/>
                    <a:p>
                      <a:pPr algn="ctr" indent="0" marL="0">
                        <a:buNone/>
                      </a:pPr>
                      <a:r>
                        <a:rPr lang="en-US" sz="1100" b="1" dirty="0">
                          <a:solidFill>
                            <a:srgbClr val="D98324"/>
                          </a:solidFill>
                          <a:latin typeface="Calibri" pitchFamily="34" charset="0"/>
                          <a:ea typeface="Calibri" pitchFamily="34" charset="-122"/>
                          <a:cs typeface="Calibri" pitchFamily="34" charset="-120"/>
                        </a:rPr>
                        <a:t>H1b</a:t>
                      </a:r>
                      <a:endParaRPr lang="en-US" sz="11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A1A"/>
                          </a:solidFill>
                          <a:latin typeface="Calibri" pitchFamily="34" charset="0"/>
                          <a:ea typeface="Calibri" pitchFamily="34" charset="-122"/>
                          <a:cs typeface="Calibri" pitchFamily="34" charset="-120"/>
                        </a:rPr>
                        <a:t>Merchants were repriced downward</a:t>
                      </a:r>
                      <a:endParaRPr lang="en-US" sz="11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A1A"/>
                          </a:solidFill>
                          <a:latin typeface="Calibri" pitchFamily="34" charset="0"/>
                          <a:ea typeface="Calibri" pitchFamily="34" charset="-122"/>
                          <a:cs typeface="Calibri" pitchFamily="34" charset="-120"/>
                        </a:rPr>
                        <a:t>Take rate falls within a pricing plan</a:t>
                      </a:r>
                      <a:endParaRPr lang="en-US" sz="11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A1A"/>
                          </a:solidFill>
                          <a:latin typeface="Calibri" pitchFamily="34" charset="0"/>
                          <a:ea typeface="Calibri" pitchFamily="34" charset="-122"/>
                          <a:cs typeface="Calibri" pitchFamily="34" charset="-120"/>
                        </a:rPr>
                        <a:t>Take rate within every plan is flat or rising</a:t>
                      </a:r>
                      <a:endParaRPr lang="en-US" sz="11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r>
              <a:tr h="475488">
                <a:tc>
                  <a:txBody>
                    <a:bodyPr/>
                    <a:lstStyle/>
                    <a:p>
                      <a:pPr algn="ctr" indent="0" marL="0">
                        <a:buNone/>
                      </a:pPr>
                      <a:r>
                        <a:rPr lang="en-US" sz="1100" b="1" dirty="0">
                          <a:solidFill>
                            <a:srgbClr val="D98324"/>
                          </a:solidFill>
                          <a:latin typeface="Calibri" pitchFamily="34" charset="0"/>
                          <a:ea typeface="Calibri" pitchFamily="34" charset="-122"/>
                          <a:cs typeface="Calibri" pitchFamily="34" charset="-120"/>
                        </a:rPr>
                        <a:t>H1c</a:t>
                      </a:r>
                      <a:endParaRPr lang="en-US" sz="11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1100" dirty="0">
                          <a:solidFill>
                            <a:srgbClr val="1A1A1A"/>
                          </a:solidFill>
                          <a:latin typeface="Calibri" pitchFamily="34" charset="0"/>
                          <a:ea typeface="Calibri" pitchFamily="34" charset="-122"/>
                          <a:cs typeface="Calibri" pitchFamily="34" charset="-120"/>
                        </a:rPr>
                        <a:t>Currency translation eroded revenue</a:t>
                      </a:r>
                      <a:endParaRPr lang="en-US" sz="11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1100" dirty="0">
                          <a:solidFill>
                            <a:srgbClr val="1A1A1A"/>
                          </a:solidFill>
                          <a:latin typeface="Calibri" pitchFamily="34" charset="0"/>
                          <a:ea typeface="Calibri" pitchFamily="34" charset="-122"/>
                          <a:cs typeface="Calibri" pitchFamily="34" charset="-120"/>
                        </a:rPr>
                        <a:t>Constant-FX contribution diverges from actual</a:t>
                      </a:r>
                      <a:endParaRPr lang="en-US" sz="11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1100" dirty="0">
                          <a:solidFill>
                            <a:srgbClr val="1A1A1A"/>
                          </a:solidFill>
                          <a:latin typeface="Calibri" pitchFamily="34" charset="0"/>
                          <a:ea typeface="Calibri" pitchFamily="34" charset="-122"/>
                          <a:cs typeface="Calibri" pitchFamily="34" charset="-120"/>
                        </a:rPr>
                        <a:t>The two series track closely</a:t>
                      </a:r>
                      <a:endParaRPr lang="en-US" sz="11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r>
              <a:tr h="475488">
                <a:tc>
                  <a:txBody>
                    <a:bodyPr/>
                    <a:lstStyle/>
                    <a:p>
                      <a:pPr algn="ctr" indent="0" marL="0">
                        <a:buNone/>
                      </a:pPr>
                      <a:r>
                        <a:rPr lang="en-US" sz="1100" b="1" dirty="0">
                          <a:solidFill>
                            <a:srgbClr val="D98324"/>
                          </a:solidFill>
                          <a:latin typeface="Calibri" pitchFamily="34" charset="0"/>
                          <a:ea typeface="Calibri" pitchFamily="34" charset="-122"/>
                          <a:cs typeface="Calibri" pitchFamily="34" charset="-120"/>
                        </a:rPr>
                        <a:t>H2a</a:t>
                      </a:r>
                      <a:endParaRPr lang="en-US" sz="11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A1A"/>
                          </a:solidFill>
                          <a:latin typeface="Calibri" pitchFamily="34" charset="0"/>
                          <a:ea typeface="Calibri" pitchFamily="34" charset="-122"/>
                          <a:cs typeface="Calibri" pitchFamily="34" charset="-120"/>
                        </a:rPr>
                        <a:t>Route mix moved to a costlier provider</a:t>
                      </a:r>
                      <a:endParaRPr lang="en-US" sz="11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A1A"/>
                          </a:solidFill>
                          <a:latin typeface="Calibri" pitchFamily="34" charset="0"/>
                          <a:ea typeface="Calibri" pitchFamily="34" charset="-122"/>
                          <a:cs typeface="Calibri" pitchFamily="34" charset="-120"/>
                        </a:rPr>
                        <a:t>Route mix shifts and fixed-fee share rises</a:t>
                      </a:r>
                      <a:endParaRPr lang="en-US" sz="11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A1A"/>
                          </a:solidFill>
                          <a:latin typeface="Calibri" pitchFamily="34" charset="0"/>
                          <a:ea typeface="Calibri" pitchFamily="34" charset="-122"/>
                          <a:cs typeface="Calibri" pitchFamily="34" charset="-120"/>
                        </a:rPr>
                        <a:t>Route mix is stable</a:t>
                      </a:r>
                      <a:endParaRPr lang="en-US" sz="11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r>
              <a:tr h="475488">
                <a:tc>
                  <a:txBody>
                    <a:bodyPr/>
                    <a:lstStyle/>
                    <a:p>
                      <a:pPr algn="ctr" indent="0" marL="0">
                        <a:buNone/>
                      </a:pPr>
                      <a:r>
                        <a:rPr lang="en-US" sz="1100" b="1" dirty="0">
                          <a:solidFill>
                            <a:srgbClr val="D98324"/>
                          </a:solidFill>
                          <a:latin typeface="Calibri" pitchFamily="34" charset="0"/>
                          <a:ea typeface="Calibri" pitchFamily="34" charset="-122"/>
                          <a:cs typeface="Calibri" pitchFamily="34" charset="-120"/>
                        </a:rPr>
                        <a:t>H2b</a:t>
                      </a:r>
                      <a:endParaRPr lang="en-US" sz="11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1100" dirty="0">
                          <a:solidFill>
                            <a:srgbClr val="1A1A1A"/>
                          </a:solidFill>
                          <a:latin typeface="Calibri" pitchFamily="34" charset="0"/>
                          <a:ea typeface="Calibri" pitchFamily="34" charset="-122"/>
                          <a:cs typeface="Calibri" pitchFamily="34" charset="-120"/>
                        </a:rPr>
                        <a:t>A provider raised its own unit cost</a:t>
                      </a:r>
                      <a:endParaRPr lang="en-US" sz="11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1100" dirty="0">
                          <a:solidFill>
                            <a:srgbClr val="1A1A1A"/>
                          </a:solidFill>
                          <a:latin typeface="Calibri" pitchFamily="34" charset="0"/>
                          <a:ea typeface="Calibri" pitchFamily="34" charset="-122"/>
                          <a:cs typeface="Calibri" pitchFamily="34" charset="-120"/>
                        </a:rPr>
                        <a:t>Holding route and ticket band fixed, cost per txn rises</a:t>
                      </a:r>
                      <a:endParaRPr lang="en-US" sz="11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1100" dirty="0">
                          <a:solidFill>
                            <a:srgbClr val="1A1A1A"/>
                          </a:solidFill>
                          <a:latin typeface="Calibri" pitchFamily="34" charset="0"/>
                          <a:ea typeface="Calibri" pitchFamily="34" charset="-122"/>
                          <a:cs typeface="Calibri" pitchFamily="34" charset="-120"/>
                        </a:rPr>
                        <a:t>Within route and band, cost per txn is flat</a:t>
                      </a:r>
                      <a:endParaRPr lang="en-US" sz="11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r>
              <a:tr h="475488">
                <a:tc>
                  <a:txBody>
                    <a:bodyPr/>
                    <a:lstStyle/>
                    <a:p>
                      <a:pPr algn="ctr" indent="0" marL="0">
                        <a:buNone/>
                      </a:pPr>
                      <a:r>
                        <a:rPr lang="en-US" sz="1100" b="1" dirty="0">
                          <a:solidFill>
                            <a:srgbClr val="D98324"/>
                          </a:solidFill>
                          <a:latin typeface="Calibri" pitchFamily="34" charset="0"/>
                          <a:ea typeface="Calibri" pitchFamily="34" charset="-122"/>
                          <a:cs typeface="Calibri" pitchFamily="34" charset="-120"/>
                        </a:rPr>
                        <a:t>H3a</a:t>
                      </a:r>
                      <a:endParaRPr lang="en-US" sz="11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A1A"/>
                          </a:solidFill>
                          <a:latin typeface="Calibri" pitchFamily="34" charset="0"/>
                          <a:ea typeface="Calibri" pitchFamily="34" charset="-122"/>
                          <a:cs typeface="Calibri" pitchFamily="34" charset="-120"/>
                        </a:rPr>
                        <a:t>Risk mix moved to higher-risk bands</a:t>
                      </a:r>
                      <a:endParaRPr lang="en-US" sz="11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A1A"/>
                          </a:solidFill>
                          <a:latin typeface="Calibri" pitchFamily="34" charset="0"/>
                          <a:ea typeface="Calibri" pitchFamily="34" charset="-122"/>
                          <a:cs typeface="Calibri" pitchFamily="34" charset="-120"/>
                        </a:rPr>
                        <a:t>Risk-band weights shift upward</a:t>
                      </a:r>
                      <a:endParaRPr lang="en-US" sz="11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A1A"/>
                          </a:solidFill>
                          <a:latin typeface="Calibri" pitchFamily="34" charset="0"/>
                          <a:ea typeface="Calibri" pitchFamily="34" charset="-122"/>
                          <a:cs typeface="Calibri" pitchFamily="34" charset="-120"/>
                        </a:rPr>
                        <a:t>Risk-band weights are stable</a:t>
                      </a:r>
                      <a:endParaRPr lang="en-US" sz="11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r>
              <a:tr h="475488">
                <a:tc>
                  <a:txBody>
                    <a:bodyPr/>
                    <a:lstStyle/>
                    <a:p>
                      <a:pPr algn="ctr" indent="0" marL="0">
                        <a:buNone/>
                      </a:pPr>
                      <a:r>
                        <a:rPr lang="en-US" sz="1100" b="1" dirty="0">
                          <a:solidFill>
                            <a:srgbClr val="D98324"/>
                          </a:solidFill>
                          <a:latin typeface="Calibri" pitchFamily="34" charset="0"/>
                          <a:ea typeface="Calibri" pitchFamily="34" charset="-122"/>
                          <a:cs typeface="Calibri" pitchFamily="34" charset="-120"/>
                        </a:rPr>
                        <a:t>H3b</a:t>
                      </a:r>
                      <a:endParaRPr lang="en-US" sz="11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1100" dirty="0">
                          <a:solidFill>
                            <a:srgbClr val="1A1A1A"/>
                          </a:solidFill>
                          <a:latin typeface="Calibri" pitchFamily="34" charset="0"/>
                          <a:ea typeface="Calibri" pitchFamily="34" charset="-122"/>
                          <a:cs typeface="Calibri" pitchFamily="34" charset="-120"/>
                        </a:rPr>
                        <a:t>Fraud controls decline good payments</a:t>
                      </a:r>
                      <a:endParaRPr lang="en-US" sz="11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1100" dirty="0">
                          <a:solidFill>
                            <a:srgbClr val="1A1A1A"/>
                          </a:solidFill>
                          <a:latin typeface="Calibri" pitchFamily="34" charset="0"/>
                          <a:ea typeface="Calibri" pitchFamily="34" charset="-122"/>
                          <a:cs typeface="Calibri" pitchFamily="34" charset="-120"/>
                        </a:rPr>
                        <a:t>At a comparable threshold, decline rates rise</a:t>
                      </a:r>
                      <a:endParaRPr lang="en-US" sz="11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1100" dirty="0">
                          <a:solidFill>
                            <a:srgbClr val="1A1A1A"/>
                          </a:solidFill>
                          <a:latin typeface="Calibri" pitchFamily="34" charset="0"/>
                          <a:ea typeface="Calibri" pitchFamily="34" charset="-122"/>
                          <a:cs typeface="Calibri" pitchFamily="34" charset="-120"/>
                        </a:rPr>
                        <a:t>Decline rates at a comparable threshold are flat</a:t>
                      </a:r>
                      <a:endParaRPr lang="en-US" sz="11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r>
            </a:tbl>
          </a:graphicData>
        </a:graphic>
      </p:graphicFrame>
      <p:sp>
        <p:nvSpPr>
          <p:cNvPr id="6" name="Text 3"/>
          <p:cNvSpPr txBox="1"/>
          <p:nvPr/>
        </p:nvSpPr>
        <p:spPr>
          <a:xfrm>
            <a:off x="548640" y="6199632"/>
            <a:ext cx="11064240" cy="411480"/>
          </a:xfrm>
          <a:prstGeom prst="rect">
            <a:avLst/>
          </a:prstGeom>
          <a:noFill/>
          <a:ln/>
        </p:spPr>
        <p:txBody>
          <a:bodyPr wrap="square" lIns="0" tIns="0" rIns="0" bIns="0" rtlCol="0" anchor="ctr"/>
          <a:lstStyle/>
          <a:p>
            <a:pPr indent="0" marL="0">
              <a:lnSpc>
                <a:spcPts val="1300"/>
              </a:lnSpc>
              <a:buNone/>
            </a:pPr>
            <a:r>
              <a:rPr lang="en-US" sz="1100" i="1" dirty="0">
                <a:solidFill>
                  <a:srgbClr val="6B7785"/>
                </a:solidFill>
                <a:latin typeface="Calibri" pitchFamily="34" charset="0"/>
                <a:ea typeface="Calibri" pitchFamily="34" charset="-122"/>
                <a:cs typeface="Calibri" pitchFamily="34" charset="-120"/>
              </a:rPr>
              <a:t>H3b carries a warning from the framing document: fraud scores come from more than one model version, so any comparison of score distributions across the cutover is invalid until the scales are normalised. That warning turned out to be the whole answer to Task 6.</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8"/>
        </a:solidFill>
      </p:bgPr>
    </p:bg>
    <p:spTree>
      <p:nvGrpSpPr>
        <p:cNvPr id="1" name=""/>
        <p:cNvGrpSpPr/>
        <p:nvPr/>
      </p:nvGrpSpPr>
      <p:grpSpPr>
        <a:xfrm>
          <a:off x="0" y="0"/>
          <a:ext cx="0" cy="0"/>
          <a:chOff x="0" y="0"/>
          <a:chExt cx="0" cy="0"/>
        </a:xfrm>
      </p:grpSpPr>
      <p:sp>
        <p:nvSpPr>
          <p:cNvPr id="2" name="Text 0"/>
          <p:cNvSpPr txBox="1"/>
          <p:nvPr/>
        </p:nvSpPr>
        <p:spPr>
          <a:xfrm>
            <a:off x="548640" y="329184"/>
            <a:ext cx="7315200" cy="237744"/>
          </a:xfrm>
          <a:prstGeom prst="rect">
            <a:avLst/>
          </a:prstGeom>
          <a:noFill/>
          <a:ln/>
        </p:spPr>
        <p:txBody>
          <a:bodyPr wrap="square" lIns="0" tIns="0" rIns="0" bIns="0" rtlCol="0" anchor="ctr"/>
          <a:lstStyle/>
          <a:p>
            <a:pPr indent="0" marL="0">
              <a:buNone/>
            </a:pPr>
            <a:r>
              <a:rPr lang="en-US" sz="1050" b="1" spc="200" kern="0" dirty="0">
                <a:solidFill>
                  <a:srgbClr val="D98324"/>
                </a:solidFill>
                <a:latin typeface="Calibri" pitchFamily="34" charset="0"/>
                <a:ea typeface="Calibri" pitchFamily="34" charset="-122"/>
                <a:cs typeface="Calibri" pitchFamily="34" charset="-120"/>
              </a:rPr>
              <a:t>TASK 1 · SCOPE</a:t>
            </a:r>
            <a:endParaRPr lang="en-US" sz="1050" dirty="0"/>
          </a:p>
        </p:txBody>
      </p:sp>
      <p:sp>
        <p:nvSpPr>
          <p:cNvPr id="3" name="Text 1"/>
          <p:cNvSpPr txBox="1"/>
          <p:nvPr/>
        </p:nvSpPr>
        <p:spPr>
          <a:xfrm>
            <a:off x="548640" y="603504"/>
            <a:ext cx="11064240" cy="502920"/>
          </a:xfrm>
          <a:prstGeom prst="rect">
            <a:avLst/>
          </a:prstGeom>
          <a:noFill/>
          <a:ln/>
        </p:spPr>
        <p:txBody>
          <a:bodyPr wrap="square" lIns="0" tIns="0" rIns="0" bIns="0" rtlCol="0" anchor="ctr"/>
          <a:lstStyle/>
          <a:p>
            <a:pPr indent="0" marL="0">
              <a:buNone/>
            </a:pPr>
            <a:r>
              <a:rPr lang="en-US" sz="2600" b="1" dirty="0">
                <a:solidFill>
                  <a:srgbClr val="12233C"/>
                </a:solidFill>
                <a:latin typeface="Cambria" pitchFamily="34" charset="0"/>
                <a:ea typeface="Cambria" pitchFamily="34" charset="-122"/>
                <a:cs typeface="Cambria" pitchFamily="34" charset="-120"/>
              </a:rPr>
              <a:t>What is out of scope, and the six assumptions that could be argued with</a:t>
            </a:r>
            <a:endParaRPr lang="en-US" sz="2600" dirty="0"/>
          </a:p>
        </p:txBody>
      </p:sp>
      <p:sp>
        <p:nvSpPr>
          <p:cNvPr id="4" name="Text 2"/>
          <p:cNvSpPr txBox="1"/>
          <p:nvPr/>
        </p:nvSpPr>
        <p:spPr>
          <a:xfrm>
            <a:off x="548640" y="1115568"/>
            <a:ext cx="11064240" cy="310896"/>
          </a:xfrm>
          <a:prstGeom prst="rect">
            <a:avLst/>
          </a:prstGeom>
          <a:noFill/>
          <a:ln/>
        </p:spPr>
        <p:txBody>
          <a:bodyPr wrap="square" lIns="0" tIns="0" rIns="0" bIns="0" rtlCol="0" anchor="ctr"/>
          <a:lstStyle/>
          <a:p>
            <a:pPr indent="0" marL="0">
              <a:buNone/>
            </a:pPr>
            <a:r>
              <a:rPr lang="en-US" sz="1300" dirty="0">
                <a:solidFill>
                  <a:srgbClr val="6B7785"/>
                </a:solidFill>
                <a:latin typeface="Calibri" pitchFamily="34" charset="0"/>
                <a:ea typeface="Calibri" pitchFamily="34" charset="-122"/>
                <a:cs typeface="Calibri" pitchFamily="34" charset="-120"/>
              </a:rPr>
              <a:t>Each assumption is a decision with a defensible alternative. Naming them lets a reviewer disagree precisely instead of vaguely.</a:t>
            </a:r>
            <a:endParaRPr lang="en-US" sz="1300" dirty="0"/>
          </a:p>
        </p:txBody>
      </p:sp>
      <p:sp>
        <p:nvSpPr>
          <p:cNvPr id="5" name="Shape 3"/>
          <p:cNvSpPr/>
          <p:nvPr/>
        </p:nvSpPr>
        <p:spPr>
          <a:xfrm>
            <a:off x="548640" y="1627632"/>
            <a:ext cx="5257800" cy="2148840"/>
          </a:xfrm>
          <a:prstGeom prst="roundRect">
            <a:avLst>
              <a:gd name="adj" fmla="val 2553"/>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sp>
        <p:nvSpPr>
          <p:cNvPr id="6" name="Text 4"/>
          <p:cNvSpPr txBox="1"/>
          <p:nvPr/>
        </p:nvSpPr>
        <p:spPr>
          <a:xfrm>
            <a:off x="777240" y="1755648"/>
            <a:ext cx="4754880" cy="256032"/>
          </a:xfrm>
          <a:prstGeom prst="rect">
            <a:avLst/>
          </a:prstGeom>
          <a:noFill/>
          <a:ln/>
        </p:spPr>
        <p:txBody>
          <a:bodyPr wrap="square" lIns="0" tIns="0" rIns="0" bIns="0" rtlCol="0" anchor="ctr"/>
          <a:lstStyle/>
          <a:p>
            <a:pPr indent="0" marL="0">
              <a:buNone/>
            </a:pPr>
            <a:r>
              <a:rPr lang="en-US" sz="1250" b="1" dirty="0">
                <a:solidFill>
                  <a:srgbClr val="12233C"/>
                </a:solidFill>
                <a:latin typeface="Calibri" pitchFamily="34" charset="0"/>
                <a:ea typeface="Calibri" pitchFamily="34" charset="-122"/>
                <a:cs typeface="Calibri" pitchFamily="34" charset="-120"/>
              </a:rPr>
              <a:t>Out of scope</a:t>
            </a:r>
            <a:endParaRPr lang="en-US" sz="1250" dirty="0"/>
          </a:p>
        </p:txBody>
      </p:sp>
      <p:sp>
        <p:nvSpPr>
          <p:cNvPr id="7" name="Text 5"/>
          <p:cNvSpPr txBox="1"/>
          <p:nvPr/>
        </p:nvSpPr>
        <p:spPr>
          <a:xfrm>
            <a:off x="822960" y="2066544"/>
            <a:ext cx="4709160" cy="1645920"/>
          </a:xfrm>
          <a:prstGeom prst="rect">
            <a:avLst/>
          </a:prstGeom>
          <a:noFill/>
          <a:ln/>
        </p:spPr>
        <p:txBody>
          <a:bodyPr wrap="square" lIns="0" tIns="0" rIns="0" bIns="0" rtlCol="0" anchor="ctr"/>
          <a:lstStyle/>
          <a:p>
            <a:pPr marL="342900" indent="-342900">
              <a:lnSpc>
                <a:spcPts val="1300"/>
              </a:lnSpc>
              <a:spcAft>
                <a:spcPts val="600"/>
              </a:spcAft>
              <a:buSzPct val="100000"/>
              <a:buChar char="•"/>
            </a:pPr>
            <a:r>
              <a:rPr lang="en-US" sz="1050" dirty="0">
                <a:solidFill>
                  <a:srgbClr val="4A5663"/>
                </a:solidFill>
                <a:latin typeface="Calibri" pitchFamily="34" charset="0"/>
                <a:ea typeface="Calibri" pitchFamily="34" charset="-122"/>
                <a:cs typeface="Calibri" pitchFamily="34" charset="-120"/>
              </a:rPr>
              <a:t>Fixed and overhead cost — contribution margin, not a full P&amp;L.</a:t>
            </a:r>
            <a:endParaRPr lang="en-US" sz="1050" dirty="0"/>
          </a:p>
          <a:p>
            <a:pPr marL="342900" indent="-342900">
              <a:lnSpc>
                <a:spcPts val="1300"/>
              </a:lnSpc>
              <a:spcAft>
                <a:spcPts val="600"/>
              </a:spcAft>
              <a:buSzPct val="100000"/>
              <a:buChar char="•"/>
            </a:pPr>
            <a:r>
              <a:rPr lang="en-US" sz="1050" dirty="0">
                <a:solidFill>
                  <a:srgbClr val="4A5663"/>
                </a:solidFill>
                <a:latin typeface="Calibri" pitchFamily="34" charset="0"/>
                <a:ea typeface="Calibri" pitchFamily="34" charset="-122"/>
                <a:cs typeface="Calibri" pitchFamily="34" charset="-120"/>
              </a:rPr>
              <a:t>Acquisition and merchant onboarding cost.</a:t>
            </a:r>
            <a:endParaRPr lang="en-US" sz="1050" dirty="0"/>
          </a:p>
          <a:p>
            <a:pPr marL="342900" indent="-342900">
              <a:lnSpc>
                <a:spcPts val="1300"/>
              </a:lnSpc>
              <a:spcAft>
                <a:spcPts val="600"/>
              </a:spcAft>
              <a:buSzPct val="100000"/>
              <a:buChar char="•"/>
            </a:pPr>
            <a:r>
              <a:rPr lang="en-US" sz="1050" dirty="0">
                <a:solidFill>
                  <a:srgbClr val="4A5663"/>
                </a:solidFill>
                <a:latin typeface="Calibri" pitchFamily="34" charset="0"/>
                <a:ea typeface="Calibri" pitchFamily="34" charset="-122"/>
                <a:cs typeface="Calibri" pitchFamily="34" charset="-120"/>
              </a:rPr>
              <a:t>Settlement records with no matching transaction — reported as a reconciliation break, not analysed.</a:t>
            </a:r>
            <a:endParaRPr lang="en-US" sz="1050" dirty="0"/>
          </a:p>
          <a:p>
            <a:pPr marL="342900" indent="-342900">
              <a:lnSpc>
                <a:spcPts val="1300"/>
              </a:lnSpc>
              <a:spcAft>
                <a:spcPts val="600"/>
              </a:spcAft>
              <a:buSzPct val="100000"/>
              <a:buChar char="•"/>
            </a:pPr>
            <a:r>
              <a:rPr lang="en-US" sz="1050" dirty="0">
                <a:solidFill>
                  <a:srgbClr val="4A5663"/>
                </a:solidFill>
                <a:latin typeface="Calibri" pitchFamily="34" charset="0"/>
                <a:ea typeface="Calibri" pitchFamily="34" charset="-122"/>
                <a:cs typeface="Calibri" pitchFamily="34" charset="-120"/>
              </a:rPr>
              <a:t>Any period outside 2025.</a:t>
            </a:r>
            <a:endParaRPr lang="en-US" sz="1050" dirty="0"/>
          </a:p>
        </p:txBody>
      </p:sp>
      <p:sp>
        <p:nvSpPr>
          <p:cNvPr id="8" name="Shape 6"/>
          <p:cNvSpPr/>
          <p:nvPr/>
        </p:nvSpPr>
        <p:spPr>
          <a:xfrm>
            <a:off x="6035040" y="1627632"/>
            <a:ext cx="5577840" cy="2148840"/>
          </a:xfrm>
          <a:prstGeom prst="roundRect">
            <a:avLst>
              <a:gd name="adj" fmla="val 2553"/>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sp>
        <p:nvSpPr>
          <p:cNvPr id="9" name="Text 7"/>
          <p:cNvSpPr txBox="1"/>
          <p:nvPr/>
        </p:nvSpPr>
        <p:spPr>
          <a:xfrm>
            <a:off x="6263640" y="1755648"/>
            <a:ext cx="5120640" cy="256032"/>
          </a:xfrm>
          <a:prstGeom prst="rect">
            <a:avLst/>
          </a:prstGeom>
          <a:noFill/>
          <a:ln/>
        </p:spPr>
        <p:txBody>
          <a:bodyPr wrap="square" lIns="0" tIns="0" rIns="0" bIns="0" rtlCol="0" anchor="ctr"/>
          <a:lstStyle/>
          <a:p>
            <a:pPr indent="0" marL="0">
              <a:buNone/>
            </a:pPr>
            <a:r>
              <a:rPr lang="en-US" sz="1250" b="1" dirty="0">
                <a:solidFill>
                  <a:srgbClr val="12233C"/>
                </a:solidFill>
                <a:latin typeface="Calibri" pitchFamily="34" charset="0"/>
                <a:ea typeface="Calibri" pitchFamily="34" charset="-122"/>
                <a:cs typeface="Calibri" pitchFamily="34" charset="-120"/>
              </a:rPr>
              <a:t>Stated up front so an absent finding is not read as a null result</a:t>
            </a:r>
            <a:endParaRPr lang="en-US" sz="1250" dirty="0"/>
          </a:p>
        </p:txBody>
      </p:sp>
      <p:sp>
        <p:nvSpPr>
          <p:cNvPr id="10" name="Text 8"/>
          <p:cNvSpPr txBox="1"/>
          <p:nvPr/>
        </p:nvSpPr>
        <p:spPr>
          <a:xfrm>
            <a:off x="6309360" y="2066544"/>
            <a:ext cx="5029200" cy="1645920"/>
          </a:xfrm>
          <a:prstGeom prst="rect">
            <a:avLst/>
          </a:prstGeom>
          <a:noFill/>
          <a:ln/>
        </p:spPr>
        <p:txBody>
          <a:bodyPr wrap="square" lIns="0" tIns="0" rIns="0" bIns="0" rtlCol="0" anchor="ctr"/>
          <a:lstStyle/>
          <a:p>
            <a:pPr marL="342900" indent="-342900">
              <a:lnSpc>
                <a:spcPts val="1300"/>
              </a:lnSpc>
              <a:spcAft>
                <a:spcPts val="600"/>
              </a:spcAft>
              <a:buSzPct val="100000"/>
              <a:buChar char="•"/>
            </a:pPr>
            <a:r>
              <a:rPr lang="en-US" sz="1050" dirty="0">
                <a:solidFill>
                  <a:srgbClr val="4A5663"/>
                </a:solidFill>
                <a:latin typeface="Calibri" pitchFamily="34" charset="0"/>
                <a:ea typeface="Calibri" pitchFamily="34" charset="-122"/>
                <a:cs typeface="Calibri" pitchFamily="34" charset="-120"/>
              </a:rPr>
              <a:t>Causation between latency and merchant churn — no retention data exists.</a:t>
            </a:r>
            <a:endParaRPr lang="en-US" sz="1050" dirty="0"/>
          </a:p>
          <a:p>
            <a:pPr marL="342900" indent="-342900">
              <a:lnSpc>
                <a:spcPts val="1300"/>
              </a:lnSpc>
              <a:spcAft>
                <a:spcPts val="600"/>
              </a:spcAft>
              <a:buSzPct val="100000"/>
              <a:buChar char="•"/>
            </a:pPr>
            <a:r>
              <a:rPr lang="en-US" sz="1050" dirty="0">
                <a:solidFill>
                  <a:srgbClr val="4A5663"/>
                </a:solidFill>
                <a:latin typeface="Calibri" pitchFamily="34" charset="0"/>
                <a:ea typeface="Calibri" pitchFamily="34" charset="-122"/>
                <a:cs typeface="Calibri" pitchFamily="34" charset="-120"/>
              </a:rPr>
              <a:t>Whether a declined payment was lost revenue or a customer who retried — retry linkage is not in the data.</a:t>
            </a:r>
            <a:endParaRPr lang="en-US" sz="1050" dirty="0"/>
          </a:p>
          <a:p>
            <a:pPr marL="342900" indent="-342900">
              <a:lnSpc>
                <a:spcPts val="1300"/>
              </a:lnSpc>
              <a:spcAft>
                <a:spcPts val="600"/>
              </a:spcAft>
              <a:buSzPct val="100000"/>
              <a:buChar char="•"/>
            </a:pPr>
            <a:r>
              <a:rPr lang="en-US" sz="1050" dirty="0">
                <a:solidFill>
                  <a:srgbClr val="4A5663"/>
                </a:solidFill>
                <a:latin typeface="Calibri" pitchFamily="34" charset="0"/>
                <a:ea typeface="Calibri" pitchFamily="34" charset="-122"/>
                <a:cs typeface="Calibri" pitchFamily="34" charset="-120"/>
              </a:rPr>
              <a:t>Merchant profitability net of relationship and support cost.</a:t>
            </a:r>
            <a:endParaRPr lang="en-US" sz="1050" dirty="0"/>
          </a:p>
          <a:p>
            <a:pPr marL="342900" indent="-342900">
              <a:lnSpc>
                <a:spcPts val="1300"/>
              </a:lnSpc>
              <a:spcAft>
                <a:spcPts val="600"/>
              </a:spcAft>
              <a:buSzPct val="100000"/>
              <a:buChar char="•"/>
            </a:pPr>
            <a:r>
              <a:rPr lang="en-US" sz="1050" dirty="0">
                <a:solidFill>
                  <a:srgbClr val="4A5663"/>
                </a:solidFill>
                <a:latin typeface="Calibri" pitchFamily="34" charset="0"/>
                <a:ea typeface="Calibri" pitchFamily="34" charset="-122"/>
                <a:cs typeface="Calibri" pitchFamily="34" charset="-120"/>
              </a:rPr>
              <a:t>Price elasticity — no historical price change exists to estimate it from.</a:t>
            </a:r>
            <a:endParaRPr lang="en-US" sz="10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4023360"/>
          <a:ext cx="11064240" cy="914400"/>
        </p:xfrm>
        <a:graphic>
          <a:graphicData uri="http://schemas.openxmlformats.org/drawingml/2006/table">
            <a:tbl>
              <a:tblPr/>
              <a:tblGrid>
                <a:gridCol w="502920"/>
                <a:gridCol w="3063240"/>
                <a:gridCol w="7498080"/>
              </a:tblGrid>
              <a:tr h="324612">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2233C"/>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Assumption</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2233C"/>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Why, and the alternative that was rejected</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2233C"/>
                    </a:solidFill>
                  </a:tcPr>
                </a:tc>
              </a:tr>
              <a:tr h="324612">
                <a:tc>
                  <a:txBody>
                    <a:bodyPr/>
                    <a:lstStyle/>
                    <a:p>
                      <a:pPr algn="ctr" indent="0" marL="0">
                        <a:buNone/>
                      </a:pPr>
                      <a:r>
                        <a:rPr lang="en-US" sz="1050" b="1" dirty="0">
                          <a:solidFill>
                            <a:srgbClr val="D98324"/>
                          </a:solidFill>
                          <a:latin typeface="Calibri" pitchFamily="34" charset="0"/>
                          <a:ea typeface="Calibri" pitchFamily="34" charset="-122"/>
                          <a:cs typeface="Calibri" pitchFamily="34" charset="-120"/>
                        </a:rPr>
                        <a:t>A1</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FX uses the SETTLEMENT rate on the transaction date</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MID is quoted, not realised. The spread widens 0.35% → 0.60% in Q4, so the error grows over exactly the period under investigation.</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r>
              <a:tr h="324612">
                <a:tc>
                  <a:txBody>
                    <a:bodyPr/>
                    <a:lstStyle/>
                    <a:p>
                      <a:pPr algn="ctr" indent="0" marL="0">
                        <a:buNone/>
                      </a:pPr>
                      <a:r>
                        <a:rPr lang="en-US" sz="1050" b="1" dirty="0">
                          <a:solidFill>
                            <a:srgbClr val="D98324"/>
                          </a:solidFill>
                          <a:latin typeface="Calibri" pitchFamily="34" charset="0"/>
                          <a:ea typeface="Calibri" pitchFamily="34" charset="-122"/>
                          <a:cs typeface="Calibri" pitchFamily="34" charset="-120"/>
                        </a:rPr>
                        <a:t>A2</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Settlement fees attributed to the transaction month</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Keeps revenue and cost in one period. Settlement-month attribution would smear the August incident across two months.</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r>
              <a:tr h="324612">
                <a:tc>
                  <a:txBody>
                    <a:bodyPr/>
                    <a:lstStyle/>
                    <a:p>
                      <a:pPr algn="ctr" indent="0" marL="0">
                        <a:buNone/>
                      </a:pPr>
                      <a:r>
                        <a:rPr lang="en-US" sz="1050" b="1" dirty="0">
                          <a:solidFill>
                            <a:srgbClr val="D98324"/>
                          </a:solidFill>
                          <a:latin typeface="Calibri" pitchFamily="34" charset="0"/>
                          <a:ea typeface="Calibri" pitchFamily="34" charset="-122"/>
                          <a:cs typeface="Calibri" pitchFamily="34" charset="-120"/>
                        </a:rPr>
                        <a:t>A3</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Captured transactions with no settlement row are retained</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4.77% of rows, weighted to December. Dropping them deletes the newest month's revenue and exaggerates the decline.</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r>
              <a:tr h="324612">
                <a:tc>
                  <a:txBody>
                    <a:bodyPr/>
                    <a:lstStyle/>
                    <a:p>
                      <a:pPr algn="ctr" indent="0" marL="0">
                        <a:buNone/>
                      </a:pPr>
                      <a:r>
                        <a:rPr lang="en-US" sz="1050" b="1" dirty="0">
                          <a:solidFill>
                            <a:srgbClr val="D98324"/>
                          </a:solidFill>
                          <a:latin typeface="Calibri" pitchFamily="34" charset="0"/>
                          <a:ea typeface="Calibri" pitchFamily="34" charset="-122"/>
                          <a:cs typeface="Calibri" pitchFamily="34" charset="-120"/>
                        </a:rPr>
                        <a:t>A4</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Missing merchant_id rows stay in the executive KPI</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They are real payments. Excluded only from merchant-level breakdowns, where they would bias the answer.</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r>
              <a:tr h="324612">
                <a:tc>
                  <a:txBody>
                    <a:bodyPr/>
                    <a:lstStyle/>
                    <a:p>
                      <a:pPr algn="ctr" indent="0" marL="0">
                        <a:buNone/>
                      </a:pPr>
                      <a:r>
                        <a:rPr lang="en-US" sz="1050" b="1" dirty="0">
                          <a:solidFill>
                            <a:srgbClr val="D98324"/>
                          </a:solidFill>
                          <a:latin typeface="Calibri" pitchFamily="34" charset="0"/>
                          <a:ea typeface="Calibri" pitchFamily="34" charset="-122"/>
                          <a:cs typeface="Calibri" pitchFamily="34" charset="-120"/>
                        </a:rPr>
                        <a:t>A5</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Negative amounts with status REVERSED are legitimate</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A reversal is a business event. Only negatives on CAPTURED with no parent are impossible.</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r>
              <a:tr h="324612">
                <a:tc>
                  <a:txBody>
                    <a:bodyPr/>
                    <a:lstStyle/>
                    <a:p>
                      <a:pPr algn="ctr" indent="0" marL="0">
                        <a:buNone/>
                      </a:pPr>
                      <a:r>
                        <a:rPr lang="en-US" sz="1050" b="1" dirty="0">
                          <a:solidFill>
                            <a:srgbClr val="D98324"/>
                          </a:solidFill>
                          <a:latin typeface="Calibri" pitchFamily="34" charset="0"/>
                          <a:ea typeface="Calibri" pitchFamily="34" charset="-122"/>
                          <a:cs typeface="Calibri" pitchFamily="34" charset="-120"/>
                        </a:rPr>
                        <a:t>A6</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Route costs are read as-of the transaction date</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PROV_ORBIT reprices on 1 July. A single latest-rate join would erase the step change entirely.</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8"/>
        </a:solidFill>
      </p:bgPr>
    </p:bg>
    <p:spTree>
      <p:nvGrpSpPr>
        <p:cNvPr id="1" name=""/>
        <p:cNvGrpSpPr/>
        <p:nvPr/>
      </p:nvGrpSpPr>
      <p:grpSpPr>
        <a:xfrm>
          <a:off x="0" y="0"/>
          <a:ext cx="0" cy="0"/>
          <a:chOff x="0" y="0"/>
          <a:chExt cx="0" cy="0"/>
        </a:xfrm>
      </p:grpSpPr>
      <p:sp>
        <p:nvSpPr>
          <p:cNvPr id="2" name="Text 0"/>
          <p:cNvSpPr txBox="1"/>
          <p:nvPr/>
        </p:nvSpPr>
        <p:spPr>
          <a:xfrm>
            <a:off x="548640" y="329184"/>
            <a:ext cx="7315200" cy="237744"/>
          </a:xfrm>
          <a:prstGeom prst="rect">
            <a:avLst/>
          </a:prstGeom>
          <a:noFill/>
          <a:ln/>
        </p:spPr>
        <p:txBody>
          <a:bodyPr wrap="square" lIns="0" tIns="0" rIns="0" bIns="0" rtlCol="0" anchor="ctr"/>
          <a:lstStyle/>
          <a:p>
            <a:pPr indent="0" marL="0">
              <a:buNone/>
            </a:pPr>
            <a:r>
              <a:rPr lang="en-US" sz="1050" b="1" spc="200" kern="0" dirty="0">
                <a:solidFill>
                  <a:srgbClr val="D98324"/>
                </a:solidFill>
                <a:latin typeface="Calibri" pitchFamily="34" charset="0"/>
                <a:ea typeface="Calibri" pitchFamily="34" charset="-122"/>
                <a:cs typeface="Calibri" pitchFamily="34" charset="-120"/>
              </a:rPr>
              <a:t>TASK 2 · SOURCES</a:t>
            </a:r>
            <a:endParaRPr lang="en-US" sz="1050" dirty="0"/>
          </a:p>
        </p:txBody>
      </p:sp>
      <p:sp>
        <p:nvSpPr>
          <p:cNvPr id="3" name="Text 1"/>
          <p:cNvSpPr txBox="1"/>
          <p:nvPr/>
        </p:nvSpPr>
        <p:spPr>
          <a:xfrm>
            <a:off x="548640" y="603504"/>
            <a:ext cx="11064240" cy="502920"/>
          </a:xfrm>
          <a:prstGeom prst="rect">
            <a:avLst/>
          </a:prstGeom>
          <a:noFill/>
          <a:ln/>
        </p:spPr>
        <p:txBody>
          <a:bodyPr wrap="square" lIns="0" tIns="0" rIns="0" bIns="0" rtlCol="0" anchor="ctr"/>
          <a:lstStyle/>
          <a:p>
            <a:pPr indent="0" marL="0">
              <a:buNone/>
            </a:pPr>
            <a:r>
              <a:rPr lang="en-US" sz="2600" b="1" dirty="0">
                <a:solidFill>
                  <a:srgbClr val="12233C"/>
                </a:solidFill>
                <a:latin typeface="Cambria" pitchFamily="34" charset="0"/>
                <a:ea typeface="Cambria" pitchFamily="34" charset="-122"/>
                <a:cs typeface="Cambria" pitchFamily="34" charset="-120"/>
              </a:rPr>
              <a:t>Eleven files, and the grain of each one</a:t>
            </a:r>
            <a:endParaRPr lang="en-US" sz="2600" dirty="0"/>
          </a:p>
        </p:txBody>
      </p:sp>
      <p:sp>
        <p:nvSpPr>
          <p:cNvPr id="4" name="Text 2"/>
          <p:cNvSpPr txBox="1"/>
          <p:nvPr/>
        </p:nvSpPr>
        <p:spPr>
          <a:xfrm>
            <a:off x="548640" y="1115568"/>
            <a:ext cx="11064240" cy="310896"/>
          </a:xfrm>
          <a:prstGeom prst="rect">
            <a:avLst/>
          </a:prstGeom>
          <a:noFill/>
          <a:ln/>
        </p:spPr>
        <p:txBody>
          <a:bodyPr wrap="square" lIns="0" tIns="0" rIns="0" bIns="0" rtlCol="0" anchor="ctr"/>
          <a:lstStyle/>
          <a:p>
            <a:pPr indent="0" marL="0">
              <a:buNone/>
            </a:pPr>
            <a:r>
              <a:rPr lang="en-US" sz="1300" dirty="0">
                <a:solidFill>
                  <a:srgbClr val="6B7785"/>
                </a:solidFill>
                <a:latin typeface="Calibri" pitchFamily="34" charset="0"/>
                <a:ea typeface="Calibri" pitchFamily="34" charset="-122"/>
                <a:cs typeface="Calibri" pitchFamily="34" charset="-120"/>
              </a:rPr>
              <a:t>Grain is the first question, not a detail. Six of these carry more than one row per transaction, and every one of those is a way to inflate the answer.</a:t>
            </a:r>
            <a:endParaRPr lang="en-US" sz="13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627632"/>
          <a:ext cx="11064240" cy="914400"/>
        </p:xfrm>
        <a:graphic>
          <a:graphicData uri="http://schemas.openxmlformats.org/drawingml/2006/table">
            <a:tbl>
              <a:tblPr/>
              <a:tblGrid>
                <a:gridCol w="2148840"/>
                <a:gridCol w="914400"/>
                <a:gridCol w="1691640"/>
                <a:gridCol w="4160520"/>
                <a:gridCol w="2148840"/>
              </a:tblGrid>
              <a:tr h="361188">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File</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2233C"/>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Rows</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2233C"/>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Grain</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2233C"/>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What it carries</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2233C"/>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Join hazard</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2233C"/>
                    </a:solidFill>
                  </a:tcPr>
                </a:tc>
              </a:tr>
              <a:tr h="361188">
                <a:tc>
                  <a:txBody>
                    <a:bodyPr/>
                    <a:lstStyle/>
                    <a:p>
                      <a:pPr algn="l" indent="0" marL="0">
                        <a:buNone/>
                      </a:pPr>
                      <a:r>
                        <a:rPr lang="en-US" sz="1050" b="1" dirty="0">
                          <a:solidFill>
                            <a:srgbClr val="1A1A1A"/>
                          </a:solidFill>
                          <a:latin typeface="Calibri" pitchFamily="34" charset="0"/>
                          <a:ea typeface="Calibri" pitchFamily="34" charset="-122"/>
                          <a:cs typeface="Calibri" pitchFamily="34" charset="-120"/>
                        </a:rPr>
                        <a:t>transaction</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260,287</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1 per payment attempt</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amount, currency, channel, status, route_id</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6B7785"/>
                          </a:solidFill>
                          <a:latin typeface="Calibri" pitchFamily="34" charset="0"/>
                          <a:ea typeface="Calibri" pitchFamily="34" charset="-122"/>
                          <a:cs typeface="Calibri" pitchFamily="34" charset="-120"/>
                        </a:rPr>
                        <a:t>— the spine</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r>
              <a:tr h="361188">
                <a:tc>
                  <a:txBody>
                    <a:bodyPr/>
                    <a:lstStyle/>
                    <a:p>
                      <a:pPr algn="l" indent="0" marL="0">
                        <a:buNone/>
                      </a:pPr>
                      <a:r>
                        <a:rPr lang="en-US" sz="1050" b="1" dirty="0">
                          <a:solidFill>
                            <a:srgbClr val="1A1A1A"/>
                          </a:solidFill>
                          <a:latin typeface="Calibri" pitchFamily="34" charset="0"/>
                          <a:ea typeface="Calibri" pitchFamily="34" charset="-122"/>
                          <a:cs typeface="Calibri" pitchFamily="34" charset="-120"/>
                        </a:rPr>
                        <a:t>payment_event</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~1.00M</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2–4 per transaction</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lifecycle events, processing_ms, ingestion_time</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1050" b="1" dirty="0">
                          <a:solidFill>
                            <a:srgbClr val="A33D3D"/>
                          </a:solidFill>
                          <a:latin typeface="Calibri" pitchFamily="34" charset="0"/>
                          <a:ea typeface="Calibri" pitchFamily="34" charset="-122"/>
                          <a:cs typeface="Calibri" pitchFamily="34" charset="-120"/>
                        </a:rPr>
                        <a:t>FAN-OUT</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r>
              <a:tr h="361188">
                <a:tc>
                  <a:txBody>
                    <a:bodyPr/>
                    <a:lstStyle/>
                    <a:p>
                      <a:pPr algn="l" indent="0" marL="0">
                        <a:buNone/>
                      </a:pPr>
                      <a:r>
                        <a:rPr lang="en-US" sz="1050" b="1" dirty="0">
                          <a:solidFill>
                            <a:srgbClr val="1A1A1A"/>
                          </a:solidFill>
                          <a:latin typeface="Calibri" pitchFamily="34" charset="0"/>
                          <a:ea typeface="Calibri" pitchFamily="34" charset="-122"/>
                          <a:cs typeface="Calibri" pitchFamily="34" charset="-120"/>
                        </a:rPr>
                        <a:t>fraud_decision</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466k</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1–4 per transaction</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risk_score, decision, model_version</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A33D3D"/>
                          </a:solidFill>
                          <a:latin typeface="Calibri" pitchFamily="34" charset="0"/>
                          <a:ea typeface="Calibri" pitchFamily="34" charset="-122"/>
                          <a:cs typeface="Calibri" pitchFamily="34" charset="-120"/>
                        </a:rPr>
                        <a:t>FAN-OUT ×1.8</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r>
              <a:tr h="361188">
                <a:tc>
                  <a:txBody>
                    <a:bodyPr/>
                    <a:lstStyle/>
                    <a:p>
                      <a:pPr algn="l" indent="0" marL="0">
                        <a:buNone/>
                      </a:pPr>
                      <a:r>
                        <a:rPr lang="en-US" sz="1050" b="1" dirty="0">
                          <a:solidFill>
                            <a:srgbClr val="1A1A1A"/>
                          </a:solidFill>
                          <a:latin typeface="Calibri" pitchFamily="34" charset="0"/>
                          <a:ea typeface="Calibri" pitchFamily="34" charset="-122"/>
                          <a:cs typeface="Calibri" pitchFamily="34" charset="-120"/>
                        </a:rPr>
                        <a:t>settlement</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224k</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1–2 per transaction</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fee_amount = AstraPay's revenue</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1050" b="1" dirty="0">
                          <a:solidFill>
                            <a:srgbClr val="A33D3D"/>
                          </a:solidFill>
                          <a:latin typeface="Calibri" pitchFamily="34" charset="0"/>
                          <a:ea typeface="Calibri" pitchFamily="34" charset="-122"/>
                          <a:cs typeface="Calibri" pitchFamily="34" charset="-120"/>
                        </a:rPr>
                        <a:t>FAN-OUT</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r>
              <a:tr h="361188">
                <a:tc>
                  <a:txBody>
                    <a:bodyPr/>
                    <a:lstStyle/>
                    <a:p>
                      <a:pPr algn="l" indent="0" marL="0">
                        <a:buNone/>
                      </a:pPr>
                      <a:r>
                        <a:rPr lang="en-US" sz="1050" b="1" dirty="0">
                          <a:solidFill>
                            <a:srgbClr val="1A1A1A"/>
                          </a:solidFill>
                          <a:latin typeface="Calibri" pitchFamily="34" charset="0"/>
                          <a:ea typeface="Calibri" pitchFamily="34" charset="-122"/>
                          <a:cs typeface="Calibri" pitchFamily="34" charset="-120"/>
                        </a:rPr>
                        <a:t>chargeback</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721</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1 per dispute</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disputed amount, reason, opened_at</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6B7785"/>
                          </a:solidFill>
                          <a:latin typeface="Calibri" pitchFamily="34" charset="0"/>
                          <a:ea typeface="Calibri" pitchFamily="34" charset="-122"/>
                          <a:cs typeface="Calibri" pitchFamily="34" charset="-120"/>
                        </a:rPr>
                        <a:t>one-to-many</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r>
              <a:tr h="361188">
                <a:tc>
                  <a:txBody>
                    <a:bodyPr/>
                    <a:lstStyle/>
                    <a:p>
                      <a:pPr algn="l" indent="0" marL="0">
                        <a:buNone/>
                      </a:pPr>
                      <a:r>
                        <a:rPr lang="en-US" sz="1050" b="1" dirty="0">
                          <a:solidFill>
                            <a:srgbClr val="1A1A1A"/>
                          </a:solidFill>
                          <a:latin typeface="Calibri" pitchFamily="34" charset="0"/>
                          <a:ea typeface="Calibri" pitchFamily="34" charset="-122"/>
                          <a:cs typeface="Calibri" pitchFamily="34" charset="-120"/>
                        </a:rPr>
                        <a:t>merchant_risk_snapshot</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7,200</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12 per merchant</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risk_score, risk_band by month</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1050" b="1" dirty="0">
                          <a:solidFill>
                            <a:srgbClr val="A33D3D"/>
                          </a:solidFill>
                          <a:latin typeface="Calibri" pitchFamily="34" charset="0"/>
                          <a:ea typeface="Calibri" pitchFamily="34" charset="-122"/>
                          <a:cs typeface="Calibri" pitchFamily="34" charset="-120"/>
                        </a:rPr>
                        <a:t>FAN-OUT ×11.9</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r>
              <a:tr h="361188">
                <a:tc>
                  <a:txBody>
                    <a:bodyPr/>
                    <a:lstStyle/>
                    <a:p>
                      <a:pPr algn="l" indent="0" marL="0">
                        <a:buNone/>
                      </a:pPr>
                      <a:r>
                        <a:rPr lang="en-US" sz="1050" b="1" dirty="0">
                          <a:solidFill>
                            <a:srgbClr val="1A1A1A"/>
                          </a:solidFill>
                          <a:latin typeface="Calibri" pitchFamily="34" charset="0"/>
                          <a:ea typeface="Calibri" pitchFamily="34" charset="-122"/>
                          <a:cs typeface="Calibri" pitchFamily="34" charset="-120"/>
                        </a:rPr>
                        <a:t>route_cost</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dated</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1 per route per rate_date</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fixed_fee, variable_fee_pct</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D98324"/>
                          </a:solidFill>
                          <a:latin typeface="Calibri" pitchFamily="34" charset="0"/>
                          <a:ea typeface="Calibri" pitchFamily="34" charset="-122"/>
                          <a:cs typeface="Calibri" pitchFamily="34" charset="-120"/>
                        </a:rPr>
                        <a:t>dated — as-of join</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r>
              <a:tr h="361188">
                <a:tc>
                  <a:txBody>
                    <a:bodyPr/>
                    <a:lstStyle/>
                    <a:p>
                      <a:pPr algn="l" indent="0" marL="0">
                        <a:buNone/>
                      </a:pPr>
                      <a:r>
                        <a:rPr lang="en-US" sz="1050" b="1" dirty="0">
                          <a:solidFill>
                            <a:srgbClr val="1A1A1A"/>
                          </a:solidFill>
                          <a:latin typeface="Calibri" pitchFamily="34" charset="0"/>
                          <a:ea typeface="Calibri" pitchFamily="34" charset="-122"/>
                          <a:cs typeface="Calibri" pitchFamily="34" charset="-120"/>
                        </a:rPr>
                        <a:t>fx_rate</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dated</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1 per date × currency × rate_type</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rate_to_usd, MID or SETTLEMENT</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1050" b="1" dirty="0">
                          <a:solidFill>
                            <a:srgbClr val="D98324"/>
                          </a:solidFill>
                          <a:latin typeface="Calibri" pitchFamily="34" charset="0"/>
                          <a:ea typeface="Calibri" pitchFamily="34" charset="-122"/>
                          <a:cs typeface="Calibri" pitchFamily="34" charset="-120"/>
                        </a:rPr>
                        <a:t>two rate types</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r>
              <a:tr h="361188">
                <a:tc>
                  <a:txBody>
                    <a:bodyPr/>
                    <a:lstStyle/>
                    <a:p>
                      <a:pPr algn="l" indent="0" marL="0">
                        <a:buNone/>
                      </a:pPr>
                      <a:r>
                        <a:rPr lang="en-US" sz="1050" b="1" dirty="0">
                          <a:solidFill>
                            <a:srgbClr val="1A1A1A"/>
                          </a:solidFill>
                          <a:latin typeface="Calibri" pitchFamily="34" charset="0"/>
                          <a:ea typeface="Calibri" pitchFamily="34" charset="-122"/>
                          <a:cs typeface="Calibri" pitchFamily="34" charset="-120"/>
                        </a:rPr>
                        <a:t>merchant</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600</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1 per merchant</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category, country, pricing_plan, risk_tier</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6B7785"/>
                          </a:solidFill>
                          <a:latin typeface="Calibri" pitchFamily="34" charset="0"/>
                          <a:ea typeface="Calibri" pitchFamily="34" charset="-122"/>
                          <a:cs typeface="Calibri" pitchFamily="34" charset="-120"/>
                        </a:rPr>
                        <a:t>safe</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r>
              <a:tr h="361188">
                <a:tc>
                  <a:txBody>
                    <a:bodyPr/>
                    <a:lstStyle/>
                    <a:p>
                      <a:pPr algn="l" indent="0" marL="0">
                        <a:buNone/>
                      </a:pPr>
                      <a:r>
                        <a:rPr lang="en-US" sz="1050" b="1" dirty="0">
                          <a:solidFill>
                            <a:srgbClr val="1A1A1A"/>
                          </a:solidFill>
                          <a:latin typeface="Calibri" pitchFamily="34" charset="0"/>
                          <a:ea typeface="Calibri" pitchFamily="34" charset="-122"/>
                          <a:cs typeface="Calibri" pitchFamily="34" charset="-120"/>
                        </a:rPr>
                        <a:t>customer</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15,000</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1 per customer</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segment, country, kyc_status</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1050" b="1" dirty="0">
                          <a:solidFill>
                            <a:srgbClr val="6B7785"/>
                          </a:solidFill>
                          <a:latin typeface="Calibri" pitchFamily="34" charset="0"/>
                          <a:ea typeface="Calibri" pitchFamily="34" charset="-122"/>
                          <a:cs typeface="Calibri" pitchFamily="34" charset="-120"/>
                        </a:rPr>
                        <a:t>safe</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r>
              <a:tr h="361188">
                <a:tc>
                  <a:txBody>
                    <a:bodyPr/>
                    <a:lstStyle/>
                    <a:p>
                      <a:pPr algn="l" indent="0" marL="0">
                        <a:buNone/>
                      </a:pPr>
                      <a:r>
                        <a:rPr lang="en-US" sz="1050" b="1" dirty="0">
                          <a:solidFill>
                            <a:srgbClr val="1A1A1A"/>
                          </a:solidFill>
                          <a:latin typeface="Calibri" pitchFamily="34" charset="0"/>
                          <a:ea typeface="Calibri" pitchFamily="34" charset="-122"/>
                          <a:cs typeface="Calibri" pitchFamily="34" charset="-120"/>
                        </a:rPr>
                        <a:t>pricing_plan</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4</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1 per plan</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rate_pct, fixed_fee_usd, billing_basis</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050" b="1" dirty="0">
                          <a:solidFill>
                            <a:srgbClr val="6B7785"/>
                          </a:solidFill>
                          <a:latin typeface="Calibri" pitchFamily="34" charset="0"/>
                          <a:ea typeface="Calibri" pitchFamily="34" charset="-122"/>
                          <a:cs typeface="Calibri" pitchFamily="34" charset="-120"/>
                        </a:rPr>
                        <a:t>safe</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548640" y="6199632"/>
            <a:ext cx="11064240" cy="411480"/>
          </a:xfrm>
          <a:prstGeom prst="rect">
            <a:avLst/>
          </a:prstGeom>
          <a:noFill/>
          <a:ln/>
        </p:spPr>
        <p:txBody>
          <a:bodyPr wrap="square" lIns="0" tIns="0" rIns="0" bIns="0" rtlCol="0" anchor="ctr"/>
          <a:lstStyle/>
          <a:p>
            <a:pPr indent="0" marL="0">
              <a:lnSpc>
                <a:spcPts val="1300"/>
              </a:lnSpc>
              <a:buNone/>
            </a:pPr>
            <a:r>
              <a:rPr lang="en-US" sz="1100" i="1" dirty="0">
                <a:solidFill>
                  <a:srgbClr val="6B7785"/>
                </a:solidFill>
                <a:latin typeface="Calibri" pitchFamily="34" charset="0"/>
                <a:ea typeface="Calibri" pitchFamily="34" charset="-122"/>
                <a:cs typeface="Calibri" pitchFamily="34" charset="-120"/>
              </a:rPr>
              <a:t>settlement.fee_amount is the fee AstraPay charges the merchant — revenue. The fee AstraPay pays the provider is a different number and lives in route_cost. Reading fee_amount as cost makes contribution zero by construction.</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8"/>
        </a:solidFill>
      </p:bgPr>
    </p:bg>
    <p:spTree>
      <p:nvGrpSpPr>
        <p:cNvPr id="1" name=""/>
        <p:cNvGrpSpPr/>
        <p:nvPr/>
      </p:nvGrpSpPr>
      <p:grpSpPr>
        <a:xfrm>
          <a:off x="0" y="0"/>
          <a:ext cx="0" cy="0"/>
          <a:chOff x="0" y="0"/>
          <a:chExt cx="0" cy="0"/>
        </a:xfrm>
      </p:grpSpPr>
      <p:sp>
        <p:nvSpPr>
          <p:cNvPr id="2" name="Text 0"/>
          <p:cNvSpPr txBox="1"/>
          <p:nvPr/>
        </p:nvSpPr>
        <p:spPr>
          <a:xfrm>
            <a:off x="548640" y="329184"/>
            <a:ext cx="7315200" cy="237744"/>
          </a:xfrm>
          <a:prstGeom prst="rect">
            <a:avLst/>
          </a:prstGeom>
          <a:noFill/>
          <a:ln/>
        </p:spPr>
        <p:txBody>
          <a:bodyPr wrap="square" lIns="0" tIns="0" rIns="0" bIns="0" rtlCol="0" anchor="ctr"/>
          <a:lstStyle/>
          <a:p>
            <a:pPr indent="0" marL="0">
              <a:buNone/>
            </a:pPr>
            <a:r>
              <a:rPr lang="en-US" sz="1050" b="1" spc="200" kern="0" dirty="0">
                <a:solidFill>
                  <a:srgbClr val="D98324"/>
                </a:solidFill>
                <a:latin typeface="Calibri" pitchFamily="34" charset="0"/>
                <a:ea typeface="Calibri" pitchFamily="34" charset="-122"/>
                <a:cs typeface="Calibri" pitchFamily="34" charset="-120"/>
              </a:rPr>
              <a:t>TASK 2 · ER DIAGRAM &amp; JOIN RISK</a:t>
            </a:r>
            <a:endParaRPr lang="en-US" sz="1050" dirty="0"/>
          </a:p>
        </p:txBody>
      </p:sp>
      <p:sp>
        <p:nvSpPr>
          <p:cNvPr id="3" name="Text 1"/>
          <p:cNvSpPr txBox="1"/>
          <p:nvPr/>
        </p:nvSpPr>
        <p:spPr>
          <a:xfrm>
            <a:off x="548640" y="603504"/>
            <a:ext cx="11064240" cy="502920"/>
          </a:xfrm>
          <a:prstGeom prst="rect">
            <a:avLst/>
          </a:prstGeom>
          <a:noFill/>
          <a:ln/>
        </p:spPr>
        <p:txBody>
          <a:bodyPr wrap="square" lIns="0" tIns="0" rIns="0" bIns="0" rtlCol="0" anchor="ctr"/>
          <a:lstStyle/>
          <a:p>
            <a:pPr indent="0" marL="0">
              <a:buNone/>
            </a:pPr>
            <a:r>
              <a:rPr lang="en-US" sz="2600" b="1" dirty="0">
                <a:solidFill>
                  <a:srgbClr val="12233C"/>
                </a:solidFill>
                <a:latin typeface="Cambria" pitchFamily="34" charset="0"/>
                <a:ea typeface="Cambria" pitchFamily="34" charset="-122"/>
                <a:cs typeface="Cambria" pitchFamily="34" charset="-120"/>
              </a:rPr>
              <a:t>How the eleven files relate, and the three controls that keep them honest</a:t>
            </a:r>
            <a:endParaRPr lang="en-US" sz="2600" dirty="0"/>
          </a:p>
        </p:txBody>
      </p:sp>
      <p:sp>
        <p:nvSpPr>
          <p:cNvPr id="4" name="Text 2"/>
          <p:cNvSpPr txBox="1"/>
          <p:nvPr/>
        </p:nvSpPr>
        <p:spPr>
          <a:xfrm>
            <a:off x="548640" y="1115568"/>
            <a:ext cx="11064240" cy="310896"/>
          </a:xfrm>
          <a:prstGeom prst="rect">
            <a:avLst/>
          </a:prstGeom>
          <a:noFill/>
          <a:ln/>
        </p:spPr>
        <p:txBody>
          <a:bodyPr wrap="square" lIns="0" tIns="0" rIns="0" bIns="0" rtlCol="0" anchor="ctr"/>
          <a:lstStyle/>
          <a:p>
            <a:pPr indent="0" marL="0">
              <a:buNone/>
            </a:pPr>
            <a:r>
              <a:rPr lang="en-US" sz="1300" dirty="0">
                <a:solidFill>
                  <a:srgbClr val="6B7785"/>
                </a:solidFill>
                <a:latin typeface="Calibri" pitchFamily="34" charset="0"/>
                <a:ea typeface="Calibri" pitchFamily="34" charset="-122"/>
                <a:cs typeface="Calibri" pitchFamily="34" charset="-120"/>
              </a:rPr>
              <a:t>Red headers carry more than one row per key. Every one of them is pre-aggregated before it touches the fact table.</a:t>
            </a:r>
            <a:endParaRPr lang="en-US" sz="1300" dirty="0"/>
          </a:p>
        </p:txBody>
      </p:sp>
      <p:pic>
        <p:nvPicPr>
          <p:cNvPr id="5" name="Image 0" descr="preencoded.png">    </p:cNvPr>
          <p:cNvPicPr>
            <a:picLocks noChangeAspect="1"/>
          </p:cNvPicPr>
          <p:nvPr/>
        </p:nvPicPr>
        <p:blipFill>
          <a:blip r:embed="rId1"/>
          <a:stretch>
            <a:fillRect/>
          </a:stretch>
        </p:blipFill>
        <p:spPr>
          <a:xfrm>
            <a:off x="1920240" y="1517904"/>
            <a:ext cx="8321040" cy="3840480"/>
          </a:xfrm>
          <a:prstGeom prst="rect">
            <a:avLst/>
          </a:prstGeom>
        </p:spPr>
      </p:pic>
      <p:sp>
        <p:nvSpPr>
          <p:cNvPr id="6" name="Shape 3"/>
          <p:cNvSpPr/>
          <p:nvPr/>
        </p:nvSpPr>
        <p:spPr>
          <a:xfrm>
            <a:off x="548640" y="5440680"/>
            <a:ext cx="3538728" cy="1188720"/>
          </a:xfrm>
          <a:prstGeom prst="roundRect">
            <a:avLst>
              <a:gd name="adj" fmla="val 4615"/>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sp>
        <p:nvSpPr>
          <p:cNvPr id="7" name="Text 4"/>
          <p:cNvSpPr txBox="1"/>
          <p:nvPr/>
        </p:nvSpPr>
        <p:spPr>
          <a:xfrm>
            <a:off x="749808" y="5559552"/>
            <a:ext cx="3154680" cy="256032"/>
          </a:xfrm>
          <a:prstGeom prst="rect">
            <a:avLst/>
          </a:prstGeom>
          <a:noFill/>
          <a:ln/>
        </p:spPr>
        <p:txBody>
          <a:bodyPr wrap="square" lIns="0" tIns="0" rIns="0" bIns="0" rtlCol="0" anchor="ctr"/>
          <a:lstStyle/>
          <a:p>
            <a:pPr indent="0" marL="0">
              <a:buNone/>
            </a:pPr>
            <a:r>
              <a:rPr lang="en-US" sz="1200" b="1" dirty="0">
                <a:solidFill>
                  <a:srgbClr val="A33D3D"/>
                </a:solidFill>
                <a:latin typeface="Calibri" pitchFamily="34" charset="0"/>
                <a:ea typeface="Calibri" pitchFamily="34" charset="-122"/>
                <a:cs typeface="Calibri" pitchFamily="34" charset="-120"/>
              </a:rPr>
              <a:t>As-of join</a:t>
            </a:r>
            <a:endParaRPr lang="en-US" sz="1200" dirty="0"/>
          </a:p>
        </p:txBody>
      </p:sp>
      <p:sp>
        <p:nvSpPr>
          <p:cNvPr id="8" name="Text 5"/>
          <p:cNvSpPr txBox="1"/>
          <p:nvPr/>
        </p:nvSpPr>
        <p:spPr>
          <a:xfrm>
            <a:off x="749808" y="5815584"/>
            <a:ext cx="3154680" cy="749808"/>
          </a:xfrm>
          <a:prstGeom prst="rect">
            <a:avLst/>
          </a:prstGeom>
          <a:noFill/>
          <a:ln/>
        </p:spPr>
        <p:txBody>
          <a:bodyPr wrap="square" lIns="0" tIns="0" rIns="0" bIns="0" rtlCol="0" anchor="ctr"/>
          <a:lstStyle/>
          <a:p>
            <a:pPr indent="0" marL="0">
              <a:lnSpc>
                <a:spcPts val="1250"/>
              </a:lnSpc>
              <a:buNone/>
            </a:pPr>
            <a:r>
              <a:rPr lang="en-US" sz="1000" dirty="0">
                <a:solidFill>
                  <a:srgbClr val="4A5663"/>
                </a:solidFill>
                <a:latin typeface="Calibri" pitchFamily="34" charset="0"/>
                <a:ea typeface="Calibri" pitchFamily="34" charset="-122"/>
                <a:cs typeface="Calibri" pitchFamily="34" charset="-120"/>
              </a:rPr>
              <a:t>merchant_risk_snapshot → latest snapshot at or before the transaction month. Naive: ×11.92 GPV inflation.</a:t>
            </a:r>
            <a:endParaRPr lang="en-US" sz="1000" dirty="0"/>
          </a:p>
        </p:txBody>
      </p:sp>
      <p:sp>
        <p:nvSpPr>
          <p:cNvPr id="9" name="Shape 6"/>
          <p:cNvSpPr/>
          <p:nvPr/>
        </p:nvSpPr>
        <p:spPr>
          <a:xfrm>
            <a:off x="4325112" y="5440680"/>
            <a:ext cx="3538728" cy="1188720"/>
          </a:xfrm>
          <a:prstGeom prst="roundRect">
            <a:avLst>
              <a:gd name="adj" fmla="val 4615"/>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sp>
        <p:nvSpPr>
          <p:cNvPr id="10" name="Text 7"/>
          <p:cNvSpPr txBox="1"/>
          <p:nvPr/>
        </p:nvSpPr>
        <p:spPr>
          <a:xfrm>
            <a:off x="4526280" y="5559552"/>
            <a:ext cx="3154680" cy="256032"/>
          </a:xfrm>
          <a:prstGeom prst="rect">
            <a:avLst/>
          </a:prstGeom>
          <a:noFill/>
          <a:ln/>
        </p:spPr>
        <p:txBody>
          <a:bodyPr wrap="square" lIns="0" tIns="0" rIns="0" bIns="0" rtlCol="0" anchor="ctr"/>
          <a:lstStyle/>
          <a:p>
            <a:pPr indent="0" marL="0">
              <a:buNone/>
            </a:pPr>
            <a:r>
              <a:rPr lang="en-US" sz="1200" b="1" dirty="0">
                <a:solidFill>
                  <a:srgbClr val="D98324"/>
                </a:solidFill>
                <a:latin typeface="Calibri" pitchFamily="34" charset="0"/>
                <a:ea typeface="Calibri" pitchFamily="34" charset="-122"/>
                <a:cs typeface="Calibri" pitchFamily="34" charset="-120"/>
              </a:rPr>
              <a:t>Pre-aggregate first</a:t>
            </a:r>
            <a:endParaRPr lang="en-US" sz="1200" dirty="0"/>
          </a:p>
        </p:txBody>
      </p:sp>
      <p:sp>
        <p:nvSpPr>
          <p:cNvPr id="11" name="Text 8"/>
          <p:cNvSpPr txBox="1"/>
          <p:nvPr/>
        </p:nvSpPr>
        <p:spPr>
          <a:xfrm>
            <a:off x="4526280" y="5815584"/>
            <a:ext cx="3154680" cy="749808"/>
          </a:xfrm>
          <a:prstGeom prst="rect">
            <a:avLst/>
          </a:prstGeom>
          <a:noFill/>
          <a:ln/>
        </p:spPr>
        <p:txBody>
          <a:bodyPr wrap="square" lIns="0" tIns="0" rIns="0" bIns="0" rtlCol="0" anchor="ctr"/>
          <a:lstStyle/>
          <a:p>
            <a:pPr indent="0" marL="0">
              <a:lnSpc>
                <a:spcPts val="1250"/>
              </a:lnSpc>
              <a:buNone/>
            </a:pPr>
            <a:r>
              <a:rPr lang="en-US" sz="1000" dirty="0">
                <a:solidFill>
                  <a:srgbClr val="4A5663"/>
                </a:solidFill>
                <a:latin typeface="Calibri" pitchFamily="34" charset="0"/>
                <a:ea typeface="Calibri" pitchFamily="34" charset="-122"/>
                <a:cs typeface="Calibri" pitchFamily="34" charset="-120"/>
              </a:rPr>
              <a:t>fraud_decision, payment_event, settlement, chargeback all collapsed to one row per transaction_id before joining. Naive fraud join: ×1.79.</a:t>
            </a:r>
            <a:endParaRPr lang="en-US" sz="1000" dirty="0"/>
          </a:p>
        </p:txBody>
      </p:sp>
      <p:sp>
        <p:nvSpPr>
          <p:cNvPr id="12" name="Shape 9"/>
          <p:cNvSpPr/>
          <p:nvPr/>
        </p:nvSpPr>
        <p:spPr>
          <a:xfrm>
            <a:off x="8101584" y="5440680"/>
            <a:ext cx="3538728" cy="1188720"/>
          </a:xfrm>
          <a:prstGeom prst="roundRect">
            <a:avLst>
              <a:gd name="adj" fmla="val 4615"/>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sp>
        <p:nvSpPr>
          <p:cNvPr id="13" name="Text 10"/>
          <p:cNvSpPr txBox="1"/>
          <p:nvPr/>
        </p:nvSpPr>
        <p:spPr>
          <a:xfrm>
            <a:off x="8302752" y="5559552"/>
            <a:ext cx="3154680" cy="256032"/>
          </a:xfrm>
          <a:prstGeom prst="rect">
            <a:avLst/>
          </a:prstGeom>
          <a:noFill/>
          <a:ln/>
        </p:spPr>
        <p:txBody>
          <a:bodyPr wrap="square" lIns="0" tIns="0" rIns="0" bIns="0" rtlCol="0" anchor="ctr"/>
          <a:lstStyle/>
          <a:p>
            <a:pPr indent="0" marL="0">
              <a:buNone/>
            </a:pPr>
            <a:r>
              <a:rPr lang="en-US" sz="1200" b="1" dirty="0">
                <a:solidFill>
                  <a:srgbClr val="0E7C7B"/>
                </a:solidFill>
                <a:latin typeface="Calibri" pitchFamily="34" charset="0"/>
                <a:ea typeface="Calibri" pitchFamily="34" charset="-122"/>
                <a:cs typeface="Calibri" pitchFamily="34" charset="-120"/>
              </a:rPr>
              <a:t>Dated join, explicit rate type</a:t>
            </a:r>
            <a:endParaRPr lang="en-US" sz="1200" dirty="0"/>
          </a:p>
        </p:txBody>
      </p:sp>
      <p:sp>
        <p:nvSpPr>
          <p:cNvPr id="14" name="Text 11"/>
          <p:cNvSpPr txBox="1"/>
          <p:nvPr/>
        </p:nvSpPr>
        <p:spPr>
          <a:xfrm>
            <a:off x="8302752" y="5815584"/>
            <a:ext cx="3154680" cy="749808"/>
          </a:xfrm>
          <a:prstGeom prst="rect">
            <a:avLst/>
          </a:prstGeom>
          <a:noFill/>
          <a:ln/>
        </p:spPr>
        <p:txBody>
          <a:bodyPr wrap="square" lIns="0" tIns="0" rIns="0" bIns="0" rtlCol="0" anchor="ctr"/>
          <a:lstStyle/>
          <a:p>
            <a:pPr indent="0" marL="0">
              <a:lnSpc>
                <a:spcPts val="1250"/>
              </a:lnSpc>
              <a:buNone/>
            </a:pPr>
            <a:r>
              <a:rPr lang="en-US" sz="1000" dirty="0">
                <a:solidFill>
                  <a:srgbClr val="4A5663"/>
                </a:solidFill>
                <a:latin typeface="Calibri" pitchFamily="34" charset="0"/>
                <a:ea typeface="Calibri" pitchFamily="34" charset="-122"/>
                <a:cs typeface="Calibri" pitchFamily="34" charset="-120"/>
              </a:rPr>
              <a:t>route_cost and fx_rate joined on the transaction date, with rate_type = SETTLEMENT. Key-only joins multiply by every rate date.</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8"/>
        </a:solidFill>
      </p:bgPr>
    </p:bg>
    <p:spTree>
      <p:nvGrpSpPr>
        <p:cNvPr id="1" name=""/>
        <p:cNvGrpSpPr/>
        <p:nvPr/>
      </p:nvGrpSpPr>
      <p:grpSpPr>
        <a:xfrm>
          <a:off x="0" y="0"/>
          <a:ext cx="0" cy="0"/>
          <a:chOff x="0" y="0"/>
          <a:chExt cx="0" cy="0"/>
        </a:xfrm>
      </p:grpSpPr>
      <p:sp>
        <p:nvSpPr>
          <p:cNvPr id="2" name="Text 0"/>
          <p:cNvSpPr txBox="1"/>
          <p:nvPr/>
        </p:nvSpPr>
        <p:spPr>
          <a:xfrm>
            <a:off x="548640" y="329184"/>
            <a:ext cx="7315200" cy="237744"/>
          </a:xfrm>
          <a:prstGeom prst="rect">
            <a:avLst/>
          </a:prstGeom>
          <a:noFill/>
          <a:ln/>
        </p:spPr>
        <p:txBody>
          <a:bodyPr wrap="square" lIns="0" tIns="0" rIns="0" bIns="0" rtlCol="0" anchor="ctr"/>
          <a:lstStyle/>
          <a:p>
            <a:pPr indent="0" marL="0">
              <a:buNone/>
            </a:pPr>
            <a:r>
              <a:rPr lang="en-US" sz="1050" b="1" spc="200" kern="0" dirty="0">
                <a:solidFill>
                  <a:srgbClr val="D98324"/>
                </a:solidFill>
                <a:latin typeface="Calibri" pitchFamily="34" charset="0"/>
                <a:ea typeface="Calibri" pitchFamily="34" charset="-122"/>
                <a:cs typeface="Calibri" pitchFamily="34" charset="-120"/>
              </a:rPr>
              <a:t>TASK 2 · THE MESS</a:t>
            </a:r>
            <a:endParaRPr lang="en-US" sz="1050" dirty="0"/>
          </a:p>
        </p:txBody>
      </p:sp>
      <p:sp>
        <p:nvSpPr>
          <p:cNvPr id="3" name="Text 1"/>
          <p:cNvSpPr txBox="1"/>
          <p:nvPr/>
        </p:nvSpPr>
        <p:spPr>
          <a:xfrm>
            <a:off x="548640" y="603504"/>
            <a:ext cx="11064240" cy="502920"/>
          </a:xfrm>
          <a:prstGeom prst="rect">
            <a:avLst/>
          </a:prstGeom>
          <a:noFill/>
          <a:ln/>
        </p:spPr>
        <p:txBody>
          <a:bodyPr wrap="square" lIns="0" tIns="0" rIns="0" bIns="0" rtlCol="0" anchor="ctr"/>
          <a:lstStyle/>
          <a:p>
            <a:pPr indent="0" marL="0">
              <a:buNone/>
            </a:pPr>
            <a:r>
              <a:rPr lang="en-US" sz="2600" b="1" dirty="0">
                <a:solidFill>
                  <a:srgbClr val="12233C"/>
                </a:solidFill>
                <a:latin typeface="Cambria" pitchFamily="34" charset="0"/>
                <a:ea typeface="Cambria" pitchFamily="34" charset="-122"/>
                <a:cs typeface="Cambria" pitchFamily="34" charset="-120"/>
              </a:rPr>
              <a:t>Thirteen defects, and why "drop the bad rows" is the wrong instinct</a:t>
            </a:r>
            <a:endParaRPr lang="en-US" sz="2600" dirty="0"/>
          </a:p>
        </p:txBody>
      </p:sp>
      <p:sp>
        <p:nvSpPr>
          <p:cNvPr id="4" name="Text 2"/>
          <p:cNvSpPr txBox="1"/>
          <p:nvPr/>
        </p:nvSpPr>
        <p:spPr>
          <a:xfrm>
            <a:off x="548640" y="1115568"/>
            <a:ext cx="11064240" cy="310896"/>
          </a:xfrm>
          <a:prstGeom prst="rect">
            <a:avLst/>
          </a:prstGeom>
          <a:noFill/>
          <a:ln/>
        </p:spPr>
        <p:txBody>
          <a:bodyPr wrap="square" lIns="0" tIns="0" rIns="0" bIns="0" rtlCol="0" anchor="ctr"/>
          <a:lstStyle/>
          <a:p>
            <a:pPr indent="0" marL="0">
              <a:buNone/>
            </a:pPr>
            <a:r>
              <a:rPr lang="en-US" sz="1300" dirty="0">
                <a:solidFill>
                  <a:srgbClr val="6B7785"/>
                </a:solidFill>
                <a:latin typeface="Calibri" pitchFamily="34" charset="0"/>
                <a:ea typeface="Calibri" pitchFamily="34" charset="-122"/>
                <a:cs typeface="Calibri" pitchFamily="34" charset="-120"/>
              </a:rPr>
              <a:t>Three remediation verbs, applied deliberately: quarantine, repair, or retain-with-flag. Deletion is the option that silently changes the answer.</a:t>
            </a:r>
            <a:endParaRPr lang="en-US" sz="13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914400"/>
        </p:xfrm>
        <a:graphic>
          <a:graphicData uri="http://schemas.openxmlformats.org/drawingml/2006/table">
            <a:tbl>
              <a:tblPr/>
              <a:tblGrid>
                <a:gridCol w="457200"/>
                <a:gridCol w="2743200"/>
                <a:gridCol w="3017520"/>
                <a:gridCol w="1051560"/>
                <a:gridCol w="3794760"/>
              </a:tblGrid>
              <a:tr h="315468">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2233C"/>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Defect</a:t>
                      </a:r>
                      <a:endParaRPr lang="en-US" sz="9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2233C"/>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Measured</a:t>
                      </a:r>
                      <a:endParaRPr lang="en-US" sz="9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2233C"/>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Severity</a:t>
                      </a:r>
                      <a:endParaRPr lang="en-US" sz="9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2233C"/>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Remediation</a:t>
                      </a:r>
                      <a:endParaRPr lang="en-US" sz="9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2233C"/>
                    </a:solidFill>
                  </a:tcPr>
                </a:tc>
              </a:tr>
              <a:tr h="315468">
                <a:tc>
                  <a:txBody>
                    <a:bodyPr/>
                    <a:lstStyle/>
                    <a:p>
                      <a:pPr algn="ctr" indent="0" marL="0">
                        <a:buNone/>
                      </a:pPr>
                      <a:r>
                        <a:rPr lang="en-US" sz="950" b="1" dirty="0">
                          <a:solidFill>
                            <a:srgbClr val="1A1A1A"/>
                          </a:solidFill>
                          <a:latin typeface="Calibri" pitchFamily="34" charset="0"/>
                          <a:ea typeface="Calibri" pitchFamily="34" charset="-122"/>
                          <a:cs typeface="Calibri" pitchFamily="34" charset="-120"/>
                        </a:rPr>
                        <a:t>1</a:t>
                      </a:r>
                      <a:endParaRPr lang="en-US" sz="9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1A1A"/>
                          </a:solidFill>
                          <a:latin typeface="Calibri" pitchFamily="34" charset="0"/>
                          <a:ea typeface="Calibri" pitchFamily="34" charset="-122"/>
                          <a:cs typeface="Calibri" pitchFamily="34" charset="-120"/>
                        </a:rPr>
                        <a:t>Missing merchant_id</a:t>
                      </a:r>
                      <a:endParaRPr lang="en-US" sz="9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1A1A"/>
                          </a:solidFill>
                          <a:latin typeface="Calibri" pitchFamily="34" charset="0"/>
                          <a:ea typeface="Calibri" pitchFamily="34" charset="-122"/>
                          <a:cs typeface="Calibri" pitchFamily="34" charset="-120"/>
                        </a:rPr>
                        <a:t>0.68% overall — but WALLET 2.10% vs 0.41% elsewhere</a:t>
                      </a:r>
                      <a:endParaRPr lang="en-US" sz="9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D98324"/>
                          </a:solidFill>
                          <a:latin typeface="Calibri" pitchFamily="34" charset="0"/>
                          <a:ea typeface="Calibri" pitchFamily="34" charset="-122"/>
                          <a:cs typeface="Calibri" pitchFamily="34" charset="-120"/>
                        </a:rPr>
                        <a:t>WARNING</a:t>
                      </a:r>
                      <a:endParaRPr lang="en-US" sz="9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1A1A"/>
                          </a:solidFill>
                          <a:latin typeface="Calibri" pitchFamily="34" charset="0"/>
                          <a:ea typeface="Calibri" pitchFamily="34" charset="-122"/>
                          <a:cs typeface="Calibri" pitchFamily="34" charset="-120"/>
                        </a:rPr>
                        <a:t>Retain with flag. Not uniform, so dropping biases channel analysis</a:t>
                      </a:r>
                      <a:endParaRPr lang="en-US" sz="9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r>
              <a:tr h="315468">
                <a:tc>
                  <a:txBody>
                    <a:bodyPr/>
                    <a:lstStyle/>
                    <a:p>
                      <a:pPr algn="ctr" indent="0" marL="0">
                        <a:buNone/>
                      </a:pPr>
                      <a:r>
                        <a:rPr lang="en-US" sz="950" b="1" dirty="0">
                          <a:solidFill>
                            <a:srgbClr val="1A1A1A"/>
                          </a:solidFill>
                          <a:latin typeface="Calibri" pitchFamily="34" charset="0"/>
                          <a:ea typeface="Calibri" pitchFamily="34" charset="-122"/>
                          <a:cs typeface="Calibri" pitchFamily="34" charset="-120"/>
                        </a:rPr>
                        <a:t>2a</a:t>
                      </a:r>
                      <a:endParaRPr lang="en-US" sz="9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950" dirty="0">
                          <a:solidFill>
                            <a:srgbClr val="1A1A1A"/>
                          </a:solidFill>
                          <a:latin typeface="Calibri" pitchFamily="34" charset="0"/>
                          <a:ea typeface="Calibri" pitchFamily="34" charset="-122"/>
                          <a:cs typeface="Calibri" pitchFamily="34" charset="-120"/>
                        </a:rPr>
                        <a:t>Reversals: negative amount, status REVERSED</a:t>
                      </a:r>
                      <a:endParaRPr lang="en-US" sz="9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950" dirty="0">
                          <a:solidFill>
                            <a:srgbClr val="1A1A1A"/>
                          </a:solidFill>
                          <a:latin typeface="Calibri" pitchFamily="34" charset="0"/>
                          <a:ea typeface="Calibri" pitchFamily="34" charset="-122"/>
                          <a:cs typeface="Calibri" pitchFamily="34" charset="-120"/>
                        </a:rPr>
                        <a:t>1,952 rows</a:t>
                      </a:r>
                      <a:endParaRPr lang="en-US" sz="9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ctr" indent="0" marL="0">
                        <a:buNone/>
                      </a:pPr>
                      <a:r>
                        <a:rPr lang="en-US" sz="950" b="1" dirty="0">
                          <a:solidFill>
                            <a:srgbClr val="6B7785"/>
                          </a:solidFill>
                          <a:latin typeface="Calibri" pitchFamily="34" charset="0"/>
                          <a:ea typeface="Calibri" pitchFamily="34" charset="-122"/>
                          <a:cs typeface="Calibri" pitchFamily="34" charset="-120"/>
                        </a:rPr>
                        <a:t>INFO</a:t>
                      </a:r>
                      <a:endParaRPr lang="en-US" sz="9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950" dirty="0">
                          <a:solidFill>
                            <a:srgbClr val="1A1A1A"/>
                          </a:solidFill>
                          <a:latin typeface="Calibri" pitchFamily="34" charset="0"/>
                          <a:ea typeface="Calibri" pitchFamily="34" charset="-122"/>
                          <a:cs typeface="Calibri" pitchFamily="34" charset="-120"/>
                        </a:rPr>
                        <a:t>Legitimate business event — net them, do not drop</a:t>
                      </a:r>
                      <a:endParaRPr lang="en-US" sz="9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r>
              <a:tr h="315468">
                <a:tc>
                  <a:txBody>
                    <a:bodyPr/>
                    <a:lstStyle/>
                    <a:p>
                      <a:pPr algn="ctr" indent="0" marL="0">
                        <a:buNone/>
                      </a:pPr>
                      <a:r>
                        <a:rPr lang="en-US" sz="950" b="1" dirty="0">
                          <a:solidFill>
                            <a:srgbClr val="1A1A1A"/>
                          </a:solidFill>
                          <a:latin typeface="Calibri" pitchFamily="34" charset="0"/>
                          <a:ea typeface="Calibri" pitchFamily="34" charset="-122"/>
                          <a:cs typeface="Calibri" pitchFamily="34" charset="-120"/>
                        </a:rPr>
                        <a:t>2b</a:t>
                      </a:r>
                      <a:endParaRPr lang="en-US" sz="9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1A1A"/>
                          </a:solidFill>
                          <a:latin typeface="Calibri" pitchFamily="34" charset="0"/>
                          <a:ea typeface="Calibri" pitchFamily="34" charset="-122"/>
                          <a:cs typeface="Calibri" pitchFamily="34" charset="-120"/>
                        </a:rPr>
                        <a:t>Orphan negatives on CAPTURED, no parent</a:t>
                      </a:r>
                      <a:endParaRPr lang="en-US" sz="9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1A1A"/>
                          </a:solidFill>
                          <a:latin typeface="Calibri" pitchFamily="34" charset="0"/>
                          <a:ea typeface="Calibri" pitchFamily="34" charset="-122"/>
                          <a:cs typeface="Calibri" pitchFamily="34" charset="-120"/>
                        </a:rPr>
                        <a:t>390 rows</a:t>
                      </a:r>
                      <a:endParaRPr lang="en-US" sz="9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A33D3D"/>
                          </a:solidFill>
                          <a:latin typeface="Calibri" pitchFamily="34" charset="0"/>
                          <a:ea typeface="Calibri" pitchFamily="34" charset="-122"/>
                          <a:cs typeface="Calibri" pitchFamily="34" charset="-120"/>
                        </a:rPr>
                        <a:t>BLOCKING</a:t>
                      </a:r>
                      <a:endParaRPr lang="en-US" sz="9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1A1A"/>
                          </a:solidFill>
                          <a:latin typeface="Calibri" pitchFamily="34" charset="0"/>
                          <a:ea typeface="Calibri" pitchFamily="34" charset="-122"/>
                          <a:cs typeface="Calibri" pitchFamily="34" charset="-120"/>
                        </a:rPr>
                        <a:t>Quarantine — an impossible state</a:t>
                      </a:r>
                      <a:endParaRPr lang="en-US" sz="9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r>
              <a:tr h="315468">
                <a:tc>
                  <a:txBody>
                    <a:bodyPr/>
                    <a:lstStyle/>
                    <a:p>
                      <a:pPr algn="ctr" indent="0" marL="0">
                        <a:buNone/>
                      </a:pPr>
                      <a:r>
                        <a:rPr lang="en-US" sz="950" b="1" dirty="0">
                          <a:solidFill>
                            <a:srgbClr val="1A1A1A"/>
                          </a:solidFill>
                          <a:latin typeface="Calibri" pitchFamily="34" charset="0"/>
                          <a:ea typeface="Calibri" pitchFamily="34" charset="-122"/>
                          <a:cs typeface="Calibri" pitchFamily="34" charset="-120"/>
                        </a:rPr>
                        <a:t>3</a:t>
                      </a:r>
                      <a:endParaRPr lang="en-US" sz="9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950" dirty="0">
                          <a:solidFill>
                            <a:srgbClr val="1A1A1A"/>
                          </a:solidFill>
                          <a:latin typeface="Calibri" pitchFamily="34" charset="0"/>
                          <a:ea typeface="Calibri" pitchFamily="34" charset="-122"/>
                          <a:cs typeface="Calibri" pitchFamily="34" charset="-120"/>
                        </a:rPr>
                        <a:t>risk_score &gt; 1</a:t>
                      </a:r>
                      <a:endParaRPr lang="en-US" sz="9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950" dirty="0">
                          <a:solidFill>
                            <a:srgbClr val="1A1A1A"/>
                          </a:solidFill>
                          <a:latin typeface="Calibri" pitchFamily="34" charset="0"/>
                          <a:ea typeface="Calibri" pitchFamily="34" charset="-122"/>
                          <a:cs typeface="Calibri" pitchFamily="34" charset="-120"/>
                        </a:rPr>
                        <a:t>37.9% of fraud rows, all model_version v3.0</a:t>
                      </a:r>
                      <a:endParaRPr lang="en-US" sz="9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ctr" indent="0" marL="0">
                        <a:buNone/>
                      </a:pPr>
                      <a:r>
                        <a:rPr lang="en-US" sz="950" b="1" dirty="0">
                          <a:solidFill>
                            <a:srgbClr val="D98324"/>
                          </a:solidFill>
                          <a:latin typeface="Calibri" pitchFamily="34" charset="0"/>
                          <a:ea typeface="Calibri" pitchFamily="34" charset="-122"/>
                          <a:cs typeface="Calibri" pitchFamily="34" charset="-120"/>
                        </a:rPr>
                        <a:t>WARNING</a:t>
                      </a:r>
                      <a:endParaRPr lang="en-US" sz="9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950" dirty="0">
                          <a:solidFill>
                            <a:srgbClr val="1A1A1A"/>
                          </a:solidFill>
                          <a:latin typeface="Calibri" pitchFamily="34" charset="0"/>
                          <a:ea typeface="Calibri" pitchFamily="34" charset="-122"/>
                          <a:cs typeface="Calibri" pitchFamily="34" charset="-120"/>
                        </a:rPr>
                        <a:t>Normalise by version before any threshold comparison</a:t>
                      </a:r>
                      <a:endParaRPr lang="en-US" sz="9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r>
              <a:tr h="315468">
                <a:tc>
                  <a:txBody>
                    <a:bodyPr/>
                    <a:lstStyle/>
                    <a:p>
                      <a:pPr algn="ctr" indent="0" marL="0">
                        <a:buNone/>
                      </a:pPr>
                      <a:r>
                        <a:rPr lang="en-US" sz="950" b="1" dirty="0">
                          <a:solidFill>
                            <a:srgbClr val="1A1A1A"/>
                          </a:solidFill>
                          <a:latin typeface="Calibri" pitchFamily="34" charset="0"/>
                          <a:ea typeface="Calibri" pitchFamily="34" charset="-122"/>
                          <a:cs typeface="Calibri" pitchFamily="34" charset="-120"/>
                        </a:rPr>
                        <a:t>4</a:t>
                      </a:r>
                      <a:endParaRPr lang="en-US" sz="9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1A1A"/>
                          </a:solidFill>
                          <a:latin typeface="Calibri" pitchFamily="34" charset="0"/>
                          <a:ea typeface="Calibri" pitchFamily="34" charset="-122"/>
                          <a:cs typeface="Calibri" pitchFamily="34" charset="-120"/>
                        </a:rPr>
                        <a:t>Latency deterioration</a:t>
                      </a:r>
                      <a:endParaRPr lang="en-US" sz="9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1A1A"/>
                          </a:solidFill>
                          <a:latin typeface="Calibri" pitchFamily="34" charset="0"/>
                          <a:ea typeface="Calibri" pitchFamily="34" charset="-122"/>
                          <a:cs typeface="Calibri" pitchFamily="34" charset="-120"/>
                        </a:rPr>
                        <a:t>PROV_MERIDIAN, 1 Aug – 24 Sep</a:t>
                      </a:r>
                      <a:endParaRPr lang="en-US" sz="9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D98324"/>
                          </a:solidFill>
                          <a:latin typeface="Calibri" pitchFamily="34" charset="0"/>
                          <a:ea typeface="Calibri" pitchFamily="34" charset="-122"/>
                          <a:cs typeface="Calibri" pitchFamily="34" charset="-120"/>
                        </a:rPr>
                        <a:t>WARNING</a:t>
                      </a:r>
                      <a:endParaRPr lang="en-US" sz="9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1A1A"/>
                          </a:solidFill>
                          <a:latin typeface="Calibri" pitchFamily="34" charset="0"/>
                          <a:ea typeface="Calibri" pitchFamily="34" charset="-122"/>
                          <a:cs typeface="Calibri" pitchFamily="34" charset="-120"/>
                        </a:rPr>
                        <a:t>Flag as an incident, exclude from trend fitting</a:t>
                      </a:r>
                      <a:endParaRPr lang="en-US" sz="9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r>
              <a:tr h="315468">
                <a:tc>
                  <a:txBody>
                    <a:bodyPr/>
                    <a:lstStyle/>
                    <a:p>
                      <a:pPr algn="ctr" indent="0" marL="0">
                        <a:buNone/>
                      </a:pPr>
                      <a:r>
                        <a:rPr lang="en-US" sz="950" b="1" dirty="0">
                          <a:solidFill>
                            <a:srgbClr val="1A1A1A"/>
                          </a:solidFill>
                          <a:latin typeface="Calibri" pitchFamily="34" charset="0"/>
                          <a:ea typeface="Calibri" pitchFamily="34" charset="-122"/>
                          <a:cs typeface="Calibri" pitchFamily="34" charset="-120"/>
                        </a:rPr>
                        <a:t>5</a:t>
                      </a:r>
                      <a:endParaRPr lang="en-US" sz="9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950" dirty="0">
                          <a:solidFill>
                            <a:srgbClr val="1A1A1A"/>
                          </a:solidFill>
                          <a:latin typeface="Calibri" pitchFamily="34" charset="0"/>
                          <a:ea typeface="Calibri" pitchFamily="34" charset="-122"/>
                          <a:cs typeface="Calibri" pitchFamily="34" charset="-120"/>
                        </a:rPr>
                        <a:t>Late-arriving events</a:t>
                      </a:r>
                      <a:endParaRPr lang="en-US" sz="9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950" dirty="0">
                          <a:solidFill>
                            <a:srgbClr val="1A1A1A"/>
                          </a:solidFill>
                          <a:latin typeface="Calibri" pitchFamily="34" charset="0"/>
                          <a:ea typeface="Calibri" pitchFamily="34" charset="-122"/>
                          <a:cs typeface="Calibri" pitchFamily="34" charset="-120"/>
                        </a:rPr>
                        <a:t>4.44% ingested &gt;2 days late, max 9 days</a:t>
                      </a:r>
                      <a:endParaRPr lang="en-US" sz="9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ctr" indent="0" marL="0">
                        <a:buNone/>
                      </a:pPr>
                      <a:r>
                        <a:rPr lang="en-US" sz="950" b="1" dirty="0">
                          <a:solidFill>
                            <a:srgbClr val="D98324"/>
                          </a:solidFill>
                          <a:latin typeface="Calibri" pitchFamily="34" charset="0"/>
                          <a:ea typeface="Calibri" pitchFamily="34" charset="-122"/>
                          <a:cs typeface="Calibri" pitchFamily="34" charset="-120"/>
                        </a:rPr>
                        <a:t>WARNING</a:t>
                      </a:r>
                      <a:endParaRPr lang="en-US" sz="9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950" dirty="0">
                          <a:solidFill>
                            <a:srgbClr val="1A1A1A"/>
                          </a:solidFill>
                          <a:latin typeface="Calibri" pitchFamily="34" charset="0"/>
                          <a:ea typeface="Calibri" pitchFamily="34" charset="-122"/>
                          <a:cs typeface="Calibri" pitchFamily="34" charset="-120"/>
                        </a:rPr>
                        <a:t>event_time drives KPIs; ingestion_time measures reporting lag</a:t>
                      </a:r>
                      <a:endParaRPr lang="en-US" sz="9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r>
              <a:tr h="315468">
                <a:tc>
                  <a:txBody>
                    <a:bodyPr/>
                    <a:lstStyle/>
                    <a:p>
                      <a:pPr algn="ctr" indent="0" marL="0">
                        <a:buNone/>
                      </a:pPr>
                      <a:r>
                        <a:rPr lang="en-US" sz="950" b="1" dirty="0">
                          <a:solidFill>
                            <a:srgbClr val="1A1A1A"/>
                          </a:solidFill>
                          <a:latin typeface="Calibri" pitchFamily="34" charset="0"/>
                          <a:ea typeface="Calibri" pitchFamily="34" charset="-122"/>
                          <a:cs typeface="Calibri" pitchFamily="34" charset="-120"/>
                        </a:rPr>
                        <a:t>6a</a:t>
                      </a:r>
                      <a:endParaRPr lang="en-US" sz="9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1A1A"/>
                          </a:solidFill>
                          <a:latin typeface="Calibri" pitchFamily="34" charset="0"/>
                          <a:ea typeface="Calibri" pitchFamily="34" charset="-122"/>
                          <a:cs typeface="Calibri" pitchFamily="34" charset="-120"/>
                        </a:rPr>
                        <a:t>Captured transactions with no settlement row</a:t>
                      </a:r>
                      <a:endParaRPr lang="en-US" sz="9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1A1A"/>
                          </a:solidFill>
                          <a:latin typeface="Calibri" pitchFamily="34" charset="0"/>
                          <a:ea typeface="Calibri" pitchFamily="34" charset="-122"/>
                          <a:cs typeface="Calibri" pitchFamily="34" charset="-120"/>
                        </a:rPr>
                        <a:t>4.77%, weighted to December</a:t>
                      </a:r>
                      <a:endParaRPr lang="en-US" sz="9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A33D3D"/>
                          </a:solidFill>
                          <a:latin typeface="Calibri" pitchFamily="34" charset="0"/>
                          <a:ea typeface="Calibri" pitchFamily="34" charset="-122"/>
                          <a:cs typeface="Calibri" pitchFamily="34" charset="-120"/>
                        </a:rPr>
                        <a:t>BLOCKING</a:t>
                      </a:r>
                      <a:endParaRPr lang="en-US" sz="9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1A1A"/>
                          </a:solidFill>
                          <a:latin typeface="Calibri" pitchFamily="34" charset="0"/>
                          <a:ea typeface="Calibri" pitchFamily="34" charset="-122"/>
                          <a:cs typeface="Calibri" pitchFamily="34" charset="-120"/>
                        </a:rPr>
                        <a:t>Retain with flag; impute from the rate card, never treat as zero</a:t>
                      </a:r>
                      <a:endParaRPr lang="en-US" sz="9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r>
              <a:tr h="315468">
                <a:tc>
                  <a:txBody>
                    <a:bodyPr/>
                    <a:lstStyle/>
                    <a:p>
                      <a:pPr algn="ctr" indent="0" marL="0">
                        <a:buNone/>
                      </a:pPr>
                      <a:r>
                        <a:rPr lang="en-US" sz="950" b="1" dirty="0">
                          <a:solidFill>
                            <a:srgbClr val="1A1A1A"/>
                          </a:solidFill>
                          <a:latin typeface="Calibri" pitchFamily="34" charset="0"/>
                          <a:ea typeface="Calibri" pitchFamily="34" charset="-122"/>
                          <a:cs typeface="Calibri" pitchFamily="34" charset="-120"/>
                        </a:rPr>
                        <a:t>6b</a:t>
                      </a:r>
                      <a:endParaRPr lang="en-US" sz="9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950" dirty="0">
                          <a:solidFill>
                            <a:srgbClr val="1A1A1A"/>
                          </a:solidFill>
                          <a:latin typeface="Calibri" pitchFamily="34" charset="0"/>
                          <a:ea typeface="Calibri" pitchFamily="34" charset="-122"/>
                          <a:cs typeface="Calibri" pitchFamily="34" charset="-120"/>
                        </a:rPr>
                        <a:t>Transactions with two settlement rows</a:t>
                      </a:r>
                      <a:endParaRPr lang="en-US" sz="9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950" dirty="0">
                          <a:solidFill>
                            <a:srgbClr val="1A1A1A"/>
                          </a:solidFill>
                          <a:latin typeface="Calibri" pitchFamily="34" charset="0"/>
                          <a:ea typeface="Calibri" pitchFamily="34" charset="-122"/>
                          <a:cs typeface="Calibri" pitchFamily="34" charset="-120"/>
                        </a:rPr>
                        <a:t>1,334 (partial + CORRECTION)</a:t>
                      </a:r>
                      <a:endParaRPr lang="en-US" sz="9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ctr" indent="0" marL="0">
                        <a:buNone/>
                      </a:pPr>
                      <a:r>
                        <a:rPr lang="en-US" sz="950" b="1" dirty="0">
                          <a:solidFill>
                            <a:srgbClr val="A33D3D"/>
                          </a:solidFill>
                          <a:latin typeface="Calibri" pitchFamily="34" charset="0"/>
                          <a:ea typeface="Calibri" pitchFamily="34" charset="-122"/>
                          <a:cs typeface="Calibri" pitchFamily="34" charset="-120"/>
                        </a:rPr>
                        <a:t>BLOCKING</a:t>
                      </a:r>
                      <a:endParaRPr lang="en-US" sz="9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950" dirty="0">
                          <a:solidFill>
                            <a:srgbClr val="1A1A1A"/>
                          </a:solidFill>
                          <a:latin typeface="Calibri" pitchFamily="34" charset="0"/>
                          <a:ea typeface="Calibri" pitchFamily="34" charset="-122"/>
                          <a:cs typeface="Calibri" pitchFamily="34" charset="-120"/>
                        </a:rPr>
                        <a:t>Sum to transaction grain before joining</a:t>
                      </a:r>
                      <a:endParaRPr lang="en-US" sz="9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r>
              <a:tr h="315468">
                <a:tc>
                  <a:txBody>
                    <a:bodyPr/>
                    <a:lstStyle/>
                    <a:p>
                      <a:pPr algn="ctr" indent="0" marL="0">
                        <a:buNone/>
                      </a:pPr>
                      <a:r>
                        <a:rPr lang="en-US" sz="950" b="1" dirty="0">
                          <a:solidFill>
                            <a:srgbClr val="1A1A1A"/>
                          </a:solidFill>
                          <a:latin typeface="Calibri" pitchFamily="34" charset="0"/>
                          <a:ea typeface="Calibri" pitchFamily="34" charset="-122"/>
                          <a:cs typeface="Calibri" pitchFamily="34" charset="-120"/>
                        </a:rPr>
                        <a:t>6c</a:t>
                      </a:r>
                      <a:endParaRPr lang="en-US" sz="9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1A1A"/>
                          </a:solidFill>
                          <a:latin typeface="Calibri" pitchFamily="34" charset="0"/>
                          <a:ea typeface="Calibri" pitchFamily="34" charset="-122"/>
                          <a:cs typeface="Calibri" pitchFamily="34" charset="-120"/>
                        </a:rPr>
                        <a:t>Settlement rows with no matching transaction</a:t>
                      </a:r>
                      <a:endParaRPr lang="en-US" sz="9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1A1A"/>
                          </a:solidFill>
                          <a:latin typeface="Calibri" pitchFamily="34" charset="0"/>
                          <a:ea typeface="Calibri" pitchFamily="34" charset="-122"/>
                          <a:cs typeface="Calibri" pitchFamily="34" charset="-120"/>
                        </a:rPr>
                        <a:t>447 rows</a:t>
                      </a:r>
                      <a:endParaRPr lang="en-US" sz="9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A33D3D"/>
                          </a:solidFill>
                          <a:latin typeface="Calibri" pitchFamily="34" charset="0"/>
                          <a:ea typeface="Calibri" pitchFamily="34" charset="-122"/>
                          <a:cs typeface="Calibri" pitchFamily="34" charset="-120"/>
                        </a:rPr>
                        <a:t>BLOCKING</a:t>
                      </a:r>
                      <a:endParaRPr lang="en-US" sz="9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1A1A"/>
                          </a:solidFill>
                          <a:latin typeface="Calibri" pitchFamily="34" charset="0"/>
                          <a:ea typeface="Calibri" pitchFamily="34" charset="-122"/>
                          <a:cs typeface="Calibri" pitchFamily="34" charset="-120"/>
                        </a:rPr>
                        <a:t>Exclude and report to Finance Ops as a reconciliation break</a:t>
                      </a:r>
                      <a:endParaRPr lang="en-US" sz="9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r>
              <a:tr h="315468">
                <a:tc>
                  <a:txBody>
                    <a:bodyPr/>
                    <a:lstStyle/>
                    <a:p>
                      <a:pPr algn="ctr" indent="0" marL="0">
                        <a:buNone/>
                      </a:pPr>
                      <a:r>
                        <a:rPr lang="en-US" sz="950" b="1" dirty="0">
                          <a:solidFill>
                            <a:srgbClr val="1A1A1A"/>
                          </a:solidFill>
                          <a:latin typeface="Calibri" pitchFamily="34" charset="0"/>
                          <a:ea typeface="Calibri" pitchFamily="34" charset="-122"/>
                          <a:cs typeface="Calibri" pitchFamily="34" charset="-120"/>
                        </a:rPr>
                        <a:t>7</a:t>
                      </a:r>
                      <a:endParaRPr lang="en-US" sz="9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950" dirty="0">
                          <a:solidFill>
                            <a:srgbClr val="1A1A1A"/>
                          </a:solidFill>
                          <a:latin typeface="Calibri" pitchFamily="34" charset="0"/>
                          <a:ea typeface="Calibri" pitchFamily="34" charset="-122"/>
                          <a:cs typeface="Calibri" pitchFamily="34" charset="-120"/>
                        </a:rPr>
                        <a:t>Two FX rate types</a:t>
                      </a:r>
                      <a:endParaRPr lang="en-US" sz="9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950" dirty="0">
                          <a:solidFill>
                            <a:srgbClr val="1A1A1A"/>
                          </a:solidFill>
                          <a:latin typeface="Calibri" pitchFamily="34" charset="0"/>
                          <a:ea typeface="Calibri" pitchFamily="34" charset="-122"/>
                          <a:cs typeface="Calibri" pitchFamily="34" charset="-120"/>
                        </a:rPr>
                        <a:t>MID and SETTLEMENT for every date</a:t>
                      </a:r>
                      <a:endParaRPr lang="en-US" sz="9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ctr" indent="0" marL="0">
                        <a:buNone/>
                      </a:pPr>
                      <a:r>
                        <a:rPr lang="en-US" sz="950" b="1" dirty="0">
                          <a:solidFill>
                            <a:srgbClr val="D98324"/>
                          </a:solidFill>
                          <a:latin typeface="Calibri" pitchFamily="34" charset="0"/>
                          <a:ea typeface="Calibri" pitchFamily="34" charset="-122"/>
                          <a:cs typeface="Calibri" pitchFamily="34" charset="-120"/>
                        </a:rPr>
                        <a:t>WARNING</a:t>
                      </a:r>
                      <a:endParaRPr lang="en-US" sz="9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950" dirty="0">
                          <a:solidFill>
                            <a:srgbClr val="1A1A1A"/>
                          </a:solidFill>
                          <a:latin typeface="Calibri" pitchFamily="34" charset="0"/>
                          <a:ea typeface="Calibri" pitchFamily="34" charset="-122"/>
                          <a:cs typeface="Calibri" pitchFamily="34" charset="-120"/>
                        </a:rPr>
                        <a:t>Pick one, state why, sensitivity-test the other</a:t>
                      </a:r>
                      <a:endParaRPr lang="en-US" sz="9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r>
              <a:tr h="315468">
                <a:tc>
                  <a:txBody>
                    <a:bodyPr/>
                    <a:lstStyle/>
                    <a:p>
                      <a:pPr algn="ctr" indent="0" marL="0">
                        <a:buNone/>
                      </a:pPr>
                      <a:r>
                        <a:rPr lang="en-US" sz="950" b="1" dirty="0">
                          <a:solidFill>
                            <a:srgbClr val="1A1A1A"/>
                          </a:solidFill>
                          <a:latin typeface="Calibri" pitchFamily="34" charset="0"/>
                          <a:ea typeface="Calibri" pitchFamily="34" charset="-122"/>
                          <a:cs typeface="Calibri" pitchFamily="34" charset="-120"/>
                        </a:rPr>
                        <a:t>8</a:t>
                      </a:r>
                      <a:endParaRPr lang="en-US" sz="9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1A1A"/>
                          </a:solidFill>
                          <a:latin typeface="Calibri" pitchFamily="34" charset="0"/>
                          <a:ea typeface="Calibri" pitchFamily="34" charset="-122"/>
                          <a:cs typeface="Calibri" pitchFamily="34" charset="-120"/>
                        </a:rPr>
                        <a:t>merchant_risk_snapshot fan-out</a:t>
                      </a:r>
                      <a:endParaRPr lang="en-US" sz="9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1A1A"/>
                          </a:solidFill>
                          <a:latin typeface="Calibri" pitchFamily="34" charset="0"/>
                          <a:ea typeface="Calibri" pitchFamily="34" charset="-122"/>
                          <a:cs typeface="Calibri" pitchFamily="34" charset="-120"/>
                        </a:rPr>
                        <a:t>12 rows per merchant — ×11.9 inflation</a:t>
                      </a:r>
                      <a:endParaRPr lang="en-US" sz="9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A33D3D"/>
                          </a:solidFill>
                          <a:latin typeface="Calibri" pitchFamily="34" charset="0"/>
                          <a:ea typeface="Calibri" pitchFamily="34" charset="-122"/>
                          <a:cs typeface="Calibri" pitchFamily="34" charset="-120"/>
                        </a:rPr>
                        <a:t>BLOCKING</a:t>
                      </a:r>
                      <a:endParaRPr lang="en-US" sz="9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1A1A"/>
                          </a:solidFill>
                          <a:latin typeface="Calibri" pitchFamily="34" charset="0"/>
                          <a:ea typeface="Calibri" pitchFamily="34" charset="-122"/>
                          <a:cs typeface="Calibri" pitchFamily="34" charset="-120"/>
                        </a:rPr>
                        <a:t>As-of join on snapshot_month</a:t>
                      </a:r>
                      <a:endParaRPr lang="en-US" sz="9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r>
              <a:tr h="315468">
                <a:tc>
                  <a:txBody>
                    <a:bodyPr/>
                    <a:lstStyle/>
                    <a:p>
                      <a:pPr algn="ctr" indent="0" marL="0">
                        <a:buNone/>
                      </a:pPr>
                      <a:r>
                        <a:rPr lang="en-US" sz="950" b="1" dirty="0">
                          <a:solidFill>
                            <a:srgbClr val="1A1A1A"/>
                          </a:solidFill>
                          <a:latin typeface="Calibri" pitchFamily="34" charset="0"/>
                          <a:ea typeface="Calibri" pitchFamily="34" charset="-122"/>
                          <a:cs typeface="Calibri" pitchFamily="34" charset="-120"/>
                        </a:rPr>
                        <a:t>9</a:t>
                      </a:r>
                      <a:endParaRPr lang="en-US" sz="9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950" dirty="0">
                          <a:solidFill>
                            <a:srgbClr val="1A1A1A"/>
                          </a:solidFill>
                          <a:latin typeface="Calibri" pitchFamily="34" charset="0"/>
                          <a:ea typeface="Calibri" pitchFamily="34" charset="-122"/>
                          <a:cs typeface="Calibri" pitchFamily="34" charset="-120"/>
                        </a:rPr>
                        <a:t>fraud_decision fan-out</a:t>
                      </a:r>
                      <a:endParaRPr lang="en-US" sz="9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950" dirty="0">
                          <a:solidFill>
                            <a:srgbClr val="1A1A1A"/>
                          </a:solidFill>
                          <a:latin typeface="Calibri" pitchFamily="34" charset="0"/>
                          <a:ea typeface="Calibri" pitchFamily="34" charset="-122"/>
                          <a:cs typeface="Calibri" pitchFamily="34" charset="-120"/>
                        </a:rPr>
                        <a:t>1–4 rows per txn — ×1.8 inflation</a:t>
                      </a:r>
                      <a:endParaRPr lang="en-US" sz="9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ctr" indent="0" marL="0">
                        <a:buNone/>
                      </a:pPr>
                      <a:r>
                        <a:rPr lang="en-US" sz="950" b="1" dirty="0">
                          <a:solidFill>
                            <a:srgbClr val="A33D3D"/>
                          </a:solidFill>
                          <a:latin typeface="Calibri" pitchFamily="34" charset="0"/>
                          <a:ea typeface="Calibri" pitchFamily="34" charset="-122"/>
                          <a:cs typeface="Calibri" pitchFamily="34" charset="-120"/>
                        </a:rPr>
                        <a:t>BLOCKING</a:t>
                      </a:r>
                      <a:endParaRPr lang="en-US" sz="9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950" dirty="0">
                          <a:solidFill>
                            <a:srgbClr val="1A1A1A"/>
                          </a:solidFill>
                          <a:latin typeface="Calibri" pitchFamily="34" charset="0"/>
                          <a:ea typeface="Calibri" pitchFamily="34" charset="-122"/>
                          <a:cs typeface="Calibri" pitchFamily="34" charset="-120"/>
                        </a:rPr>
                        <a:t>Pre-aggregate to transaction grain</a:t>
                      </a:r>
                      <a:endParaRPr lang="en-US" sz="9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r>
              <a:tr h="315468">
                <a:tc>
                  <a:txBody>
                    <a:bodyPr/>
                    <a:lstStyle/>
                    <a:p>
                      <a:pPr algn="ctr" indent="0" marL="0">
                        <a:buNone/>
                      </a:pPr>
                      <a:r>
                        <a:rPr lang="en-US" sz="950" b="1" dirty="0">
                          <a:solidFill>
                            <a:srgbClr val="1A1A1A"/>
                          </a:solidFill>
                          <a:latin typeface="Calibri" pitchFamily="34" charset="0"/>
                          <a:ea typeface="Calibri" pitchFamily="34" charset="-122"/>
                          <a:cs typeface="Calibri" pitchFamily="34" charset="-120"/>
                        </a:rPr>
                        <a:t>9b</a:t>
                      </a:r>
                      <a:endParaRPr lang="en-US" sz="9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1A1A"/>
                          </a:solidFill>
                          <a:latin typeface="Calibri" pitchFamily="34" charset="0"/>
                          <a:ea typeface="Calibri" pitchFamily="34" charset="-122"/>
                          <a:cs typeface="Calibri" pitchFamily="34" charset="-120"/>
                        </a:rPr>
                        <a:t>payment_event fan-out</a:t>
                      </a:r>
                      <a:endParaRPr lang="en-US" sz="9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1A1A"/>
                          </a:solidFill>
                          <a:latin typeface="Calibri" pitchFamily="34" charset="0"/>
                          <a:ea typeface="Calibri" pitchFamily="34" charset="-122"/>
                          <a:cs typeface="Calibri" pitchFamily="34" charset="-120"/>
                        </a:rPr>
                        <a:t>2–4 rows per transaction</a:t>
                      </a:r>
                      <a:endParaRPr lang="en-US" sz="9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A33D3D"/>
                          </a:solidFill>
                          <a:latin typeface="Calibri" pitchFamily="34" charset="0"/>
                          <a:ea typeface="Calibri" pitchFamily="34" charset="-122"/>
                          <a:cs typeface="Calibri" pitchFamily="34" charset="-120"/>
                        </a:rPr>
                        <a:t>BLOCKING</a:t>
                      </a:r>
                      <a:endParaRPr lang="en-US" sz="9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950" dirty="0">
                          <a:solidFill>
                            <a:srgbClr val="1A1A1A"/>
                          </a:solidFill>
                          <a:latin typeface="Calibri" pitchFamily="34" charset="0"/>
                          <a:ea typeface="Calibri" pitchFamily="34" charset="-122"/>
                          <a:cs typeface="Calibri" pitchFamily="34" charset="-120"/>
                        </a:rPr>
                        <a:t>Pivot before joining</a:t>
                      </a:r>
                      <a:endParaRPr lang="en-US" sz="9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548640" y="6199632"/>
            <a:ext cx="11064240" cy="411480"/>
          </a:xfrm>
          <a:prstGeom prst="rect">
            <a:avLst/>
          </a:prstGeom>
          <a:noFill/>
          <a:ln/>
        </p:spPr>
        <p:txBody>
          <a:bodyPr wrap="square" lIns="0" tIns="0" rIns="0" bIns="0" rtlCol="0" anchor="ctr"/>
          <a:lstStyle/>
          <a:p>
            <a:pPr indent="0" marL="0">
              <a:lnSpc>
                <a:spcPts val="1300"/>
              </a:lnSpc>
              <a:buNone/>
            </a:pPr>
            <a:r>
              <a:rPr lang="en-US" sz="1100" i="1" dirty="0">
                <a:solidFill>
                  <a:srgbClr val="6B7785"/>
                </a:solidFill>
                <a:latin typeface="Calibri" pitchFamily="34" charset="0"/>
                <a:ea typeface="Calibri" pitchFamily="34" charset="-122"/>
                <a:cs typeface="Calibri" pitchFamily="34" charset="-120"/>
              </a:rPr>
              <a:t>Note the asymmetry in defect 1: the missing merchant rate is five times higher on WALLET than anywhere else. A defect that is not uniformly distributed cannot be dropped without biasing whatever dimension it correlates with.</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6F8"/>
        </a:solidFill>
      </p:bgPr>
    </p:bg>
    <p:spTree>
      <p:nvGrpSpPr>
        <p:cNvPr id="1" name=""/>
        <p:cNvGrpSpPr/>
        <p:nvPr/>
      </p:nvGrpSpPr>
      <p:grpSpPr>
        <a:xfrm>
          <a:off x="0" y="0"/>
          <a:ext cx="0" cy="0"/>
          <a:chOff x="0" y="0"/>
          <a:chExt cx="0" cy="0"/>
        </a:xfrm>
      </p:grpSpPr>
      <p:sp>
        <p:nvSpPr>
          <p:cNvPr id="2" name="Text 0"/>
          <p:cNvSpPr txBox="1"/>
          <p:nvPr/>
        </p:nvSpPr>
        <p:spPr>
          <a:xfrm>
            <a:off x="548640" y="329184"/>
            <a:ext cx="7315200" cy="237744"/>
          </a:xfrm>
          <a:prstGeom prst="rect">
            <a:avLst/>
          </a:prstGeom>
          <a:noFill/>
          <a:ln/>
        </p:spPr>
        <p:txBody>
          <a:bodyPr wrap="square" lIns="0" tIns="0" rIns="0" bIns="0" rtlCol="0" anchor="ctr"/>
          <a:lstStyle/>
          <a:p>
            <a:pPr indent="0" marL="0">
              <a:buNone/>
            </a:pPr>
            <a:r>
              <a:rPr lang="en-US" sz="1050" b="1" spc="200" kern="0" dirty="0">
                <a:solidFill>
                  <a:srgbClr val="D98324"/>
                </a:solidFill>
                <a:latin typeface="Calibri" pitchFamily="34" charset="0"/>
                <a:ea typeface="Calibri" pitchFamily="34" charset="-122"/>
                <a:cs typeface="Calibri" pitchFamily="34" charset="-120"/>
              </a:rPr>
              <a:t>TASK 3 · DATA QUALITY</a:t>
            </a:r>
            <a:endParaRPr lang="en-US" sz="1050" dirty="0"/>
          </a:p>
        </p:txBody>
      </p:sp>
      <p:sp>
        <p:nvSpPr>
          <p:cNvPr id="3" name="Text 1"/>
          <p:cNvSpPr txBox="1"/>
          <p:nvPr/>
        </p:nvSpPr>
        <p:spPr>
          <a:xfrm>
            <a:off x="548640" y="603504"/>
            <a:ext cx="11064240" cy="502920"/>
          </a:xfrm>
          <a:prstGeom prst="rect">
            <a:avLst/>
          </a:prstGeom>
          <a:noFill/>
          <a:ln/>
        </p:spPr>
        <p:txBody>
          <a:bodyPr wrap="square" lIns="0" tIns="0" rIns="0" bIns="0" rtlCol="0" anchor="ctr"/>
          <a:lstStyle/>
          <a:p>
            <a:pPr indent="0" marL="0">
              <a:buNone/>
            </a:pPr>
            <a:r>
              <a:rPr lang="en-US" sz="2600" b="1" dirty="0">
                <a:solidFill>
                  <a:srgbClr val="12233C"/>
                </a:solidFill>
                <a:latin typeface="Cambria" pitchFamily="34" charset="0"/>
                <a:ea typeface="Cambria" pitchFamily="34" charset="-122"/>
                <a:cs typeface="Cambria" pitchFamily="34" charset="-120"/>
              </a:rPr>
              <a:t>Twenty-six checks across six dimensions: 10 failed, 16 passed</a:t>
            </a:r>
            <a:endParaRPr lang="en-US" sz="2600" dirty="0"/>
          </a:p>
        </p:txBody>
      </p:sp>
      <p:sp>
        <p:nvSpPr>
          <p:cNvPr id="4" name="Text 2"/>
          <p:cNvSpPr txBox="1"/>
          <p:nvPr/>
        </p:nvSpPr>
        <p:spPr>
          <a:xfrm>
            <a:off x="548640" y="1115568"/>
            <a:ext cx="11064240" cy="310896"/>
          </a:xfrm>
          <a:prstGeom prst="rect">
            <a:avLst/>
          </a:prstGeom>
          <a:noFill/>
          <a:ln/>
        </p:spPr>
        <p:txBody>
          <a:bodyPr wrap="square" lIns="0" tIns="0" rIns="0" bIns="0" rtlCol="0" anchor="ctr"/>
          <a:lstStyle/>
          <a:p>
            <a:pPr indent="0" marL="0">
              <a:buNone/>
            </a:pPr>
            <a:r>
              <a:rPr lang="en-US" sz="1300" dirty="0">
                <a:solidFill>
                  <a:srgbClr val="6B7785"/>
                </a:solidFill>
                <a:latin typeface="Calibri" pitchFamily="34" charset="0"/>
                <a:ea typeface="Calibri" pitchFamily="34" charset="-122"/>
                <a:cs typeface="Calibri" pitchFamily="34" charset="-120"/>
              </a:rPr>
              <a:t>The gate from Task 1: until H0 is closed, no other hypothesis is worth testing. This is how it was closed.</a:t>
            </a:r>
            <a:endParaRPr lang="en-US" sz="1300" dirty="0"/>
          </a:p>
        </p:txBody>
      </p:sp>
      <p:sp>
        <p:nvSpPr>
          <p:cNvPr id="5" name="Shape 3"/>
          <p:cNvSpPr/>
          <p:nvPr/>
        </p:nvSpPr>
        <p:spPr>
          <a:xfrm>
            <a:off x="548640" y="1600200"/>
            <a:ext cx="1719072" cy="960120"/>
          </a:xfrm>
          <a:prstGeom prst="roundRect">
            <a:avLst>
              <a:gd name="adj" fmla="val 5714"/>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sp>
        <p:nvSpPr>
          <p:cNvPr id="6" name="Text 4"/>
          <p:cNvSpPr txBox="1"/>
          <p:nvPr/>
        </p:nvSpPr>
        <p:spPr>
          <a:xfrm>
            <a:off x="749808" y="1746504"/>
            <a:ext cx="1316736" cy="457200"/>
          </a:xfrm>
          <a:prstGeom prst="rect">
            <a:avLst/>
          </a:prstGeom>
          <a:noFill/>
          <a:ln/>
        </p:spPr>
        <p:txBody>
          <a:bodyPr wrap="square" lIns="0" tIns="0" rIns="0" bIns="0" rtlCol="0" anchor="ctr"/>
          <a:lstStyle/>
          <a:p>
            <a:pPr indent="0" marL="0">
              <a:buNone/>
            </a:pPr>
            <a:r>
              <a:rPr lang="en-US" sz="2200" b="1" dirty="0">
                <a:solidFill>
                  <a:srgbClr val="12233C"/>
                </a:solidFill>
                <a:latin typeface="Cambria" pitchFamily="34" charset="0"/>
                <a:ea typeface="Cambria" pitchFamily="34" charset="-122"/>
                <a:cs typeface="Cambria" pitchFamily="34" charset="-120"/>
              </a:rPr>
              <a:t>26</a:t>
            </a:r>
            <a:endParaRPr lang="en-US" sz="2200" dirty="0"/>
          </a:p>
        </p:txBody>
      </p:sp>
      <p:sp>
        <p:nvSpPr>
          <p:cNvPr id="7" name="Text 5"/>
          <p:cNvSpPr txBox="1"/>
          <p:nvPr/>
        </p:nvSpPr>
        <p:spPr>
          <a:xfrm>
            <a:off x="749808" y="2221992"/>
            <a:ext cx="1316736" cy="210312"/>
          </a:xfrm>
          <a:prstGeom prst="rect">
            <a:avLst/>
          </a:prstGeom>
          <a:noFill/>
          <a:ln/>
        </p:spPr>
        <p:txBody>
          <a:bodyPr wrap="square" lIns="0" tIns="0" rIns="0" bIns="0" rtlCol="0" anchor="ctr"/>
          <a:lstStyle/>
          <a:p>
            <a:pPr indent="0" marL="0">
              <a:lnSpc>
                <a:spcPts val="1300"/>
              </a:lnSpc>
              <a:buNone/>
            </a:pPr>
            <a:r>
              <a:rPr lang="en-US" sz="1050" dirty="0">
                <a:solidFill>
                  <a:srgbClr val="4A5663"/>
                </a:solidFill>
                <a:latin typeface="Calibri" pitchFamily="34" charset="0"/>
                <a:ea typeface="Calibri" pitchFamily="34" charset="-122"/>
                <a:cs typeface="Calibri" pitchFamily="34" charset="-120"/>
              </a:rPr>
              <a:t>checks</a:t>
            </a:r>
            <a:endParaRPr lang="en-US" sz="1050" dirty="0"/>
          </a:p>
        </p:txBody>
      </p:sp>
      <p:sp>
        <p:nvSpPr>
          <p:cNvPr id="8" name="Shape 6"/>
          <p:cNvSpPr/>
          <p:nvPr/>
        </p:nvSpPr>
        <p:spPr>
          <a:xfrm>
            <a:off x="2432304" y="1600200"/>
            <a:ext cx="1719072" cy="960120"/>
          </a:xfrm>
          <a:prstGeom prst="roundRect">
            <a:avLst>
              <a:gd name="adj" fmla="val 5714"/>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sp>
        <p:nvSpPr>
          <p:cNvPr id="9" name="Text 7"/>
          <p:cNvSpPr txBox="1"/>
          <p:nvPr/>
        </p:nvSpPr>
        <p:spPr>
          <a:xfrm>
            <a:off x="2633472" y="1746504"/>
            <a:ext cx="1316736" cy="457200"/>
          </a:xfrm>
          <a:prstGeom prst="rect">
            <a:avLst/>
          </a:prstGeom>
          <a:noFill/>
          <a:ln/>
        </p:spPr>
        <p:txBody>
          <a:bodyPr wrap="square" lIns="0" tIns="0" rIns="0" bIns="0" rtlCol="0" anchor="ctr"/>
          <a:lstStyle/>
          <a:p>
            <a:pPr indent="0" marL="0">
              <a:buNone/>
            </a:pPr>
            <a:r>
              <a:rPr lang="en-US" sz="2200" b="1" dirty="0">
                <a:solidFill>
                  <a:srgbClr val="A33D3D"/>
                </a:solidFill>
                <a:latin typeface="Cambria" pitchFamily="34" charset="0"/>
                <a:ea typeface="Cambria" pitchFamily="34" charset="-122"/>
                <a:cs typeface="Cambria" pitchFamily="34" charset="-120"/>
              </a:rPr>
              <a:t>10</a:t>
            </a:r>
            <a:endParaRPr lang="en-US" sz="2200" dirty="0"/>
          </a:p>
        </p:txBody>
      </p:sp>
      <p:sp>
        <p:nvSpPr>
          <p:cNvPr id="10" name="Text 8"/>
          <p:cNvSpPr txBox="1"/>
          <p:nvPr/>
        </p:nvSpPr>
        <p:spPr>
          <a:xfrm>
            <a:off x="2633472" y="2221992"/>
            <a:ext cx="1316736" cy="210312"/>
          </a:xfrm>
          <a:prstGeom prst="rect">
            <a:avLst/>
          </a:prstGeom>
          <a:noFill/>
          <a:ln/>
        </p:spPr>
        <p:txBody>
          <a:bodyPr wrap="square" lIns="0" tIns="0" rIns="0" bIns="0" rtlCol="0" anchor="ctr"/>
          <a:lstStyle/>
          <a:p>
            <a:pPr indent="0" marL="0">
              <a:lnSpc>
                <a:spcPts val="1300"/>
              </a:lnSpc>
              <a:buNone/>
            </a:pPr>
            <a:r>
              <a:rPr lang="en-US" sz="1050" dirty="0">
                <a:solidFill>
                  <a:srgbClr val="4A5663"/>
                </a:solidFill>
                <a:latin typeface="Calibri" pitchFamily="34" charset="0"/>
                <a:ea typeface="Calibri" pitchFamily="34" charset="-122"/>
                <a:cs typeface="Calibri" pitchFamily="34" charset="-120"/>
              </a:rPr>
              <a:t>FAIL</a:t>
            </a:r>
            <a:endParaRPr lang="en-US" sz="1050" dirty="0"/>
          </a:p>
        </p:txBody>
      </p:sp>
      <p:sp>
        <p:nvSpPr>
          <p:cNvPr id="11" name="Shape 9"/>
          <p:cNvSpPr/>
          <p:nvPr/>
        </p:nvSpPr>
        <p:spPr>
          <a:xfrm>
            <a:off x="4315968" y="1600200"/>
            <a:ext cx="1719072" cy="960120"/>
          </a:xfrm>
          <a:prstGeom prst="roundRect">
            <a:avLst>
              <a:gd name="adj" fmla="val 5714"/>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sp>
        <p:nvSpPr>
          <p:cNvPr id="12" name="Text 10"/>
          <p:cNvSpPr txBox="1"/>
          <p:nvPr/>
        </p:nvSpPr>
        <p:spPr>
          <a:xfrm>
            <a:off x="4517136" y="1746504"/>
            <a:ext cx="1316736" cy="457200"/>
          </a:xfrm>
          <a:prstGeom prst="rect">
            <a:avLst/>
          </a:prstGeom>
          <a:noFill/>
          <a:ln/>
        </p:spPr>
        <p:txBody>
          <a:bodyPr wrap="square" lIns="0" tIns="0" rIns="0" bIns="0" rtlCol="0" anchor="ctr"/>
          <a:lstStyle/>
          <a:p>
            <a:pPr indent="0" marL="0">
              <a:buNone/>
            </a:pPr>
            <a:r>
              <a:rPr lang="en-US" sz="2200" b="1" dirty="0">
                <a:solidFill>
                  <a:srgbClr val="0E7C7B"/>
                </a:solidFill>
                <a:latin typeface="Cambria" pitchFamily="34" charset="0"/>
                <a:ea typeface="Cambria" pitchFamily="34" charset="-122"/>
                <a:cs typeface="Cambria" pitchFamily="34" charset="-120"/>
              </a:rPr>
              <a:t>16</a:t>
            </a:r>
            <a:endParaRPr lang="en-US" sz="2200" dirty="0"/>
          </a:p>
        </p:txBody>
      </p:sp>
      <p:sp>
        <p:nvSpPr>
          <p:cNvPr id="13" name="Text 11"/>
          <p:cNvSpPr txBox="1"/>
          <p:nvPr/>
        </p:nvSpPr>
        <p:spPr>
          <a:xfrm>
            <a:off x="4517136" y="2221992"/>
            <a:ext cx="1316736" cy="210312"/>
          </a:xfrm>
          <a:prstGeom prst="rect">
            <a:avLst/>
          </a:prstGeom>
          <a:noFill/>
          <a:ln/>
        </p:spPr>
        <p:txBody>
          <a:bodyPr wrap="square" lIns="0" tIns="0" rIns="0" bIns="0" rtlCol="0" anchor="ctr"/>
          <a:lstStyle/>
          <a:p>
            <a:pPr indent="0" marL="0">
              <a:lnSpc>
                <a:spcPts val="1300"/>
              </a:lnSpc>
              <a:buNone/>
            </a:pPr>
            <a:r>
              <a:rPr lang="en-US" sz="1050" dirty="0">
                <a:solidFill>
                  <a:srgbClr val="4A5663"/>
                </a:solidFill>
                <a:latin typeface="Calibri" pitchFamily="34" charset="0"/>
                <a:ea typeface="Calibri" pitchFamily="34" charset="-122"/>
                <a:cs typeface="Calibri" pitchFamily="34" charset="-120"/>
              </a:rPr>
              <a:t>PASS</a:t>
            </a:r>
            <a:endParaRPr lang="en-US" sz="1050" dirty="0"/>
          </a:p>
        </p:txBody>
      </p:sp>
      <p:sp>
        <p:nvSpPr>
          <p:cNvPr id="14" name="Shape 12"/>
          <p:cNvSpPr/>
          <p:nvPr/>
        </p:nvSpPr>
        <p:spPr>
          <a:xfrm>
            <a:off x="6199632" y="1600200"/>
            <a:ext cx="1719072" cy="960120"/>
          </a:xfrm>
          <a:prstGeom prst="roundRect">
            <a:avLst>
              <a:gd name="adj" fmla="val 5714"/>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sp>
        <p:nvSpPr>
          <p:cNvPr id="15" name="Text 13"/>
          <p:cNvSpPr txBox="1"/>
          <p:nvPr/>
        </p:nvSpPr>
        <p:spPr>
          <a:xfrm>
            <a:off x="6400800" y="1746504"/>
            <a:ext cx="1316736" cy="457200"/>
          </a:xfrm>
          <a:prstGeom prst="rect">
            <a:avLst/>
          </a:prstGeom>
          <a:noFill/>
          <a:ln/>
        </p:spPr>
        <p:txBody>
          <a:bodyPr wrap="square" lIns="0" tIns="0" rIns="0" bIns="0" rtlCol="0" anchor="ctr"/>
          <a:lstStyle/>
          <a:p>
            <a:pPr indent="0" marL="0">
              <a:buNone/>
            </a:pPr>
            <a:r>
              <a:rPr lang="en-US" sz="2200" b="1" dirty="0">
                <a:solidFill>
                  <a:srgbClr val="D98324"/>
                </a:solidFill>
                <a:latin typeface="Cambria" pitchFamily="34" charset="0"/>
                <a:ea typeface="Cambria" pitchFamily="34" charset="-122"/>
                <a:cs typeface="Cambria" pitchFamily="34" charset="-120"/>
              </a:rPr>
              <a:t>5</a:t>
            </a:r>
            <a:endParaRPr lang="en-US" sz="2200" dirty="0"/>
          </a:p>
        </p:txBody>
      </p:sp>
      <p:sp>
        <p:nvSpPr>
          <p:cNvPr id="16" name="Text 14"/>
          <p:cNvSpPr txBox="1"/>
          <p:nvPr/>
        </p:nvSpPr>
        <p:spPr>
          <a:xfrm>
            <a:off x="6400800" y="2221992"/>
            <a:ext cx="1316736" cy="210312"/>
          </a:xfrm>
          <a:prstGeom prst="rect">
            <a:avLst/>
          </a:prstGeom>
          <a:noFill/>
          <a:ln/>
        </p:spPr>
        <p:txBody>
          <a:bodyPr wrap="square" lIns="0" tIns="0" rIns="0" bIns="0" rtlCol="0" anchor="ctr"/>
          <a:lstStyle/>
          <a:p>
            <a:pPr indent="0" marL="0">
              <a:lnSpc>
                <a:spcPts val="1300"/>
              </a:lnSpc>
              <a:buNone/>
            </a:pPr>
            <a:r>
              <a:rPr lang="en-US" sz="1050" dirty="0">
                <a:solidFill>
                  <a:srgbClr val="4A5663"/>
                </a:solidFill>
                <a:latin typeface="Calibri" pitchFamily="34" charset="0"/>
                <a:ea typeface="Calibri" pitchFamily="34" charset="-122"/>
                <a:cs typeface="Calibri" pitchFamily="34" charset="-120"/>
              </a:rPr>
              <a:t>Blocking</a:t>
            </a:r>
            <a:endParaRPr lang="en-US" sz="1050" dirty="0"/>
          </a:p>
        </p:txBody>
      </p:sp>
      <p:sp>
        <p:nvSpPr>
          <p:cNvPr id="17" name="Shape 15"/>
          <p:cNvSpPr/>
          <p:nvPr/>
        </p:nvSpPr>
        <p:spPr>
          <a:xfrm>
            <a:off x="8083296" y="1600200"/>
            <a:ext cx="1719072" cy="960120"/>
          </a:xfrm>
          <a:prstGeom prst="roundRect">
            <a:avLst>
              <a:gd name="adj" fmla="val 5714"/>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sp>
        <p:nvSpPr>
          <p:cNvPr id="18" name="Text 16"/>
          <p:cNvSpPr txBox="1"/>
          <p:nvPr/>
        </p:nvSpPr>
        <p:spPr>
          <a:xfrm>
            <a:off x="8284464" y="1746504"/>
            <a:ext cx="1316736" cy="457200"/>
          </a:xfrm>
          <a:prstGeom prst="rect">
            <a:avLst/>
          </a:prstGeom>
          <a:noFill/>
          <a:ln/>
        </p:spPr>
        <p:txBody>
          <a:bodyPr wrap="square" lIns="0" tIns="0" rIns="0" bIns="0" rtlCol="0" anchor="ctr"/>
          <a:lstStyle/>
          <a:p>
            <a:pPr indent="0" marL="0">
              <a:buNone/>
            </a:pPr>
            <a:r>
              <a:rPr lang="en-US" sz="2200" b="1" dirty="0">
                <a:solidFill>
                  <a:srgbClr val="A33D3D"/>
                </a:solidFill>
                <a:latin typeface="Cambria" pitchFamily="34" charset="0"/>
                <a:ea typeface="Cambria" pitchFamily="34" charset="-122"/>
                <a:cs typeface="Cambria" pitchFamily="34" charset="-120"/>
              </a:rPr>
              <a:t>3,038</a:t>
            </a:r>
            <a:endParaRPr lang="en-US" sz="2200" dirty="0"/>
          </a:p>
        </p:txBody>
      </p:sp>
      <p:sp>
        <p:nvSpPr>
          <p:cNvPr id="19" name="Text 17"/>
          <p:cNvSpPr txBox="1"/>
          <p:nvPr/>
        </p:nvSpPr>
        <p:spPr>
          <a:xfrm>
            <a:off x="8284464" y="2221992"/>
            <a:ext cx="1316736" cy="210312"/>
          </a:xfrm>
          <a:prstGeom prst="rect">
            <a:avLst/>
          </a:prstGeom>
          <a:noFill/>
          <a:ln/>
        </p:spPr>
        <p:txBody>
          <a:bodyPr wrap="square" lIns="0" tIns="0" rIns="0" bIns="0" rtlCol="0" anchor="ctr"/>
          <a:lstStyle/>
          <a:p>
            <a:pPr indent="0" marL="0">
              <a:lnSpc>
                <a:spcPts val="1300"/>
              </a:lnSpc>
              <a:buNone/>
            </a:pPr>
            <a:r>
              <a:rPr lang="en-US" sz="1050" dirty="0">
                <a:solidFill>
                  <a:srgbClr val="4A5663"/>
                </a:solidFill>
                <a:latin typeface="Calibri" pitchFamily="34" charset="0"/>
                <a:ea typeface="Calibri" pitchFamily="34" charset="-122"/>
                <a:cs typeface="Calibri" pitchFamily="34" charset="-120"/>
              </a:rPr>
              <a:t>rows quarantined</a:t>
            </a:r>
            <a:endParaRPr lang="en-US" sz="1050" dirty="0"/>
          </a:p>
        </p:txBody>
      </p:sp>
      <p:sp>
        <p:nvSpPr>
          <p:cNvPr id="20" name="Shape 18"/>
          <p:cNvSpPr/>
          <p:nvPr/>
        </p:nvSpPr>
        <p:spPr>
          <a:xfrm>
            <a:off x="9966960" y="1600200"/>
            <a:ext cx="1719072" cy="960120"/>
          </a:xfrm>
          <a:prstGeom prst="roundRect">
            <a:avLst>
              <a:gd name="adj" fmla="val 5714"/>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sp>
        <p:nvSpPr>
          <p:cNvPr id="21" name="Text 19"/>
          <p:cNvSpPr txBox="1"/>
          <p:nvPr/>
        </p:nvSpPr>
        <p:spPr>
          <a:xfrm>
            <a:off x="10168128" y="1746504"/>
            <a:ext cx="1316736" cy="457200"/>
          </a:xfrm>
          <a:prstGeom prst="rect">
            <a:avLst/>
          </a:prstGeom>
          <a:noFill/>
          <a:ln/>
        </p:spPr>
        <p:txBody>
          <a:bodyPr wrap="square" lIns="0" tIns="0" rIns="0" bIns="0" rtlCol="0" anchor="ctr"/>
          <a:lstStyle/>
          <a:p>
            <a:pPr indent="0" marL="0">
              <a:buNone/>
            </a:pPr>
            <a:r>
              <a:rPr lang="en-US" sz="2200" b="1" dirty="0">
                <a:solidFill>
                  <a:srgbClr val="0E7C7B"/>
                </a:solidFill>
                <a:latin typeface="Cambria" pitchFamily="34" charset="0"/>
                <a:ea typeface="Cambria" pitchFamily="34" charset="-122"/>
                <a:cs typeface="Cambria" pitchFamily="34" charset="-120"/>
              </a:rPr>
              <a:t>0</a:t>
            </a:r>
            <a:endParaRPr lang="en-US" sz="2200" dirty="0"/>
          </a:p>
        </p:txBody>
      </p:sp>
      <p:sp>
        <p:nvSpPr>
          <p:cNvPr id="22" name="Text 20"/>
          <p:cNvSpPr txBox="1"/>
          <p:nvPr/>
        </p:nvSpPr>
        <p:spPr>
          <a:xfrm>
            <a:off x="10168128" y="2221992"/>
            <a:ext cx="1316736" cy="210312"/>
          </a:xfrm>
          <a:prstGeom prst="rect">
            <a:avLst/>
          </a:prstGeom>
          <a:noFill/>
          <a:ln/>
        </p:spPr>
        <p:txBody>
          <a:bodyPr wrap="square" lIns="0" tIns="0" rIns="0" bIns="0" rtlCol="0" anchor="ctr"/>
          <a:lstStyle/>
          <a:p>
            <a:pPr indent="0" marL="0">
              <a:lnSpc>
                <a:spcPts val="1300"/>
              </a:lnSpc>
              <a:buNone/>
            </a:pPr>
            <a:r>
              <a:rPr lang="en-US" sz="1050" dirty="0">
                <a:solidFill>
                  <a:srgbClr val="4A5663"/>
                </a:solidFill>
                <a:latin typeface="Calibri" pitchFamily="34" charset="0"/>
                <a:ea typeface="Calibri" pitchFamily="34" charset="-122"/>
                <a:cs typeface="Calibri" pitchFamily="34" charset="-120"/>
              </a:rPr>
              <a:t>unexplained</a:t>
            </a:r>
            <a:endParaRPr lang="en-US" sz="1050" dirty="0"/>
          </a:p>
        </p:txBody>
      </p:sp>
      <p:sp>
        <p:nvSpPr>
          <p:cNvPr id="23" name="Shape 21"/>
          <p:cNvSpPr/>
          <p:nvPr/>
        </p:nvSpPr>
        <p:spPr>
          <a:xfrm>
            <a:off x="548640" y="2697480"/>
            <a:ext cx="1719072" cy="731520"/>
          </a:xfrm>
          <a:prstGeom prst="roundRect">
            <a:avLst>
              <a:gd name="adj" fmla="val 7500"/>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sp>
        <p:nvSpPr>
          <p:cNvPr id="24" name="Text 22"/>
          <p:cNvSpPr txBox="1"/>
          <p:nvPr/>
        </p:nvSpPr>
        <p:spPr>
          <a:xfrm>
            <a:off x="685800" y="2788920"/>
            <a:ext cx="1444752" cy="219456"/>
          </a:xfrm>
          <a:prstGeom prst="rect">
            <a:avLst/>
          </a:prstGeom>
          <a:noFill/>
          <a:ln/>
        </p:spPr>
        <p:txBody>
          <a:bodyPr wrap="square" lIns="0" tIns="0" rIns="0" bIns="0" rtlCol="0" anchor="ctr"/>
          <a:lstStyle/>
          <a:p>
            <a:pPr indent="0" marL="0">
              <a:buNone/>
            </a:pPr>
            <a:r>
              <a:rPr lang="en-US" sz="1050" b="1" dirty="0">
                <a:solidFill>
                  <a:srgbClr val="12233C"/>
                </a:solidFill>
                <a:latin typeface="Calibri" pitchFamily="34" charset="0"/>
                <a:ea typeface="Calibri" pitchFamily="34" charset="-122"/>
                <a:cs typeface="Calibri" pitchFamily="34" charset="-120"/>
              </a:rPr>
              <a:t>Completeness</a:t>
            </a:r>
            <a:endParaRPr lang="en-US" sz="1050" dirty="0"/>
          </a:p>
        </p:txBody>
      </p:sp>
      <p:sp>
        <p:nvSpPr>
          <p:cNvPr id="25" name="Text 23"/>
          <p:cNvSpPr txBox="1"/>
          <p:nvPr/>
        </p:nvSpPr>
        <p:spPr>
          <a:xfrm>
            <a:off x="685800" y="2999232"/>
            <a:ext cx="1444752" cy="182880"/>
          </a:xfrm>
          <a:prstGeom prst="rect">
            <a:avLst/>
          </a:prstGeom>
          <a:noFill/>
          <a:ln/>
        </p:spPr>
        <p:txBody>
          <a:bodyPr wrap="square" lIns="0" tIns="0" rIns="0" bIns="0" rtlCol="0" anchor="ctr"/>
          <a:lstStyle/>
          <a:p>
            <a:pPr indent="0" marL="0">
              <a:buNone/>
            </a:pPr>
            <a:r>
              <a:rPr lang="en-US" sz="950" b="1" dirty="0">
                <a:solidFill>
                  <a:srgbClr val="D98324"/>
                </a:solidFill>
                <a:latin typeface="Calibri" pitchFamily="34" charset="0"/>
                <a:ea typeface="Calibri" pitchFamily="34" charset="-122"/>
                <a:cs typeface="Calibri" pitchFamily="34" charset="-120"/>
              </a:rPr>
              <a:t>4 checks</a:t>
            </a:r>
            <a:endParaRPr lang="en-US" sz="950" dirty="0"/>
          </a:p>
        </p:txBody>
      </p:sp>
      <p:sp>
        <p:nvSpPr>
          <p:cNvPr id="26" name="Text 24"/>
          <p:cNvSpPr txBox="1"/>
          <p:nvPr/>
        </p:nvSpPr>
        <p:spPr>
          <a:xfrm>
            <a:off x="685800" y="3182112"/>
            <a:ext cx="1444752" cy="219456"/>
          </a:xfrm>
          <a:prstGeom prst="rect">
            <a:avLst/>
          </a:prstGeom>
          <a:noFill/>
          <a:ln/>
        </p:spPr>
        <p:txBody>
          <a:bodyPr wrap="square" lIns="0" tIns="0" rIns="0" bIns="0" rtlCol="0" anchor="ctr"/>
          <a:lstStyle/>
          <a:p>
            <a:pPr indent="0" marL="0">
              <a:buNone/>
            </a:pPr>
            <a:r>
              <a:rPr lang="en-US" sz="900" i="1" dirty="0">
                <a:solidFill>
                  <a:srgbClr val="0E7C7B"/>
                </a:solidFill>
                <a:latin typeface="Calibri" pitchFamily="34" charset="0"/>
                <a:ea typeface="Calibri" pitchFamily="34" charset="-122"/>
                <a:cs typeface="Calibri" pitchFamily="34" charset="-120"/>
              </a:rPr>
              <a:t>Is the value there?</a:t>
            </a:r>
            <a:endParaRPr lang="en-US" sz="900" dirty="0"/>
          </a:p>
        </p:txBody>
      </p:sp>
      <p:sp>
        <p:nvSpPr>
          <p:cNvPr id="27" name="Shape 25"/>
          <p:cNvSpPr/>
          <p:nvPr/>
        </p:nvSpPr>
        <p:spPr>
          <a:xfrm>
            <a:off x="2432304" y="2697480"/>
            <a:ext cx="1719072" cy="731520"/>
          </a:xfrm>
          <a:prstGeom prst="roundRect">
            <a:avLst>
              <a:gd name="adj" fmla="val 7500"/>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sp>
        <p:nvSpPr>
          <p:cNvPr id="28" name="Text 26"/>
          <p:cNvSpPr txBox="1"/>
          <p:nvPr/>
        </p:nvSpPr>
        <p:spPr>
          <a:xfrm>
            <a:off x="2569464" y="2788920"/>
            <a:ext cx="1444752" cy="219456"/>
          </a:xfrm>
          <a:prstGeom prst="rect">
            <a:avLst/>
          </a:prstGeom>
          <a:noFill/>
          <a:ln/>
        </p:spPr>
        <p:txBody>
          <a:bodyPr wrap="square" lIns="0" tIns="0" rIns="0" bIns="0" rtlCol="0" anchor="ctr"/>
          <a:lstStyle/>
          <a:p>
            <a:pPr indent="0" marL="0">
              <a:buNone/>
            </a:pPr>
            <a:r>
              <a:rPr lang="en-US" sz="1050" b="1" dirty="0">
                <a:solidFill>
                  <a:srgbClr val="12233C"/>
                </a:solidFill>
                <a:latin typeface="Calibri" pitchFamily="34" charset="0"/>
                <a:ea typeface="Calibri" pitchFamily="34" charset="-122"/>
                <a:cs typeface="Calibri" pitchFamily="34" charset="-120"/>
              </a:rPr>
              <a:t>Validity</a:t>
            </a:r>
            <a:endParaRPr lang="en-US" sz="1050" dirty="0"/>
          </a:p>
        </p:txBody>
      </p:sp>
      <p:sp>
        <p:nvSpPr>
          <p:cNvPr id="29" name="Text 27"/>
          <p:cNvSpPr txBox="1"/>
          <p:nvPr/>
        </p:nvSpPr>
        <p:spPr>
          <a:xfrm>
            <a:off x="2569464" y="2999232"/>
            <a:ext cx="1444752" cy="182880"/>
          </a:xfrm>
          <a:prstGeom prst="rect">
            <a:avLst/>
          </a:prstGeom>
          <a:noFill/>
          <a:ln/>
        </p:spPr>
        <p:txBody>
          <a:bodyPr wrap="square" lIns="0" tIns="0" rIns="0" bIns="0" rtlCol="0" anchor="ctr"/>
          <a:lstStyle/>
          <a:p>
            <a:pPr indent="0" marL="0">
              <a:buNone/>
            </a:pPr>
            <a:r>
              <a:rPr lang="en-US" sz="950" b="1" dirty="0">
                <a:solidFill>
                  <a:srgbClr val="D98324"/>
                </a:solidFill>
                <a:latin typeface="Calibri" pitchFamily="34" charset="0"/>
                <a:ea typeface="Calibri" pitchFamily="34" charset="-122"/>
                <a:cs typeface="Calibri" pitchFamily="34" charset="-120"/>
              </a:rPr>
              <a:t>6 checks</a:t>
            </a:r>
            <a:endParaRPr lang="en-US" sz="950" dirty="0"/>
          </a:p>
        </p:txBody>
      </p:sp>
      <p:sp>
        <p:nvSpPr>
          <p:cNvPr id="30" name="Text 28"/>
          <p:cNvSpPr txBox="1"/>
          <p:nvPr/>
        </p:nvSpPr>
        <p:spPr>
          <a:xfrm>
            <a:off x="2569464" y="3182112"/>
            <a:ext cx="1444752" cy="219456"/>
          </a:xfrm>
          <a:prstGeom prst="rect">
            <a:avLst/>
          </a:prstGeom>
          <a:noFill/>
          <a:ln/>
        </p:spPr>
        <p:txBody>
          <a:bodyPr wrap="square" lIns="0" tIns="0" rIns="0" bIns="0" rtlCol="0" anchor="ctr"/>
          <a:lstStyle/>
          <a:p>
            <a:pPr indent="0" marL="0">
              <a:buNone/>
            </a:pPr>
            <a:r>
              <a:rPr lang="en-US" sz="900" i="1" dirty="0">
                <a:solidFill>
                  <a:srgbClr val="0E7C7B"/>
                </a:solidFill>
                <a:latin typeface="Calibri" pitchFamily="34" charset="0"/>
                <a:ea typeface="Calibri" pitchFamily="34" charset="-122"/>
                <a:cs typeface="Calibri" pitchFamily="34" charset="-120"/>
              </a:rPr>
              <a:t>Is the value possible?</a:t>
            </a:r>
            <a:endParaRPr lang="en-US" sz="900" dirty="0"/>
          </a:p>
        </p:txBody>
      </p:sp>
      <p:sp>
        <p:nvSpPr>
          <p:cNvPr id="31" name="Shape 29"/>
          <p:cNvSpPr/>
          <p:nvPr/>
        </p:nvSpPr>
        <p:spPr>
          <a:xfrm>
            <a:off x="4315968" y="2697480"/>
            <a:ext cx="1719072" cy="731520"/>
          </a:xfrm>
          <a:prstGeom prst="roundRect">
            <a:avLst>
              <a:gd name="adj" fmla="val 7500"/>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sp>
        <p:nvSpPr>
          <p:cNvPr id="32" name="Text 30"/>
          <p:cNvSpPr txBox="1"/>
          <p:nvPr/>
        </p:nvSpPr>
        <p:spPr>
          <a:xfrm>
            <a:off x="4453128" y="2788920"/>
            <a:ext cx="1444752" cy="219456"/>
          </a:xfrm>
          <a:prstGeom prst="rect">
            <a:avLst/>
          </a:prstGeom>
          <a:noFill/>
          <a:ln/>
        </p:spPr>
        <p:txBody>
          <a:bodyPr wrap="square" lIns="0" tIns="0" rIns="0" bIns="0" rtlCol="0" anchor="ctr"/>
          <a:lstStyle/>
          <a:p>
            <a:pPr indent="0" marL="0">
              <a:buNone/>
            </a:pPr>
            <a:r>
              <a:rPr lang="en-US" sz="1050" b="1" dirty="0">
                <a:solidFill>
                  <a:srgbClr val="12233C"/>
                </a:solidFill>
                <a:latin typeface="Calibri" pitchFamily="34" charset="0"/>
                <a:ea typeface="Calibri" pitchFamily="34" charset="-122"/>
                <a:cs typeface="Calibri" pitchFamily="34" charset="-120"/>
              </a:rPr>
              <a:t>Uniqueness</a:t>
            </a:r>
            <a:endParaRPr lang="en-US" sz="1050" dirty="0"/>
          </a:p>
        </p:txBody>
      </p:sp>
      <p:sp>
        <p:nvSpPr>
          <p:cNvPr id="33" name="Text 31"/>
          <p:cNvSpPr txBox="1"/>
          <p:nvPr/>
        </p:nvSpPr>
        <p:spPr>
          <a:xfrm>
            <a:off x="4453128" y="2999232"/>
            <a:ext cx="1444752" cy="182880"/>
          </a:xfrm>
          <a:prstGeom prst="rect">
            <a:avLst/>
          </a:prstGeom>
          <a:noFill/>
          <a:ln/>
        </p:spPr>
        <p:txBody>
          <a:bodyPr wrap="square" lIns="0" tIns="0" rIns="0" bIns="0" rtlCol="0" anchor="ctr"/>
          <a:lstStyle/>
          <a:p>
            <a:pPr indent="0" marL="0">
              <a:buNone/>
            </a:pPr>
            <a:r>
              <a:rPr lang="en-US" sz="950" b="1" dirty="0">
                <a:solidFill>
                  <a:srgbClr val="D98324"/>
                </a:solidFill>
                <a:latin typeface="Calibri" pitchFamily="34" charset="0"/>
                <a:ea typeface="Calibri" pitchFamily="34" charset="-122"/>
                <a:cs typeface="Calibri" pitchFamily="34" charset="-120"/>
              </a:rPr>
              <a:t>4 checks</a:t>
            </a:r>
            <a:endParaRPr lang="en-US" sz="950" dirty="0"/>
          </a:p>
        </p:txBody>
      </p:sp>
      <p:sp>
        <p:nvSpPr>
          <p:cNvPr id="34" name="Text 32"/>
          <p:cNvSpPr txBox="1"/>
          <p:nvPr/>
        </p:nvSpPr>
        <p:spPr>
          <a:xfrm>
            <a:off x="4453128" y="3182112"/>
            <a:ext cx="1444752" cy="219456"/>
          </a:xfrm>
          <a:prstGeom prst="rect">
            <a:avLst/>
          </a:prstGeom>
          <a:noFill/>
          <a:ln/>
        </p:spPr>
        <p:txBody>
          <a:bodyPr wrap="square" lIns="0" tIns="0" rIns="0" bIns="0" rtlCol="0" anchor="ctr"/>
          <a:lstStyle/>
          <a:p>
            <a:pPr indent="0" marL="0">
              <a:buNone/>
            </a:pPr>
            <a:r>
              <a:rPr lang="en-US" sz="900" i="1" dirty="0">
                <a:solidFill>
                  <a:srgbClr val="0E7C7B"/>
                </a:solidFill>
                <a:latin typeface="Calibri" pitchFamily="34" charset="0"/>
                <a:ea typeface="Calibri" pitchFamily="34" charset="-122"/>
                <a:cs typeface="Calibri" pitchFamily="34" charset="-120"/>
              </a:rPr>
              <a:t>Does the key hold?</a:t>
            </a:r>
            <a:endParaRPr lang="en-US" sz="900" dirty="0"/>
          </a:p>
        </p:txBody>
      </p:sp>
      <p:sp>
        <p:nvSpPr>
          <p:cNvPr id="35" name="Shape 33"/>
          <p:cNvSpPr/>
          <p:nvPr/>
        </p:nvSpPr>
        <p:spPr>
          <a:xfrm>
            <a:off x="6199632" y="2697480"/>
            <a:ext cx="1719072" cy="731520"/>
          </a:xfrm>
          <a:prstGeom prst="roundRect">
            <a:avLst>
              <a:gd name="adj" fmla="val 7500"/>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sp>
        <p:nvSpPr>
          <p:cNvPr id="36" name="Text 34"/>
          <p:cNvSpPr txBox="1"/>
          <p:nvPr/>
        </p:nvSpPr>
        <p:spPr>
          <a:xfrm>
            <a:off x="6336792" y="2788920"/>
            <a:ext cx="1444752" cy="219456"/>
          </a:xfrm>
          <a:prstGeom prst="rect">
            <a:avLst/>
          </a:prstGeom>
          <a:noFill/>
          <a:ln/>
        </p:spPr>
        <p:txBody>
          <a:bodyPr wrap="square" lIns="0" tIns="0" rIns="0" bIns="0" rtlCol="0" anchor="ctr"/>
          <a:lstStyle/>
          <a:p>
            <a:pPr indent="0" marL="0">
              <a:buNone/>
            </a:pPr>
            <a:r>
              <a:rPr lang="en-US" sz="1050" b="1" dirty="0">
                <a:solidFill>
                  <a:srgbClr val="12233C"/>
                </a:solidFill>
                <a:latin typeface="Calibri" pitchFamily="34" charset="0"/>
                <a:ea typeface="Calibri" pitchFamily="34" charset="-122"/>
                <a:cs typeface="Calibri" pitchFamily="34" charset="-120"/>
              </a:rPr>
              <a:t>Consistency</a:t>
            </a:r>
            <a:endParaRPr lang="en-US" sz="1050" dirty="0"/>
          </a:p>
        </p:txBody>
      </p:sp>
      <p:sp>
        <p:nvSpPr>
          <p:cNvPr id="37" name="Text 35"/>
          <p:cNvSpPr txBox="1"/>
          <p:nvPr/>
        </p:nvSpPr>
        <p:spPr>
          <a:xfrm>
            <a:off x="6336792" y="2999232"/>
            <a:ext cx="1444752" cy="182880"/>
          </a:xfrm>
          <a:prstGeom prst="rect">
            <a:avLst/>
          </a:prstGeom>
          <a:noFill/>
          <a:ln/>
        </p:spPr>
        <p:txBody>
          <a:bodyPr wrap="square" lIns="0" tIns="0" rIns="0" bIns="0" rtlCol="0" anchor="ctr"/>
          <a:lstStyle/>
          <a:p>
            <a:pPr indent="0" marL="0">
              <a:buNone/>
            </a:pPr>
            <a:r>
              <a:rPr lang="en-US" sz="950" b="1" dirty="0">
                <a:solidFill>
                  <a:srgbClr val="D98324"/>
                </a:solidFill>
                <a:latin typeface="Calibri" pitchFamily="34" charset="0"/>
                <a:ea typeface="Calibri" pitchFamily="34" charset="-122"/>
                <a:cs typeface="Calibri" pitchFamily="34" charset="-120"/>
              </a:rPr>
              <a:t>5 checks</a:t>
            </a:r>
            <a:endParaRPr lang="en-US" sz="950" dirty="0"/>
          </a:p>
        </p:txBody>
      </p:sp>
      <p:sp>
        <p:nvSpPr>
          <p:cNvPr id="38" name="Text 36"/>
          <p:cNvSpPr txBox="1"/>
          <p:nvPr/>
        </p:nvSpPr>
        <p:spPr>
          <a:xfrm>
            <a:off x="6336792" y="3182112"/>
            <a:ext cx="1444752" cy="219456"/>
          </a:xfrm>
          <a:prstGeom prst="rect">
            <a:avLst/>
          </a:prstGeom>
          <a:noFill/>
          <a:ln/>
        </p:spPr>
        <p:txBody>
          <a:bodyPr wrap="square" lIns="0" tIns="0" rIns="0" bIns="0" rtlCol="0" anchor="ctr"/>
          <a:lstStyle/>
          <a:p>
            <a:pPr indent="0" marL="0">
              <a:buNone/>
            </a:pPr>
            <a:r>
              <a:rPr lang="en-US" sz="900" i="1" dirty="0">
                <a:solidFill>
                  <a:srgbClr val="0E7C7B"/>
                </a:solidFill>
                <a:latin typeface="Calibri" pitchFamily="34" charset="0"/>
                <a:ea typeface="Calibri" pitchFamily="34" charset="-122"/>
                <a:cs typeface="Calibri" pitchFamily="34" charset="-120"/>
              </a:rPr>
              <a:t>Do the tables agree?</a:t>
            </a:r>
            <a:endParaRPr lang="en-US" sz="900" dirty="0"/>
          </a:p>
        </p:txBody>
      </p:sp>
      <p:sp>
        <p:nvSpPr>
          <p:cNvPr id="39" name="Shape 37"/>
          <p:cNvSpPr/>
          <p:nvPr/>
        </p:nvSpPr>
        <p:spPr>
          <a:xfrm>
            <a:off x="8083296" y="2697480"/>
            <a:ext cx="1719072" cy="731520"/>
          </a:xfrm>
          <a:prstGeom prst="roundRect">
            <a:avLst>
              <a:gd name="adj" fmla="val 7500"/>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sp>
        <p:nvSpPr>
          <p:cNvPr id="40" name="Text 38"/>
          <p:cNvSpPr txBox="1"/>
          <p:nvPr/>
        </p:nvSpPr>
        <p:spPr>
          <a:xfrm>
            <a:off x="8220456" y="2788920"/>
            <a:ext cx="1444752" cy="219456"/>
          </a:xfrm>
          <a:prstGeom prst="rect">
            <a:avLst/>
          </a:prstGeom>
          <a:noFill/>
          <a:ln/>
        </p:spPr>
        <p:txBody>
          <a:bodyPr wrap="square" lIns="0" tIns="0" rIns="0" bIns="0" rtlCol="0" anchor="ctr"/>
          <a:lstStyle/>
          <a:p>
            <a:pPr indent="0" marL="0">
              <a:buNone/>
            </a:pPr>
            <a:r>
              <a:rPr lang="en-US" sz="1050" b="1" dirty="0">
                <a:solidFill>
                  <a:srgbClr val="12233C"/>
                </a:solidFill>
                <a:latin typeface="Calibri" pitchFamily="34" charset="0"/>
                <a:ea typeface="Calibri" pitchFamily="34" charset="-122"/>
                <a:cs typeface="Calibri" pitchFamily="34" charset="-120"/>
              </a:rPr>
              <a:t>Timeliness</a:t>
            </a:r>
            <a:endParaRPr lang="en-US" sz="1050" dirty="0"/>
          </a:p>
        </p:txBody>
      </p:sp>
      <p:sp>
        <p:nvSpPr>
          <p:cNvPr id="41" name="Text 39"/>
          <p:cNvSpPr txBox="1"/>
          <p:nvPr/>
        </p:nvSpPr>
        <p:spPr>
          <a:xfrm>
            <a:off x="8220456" y="2999232"/>
            <a:ext cx="1444752" cy="182880"/>
          </a:xfrm>
          <a:prstGeom prst="rect">
            <a:avLst/>
          </a:prstGeom>
          <a:noFill/>
          <a:ln/>
        </p:spPr>
        <p:txBody>
          <a:bodyPr wrap="square" lIns="0" tIns="0" rIns="0" bIns="0" rtlCol="0" anchor="ctr"/>
          <a:lstStyle/>
          <a:p>
            <a:pPr indent="0" marL="0">
              <a:buNone/>
            </a:pPr>
            <a:r>
              <a:rPr lang="en-US" sz="950" b="1" dirty="0">
                <a:solidFill>
                  <a:srgbClr val="D98324"/>
                </a:solidFill>
                <a:latin typeface="Calibri" pitchFamily="34" charset="0"/>
                <a:ea typeface="Calibri" pitchFamily="34" charset="-122"/>
                <a:cs typeface="Calibri" pitchFamily="34" charset="-120"/>
              </a:rPr>
              <a:t>4 checks</a:t>
            </a:r>
            <a:endParaRPr lang="en-US" sz="950" dirty="0"/>
          </a:p>
        </p:txBody>
      </p:sp>
      <p:sp>
        <p:nvSpPr>
          <p:cNvPr id="42" name="Text 40"/>
          <p:cNvSpPr txBox="1"/>
          <p:nvPr/>
        </p:nvSpPr>
        <p:spPr>
          <a:xfrm>
            <a:off x="8220456" y="3182112"/>
            <a:ext cx="1444752" cy="219456"/>
          </a:xfrm>
          <a:prstGeom prst="rect">
            <a:avLst/>
          </a:prstGeom>
          <a:noFill/>
          <a:ln/>
        </p:spPr>
        <p:txBody>
          <a:bodyPr wrap="square" lIns="0" tIns="0" rIns="0" bIns="0" rtlCol="0" anchor="ctr"/>
          <a:lstStyle/>
          <a:p>
            <a:pPr indent="0" marL="0">
              <a:buNone/>
            </a:pPr>
            <a:r>
              <a:rPr lang="en-US" sz="900" i="1" dirty="0">
                <a:solidFill>
                  <a:srgbClr val="0E7C7B"/>
                </a:solidFill>
                <a:latin typeface="Calibri" pitchFamily="34" charset="0"/>
                <a:ea typeface="Calibri" pitchFamily="34" charset="-122"/>
                <a:cs typeface="Calibri" pitchFamily="34" charset="-120"/>
              </a:rPr>
              <a:t>Did it arrive on time?</a:t>
            </a:r>
            <a:endParaRPr lang="en-US" sz="900" dirty="0"/>
          </a:p>
        </p:txBody>
      </p:sp>
      <p:sp>
        <p:nvSpPr>
          <p:cNvPr id="43" name="Shape 41"/>
          <p:cNvSpPr/>
          <p:nvPr/>
        </p:nvSpPr>
        <p:spPr>
          <a:xfrm>
            <a:off x="9966960" y="2697480"/>
            <a:ext cx="1719072" cy="731520"/>
          </a:xfrm>
          <a:prstGeom prst="roundRect">
            <a:avLst>
              <a:gd name="adj" fmla="val 7500"/>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sp>
        <p:nvSpPr>
          <p:cNvPr id="44" name="Text 42"/>
          <p:cNvSpPr txBox="1"/>
          <p:nvPr/>
        </p:nvSpPr>
        <p:spPr>
          <a:xfrm>
            <a:off x="10104120" y="2788920"/>
            <a:ext cx="1444752" cy="219456"/>
          </a:xfrm>
          <a:prstGeom prst="rect">
            <a:avLst/>
          </a:prstGeom>
          <a:noFill/>
          <a:ln/>
        </p:spPr>
        <p:txBody>
          <a:bodyPr wrap="square" lIns="0" tIns="0" rIns="0" bIns="0" rtlCol="0" anchor="ctr"/>
          <a:lstStyle/>
          <a:p>
            <a:pPr indent="0" marL="0">
              <a:buNone/>
            </a:pPr>
            <a:r>
              <a:rPr lang="en-US" sz="1050" b="1" dirty="0">
                <a:solidFill>
                  <a:srgbClr val="12233C"/>
                </a:solidFill>
                <a:latin typeface="Calibri" pitchFamily="34" charset="0"/>
                <a:ea typeface="Calibri" pitchFamily="34" charset="-122"/>
                <a:cs typeface="Calibri" pitchFamily="34" charset="-120"/>
              </a:rPr>
              <a:t>Reconciliation</a:t>
            </a:r>
            <a:endParaRPr lang="en-US" sz="1050" dirty="0"/>
          </a:p>
        </p:txBody>
      </p:sp>
      <p:sp>
        <p:nvSpPr>
          <p:cNvPr id="45" name="Text 43"/>
          <p:cNvSpPr txBox="1"/>
          <p:nvPr/>
        </p:nvSpPr>
        <p:spPr>
          <a:xfrm>
            <a:off x="10104120" y="2999232"/>
            <a:ext cx="1444752" cy="182880"/>
          </a:xfrm>
          <a:prstGeom prst="rect">
            <a:avLst/>
          </a:prstGeom>
          <a:noFill/>
          <a:ln/>
        </p:spPr>
        <p:txBody>
          <a:bodyPr wrap="square" lIns="0" tIns="0" rIns="0" bIns="0" rtlCol="0" anchor="ctr"/>
          <a:lstStyle/>
          <a:p>
            <a:pPr indent="0" marL="0">
              <a:buNone/>
            </a:pPr>
            <a:r>
              <a:rPr lang="en-US" sz="950" b="1" dirty="0">
                <a:solidFill>
                  <a:srgbClr val="D98324"/>
                </a:solidFill>
                <a:latin typeface="Calibri" pitchFamily="34" charset="0"/>
                <a:ea typeface="Calibri" pitchFamily="34" charset="-122"/>
                <a:cs typeface="Calibri" pitchFamily="34" charset="-120"/>
              </a:rPr>
              <a:t>3 checks</a:t>
            </a:r>
            <a:endParaRPr lang="en-US" sz="950" dirty="0"/>
          </a:p>
        </p:txBody>
      </p:sp>
      <p:sp>
        <p:nvSpPr>
          <p:cNvPr id="46" name="Text 44"/>
          <p:cNvSpPr txBox="1"/>
          <p:nvPr/>
        </p:nvSpPr>
        <p:spPr>
          <a:xfrm>
            <a:off x="10104120" y="3182112"/>
            <a:ext cx="1444752" cy="219456"/>
          </a:xfrm>
          <a:prstGeom prst="rect">
            <a:avLst/>
          </a:prstGeom>
          <a:noFill/>
          <a:ln/>
        </p:spPr>
        <p:txBody>
          <a:bodyPr wrap="square" lIns="0" tIns="0" rIns="0" bIns="0" rtlCol="0" anchor="ctr"/>
          <a:lstStyle/>
          <a:p>
            <a:pPr indent="0" marL="0">
              <a:buNone/>
            </a:pPr>
            <a:r>
              <a:rPr lang="en-US" sz="900" i="1" dirty="0">
                <a:solidFill>
                  <a:srgbClr val="0E7C7B"/>
                </a:solidFill>
                <a:latin typeface="Calibri" pitchFamily="34" charset="0"/>
                <a:ea typeface="Calibri" pitchFamily="34" charset="-122"/>
                <a:cs typeface="Calibri" pitchFamily="34" charset="-120"/>
              </a:rPr>
              <a:t>Do the totals close?</a:t>
            </a:r>
            <a:endParaRPr lang="en-US" sz="9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3611880"/>
          <a:ext cx="11064240" cy="914400"/>
        </p:xfrm>
        <a:graphic>
          <a:graphicData uri="http://schemas.openxmlformats.org/drawingml/2006/table">
            <a:tbl>
              <a:tblPr/>
              <a:tblGrid>
                <a:gridCol w="1371600"/>
                <a:gridCol w="4160520"/>
                <a:gridCol w="1005840"/>
                <a:gridCol w="1051560"/>
                <a:gridCol w="3474720"/>
              </a:tblGrid>
              <a:tr h="329184">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Dimension</a:t>
                      </a:r>
                      <a:endParaRPr lang="en-US" sz="10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2233C"/>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Check that failed</a:t>
                      </a:r>
                      <a:endParaRPr lang="en-US" sz="10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2233C"/>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Failed</a:t>
                      </a:r>
                      <a:endParaRPr lang="en-US" sz="10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2233C"/>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Severity</a:t>
                      </a:r>
                      <a:endParaRPr lang="en-US" sz="10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2233C"/>
                    </a:solidFill>
                  </a:tcPr>
                </a:tc>
                <a:tc>
                  <a:txBody>
                    <a:bodyPr/>
                    <a:lstStyle/>
                    <a:p>
                      <a:pPr indent="0" marL="0">
                        <a:buNone/>
                      </a:pPr>
                      <a:r>
                        <a:rPr lang="en-US" sz="1000" b="1" dirty="0">
                          <a:solidFill>
                            <a:srgbClr val="FFFFFF"/>
                          </a:solidFill>
                          <a:latin typeface="Calibri" pitchFamily="34" charset="0"/>
                          <a:ea typeface="Calibri" pitchFamily="34" charset="-122"/>
                          <a:cs typeface="Calibri" pitchFamily="34" charset="-120"/>
                        </a:rPr>
                        <a:t>Consequence if ignored</a:t>
                      </a:r>
                      <a:endParaRPr lang="en-US" sz="10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2233C"/>
                    </a:solidFill>
                  </a:tcPr>
                </a:tc>
              </a:tr>
              <a:tr h="329184">
                <a:tc>
                  <a:txBody>
                    <a:bodyPr/>
                    <a:lstStyle/>
                    <a:p>
                      <a:pPr algn="l" indent="0" marL="0">
                        <a:buNone/>
                      </a:pPr>
                      <a:r>
                        <a:rPr lang="en-US" sz="1000" b="1" dirty="0">
                          <a:solidFill>
                            <a:srgbClr val="1A1A1A"/>
                          </a:solidFill>
                          <a:latin typeface="Calibri" pitchFamily="34" charset="0"/>
                          <a:ea typeface="Calibri" pitchFamily="34" charset="-122"/>
                          <a:cs typeface="Calibri" pitchFamily="34" charset="-120"/>
                        </a:rPr>
                        <a:t>Uniqueness</a:t>
                      </a:r>
                      <a:endParaRPr lang="en-US" sz="10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more than one settlement row per transaction</a:t>
                      </a:r>
                      <a:endParaRPr lang="en-US" sz="10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1A1A"/>
                          </a:solidFill>
                          <a:latin typeface="Calibri" pitchFamily="34" charset="0"/>
                          <a:ea typeface="Calibri" pitchFamily="34" charset="-122"/>
                          <a:cs typeface="Calibri" pitchFamily="34" charset="-120"/>
                        </a:rPr>
                        <a:t>1,334</a:t>
                      </a:r>
                      <a:endParaRPr lang="en-US" sz="10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A33D3D"/>
                          </a:solidFill>
                          <a:latin typeface="Calibri" pitchFamily="34" charset="0"/>
                          <a:ea typeface="Calibri" pitchFamily="34" charset="-122"/>
                          <a:cs typeface="Calibri" pitchFamily="34" charset="-120"/>
                        </a:rPr>
                        <a:t>Blocking</a:t>
                      </a:r>
                      <a:endParaRPr lang="en-US" sz="10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Merchant revenue double-counts on those transactions</a:t>
                      </a:r>
                      <a:endParaRPr lang="en-US" sz="10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r>
              <a:tr h="329184">
                <a:tc>
                  <a:txBody>
                    <a:bodyPr/>
                    <a:lstStyle/>
                    <a:p>
                      <a:pPr algn="l" indent="0" marL="0">
                        <a:buNone/>
                      </a:pPr>
                      <a:r>
                        <a:rPr lang="en-US" sz="1000" b="1" dirty="0">
                          <a:solidFill>
                            <a:srgbClr val="1A1A1A"/>
                          </a:solidFill>
                          <a:latin typeface="Calibri" pitchFamily="34" charset="0"/>
                          <a:ea typeface="Calibri" pitchFamily="34" charset="-122"/>
                          <a:cs typeface="Calibri" pitchFamily="34" charset="-120"/>
                        </a:rPr>
                        <a:t>Uniqueness</a:t>
                      </a:r>
                      <a:endParaRPr lang="en-US" sz="10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merchant_risk_snapshot composite key not unique</a:t>
                      </a:r>
                      <a:endParaRPr lang="en-US" sz="10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ctr" indent="0" marL="0">
                        <a:buNone/>
                      </a:pPr>
                      <a:r>
                        <a:rPr lang="en-US" sz="1000" dirty="0">
                          <a:solidFill>
                            <a:srgbClr val="1A1A1A"/>
                          </a:solidFill>
                          <a:latin typeface="Calibri" pitchFamily="34" charset="0"/>
                          <a:ea typeface="Calibri" pitchFamily="34" charset="-122"/>
                          <a:cs typeface="Calibri" pitchFamily="34" charset="-120"/>
                        </a:rPr>
                        <a:t>12 / merchant</a:t>
                      </a:r>
                      <a:endParaRPr lang="en-US" sz="10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ctr" indent="0" marL="0">
                        <a:buNone/>
                      </a:pPr>
                      <a:r>
                        <a:rPr lang="en-US" sz="1000" b="1" dirty="0">
                          <a:solidFill>
                            <a:srgbClr val="A33D3D"/>
                          </a:solidFill>
                          <a:latin typeface="Calibri" pitchFamily="34" charset="0"/>
                          <a:ea typeface="Calibri" pitchFamily="34" charset="-122"/>
                          <a:cs typeface="Calibri" pitchFamily="34" charset="-120"/>
                        </a:rPr>
                        <a:t>Blocking</a:t>
                      </a:r>
                      <a:endParaRPr lang="en-US" sz="10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×11.92 inflation on every merchant-level measure</a:t>
                      </a:r>
                      <a:endParaRPr lang="en-US" sz="10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r>
              <a:tr h="329184">
                <a:tc>
                  <a:txBody>
                    <a:bodyPr/>
                    <a:lstStyle/>
                    <a:p>
                      <a:pPr algn="l" indent="0" marL="0">
                        <a:buNone/>
                      </a:pPr>
                      <a:r>
                        <a:rPr lang="en-US" sz="1000" b="1" dirty="0">
                          <a:solidFill>
                            <a:srgbClr val="1A1A1A"/>
                          </a:solidFill>
                          <a:latin typeface="Calibri" pitchFamily="34" charset="0"/>
                          <a:ea typeface="Calibri" pitchFamily="34" charset="-122"/>
                          <a:cs typeface="Calibri" pitchFamily="34" charset="-120"/>
                        </a:rPr>
                        <a:t>Validity</a:t>
                      </a:r>
                      <a:endParaRPr lang="en-US" sz="10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risk_score outside 0 to 1</a:t>
                      </a:r>
                      <a:endParaRPr lang="en-US" sz="10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1A1A"/>
                          </a:solidFill>
                          <a:latin typeface="Calibri" pitchFamily="34" charset="0"/>
                          <a:ea typeface="Calibri" pitchFamily="34" charset="-122"/>
                          <a:cs typeface="Calibri" pitchFamily="34" charset="-120"/>
                        </a:rPr>
                        <a:t>37.9%</a:t>
                      </a:r>
                      <a:endParaRPr lang="en-US" sz="10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A33D3D"/>
                          </a:solidFill>
                          <a:latin typeface="Calibri" pitchFamily="34" charset="0"/>
                          <a:ea typeface="Calibri" pitchFamily="34" charset="-122"/>
                          <a:cs typeface="Calibri" pitchFamily="34" charset="-120"/>
                        </a:rPr>
                        <a:t>Blocking</a:t>
                      </a:r>
                      <a:endParaRPr lang="en-US" sz="10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The fraud hypothesis looks true when it is not</a:t>
                      </a:r>
                      <a:endParaRPr lang="en-US" sz="10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r>
              <a:tr h="329184">
                <a:tc>
                  <a:txBody>
                    <a:bodyPr/>
                    <a:lstStyle/>
                    <a:p>
                      <a:pPr algn="l" indent="0" marL="0">
                        <a:buNone/>
                      </a:pPr>
                      <a:r>
                        <a:rPr lang="en-US" sz="1000" b="1" dirty="0">
                          <a:solidFill>
                            <a:srgbClr val="1A1A1A"/>
                          </a:solidFill>
                          <a:latin typeface="Calibri" pitchFamily="34" charset="0"/>
                          <a:ea typeface="Calibri" pitchFamily="34" charset="-122"/>
                          <a:cs typeface="Calibri" pitchFamily="34" charset="-120"/>
                        </a:rPr>
                        <a:t>Validity</a:t>
                      </a:r>
                      <a:endParaRPr lang="en-US" sz="10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negative amount with status CAPTURED</a:t>
                      </a:r>
                      <a:endParaRPr lang="en-US" sz="10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ctr" indent="0" marL="0">
                        <a:buNone/>
                      </a:pPr>
                      <a:r>
                        <a:rPr lang="en-US" sz="1000" dirty="0">
                          <a:solidFill>
                            <a:srgbClr val="1A1A1A"/>
                          </a:solidFill>
                          <a:latin typeface="Calibri" pitchFamily="34" charset="0"/>
                          <a:ea typeface="Calibri" pitchFamily="34" charset="-122"/>
                          <a:cs typeface="Calibri" pitchFamily="34" charset="-120"/>
                        </a:rPr>
                        <a:t>390</a:t>
                      </a:r>
                      <a:endParaRPr lang="en-US" sz="10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ctr" indent="0" marL="0">
                        <a:buNone/>
                      </a:pPr>
                      <a:r>
                        <a:rPr lang="en-US" sz="1000" b="1" dirty="0">
                          <a:solidFill>
                            <a:srgbClr val="A33D3D"/>
                          </a:solidFill>
                          <a:latin typeface="Calibri" pitchFamily="34" charset="0"/>
                          <a:ea typeface="Calibri" pitchFamily="34" charset="-122"/>
                          <a:cs typeface="Calibri" pitchFamily="34" charset="-120"/>
                        </a:rPr>
                        <a:t>Blocking</a:t>
                      </a:r>
                      <a:endParaRPr lang="en-US" sz="10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Contribution understated by an impossible state</a:t>
                      </a:r>
                      <a:endParaRPr lang="en-US" sz="10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r>
              <a:tr h="329184">
                <a:tc>
                  <a:txBody>
                    <a:bodyPr/>
                    <a:lstStyle/>
                    <a:p>
                      <a:pPr algn="l" indent="0" marL="0">
                        <a:buNone/>
                      </a:pPr>
                      <a:r>
                        <a:rPr lang="en-US" sz="1000" b="1" dirty="0">
                          <a:solidFill>
                            <a:srgbClr val="1A1A1A"/>
                          </a:solidFill>
                          <a:latin typeface="Calibri" pitchFamily="34" charset="0"/>
                          <a:ea typeface="Calibri" pitchFamily="34" charset="-122"/>
                          <a:cs typeface="Calibri" pitchFamily="34" charset="-120"/>
                        </a:rPr>
                        <a:t>Consistency</a:t>
                      </a:r>
                      <a:endParaRPr lang="en-US" sz="10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settlement.transaction_id not found in transaction</a:t>
                      </a:r>
                      <a:endParaRPr lang="en-US" sz="10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1A1A"/>
                          </a:solidFill>
                          <a:latin typeface="Calibri" pitchFamily="34" charset="0"/>
                          <a:ea typeface="Calibri" pitchFamily="34" charset="-122"/>
                          <a:cs typeface="Calibri" pitchFamily="34" charset="-120"/>
                        </a:rPr>
                        <a:t>447</a:t>
                      </a:r>
                      <a:endParaRPr lang="en-US" sz="10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A33D3D"/>
                          </a:solidFill>
                          <a:latin typeface="Calibri" pitchFamily="34" charset="0"/>
                          <a:ea typeface="Calibri" pitchFamily="34" charset="-122"/>
                          <a:cs typeface="Calibri" pitchFamily="34" charset="-120"/>
                        </a:rPr>
                        <a:t>Blocking</a:t>
                      </a:r>
                      <a:endParaRPr lang="en-US" sz="10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Revenue attributed to payments that do not exist</a:t>
                      </a:r>
                      <a:endParaRPr lang="en-US" sz="10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r>
              <a:tr h="329184">
                <a:tc>
                  <a:txBody>
                    <a:bodyPr/>
                    <a:lstStyle/>
                    <a:p>
                      <a:pPr algn="l" indent="0" marL="0">
                        <a:buNone/>
                      </a:pPr>
                      <a:r>
                        <a:rPr lang="en-US" sz="1000" b="1" dirty="0">
                          <a:solidFill>
                            <a:srgbClr val="1A1A1A"/>
                          </a:solidFill>
                          <a:latin typeface="Calibri" pitchFamily="34" charset="0"/>
                          <a:ea typeface="Calibri" pitchFamily="34" charset="-122"/>
                          <a:cs typeface="Calibri" pitchFamily="34" charset="-120"/>
                        </a:rPr>
                        <a:t>Completeness</a:t>
                      </a:r>
                      <a:endParaRPr lang="en-US" sz="10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transaction.merchant_id is null</a:t>
                      </a:r>
                      <a:endParaRPr lang="en-US" sz="10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ctr" indent="0" marL="0">
                        <a:buNone/>
                      </a:pPr>
                      <a:r>
                        <a:rPr lang="en-US" sz="1000" dirty="0">
                          <a:solidFill>
                            <a:srgbClr val="1A1A1A"/>
                          </a:solidFill>
                          <a:latin typeface="Calibri" pitchFamily="34" charset="0"/>
                          <a:ea typeface="Calibri" pitchFamily="34" charset="-122"/>
                          <a:cs typeface="Calibri" pitchFamily="34" charset="-120"/>
                        </a:rPr>
                        <a:t>0.68%</a:t>
                      </a:r>
                      <a:endParaRPr lang="en-US" sz="10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ctr" indent="0" marL="0">
                        <a:buNone/>
                      </a:pPr>
                      <a:r>
                        <a:rPr lang="en-US" sz="1000" b="1" dirty="0">
                          <a:solidFill>
                            <a:srgbClr val="D98324"/>
                          </a:solidFill>
                          <a:latin typeface="Calibri" pitchFamily="34" charset="0"/>
                          <a:ea typeface="Calibri" pitchFamily="34" charset="-122"/>
                          <a:cs typeface="Calibri" pitchFamily="34" charset="-120"/>
                        </a:rPr>
                        <a:t>Warning</a:t>
                      </a:r>
                      <a:endParaRPr lang="en-US" sz="10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Channel analysis biases if dropped — WALLET is 2.10%</a:t>
                      </a:r>
                      <a:endParaRPr lang="en-US" sz="10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r>
              <a:tr h="329184">
                <a:tc>
                  <a:txBody>
                    <a:bodyPr/>
                    <a:lstStyle/>
                    <a:p>
                      <a:pPr algn="l" indent="0" marL="0">
                        <a:buNone/>
                      </a:pPr>
                      <a:r>
                        <a:rPr lang="en-US" sz="1000" b="1" dirty="0">
                          <a:solidFill>
                            <a:srgbClr val="1A1A1A"/>
                          </a:solidFill>
                          <a:latin typeface="Calibri" pitchFamily="34" charset="0"/>
                          <a:ea typeface="Calibri" pitchFamily="34" charset="-122"/>
                          <a:cs typeface="Calibri" pitchFamily="34" charset="-120"/>
                        </a:rPr>
                        <a:t>Reconciliation</a:t>
                      </a:r>
                      <a:endParaRPr lang="en-US" sz="10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captured transaction with no settlement row</a:t>
                      </a:r>
                      <a:endParaRPr lang="en-US" sz="10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1A1A1A"/>
                          </a:solidFill>
                          <a:latin typeface="Calibri" pitchFamily="34" charset="0"/>
                          <a:ea typeface="Calibri" pitchFamily="34" charset="-122"/>
                          <a:cs typeface="Calibri" pitchFamily="34" charset="-120"/>
                        </a:rPr>
                        <a:t>4.77%</a:t>
                      </a:r>
                      <a:endParaRPr lang="en-US" sz="10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D98324"/>
                          </a:solidFill>
                          <a:latin typeface="Calibri" pitchFamily="34" charset="0"/>
                          <a:ea typeface="Calibri" pitchFamily="34" charset="-122"/>
                          <a:cs typeface="Calibri" pitchFamily="34" charset="-120"/>
                        </a:rPr>
                        <a:t>Warning</a:t>
                      </a:r>
                      <a:endParaRPr lang="en-US" sz="10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000" dirty="0">
                          <a:solidFill>
                            <a:srgbClr val="1A1A1A"/>
                          </a:solidFill>
                          <a:latin typeface="Calibri" pitchFamily="34" charset="0"/>
                          <a:ea typeface="Calibri" pitchFamily="34" charset="-122"/>
                          <a:cs typeface="Calibri" pitchFamily="34" charset="-120"/>
                        </a:rPr>
                        <a:t>December revenue disappears if treated as zero</a:t>
                      </a:r>
                      <a:endParaRPr lang="en-US" sz="10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r>
            </a:tbl>
          </a:graphicData>
        </a:graphic>
      </p:graphicFrame>
      <p:sp>
        <p:nvSpPr>
          <p:cNvPr id="48" name="Text 45"/>
          <p:cNvSpPr txBox="1"/>
          <p:nvPr/>
        </p:nvSpPr>
        <p:spPr>
          <a:xfrm>
            <a:off x="548640" y="6199632"/>
            <a:ext cx="11064240" cy="411480"/>
          </a:xfrm>
          <a:prstGeom prst="rect">
            <a:avLst/>
          </a:prstGeom>
          <a:noFill/>
          <a:ln/>
        </p:spPr>
        <p:txBody>
          <a:bodyPr wrap="square" lIns="0" tIns="0" rIns="0" bIns="0" rtlCol="0" anchor="ctr"/>
          <a:lstStyle/>
          <a:p>
            <a:pPr indent="0" marL="0">
              <a:lnSpc>
                <a:spcPts val="1300"/>
              </a:lnSpc>
              <a:buNone/>
            </a:pPr>
            <a:r>
              <a:rPr lang="en-US" sz="1100" i="1" dirty="0">
                <a:solidFill>
                  <a:srgbClr val="6B7785"/>
                </a:solidFill>
                <a:latin typeface="Calibri" pitchFamily="34" charset="0"/>
                <a:ea typeface="Calibri" pitchFamily="34" charset="-122"/>
                <a:cs typeface="Calibri" pitchFamily="34" charset="-120"/>
              </a:rPr>
              <a:t>Verdict on H0: the reporting is not trustworthy as delivered, and it is repairable. The Data Head is right about the symptom and wrong about the conclusion — the gate opens once these ten are remediated, it does not stay shut.</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6F8"/>
        </a:solidFill>
      </p:bgPr>
    </p:bg>
    <p:spTree>
      <p:nvGrpSpPr>
        <p:cNvPr id="1" name=""/>
        <p:cNvGrpSpPr/>
        <p:nvPr/>
      </p:nvGrpSpPr>
      <p:grpSpPr>
        <a:xfrm>
          <a:off x="0" y="0"/>
          <a:ext cx="0" cy="0"/>
          <a:chOff x="0" y="0"/>
          <a:chExt cx="0" cy="0"/>
        </a:xfrm>
      </p:grpSpPr>
      <p:sp>
        <p:nvSpPr>
          <p:cNvPr id="2" name="Text 0"/>
          <p:cNvSpPr txBox="1"/>
          <p:nvPr/>
        </p:nvSpPr>
        <p:spPr>
          <a:xfrm>
            <a:off x="548640" y="329184"/>
            <a:ext cx="7315200" cy="237744"/>
          </a:xfrm>
          <a:prstGeom prst="rect">
            <a:avLst/>
          </a:prstGeom>
          <a:noFill/>
          <a:ln/>
        </p:spPr>
        <p:txBody>
          <a:bodyPr wrap="square" lIns="0" tIns="0" rIns="0" bIns="0" rtlCol="0" anchor="ctr"/>
          <a:lstStyle/>
          <a:p>
            <a:pPr indent="0" marL="0">
              <a:buNone/>
            </a:pPr>
            <a:r>
              <a:rPr lang="en-US" sz="1050" b="1" spc="200" kern="0" dirty="0">
                <a:solidFill>
                  <a:srgbClr val="D98324"/>
                </a:solidFill>
                <a:latin typeface="Calibri" pitchFamily="34" charset="0"/>
                <a:ea typeface="Calibri" pitchFamily="34" charset="-122"/>
                <a:cs typeface="Calibri" pitchFamily="34" charset="-120"/>
              </a:rPr>
              <a:t>TASK 3 · CODE &amp; PROOF</a:t>
            </a:r>
            <a:endParaRPr lang="en-US" sz="1050" dirty="0"/>
          </a:p>
        </p:txBody>
      </p:sp>
      <p:sp>
        <p:nvSpPr>
          <p:cNvPr id="3" name="Text 1"/>
          <p:cNvSpPr txBox="1"/>
          <p:nvPr/>
        </p:nvSpPr>
        <p:spPr>
          <a:xfrm>
            <a:off x="548640" y="603504"/>
            <a:ext cx="11064240" cy="502920"/>
          </a:xfrm>
          <a:prstGeom prst="rect">
            <a:avLst/>
          </a:prstGeom>
          <a:noFill/>
          <a:ln/>
        </p:spPr>
        <p:txBody>
          <a:bodyPr wrap="square" lIns="0" tIns="0" rIns="0" bIns="0" rtlCol="0" anchor="ctr"/>
          <a:lstStyle/>
          <a:p>
            <a:pPr indent="0" marL="0">
              <a:buNone/>
            </a:pPr>
            <a:r>
              <a:rPr lang="en-US" sz="2600" b="1" dirty="0">
                <a:solidFill>
                  <a:srgbClr val="12233C"/>
                </a:solidFill>
                <a:latin typeface="Cambria" pitchFamily="34" charset="0"/>
                <a:ea typeface="Cambria" pitchFamily="34" charset="-122"/>
                <a:cs typeface="Cambria" pitchFamily="34" charset="-120"/>
              </a:rPr>
              <a:t>Run the wrong join on purpose, then show the right one</a:t>
            </a:r>
            <a:endParaRPr lang="en-US" sz="2600" dirty="0"/>
          </a:p>
        </p:txBody>
      </p:sp>
      <p:sp>
        <p:nvSpPr>
          <p:cNvPr id="4" name="Text 2"/>
          <p:cNvSpPr txBox="1"/>
          <p:nvPr/>
        </p:nvSpPr>
        <p:spPr>
          <a:xfrm>
            <a:off x="548640" y="1115568"/>
            <a:ext cx="11064240" cy="310896"/>
          </a:xfrm>
          <a:prstGeom prst="rect">
            <a:avLst/>
          </a:prstGeom>
          <a:noFill/>
          <a:ln/>
        </p:spPr>
        <p:txBody>
          <a:bodyPr wrap="square" lIns="0" tIns="0" rIns="0" bIns="0" rtlCol="0" anchor="ctr"/>
          <a:lstStyle/>
          <a:p>
            <a:pPr indent="0" marL="0">
              <a:buNone/>
            </a:pPr>
            <a:r>
              <a:rPr lang="en-US" sz="1300" dirty="0">
                <a:solidFill>
                  <a:srgbClr val="6B7785"/>
                </a:solidFill>
                <a:latin typeface="Calibri" pitchFamily="34" charset="0"/>
                <a:ea typeface="Calibri" pitchFamily="34" charset="-122"/>
                <a:cs typeface="Calibri" pitchFamily="34" charset="-120"/>
              </a:rPr>
              <a:t>A control that is asserted can be wrong. A control that is demonstrated numerically cannot be waved away in a review.</a:t>
            </a:r>
            <a:endParaRPr lang="en-US" sz="1300" dirty="0"/>
          </a:p>
        </p:txBody>
      </p:sp>
      <p:sp>
        <p:nvSpPr>
          <p:cNvPr id="5" name="Shape 3"/>
          <p:cNvSpPr/>
          <p:nvPr/>
        </p:nvSpPr>
        <p:spPr>
          <a:xfrm>
            <a:off x="548640" y="1627632"/>
            <a:ext cx="6675120" cy="2240280"/>
          </a:xfrm>
          <a:prstGeom prst="roundRect">
            <a:avLst>
              <a:gd name="adj" fmla="val 2041"/>
            </a:avLst>
          </a:prstGeom>
          <a:solidFill>
            <a:srgbClr val="16243A"/>
          </a:solidFill>
          <a:ln w="12700">
            <a:solidFill>
              <a:srgbClr val="2E5580"/>
            </a:solidFill>
            <a:prstDash val="solid"/>
          </a:ln>
        </p:spPr>
      </p:sp>
      <p:sp>
        <p:nvSpPr>
          <p:cNvPr id="6" name="Text 4"/>
          <p:cNvSpPr txBox="1"/>
          <p:nvPr/>
        </p:nvSpPr>
        <p:spPr>
          <a:xfrm>
            <a:off x="731520" y="1773936"/>
            <a:ext cx="6309360" cy="1947672"/>
          </a:xfrm>
          <a:prstGeom prst="rect">
            <a:avLst/>
          </a:prstGeom>
          <a:noFill/>
          <a:ln/>
        </p:spPr>
        <p:txBody>
          <a:bodyPr wrap="square" lIns="0" tIns="0" rIns="0" bIns="0" rtlCol="0" anchor="ctr"/>
          <a:lstStyle/>
          <a:p>
            <a:pPr indent="0" marL="0">
              <a:lnSpc>
                <a:spcPts val="1250"/>
              </a:lnSpc>
              <a:buNone/>
            </a:pPr>
            <a:r>
              <a:rPr lang="en-US" sz="1000" i="1" dirty="0">
                <a:solidFill>
                  <a:srgbClr val="8FA6C4"/>
                </a:solidFill>
                <a:latin typeface="Courier New" pitchFamily="34" charset="0"/>
                <a:ea typeface="Courier New" pitchFamily="34" charset="-122"/>
                <a:cs typeface="Courier New" pitchFamily="34" charset="-120"/>
              </a:rPr>
              <a:t># deliberately naive — the join a hurried analyst writes</a:t>
            </a:r>
            <a:endParaRPr lang="en-US" sz="1000" dirty="0"/>
          </a:p>
          <a:p>
            <a:pPr indent="0" marL="0">
              <a:lnSpc>
                <a:spcPts val="1250"/>
              </a:lnSpc>
              <a:buNone/>
            </a:pPr>
            <a:r>
              <a:rPr lang="en-US" sz="1000" dirty="0">
                <a:solidFill>
                  <a:srgbClr val="D6E2F0"/>
                </a:solidFill>
                <a:latin typeface="Courier New" pitchFamily="34" charset="0"/>
                <a:ea typeface="Courier New" pitchFamily="34" charset="-122"/>
                <a:cs typeface="Courier New" pitchFamily="34" charset="-120"/>
              </a:rPr>
              <a:t>naive = tx.merge(risk_snap, on="merchant_id", how="left")</a:t>
            </a:r>
            <a:endParaRPr lang="en-US" sz="1000" dirty="0"/>
          </a:p>
          <a:p>
            <a:pPr indent="0" marL="0">
              <a:lnSpc>
                <a:spcPts val="1250"/>
              </a:lnSpc>
              <a:buNone/>
            </a:pPr>
            <a:r>
              <a:rPr lang="en-US" sz="1000" dirty="0">
                <a:solidFill>
                  <a:srgbClr val="D6E2F0"/>
                </a:solidFill>
                <a:latin typeface="Courier New" pitchFamily="34" charset="0"/>
                <a:ea typeface="Courier New" pitchFamily="34" charset="-122"/>
                <a:cs typeface="Courier New" pitchFamily="34" charset="-120"/>
              </a:rPr>
              <a:t>print(naive.amount_usd.sum() / tx.amount_usd.sum())</a:t>
            </a:r>
            <a:endParaRPr lang="en-US" sz="1000" dirty="0"/>
          </a:p>
          <a:p>
            <a:pPr indent="0" marL="0">
              <a:lnSpc>
                <a:spcPts val="1250"/>
              </a:lnSpc>
              <a:buNone/>
            </a:pPr>
            <a:r>
              <a:rPr lang="en-US" sz="1000" b="1" dirty="0">
                <a:solidFill>
                  <a:srgbClr val="F2B366"/>
                </a:solidFill>
                <a:latin typeface="Courier New" pitchFamily="34" charset="0"/>
                <a:ea typeface="Courier New" pitchFamily="34" charset="-122"/>
                <a:cs typeface="Courier New" pitchFamily="34" charset="-120"/>
              </a:rPr>
              <a:t>#  -&gt; 11.92        twelve snapshots per merchant</a:t>
            </a:r>
            <a:endParaRPr lang="en-US" sz="1000" dirty="0"/>
          </a:p>
          <a:p>
            <a:pPr indent="0" marL="0">
              <a:lnSpc>
                <a:spcPts val="1250"/>
              </a:lnSpc>
              <a:buNone/>
            </a:pPr>
            <a:endParaRPr lang="en-US" sz="1000" dirty="0"/>
          </a:p>
          <a:p>
            <a:pPr indent="0" marL="0">
              <a:lnSpc>
                <a:spcPts val="1250"/>
              </a:lnSpc>
              <a:buNone/>
            </a:pPr>
            <a:r>
              <a:rPr lang="en-US" sz="1000" i="1" dirty="0">
                <a:solidFill>
                  <a:srgbClr val="8FA6C4"/>
                </a:solidFill>
                <a:latin typeface="Courier New" pitchFamily="34" charset="0"/>
                <a:ea typeface="Courier New" pitchFamily="34" charset="-122"/>
                <a:cs typeface="Courier New" pitchFamily="34" charset="-120"/>
              </a:rPr>
              <a:t># correct: as-of join, latest snapshot at or before the month</a:t>
            </a:r>
            <a:endParaRPr lang="en-US" sz="1000" dirty="0"/>
          </a:p>
          <a:p>
            <a:pPr indent="0" marL="0">
              <a:lnSpc>
                <a:spcPts val="1250"/>
              </a:lnSpc>
              <a:buNone/>
            </a:pPr>
            <a:r>
              <a:rPr lang="en-US" sz="1000" dirty="0">
                <a:solidFill>
                  <a:srgbClr val="D6E2F0"/>
                </a:solidFill>
                <a:latin typeface="Courier New" pitchFamily="34" charset="0"/>
                <a:ea typeface="Courier New" pitchFamily="34" charset="-122"/>
                <a:cs typeface="Courier New" pitchFamily="34" charset="-120"/>
              </a:rPr>
              <a:t>snap = (risk_snap[risk_snap.snapshot_month &lt;= tx_month]</a:t>
            </a:r>
            <a:endParaRPr lang="en-US" sz="1000" dirty="0"/>
          </a:p>
          <a:p>
            <a:pPr indent="0" marL="0">
              <a:lnSpc>
                <a:spcPts val="1250"/>
              </a:lnSpc>
              <a:buNone/>
            </a:pPr>
            <a:r>
              <a:rPr lang="en-US" sz="1000" dirty="0">
                <a:solidFill>
                  <a:srgbClr val="D6E2F0"/>
                </a:solidFill>
                <a:latin typeface="Courier New" pitchFamily="34" charset="0"/>
                <a:ea typeface="Courier New" pitchFamily="34" charset="-122"/>
                <a:cs typeface="Courier New" pitchFamily="34" charset="-120"/>
              </a:rPr>
              <a:t>        .sort_values("snapshot_month")</a:t>
            </a:r>
            <a:endParaRPr lang="en-US" sz="1000" dirty="0"/>
          </a:p>
          <a:p>
            <a:pPr indent="0" marL="0">
              <a:lnSpc>
                <a:spcPts val="1250"/>
              </a:lnSpc>
              <a:buNone/>
            </a:pPr>
            <a:r>
              <a:rPr lang="en-US" sz="1000" dirty="0">
                <a:solidFill>
                  <a:srgbClr val="D6E2F0"/>
                </a:solidFill>
                <a:latin typeface="Courier New" pitchFamily="34" charset="0"/>
                <a:ea typeface="Courier New" pitchFamily="34" charset="-122"/>
                <a:cs typeface="Courier New" pitchFamily="34" charset="-120"/>
              </a:rPr>
              <a:t>        .groupby("merchant_id").tail(1))</a:t>
            </a:r>
            <a:endParaRPr lang="en-US" sz="1000" dirty="0"/>
          </a:p>
          <a:p>
            <a:pPr indent="0" marL="0">
              <a:lnSpc>
                <a:spcPts val="1250"/>
              </a:lnSpc>
              <a:buNone/>
            </a:pPr>
            <a:r>
              <a:rPr lang="en-US" sz="1000" b="1" dirty="0">
                <a:solidFill>
                  <a:srgbClr val="7FD4D2"/>
                </a:solidFill>
                <a:latin typeface="Courier New" pitchFamily="34" charset="0"/>
                <a:ea typeface="Courier New" pitchFamily="34" charset="-122"/>
                <a:cs typeface="Courier New" pitchFamily="34" charset="-120"/>
              </a:rPr>
              <a:t>#  -&gt; 1.00        grain preserved</a:t>
            </a:r>
            <a:endParaRPr lang="en-US" sz="1000" dirty="0"/>
          </a:p>
        </p:txBody>
      </p:sp>
      <p:sp>
        <p:nvSpPr>
          <p:cNvPr id="7" name="Shape 5"/>
          <p:cNvSpPr/>
          <p:nvPr/>
        </p:nvSpPr>
        <p:spPr>
          <a:xfrm>
            <a:off x="7498080" y="1627632"/>
            <a:ext cx="1965960" cy="1024128"/>
          </a:xfrm>
          <a:prstGeom prst="roundRect">
            <a:avLst>
              <a:gd name="adj" fmla="val 5357"/>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sp>
        <p:nvSpPr>
          <p:cNvPr id="8" name="Text 6"/>
          <p:cNvSpPr txBox="1"/>
          <p:nvPr/>
        </p:nvSpPr>
        <p:spPr>
          <a:xfrm>
            <a:off x="7699248" y="1773936"/>
            <a:ext cx="1563624" cy="457200"/>
          </a:xfrm>
          <a:prstGeom prst="rect">
            <a:avLst/>
          </a:prstGeom>
          <a:noFill/>
          <a:ln/>
        </p:spPr>
        <p:txBody>
          <a:bodyPr wrap="square" lIns="0" tIns="0" rIns="0" bIns="0" rtlCol="0" anchor="ctr"/>
          <a:lstStyle/>
          <a:p>
            <a:pPr indent="0" marL="0">
              <a:buNone/>
            </a:pPr>
            <a:r>
              <a:rPr lang="en-US" sz="2200" b="1" dirty="0">
                <a:solidFill>
                  <a:srgbClr val="A33D3D"/>
                </a:solidFill>
                <a:latin typeface="Cambria" pitchFamily="34" charset="0"/>
                <a:ea typeface="Cambria" pitchFamily="34" charset="-122"/>
                <a:cs typeface="Cambria" pitchFamily="34" charset="-120"/>
              </a:rPr>
              <a:t>×11.92</a:t>
            </a:r>
            <a:endParaRPr lang="en-US" sz="2200" dirty="0"/>
          </a:p>
        </p:txBody>
      </p:sp>
      <p:sp>
        <p:nvSpPr>
          <p:cNvPr id="9" name="Text 7"/>
          <p:cNvSpPr txBox="1"/>
          <p:nvPr/>
        </p:nvSpPr>
        <p:spPr>
          <a:xfrm>
            <a:off x="7699248" y="2249424"/>
            <a:ext cx="1563624" cy="274320"/>
          </a:xfrm>
          <a:prstGeom prst="rect">
            <a:avLst/>
          </a:prstGeom>
          <a:noFill/>
          <a:ln/>
        </p:spPr>
        <p:txBody>
          <a:bodyPr wrap="square" lIns="0" tIns="0" rIns="0" bIns="0" rtlCol="0" anchor="ctr"/>
          <a:lstStyle/>
          <a:p>
            <a:pPr indent="0" marL="0">
              <a:lnSpc>
                <a:spcPts val="1300"/>
              </a:lnSpc>
              <a:buNone/>
            </a:pPr>
            <a:r>
              <a:rPr lang="en-US" sz="1050" dirty="0">
                <a:solidFill>
                  <a:srgbClr val="4A5663"/>
                </a:solidFill>
                <a:latin typeface="Calibri" pitchFamily="34" charset="0"/>
                <a:ea typeface="Calibri" pitchFamily="34" charset="-122"/>
                <a:cs typeface="Calibri" pitchFamily="34" charset="-120"/>
              </a:rPr>
              <a:t>GPV inflation, risk snapshot</a:t>
            </a:r>
            <a:endParaRPr lang="en-US" sz="1050" dirty="0"/>
          </a:p>
        </p:txBody>
      </p:sp>
      <p:sp>
        <p:nvSpPr>
          <p:cNvPr id="10" name="Shape 8"/>
          <p:cNvSpPr/>
          <p:nvPr/>
        </p:nvSpPr>
        <p:spPr>
          <a:xfrm>
            <a:off x="9646920" y="1627632"/>
            <a:ext cx="1965960" cy="1024128"/>
          </a:xfrm>
          <a:prstGeom prst="roundRect">
            <a:avLst>
              <a:gd name="adj" fmla="val 5357"/>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sp>
        <p:nvSpPr>
          <p:cNvPr id="11" name="Text 9"/>
          <p:cNvSpPr txBox="1"/>
          <p:nvPr/>
        </p:nvSpPr>
        <p:spPr>
          <a:xfrm>
            <a:off x="9848088" y="1773936"/>
            <a:ext cx="1563624" cy="457200"/>
          </a:xfrm>
          <a:prstGeom prst="rect">
            <a:avLst/>
          </a:prstGeom>
          <a:noFill/>
          <a:ln/>
        </p:spPr>
        <p:txBody>
          <a:bodyPr wrap="square" lIns="0" tIns="0" rIns="0" bIns="0" rtlCol="0" anchor="ctr"/>
          <a:lstStyle/>
          <a:p>
            <a:pPr indent="0" marL="0">
              <a:buNone/>
            </a:pPr>
            <a:r>
              <a:rPr lang="en-US" sz="2200" b="1" dirty="0">
                <a:solidFill>
                  <a:srgbClr val="A33D3D"/>
                </a:solidFill>
                <a:latin typeface="Cambria" pitchFamily="34" charset="0"/>
                <a:ea typeface="Cambria" pitchFamily="34" charset="-122"/>
                <a:cs typeface="Cambria" pitchFamily="34" charset="-120"/>
              </a:rPr>
              <a:t>×1.79</a:t>
            </a:r>
            <a:endParaRPr lang="en-US" sz="2200" dirty="0"/>
          </a:p>
        </p:txBody>
      </p:sp>
      <p:sp>
        <p:nvSpPr>
          <p:cNvPr id="12" name="Text 10"/>
          <p:cNvSpPr txBox="1"/>
          <p:nvPr/>
        </p:nvSpPr>
        <p:spPr>
          <a:xfrm>
            <a:off x="9848088" y="2249424"/>
            <a:ext cx="1563624" cy="274320"/>
          </a:xfrm>
          <a:prstGeom prst="rect">
            <a:avLst/>
          </a:prstGeom>
          <a:noFill/>
          <a:ln/>
        </p:spPr>
        <p:txBody>
          <a:bodyPr wrap="square" lIns="0" tIns="0" rIns="0" bIns="0" rtlCol="0" anchor="ctr"/>
          <a:lstStyle/>
          <a:p>
            <a:pPr indent="0" marL="0">
              <a:lnSpc>
                <a:spcPts val="1300"/>
              </a:lnSpc>
              <a:buNone/>
            </a:pPr>
            <a:r>
              <a:rPr lang="en-US" sz="1050" dirty="0">
                <a:solidFill>
                  <a:srgbClr val="4A5663"/>
                </a:solidFill>
                <a:latin typeface="Calibri" pitchFamily="34" charset="0"/>
                <a:ea typeface="Calibri" pitchFamily="34" charset="-122"/>
                <a:cs typeface="Calibri" pitchFamily="34" charset="-120"/>
              </a:rPr>
              <a:t>GPV inflation, fraud join</a:t>
            </a:r>
            <a:endParaRPr lang="en-US" sz="1050" dirty="0"/>
          </a:p>
        </p:txBody>
      </p:sp>
      <p:sp>
        <p:nvSpPr>
          <p:cNvPr id="13" name="Shape 11"/>
          <p:cNvSpPr/>
          <p:nvPr/>
        </p:nvSpPr>
        <p:spPr>
          <a:xfrm>
            <a:off x="7498080" y="2834640"/>
            <a:ext cx="4114800" cy="1033272"/>
          </a:xfrm>
          <a:prstGeom prst="roundRect">
            <a:avLst>
              <a:gd name="adj" fmla="val 5310"/>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sp>
        <p:nvSpPr>
          <p:cNvPr id="14" name="Text 12"/>
          <p:cNvSpPr txBox="1"/>
          <p:nvPr/>
        </p:nvSpPr>
        <p:spPr>
          <a:xfrm>
            <a:off x="7680960" y="2944368"/>
            <a:ext cx="3749040" cy="237744"/>
          </a:xfrm>
          <a:prstGeom prst="rect">
            <a:avLst/>
          </a:prstGeom>
          <a:noFill/>
          <a:ln/>
        </p:spPr>
        <p:txBody>
          <a:bodyPr wrap="square" lIns="0" tIns="0" rIns="0" bIns="0" rtlCol="0" anchor="ctr"/>
          <a:lstStyle/>
          <a:p>
            <a:pPr indent="0" marL="0">
              <a:buNone/>
            </a:pPr>
            <a:r>
              <a:rPr lang="en-US" sz="1150" b="1" dirty="0">
                <a:solidFill>
                  <a:srgbClr val="12233C"/>
                </a:solidFill>
                <a:latin typeface="Calibri" pitchFamily="34" charset="0"/>
                <a:ea typeface="Calibri" pitchFamily="34" charset="-122"/>
                <a:cs typeface="Calibri" pitchFamily="34" charset="-120"/>
              </a:rPr>
              <a:t>Why this matters more than it looks</a:t>
            </a:r>
            <a:endParaRPr lang="en-US" sz="1150" dirty="0"/>
          </a:p>
        </p:txBody>
      </p:sp>
      <p:sp>
        <p:nvSpPr>
          <p:cNvPr id="15" name="Text 13"/>
          <p:cNvSpPr txBox="1"/>
          <p:nvPr/>
        </p:nvSpPr>
        <p:spPr>
          <a:xfrm>
            <a:off x="7680960" y="3163824"/>
            <a:ext cx="3749040" cy="658368"/>
          </a:xfrm>
          <a:prstGeom prst="rect">
            <a:avLst/>
          </a:prstGeom>
          <a:noFill/>
          <a:ln/>
        </p:spPr>
        <p:txBody>
          <a:bodyPr wrap="square" lIns="0" tIns="0" rIns="0" bIns="0" rtlCol="0" anchor="ctr"/>
          <a:lstStyle/>
          <a:p>
            <a:pPr indent="0" marL="0">
              <a:lnSpc>
                <a:spcPts val="1150"/>
              </a:lnSpc>
              <a:buNone/>
            </a:pPr>
            <a:r>
              <a:rPr lang="en-US" sz="950" dirty="0">
                <a:solidFill>
                  <a:srgbClr val="4A5663"/>
                </a:solidFill>
                <a:latin typeface="Calibri" pitchFamily="34" charset="0"/>
                <a:ea typeface="Calibri" pitchFamily="34" charset="-122"/>
                <a:cs typeface="Calibri" pitchFamily="34" charset="-120"/>
              </a:rPr>
              <a:t>An inflated total is obvious. An inflated total that is inflated EVENLY is not — ratios still look sane, trends still point the same way, and the error survives review. ×11.92 on gross value with the transaction count untouched is exactly that shape.</a:t>
            </a:r>
            <a:endParaRPr lang="en-US" sz="950" dirty="0"/>
          </a:p>
        </p:txBody>
      </p:sp>
      <p:sp>
        <p:nvSpPr>
          <p:cNvPr id="16" name="Text 14"/>
          <p:cNvSpPr txBox="1"/>
          <p:nvPr/>
        </p:nvSpPr>
        <p:spPr>
          <a:xfrm>
            <a:off x="548640" y="4023360"/>
            <a:ext cx="11064240" cy="274320"/>
          </a:xfrm>
          <a:prstGeom prst="rect">
            <a:avLst/>
          </a:prstGeom>
          <a:noFill/>
          <a:ln/>
        </p:spPr>
        <p:txBody>
          <a:bodyPr wrap="square" lIns="0" tIns="0" rIns="0" bIns="0" rtlCol="0" anchor="ctr"/>
          <a:lstStyle/>
          <a:p>
            <a:pPr indent="0" marL="0">
              <a:buNone/>
            </a:pPr>
            <a:r>
              <a:rPr lang="en-US" sz="1250" b="1" dirty="0">
                <a:solidFill>
                  <a:srgbClr val="12233C"/>
                </a:solidFill>
                <a:latin typeface="Calibri" pitchFamily="34" charset="0"/>
                <a:ea typeface="Calibri" pitchFamily="34" charset="-122"/>
                <a:cs typeface="Calibri" pitchFamily="34" charset="-120"/>
              </a:rPr>
              <a:t>Quarantine reconciliation — nothing disappears silently</a:t>
            </a:r>
            <a:endParaRPr lang="en-US" sz="1250" dirty="0"/>
          </a:p>
        </p:txBody>
      </p:sp>
      <p:sp>
        <p:nvSpPr>
          <p:cNvPr id="17" name="Shape 15"/>
          <p:cNvSpPr/>
          <p:nvPr/>
        </p:nvSpPr>
        <p:spPr>
          <a:xfrm>
            <a:off x="548640" y="4343400"/>
            <a:ext cx="2606040" cy="914400"/>
          </a:xfrm>
          <a:prstGeom prst="roundRect">
            <a:avLst>
              <a:gd name="adj" fmla="val 6000"/>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sp>
        <p:nvSpPr>
          <p:cNvPr id="18" name="Text 16"/>
          <p:cNvSpPr txBox="1"/>
          <p:nvPr/>
        </p:nvSpPr>
        <p:spPr>
          <a:xfrm>
            <a:off x="749808" y="4489704"/>
            <a:ext cx="2203704" cy="457200"/>
          </a:xfrm>
          <a:prstGeom prst="rect">
            <a:avLst/>
          </a:prstGeom>
          <a:noFill/>
          <a:ln/>
        </p:spPr>
        <p:txBody>
          <a:bodyPr wrap="square" lIns="0" tIns="0" rIns="0" bIns="0" rtlCol="0" anchor="ctr"/>
          <a:lstStyle/>
          <a:p>
            <a:pPr indent="0" marL="0">
              <a:buNone/>
            </a:pPr>
            <a:r>
              <a:rPr lang="en-US" sz="2200" b="1" dirty="0">
                <a:solidFill>
                  <a:srgbClr val="12233C"/>
                </a:solidFill>
                <a:latin typeface="Cambria" pitchFamily="34" charset="0"/>
                <a:ea typeface="Cambria" pitchFamily="34" charset="-122"/>
                <a:cs typeface="Cambria" pitchFamily="34" charset="-120"/>
              </a:rPr>
              <a:t>3,038</a:t>
            </a:r>
            <a:endParaRPr lang="en-US" sz="2200" dirty="0"/>
          </a:p>
        </p:txBody>
      </p:sp>
      <p:sp>
        <p:nvSpPr>
          <p:cNvPr id="19" name="Text 17"/>
          <p:cNvSpPr txBox="1"/>
          <p:nvPr/>
        </p:nvSpPr>
        <p:spPr>
          <a:xfrm>
            <a:off x="749808" y="4965192"/>
            <a:ext cx="2203704" cy="164592"/>
          </a:xfrm>
          <a:prstGeom prst="rect">
            <a:avLst/>
          </a:prstGeom>
          <a:noFill/>
          <a:ln/>
        </p:spPr>
        <p:txBody>
          <a:bodyPr wrap="square" lIns="0" tIns="0" rIns="0" bIns="0" rtlCol="0" anchor="ctr"/>
          <a:lstStyle/>
          <a:p>
            <a:pPr indent="0" marL="0">
              <a:lnSpc>
                <a:spcPts val="1300"/>
              </a:lnSpc>
              <a:buNone/>
            </a:pPr>
            <a:r>
              <a:rPr lang="en-US" sz="1050" dirty="0">
                <a:solidFill>
                  <a:srgbClr val="4A5663"/>
                </a:solidFill>
                <a:latin typeface="Calibri" pitchFamily="34" charset="0"/>
                <a:ea typeface="Calibri" pitchFamily="34" charset="-122"/>
                <a:cs typeface="Calibri" pitchFamily="34" charset="-120"/>
              </a:rPr>
              <a:t>rows excluded from the KPI</a:t>
            </a:r>
            <a:endParaRPr lang="en-US" sz="1050" dirty="0"/>
          </a:p>
        </p:txBody>
      </p:sp>
      <p:sp>
        <p:nvSpPr>
          <p:cNvPr id="20" name="Text 18"/>
          <p:cNvSpPr txBox="1"/>
          <p:nvPr/>
        </p:nvSpPr>
        <p:spPr>
          <a:xfrm>
            <a:off x="3172968" y="4343400"/>
            <a:ext cx="164592" cy="914400"/>
          </a:xfrm>
          <a:prstGeom prst="rect">
            <a:avLst/>
          </a:prstGeom>
          <a:noFill/>
          <a:ln/>
        </p:spPr>
        <p:txBody>
          <a:bodyPr wrap="square" lIns="0" tIns="0" rIns="0" bIns="0" rtlCol="0" anchor="ctr"/>
          <a:lstStyle/>
          <a:p>
            <a:pPr algn="ctr" indent="0" marL="0">
              <a:buNone/>
            </a:pPr>
            <a:r>
              <a:rPr lang="en-US" sz="1800" b="1" dirty="0">
                <a:solidFill>
                  <a:srgbClr val="6B7785"/>
                </a:solidFill>
                <a:latin typeface="Cambria" pitchFamily="34" charset="0"/>
                <a:ea typeface="Cambria" pitchFamily="34" charset="-122"/>
                <a:cs typeface="Cambria" pitchFamily="34" charset="-120"/>
              </a:rPr>
              <a:t>=</a:t>
            </a:r>
            <a:endParaRPr lang="en-US" sz="1800" dirty="0"/>
          </a:p>
        </p:txBody>
      </p:sp>
      <p:sp>
        <p:nvSpPr>
          <p:cNvPr id="21" name="Shape 19"/>
          <p:cNvSpPr/>
          <p:nvPr/>
        </p:nvSpPr>
        <p:spPr>
          <a:xfrm>
            <a:off x="3355848" y="4343400"/>
            <a:ext cx="2606040" cy="914400"/>
          </a:xfrm>
          <a:prstGeom prst="roundRect">
            <a:avLst>
              <a:gd name="adj" fmla="val 6000"/>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sp>
        <p:nvSpPr>
          <p:cNvPr id="22" name="Text 20"/>
          <p:cNvSpPr txBox="1"/>
          <p:nvPr/>
        </p:nvSpPr>
        <p:spPr>
          <a:xfrm>
            <a:off x="3557016" y="4489704"/>
            <a:ext cx="2203704" cy="457200"/>
          </a:xfrm>
          <a:prstGeom prst="rect">
            <a:avLst/>
          </a:prstGeom>
          <a:noFill/>
          <a:ln/>
        </p:spPr>
        <p:txBody>
          <a:bodyPr wrap="square" lIns="0" tIns="0" rIns="0" bIns="0" rtlCol="0" anchor="ctr"/>
          <a:lstStyle/>
          <a:p>
            <a:pPr indent="0" marL="0">
              <a:buNone/>
            </a:pPr>
            <a:r>
              <a:rPr lang="en-US" sz="2200" b="1" dirty="0">
                <a:solidFill>
                  <a:srgbClr val="D98324"/>
                </a:solidFill>
                <a:latin typeface="Cambria" pitchFamily="34" charset="0"/>
                <a:ea typeface="Cambria" pitchFamily="34" charset="-122"/>
                <a:cs typeface="Cambria" pitchFamily="34" charset="-120"/>
              </a:rPr>
              <a:t>2,668</a:t>
            </a:r>
            <a:endParaRPr lang="en-US" sz="2200" dirty="0"/>
          </a:p>
        </p:txBody>
      </p:sp>
      <p:sp>
        <p:nvSpPr>
          <p:cNvPr id="23" name="Text 21"/>
          <p:cNvSpPr txBox="1"/>
          <p:nvPr/>
        </p:nvSpPr>
        <p:spPr>
          <a:xfrm>
            <a:off x="3557016" y="4965192"/>
            <a:ext cx="2203704" cy="164592"/>
          </a:xfrm>
          <a:prstGeom prst="rect">
            <a:avLst/>
          </a:prstGeom>
          <a:noFill/>
          <a:ln/>
        </p:spPr>
        <p:txBody>
          <a:bodyPr wrap="square" lIns="0" tIns="0" rIns="0" bIns="0" rtlCol="0" anchor="ctr"/>
          <a:lstStyle/>
          <a:p>
            <a:pPr indent="0" marL="0">
              <a:lnSpc>
                <a:spcPts val="1300"/>
              </a:lnSpc>
              <a:buNone/>
            </a:pPr>
            <a:r>
              <a:rPr lang="en-US" sz="1050" dirty="0">
                <a:solidFill>
                  <a:srgbClr val="4A5663"/>
                </a:solidFill>
                <a:latin typeface="Calibri" pitchFamily="34" charset="0"/>
                <a:ea typeface="Calibri" pitchFamily="34" charset="-122"/>
                <a:cs typeface="Calibri" pitchFamily="34" charset="-120"/>
              </a:rPr>
              <a:t>duplicate settlement rows</a:t>
            </a:r>
            <a:endParaRPr lang="en-US" sz="1050" dirty="0"/>
          </a:p>
        </p:txBody>
      </p:sp>
      <p:sp>
        <p:nvSpPr>
          <p:cNvPr id="24" name="Text 22"/>
          <p:cNvSpPr txBox="1"/>
          <p:nvPr/>
        </p:nvSpPr>
        <p:spPr>
          <a:xfrm>
            <a:off x="5980176" y="4343400"/>
            <a:ext cx="164592" cy="914400"/>
          </a:xfrm>
          <a:prstGeom prst="rect">
            <a:avLst/>
          </a:prstGeom>
          <a:noFill/>
          <a:ln/>
        </p:spPr>
        <p:txBody>
          <a:bodyPr wrap="square" lIns="0" tIns="0" rIns="0" bIns="0" rtlCol="0" anchor="ctr"/>
          <a:lstStyle/>
          <a:p>
            <a:pPr algn="ctr" indent="0" marL="0">
              <a:buNone/>
            </a:pPr>
            <a:r>
              <a:rPr lang="en-US" sz="1800" b="1" dirty="0">
                <a:solidFill>
                  <a:srgbClr val="6B7785"/>
                </a:solidFill>
                <a:latin typeface="Cambria" pitchFamily="34" charset="0"/>
                <a:ea typeface="Cambria" pitchFamily="34" charset="-122"/>
                <a:cs typeface="Cambria" pitchFamily="34" charset="-120"/>
              </a:rPr>
              <a:t>+</a:t>
            </a:r>
            <a:endParaRPr lang="en-US" sz="1800" dirty="0"/>
          </a:p>
        </p:txBody>
      </p:sp>
      <p:sp>
        <p:nvSpPr>
          <p:cNvPr id="25" name="Shape 23"/>
          <p:cNvSpPr/>
          <p:nvPr/>
        </p:nvSpPr>
        <p:spPr>
          <a:xfrm>
            <a:off x="6163056" y="4343400"/>
            <a:ext cx="2606040" cy="914400"/>
          </a:xfrm>
          <a:prstGeom prst="roundRect">
            <a:avLst>
              <a:gd name="adj" fmla="val 6000"/>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sp>
        <p:nvSpPr>
          <p:cNvPr id="26" name="Text 24"/>
          <p:cNvSpPr txBox="1"/>
          <p:nvPr/>
        </p:nvSpPr>
        <p:spPr>
          <a:xfrm>
            <a:off x="6364224" y="4489704"/>
            <a:ext cx="2203704" cy="457200"/>
          </a:xfrm>
          <a:prstGeom prst="rect">
            <a:avLst/>
          </a:prstGeom>
          <a:noFill/>
          <a:ln/>
        </p:spPr>
        <p:txBody>
          <a:bodyPr wrap="square" lIns="0" tIns="0" rIns="0" bIns="0" rtlCol="0" anchor="ctr"/>
          <a:lstStyle/>
          <a:p>
            <a:pPr indent="0" marL="0">
              <a:buNone/>
            </a:pPr>
            <a:r>
              <a:rPr lang="en-US" sz="2200" b="1" dirty="0">
                <a:solidFill>
                  <a:srgbClr val="D98324"/>
                </a:solidFill>
                <a:latin typeface="Cambria" pitchFamily="34" charset="0"/>
                <a:ea typeface="Cambria" pitchFamily="34" charset="-122"/>
                <a:cs typeface="Cambria" pitchFamily="34" charset="-120"/>
              </a:rPr>
              <a:t>370</a:t>
            </a:r>
            <a:endParaRPr lang="en-US" sz="2200" dirty="0"/>
          </a:p>
        </p:txBody>
      </p:sp>
      <p:sp>
        <p:nvSpPr>
          <p:cNvPr id="27" name="Text 25"/>
          <p:cNvSpPr txBox="1"/>
          <p:nvPr/>
        </p:nvSpPr>
        <p:spPr>
          <a:xfrm>
            <a:off x="6364224" y="4965192"/>
            <a:ext cx="2203704" cy="164592"/>
          </a:xfrm>
          <a:prstGeom prst="rect">
            <a:avLst/>
          </a:prstGeom>
          <a:noFill/>
          <a:ln/>
        </p:spPr>
        <p:txBody>
          <a:bodyPr wrap="square" lIns="0" tIns="0" rIns="0" bIns="0" rtlCol="0" anchor="ctr"/>
          <a:lstStyle/>
          <a:p>
            <a:pPr indent="0" marL="0">
              <a:lnSpc>
                <a:spcPts val="1300"/>
              </a:lnSpc>
              <a:buNone/>
            </a:pPr>
            <a:r>
              <a:rPr lang="en-US" sz="1050" dirty="0">
                <a:solidFill>
                  <a:srgbClr val="4A5663"/>
                </a:solidFill>
                <a:latin typeface="Calibri" pitchFamily="34" charset="0"/>
                <a:ea typeface="Calibri" pitchFamily="34" charset="-122"/>
                <a:cs typeface="Calibri" pitchFamily="34" charset="-120"/>
              </a:rPr>
              <a:t>impossible negative amounts</a:t>
            </a:r>
            <a:endParaRPr lang="en-US" sz="1050" dirty="0"/>
          </a:p>
        </p:txBody>
      </p:sp>
      <p:sp>
        <p:nvSpPr>
          <p:cNvPr id="28" name="Text 26"/>
          <p:cNvSpPr txBox="1"/>
          <p:nvPr/>
        </p:nvSpPr>
        <p:spPr>
          <a:xfrm>
            <a:off x="8787384" y="4343400"/>
            <a:ext cx="164592" cy="914400"/>
          </a:xfrm>
          <a:prstGeom prst="rect">
            <a:avLst/>
          </a:prstGeom>
          <a:noFill/>
          <a:ln/>
        </p:spPr>
        <p:txBody>
          <a:bodyPr wrap="square" lIns="0" tIns="0" rIns="0" bIns="0" rtlCol="0" anchor="ctr"/>
          <a:lstStyle/>
          <a:p>
            <a:pPr algn="ctr" indent="0" marL="0">
              <a:buNone/>
            </a:pPr>
            <a:r>
              <a:rPr lang="en-US" sz="1800" b="1" dirty="0">
                <a:solidFill>
                  <a:srgbClr val="6B7785"/>
                </a:solidFill>
                <a:latin typeface="Cambria" pitchFamily="34" charset="0"/>
                <a:ea typeface="Cambria" pitchFamily="34" charset="-122"/>
                <a:cs typeface="Cambria" pitchFamily="34" charset="-120"/>
              </a:rPr>
              <a:t>+</a:t>
            </a:r>
            <a:endParaRPr lang="en-US" sz="1800" dirty="0"/>
          </a:p>
        </p:txBody>
      </p:sp>
      <p:sp>
        <p:nvSpPr>
          <p:cNvPr id="29" name="Shape 27"/>
          <p:cNvSpPr/>
          <p:nvPr/>
        </p:nvSpPr>
        <p:spPr>
          <a:xfrm>
            <a:off x="8970264" y="4343400"/>
            <a:ext cx="2606040" cy="914400"/>
          </a:xfrm>
          <a:prstGeom prst="roundRect">
            <a:avLst>
              <a:gd name="adj" fmla="val 6000"/>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sp>
        <p:nvSpPr>
          <p:cNvPr id="30" name="Text 28"/>
          <p:cNvSpPr txBox="1"/>
          <p:nvPr/>
        </p:nvSpPr>
        <p:spPr>
          <a:xfrm>
            <a:off x="9171432" y="4489704"/>
            <a:ext cx="2203704" cy="457200"/>
          </a:xfrm>
          <a:prstGeom prst="rect">
            <a:avLst/>
          </a:prstGeom>
          <a:noFill/>
          <a:ln/>
        </p:spPr>
        <p:txBody>
          <a:bodyPr wrap="square" lIns="0" tIns="0" rIns="0" bIns="0" rtlCol="0" anchor="ctr"/>
          <a:lstStyle/>
          <a:p>
            <a:pPr indent="0" marL="0">
              <a:buNone/>
            </a:pPr>
            <a:r>
              <a:rPr lang="en-US" sz="2200" b="1" dirty="0">
                <a:solidFill>
                  <a:srgbClr val="0E7C7B"/>
                </a:solidFill>
                <a:latin typeface="Cambria" pitchFamily="34" charset="0"/>
                <a:ea typeface="Cambria" pitchFamily="34" charset="-122"/>
                <a:cs typeface="Cambria" pitchFamily="34" charset="-120"/>
              </a:rPr>
              <a:t>0</a:t>
            </a:r>
            <a:endParaRPr lang="en-US" sz="2200" dirty="0"/>
          </a:p>
        </p:txBody>
      </p:sp>
      <p:sp>
        <p:nvSpPr>
          <p:cNvPr id="31" name="Text 29"/>
          <p:cNvSpPr txBox="1"/>
          <p:nvPr/>
        </p:nvSpPr>
        <p:spPr>
          <a:xfrm>
            <a:off x="9171432" y="4965192"/>
            <a:ext cx="2203704" cy="164592"/>
          </a:xfrm>
          <a:prstGeom prst="rect">
            <a:avLst/>
          </a:prstGeom>
          <a:noFill/>
          <a:ln/>
        </p:spPr>
        <p:txBody>
          <a:bodyPr wrap="square" lIns="0" tIns="0" rIns="0" bIns="0" rtlCol="0" anchor="ctr"/>
          <a:lstStyle/>
          <a:p>
            <a:pPr indent="0" marL="0">
              <a:lnSpc>
                <a:spcPts val="1300"/>
              </a:lnSpc>
              <a:buNone/>
            </a:pPr>
            <a:r>
              <a:rPr lang="en-US" sz="1050" dirty="0">
                <a:solidFill>
                  <a:srgbClr val="4A5663"/>
                </a:solidFill>
                <a:latin typeface="Calibri" pitchFamily="34" charset="0"/>
                <a:ea typeface="Calibri" pitchFamily="34" charset="-122"/>
                <a:cs typeface="Calibri" pitchFamily="34" charset="-120"/>
              </a:rPr>
              <a:t>unexplained</a:t>
            </a:r>
            <a:endParaRPr lang="en-US" sz="1050" dirty="0"/>
          </a:p>
        </p:txBody>
      </p:sp>
      <p:sp>
        <p:nvSpPr>
          <p:cNvPr id="32" name="Shape 30"/>
          <p:cNvSpPr/>
          <p:nvPr/>
        </p:nvSpPr>
        <p:spPr>
          <a:xfrm>
            <a:off x="548640" y="5440680"/>
            <a:ext cx="11064240" cy="1051560"/>
          </a:xfrm>
          <a:prstGeom prst="roundRect">
            <a:avLst>
              <a:gd name="adj" fmla="val 4348"/>
            </a:avLst>
          </a:prstGeom>
          <a:solidFill>
            <a:srgbClr val="16243A"/>
          </a:solidFill>
          <a:ln w="12700">
            <a:solidFill>
              <a:srgbClr val="2E5580"/>
            </a:solidFill>
            <a:prstDash val="solid"/>
          </a:ln>
        </p:spPr>
      </p:sp>
      <p:sp>
        <p:nvSpPr>
          <p:cNvPr id="33" name="Text 31"/>
          <p:cNvSpPr txBox="1"/>
          <p:nvPr/>
        </p:nvSpPr>
        <p:spPr>
          <a:xfrm>
            <a:off x="731520" y="5586984"/>
            <a:ext cx="10698480" cy="758952"/>
          </a:xfrm>
          <a:prstGeom prst="rect">
            <a:avLst/>
          </a:prstGeom>
          <a:noFill/>
          <a:ln/>
        </p:spPr>
        <p:txBody>
          <a:bodyPr wrap="square" lIns="0" tIns="0" rIns="0" bIns="0" rtlCol="0" anchor="ctr"/>
          <a:lstStyle/>
          <a:p>
            <a:pPr indent="0" marL="0">
              <a:lnSpc>
                <a:spcPts val="1250"/>
              </a:lnSpc>
              <a:buNone/>
            </a:pPr>
            <a:r>
              <a:rPr lang="en-US" sz="1000" i="1" dirty="0">
                <a:solidFill>
                  <a:srgbClr val="8FA6C4"/>
                </a:solidFill>
                <a:latin typeface="Courier New" pitchFamily="34" charset="0"/>
                <a:ea typeface="Courier New" pitchFamily="34" charset="-122"/>
                <a:cs typeface="Courier New" pitchFamily="34" charset="-120"/>
              </a:rPr>
              <a:t># every check emits the same seven fields, so the scorecard is a table, not a paragraph</a:t>
            </a:r>
            <a:endParaRPr lang="en-US" sz="1000" dirty="0"/>
          </a:p>
          <a:p>
            <a:pPr indent="0" marL="0">
              <a:lnSpc>
                <a:spcPts val="1250"/>
              </a:lnSpc>
              <a:buNone/>
            </a:pPr>
            <a:r>
              <a:rPr lang="en-US" sz="1000" dirty="0">
                <a:solidFill>
                  <a:srgbClr val="D6E2F0"/>
                </a:solidFill>
                <a:latin typeface="Courier New" pitchFamily="34" charset="0"/>
                <a:ea typeface="Courier New" pitchFamily="34" charset="-122"/>
                <a:cs typeface="Courier New" pitchFamily="34" charset="-120"/>
              </a:rPr>
              <a:t>add("Uniqueness", "more than one settlement row per transaction", "settlement",</a:t>
            </a:r>
            <a:endParaRPr lang="en-US" sz="1000" dirty="0"/>
          </a:p>
          <a:p>
            <a:pPr indent="0" marL="0">
              <a:lnSpc>
                <a:spcPts val="1250"/>
              </a:lnSpc>
              <a:buNone/>
            </a:pPr>
            <a:r>
              <a:rPr lang="en-US" sz="1000" dirty="0">
                <a:solidFill>
                  <a:srgbClr val="F2B366"/>
                </a:solidFill>
                <a:latin typeface="Courier New" pitchFamily="34" charset="0"/>
                <a:ea typeface="Courier New" pitchFamily="34" charset="-122"/>
                <a:cs typeface="Courier New" pitchFamily="34" charset="-120"/>
              </a:rPr>
              <a:t>    (s.groupby("transaction_id").size() &gt; 1).sum(), s.transaction_id.nunique(),</a:t>
            </a:r>
            <a:endParaRPr lang="en-US" sz="1000" dirty="0"/>
          </a:p>
          <a:p>
            <a:pPr indent="0" marL="0">
              <a:lnSpc>
                <a:spcPts val="1250"/>
              </a:lnSpc>
              <a:buNone/>
            </a:pPr>
            <a:r>
              <a:rPr lang="en-US" sz="1000" dirty="0">
                <a:solidFill>
                  <a:srgbClr val="D6E2F0"/>
                </a:solidFill>
                <a:latin typeface="Courier New" pitchFamily="34" charset="0"/>
                <a:ea typeface="Courier New" pitchFamily="34" charset="-122"/>
                <a:cs typeface="Courier New" pitchFamily="34" charset="-120"/>
              </a:rPr>
              <a:t>    "Blocking", "Sum fee_amount to transaction grain before joining")   # + 25 more</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6F8"/>
        </a:solidFill>
      </p:bgPr>
    </p:bg>
    <p:spTree>
      <p:nvGrpSpPr>
        <p:cNvPr id="1" name=""/>
        <p:cNvGrpSpPr/>
        <p:nvPr/>
      </p:nvGrpSpPr>
      <p:grpSpPr>
        <a:xfrm>
          <a:off x="0" y="0"/>
          <a:ext cx="0" cy="0"/>
          <a:chOff x="0" y="0"/>
          <a:chExt cx="0" cy="0"/>
        </a:xfrm>
      </p:grpSpPr>
      <p:sp>
        <p:nvSpPr>
          <p:cNvPr id="2" name="Text 0"/>
          <p:cNvSpPr txBox="1"/>
          <p:nvPr/>
        </p:nvSpPr>
        <p:spPr>
          <a:xfrm>
            <a:off x="548640" y="329184"/>
            <a:ext cx="7315200" cy="237744"/>
          </a:xfrm>
          <a:prstGeom prst="rect">
            <a:avLst/>
          </a:prstGeom>
          <a:noFill/>
          <a:ln/>
        </p:spPr>
        <p:txBody>
          <a:bodyPr wrap="square" lIns="0" tIns="0" rIns="0" bIns="0" rtlCol="0" anchor="ctr"/>
          <a:lstStyle/>
          <a:p>
            <a:pPr indent="0" marL="0">
              <a:buNone/>
            </a:pPr>
            <a:r>
              <a:rPr lang="en-US" sz="1050" b="1" spc="200" kern="0" dirty="0">
                <a:solidFill>
                  <a:srgbClr val="D98324"/>
                </a:solidFill>
                <a:latin typeface="Calibri" pitchFamily="34" charset="0"/>
                <a:ea typeface="Calibri" pitchFamily="34" charset="-122"/>
                <a:cs typeface="Calibri" pitchFamily="34" charset="-120"/>
              </a:rPr>
              <a:t>TASK 4 · THE MODEL</a:t>
            </a:r>
            <a:endParaRPr lang="en-US" sz="1050" dirty="0"/>
          </a:p>
        </p:txBody>
      </p:sp>
      <p:sp>
        <p:nvSpPr>
          <p:cNvPr id="3" name="Text 1"/>
          <p:cNvSpPr txBox="1"/>
          <p:nvPr/>
        </p:nvSpPr>
        <p:spPr>
          <a:xfrm>
            <a:off x="548640" y="603504"/>
            <a:ext cx="11064240" cy="502920"/>
          </a:xfrm>
          <a:prstGeom prst="rect">
            <a:avLst/>
          </a:prstGeom>
          <a:noFill/>
          <a:ln/>
        </p:spPr>
        <p:txBody>
          <a:bodyPr wrap="square" lIns="0" tIns="0" rIns="0" bIns="0" rtlCol="0" anchor="ctr"/>
          <a:lstStyle/>
          <a:p>
            <a:pPr indent="0" marL="0">
              <a:buNone/>
            </a:pPr>
            <a:r>
              <a:rPr lang="en-US" sz="2600" b="1" dirty="0">
                <a:solidFill>
                  <a:srgbClr val="12233C"/>
                </a:solidFill>
                <a:latin typeface="Cambria" pitchFamily="34" charset="0"/>
                <a:ea typeface="Cambria" pitchFamily="34" charset="-122"/>
                <a:cs typeface="Cambria" pitchFamily="34" charset="-120"/>
              </a:rPr>
              <a:t>One fact, six conformed dimensions, two disconnected analysis tables</a:t>
            </a:r>
            <a:endParaRPr lang="en-US" sz="2600" dirty="0"/>
          </a:p>
        </p:txBody>
      </p:sp>
      <p:sp>
        <p:nvSpPr>
          <p:cNvPr id="4" name="Text 2"/>
          <p:cNvSpPr txBox="1"/>
          <p:nvPr/>
        </p:nvSpPr>
        <p:spPr>
          <a:xfrm>
            <a:off x="548640" y="1115568"/>
            <a:ext cx="11064240" cy="310896"/>
          </a:xfrm>
          <a:prstGeom prst="rect">
            <a:avLst/>
          </a:prstGeom>
          <a:noFill/>
          <a:ln/>
        </p:spPr>
        <p:txBody>
          <a:bodyPr wrap="square" lIns="0" tIns="0" rIns="0" bIns="0" rtlCol="0" anchor="ctr"/>
          <a:lstStyle/>
          <a:p>
            <a:pPr indent="0" marL="0">
              <a:buNone/>
            </a:pPr>
            <a:r>
              <a:rPr lang="en-US" sz="1300" dirty="0">
                <a:solidFill>
                  <a:srgbClr val="6B7785"/>
                </a:solidFill>
                <a:latin typeface="Calibri" pitchFamily="34" charset="0"/>
                <a:ea typeface="Calibri" pitchFamily="34" charset="-122"/>
                <a:cs typeface="Calibri" pitchFamily="34" charset="-120"/>
              </a:rPr>
              <a:t>Everything downstream — the notebooks, the dashboard, this deck — reads from this model and nothing reads from the raw files.</a:t>
            </a:r>
            <a:endParaRPr lang="en-US" sz="1300" dirty="0"/>
          </a:p>
        </p:txBody>
      </p:sp>
      <p:pic>
        <p:nvPicPr>
          <p:cNvPr id="5" name="Image 0" descr="preencoded.png">    </p:cNvPr>
          <p:cNvPicPr>
            <a:picLocks noChangeAspect="1"/>
          </p:cNvPicPr>
          <p:nvPr/>
        </p:nvPicPr>
        <p:blipFill>
          <a:blip r:embed="rId1"/>
          <a:stretch>
            <a:fillRect/>
          </a:stretch>
        </p:blipFill>
        <p:spPr>
          <a:xfrm>
            <a:off x="1743891" y="1536192"/>
            <a:ext cx="8673737" cy="3794760"/>
          </a:xfrm>
          <a:prstGeom prst="rect">
            <a:avLst/>
          </a:prstGeom>
        </p:spPr>
      </p:pic>
      <p:sp>
        <p:nvSpPr>
          <p:cNvPr id="6" name="Shape 3"/>
          <p:cNvSpPr/>
          <p:nvPr/>
        </p:nvSpPr>
        <p:spPr>
          <a:xfrm>
            <a:off x="548640" y="5440680"/>
            <a:ext cx="11064240" cy="1234440"/>
          </a:xfrm>
          <a:prstGeom prst="roundRect">
            <a:avLst>
              <a:gd name="adj" fmla="val 4444"/>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sp>
        <p:nvSpPr>
          <p:cNvPr id="7" name="Text 4"/>
          <p:cNvSpPr txBox="1"/>
          <p:nvPr/>
        </p:nvSpPr>
        <p:spPr>
          <a:xfrm>
            <a:off x="777240" y="5559552"/>
            <a:ext cx="10607040" cy="256032"/>
          </a:xfrm>
          <a:prstGeom prst="rect">
            <a:avLst/>
          </a:prstGeom>
          <a:noFill/>
          <a:ln/>
        </p:spPr>
        <p:txBody>
          <a:bodyPr wrap="square" lIns="0" tIns="0" rIns="0" bIns="0" rtlCol="0" anchor="ctr"/>
          <a:lstStyle/>
          <a:p>
            <a:pPr indent="0" marL="0">
              <a:buNone/>
            </a:pPr>
            <a:r>
              <a:rPr lang="en-US" sz="1250" b="1" dirty="0">
                <a:solidFill>
                  <a:srgbClr val="12233C"/>
                </a:solidFill>
                <a:latin typeface="Calibri" pitchFamily="34" charset="0"/>
                <a:ea typeface="Calibri" pitchFamily="34" charset="-122"/>
                <a:cs typeface="Calibri" pitchFamily="34" charset="-120"/>
              </a:rPr>
              <a:t>The rule the whole pipeline is built around</a:t>
            </a:r>
            <a:endParaRPr lang="en-US" sz="1250" dirty="0"/>
          </a:p>
        </p:txBody>
      </p:sp>
      <p:sp>
        <p:nvSpPr>
          <p:cNvPr id="8" name="Text 5"/>
          <p:cNvSpPr txBox="1"/>
          <p:nvPr/>
        </p:nvSpPr>
        <p:spPr>
          <a:xfrm>
            <a:off x="777240" y="5833872"/>
            <a:ext cx="10607040" cy="777240"/>
          </a:xfrm>
          <a:prstGeom prst="rect">
            <a:avLst/>
          </a:prstGeom>
          <a:noFill/>
          <a:ln/>
        </p:spPr>
        <p:txBody>
          <a:bodyPr wrap="square" lIns="0" tIns="0" rIns="0" bIns="0" rtlCol="0" anchor="ctr"/>
          <a:lstStyle/>
          <a:p>
            <a:pPr indent="0" marL="0">
              <a:lnSpc>
                <a:spcPts val="1400"/>
              </a:lnSpc>
              <a:buNone/>
            </a:pPr>
            <a:r>
              <a:rPr lang="en-US" sz="1100" dirty="0">
                <a:solidFill>
                  <a:srgbClr val="4A5663"/>
                </a:solidFill>
                <a:latin typeface="Calibri" pitchFamily="34" charset="0"/>
                <a:ea typeface="Calibri" pitchFamily="34" charset="-122"/>
                <a:cs typeface="Calibri" pitchFamily="34" charset="-120"/>
              </a:rPr>
              <a:t>Every one-to-many source is collapsed to one row per transaction BEFORE it is joined to the spine — not after, not with a DISTINCT, not with a window function at query time. Each staging function carries a GRAIN docstring, and that docstring is the contract: if a function claims one row per transaction_id, a single assertion proves it. This is the difference between a model that is correct and a model that happens to give the right answer on this month's data.</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6F8"/>
        </a:solidFill>
      </p:bgPr>
    </p:bg>
    <p:spTree>
      <p:nvGrpSpPr>
        <p:cNvPr id="1" name=""/>
        <p:cNvGrpSpPr/>
        <p:nvPr/>
      </p:nvGrpSpPr>
      <p:grpSpPr>
        <a:xfrm>
          <a:off x="0" y="0"/>
          <a:ext cx="0" cy="0"/>
          <a:chOff x="0" y="0"/>
          <a:chExt cx="0" cy="0"/>
        </a:xfrm>
      </p:grpSpPr>
      <p:sp>
        <p:nvSpPr>
          <p:cNvPr id="2" name="Text 0"/>
          <p:cNvSpPr txBox="1"/>
          <p:nvPr/>
        </p:nvSpPr>
        <p:spPr>
          <a:xfrm>
            <a:off x="548640" y="329184"/>
            <a:ext cx="7315200" cy="237744"/>
          </a:xfrm>
          <a:prstGeom prst="rect">
            <a:avLst/>
          </a:prstGeom>
          <a:noFill/>
          <a:ln/>
        </p:spPr>
        <p:txBody>
          <a:bodyPr wrap="square" lIns="0" tIns="0" rIns="0" bIns="0" rtlCol="0" anchor="ctr"/>
          <a:lstStyle/>
          <a:p>
            <a:pPr indent="0" marL="0">
              <a:buNone/>
            </a:pPr>
            <a:r>
              <a:rPr lang="en-US" sz="1050" b="1" spc="200" kern="0" dirty="0">
                <a:solidFill>
                  <a:srgbClr val="D98324"/>
                </a:solidFill>
                <a:latin typeface="Calibri" pitchFamily="34" charset="0"/>
                <a:ea typeface="Calibri" pitchFamily="34" charset="-122"/>
                <a:cs typeface="Calibri" pitchFamily="34" charset="-120"/>
              </a:rPr>
              <a:t>TASK 4 · CODE</a:t>
            </a:r>
            <a:endParaRPr lang="en-US" sz="1050" dirty="0"/>
          </a:p>
        </p:txBody>
      </p:sp>
      <p:sp>
        <p:nvSpPr>
          <p:cNvPr id="3" name="Text 1"/>
          <p:cNvSpPr txBox="1"/>
          <p:nvPr/>
        </p:nvSpPr>
        <p:spPr>
          <a:xfrm>
            <a:off x="548640" y="603504"/>
            <a:ext cx="11064240" cy="502920"/>
          </a:xfrm>
          <a:prstGeom prst="rect">
            <a:avLst/>
          </a:prstGeom>
          <a:noFill/>
          <a:ln/>
        </p:spPr>
        <p:txBody>
          <a:bodyPr wrap="square" lIns="0" tIns="0" rIns="0" bIns="0" rtlCol="0" anchor="ctr"/>
          <a:lstStyle/>
          <a:p>
            <a:pPr indent="0" marL="0">
              <a:buNone/>
            </a:pPr>
            <a:r>
              <a:rPr lang="en-US" sz="2600" b="1" dirty="0">
                <a:solidFill>
                  <a:srgbClr val="12233C"/>
                </a:solidFill>
                <a:latin typeface="Cambria" pitchFamily="34" charset="0"/>
                <a:ea typeface="Cambria" pitchFamily="34" charset="-122"/>
                <a:cs typeface="Cambria" pitchFamily="34" charset="-120"/>
              </a:rPr>
              <a:t>Staging, the contribution formula, and the row type that nearly broke it</a:t>
            </a:r>
            <a:endParaRPr lang="en-US" sz="2600" dirty="0"/>
          </a:p>
        </p:txBody>
      </p:sp>
      <p:sp>
        <p:nvSpPr>
          <p:cNvPr id="4" name="Text 2"/>
          <p:cNvSpPr txBox="1"/>
          <p:nvPr/>
        </p:nvSpPr>
        <p:spPr>
          <a:xfrm>
            <a:off x="548640" y="1115568"/>
            <a:ext cx="11064240" cy="310896"/>
          </a:xfrm>
          <a:prstGeom prst="rect">
            <a:avLst/>
          </a:prstGeom>
          <a:noFill/>
          <a:ln/>
        </p:spPr>
        <p:txBody>
          <a:bodyPr wrap="square" lIns="0" tIns="0" rIns="0" bIns="0" rtlCol="0" anchor="ctr"/>
          <a:lstStyle/>
          <a:p>
            <a:pPr indent="0" marL="0">
              <a:buNone/>
            </a:pPr>
            <a:r>
              <a:rPr lang="en-US" sz="1300" dirty="0">
                <a:solidFill>
                  <a:srgbClr val="6B7785"/>
                </a:solidFill>
                <a:latin typeface="Calibri" pitchFamily="34" charset="0"/>
                <a:ea typeface="Calibri" pitchFamily="34" charset="-122"/>
                <a:cs typeface="Calibri" pitchFamily="34" charset="-120"/>
              </a:rPr>
              <a:t>t4_core.py — four staging functions collapse the hazardous sources; the fact build encodes every Task 1 decision as a line of code.</a:t>
            </a:r>
            <a:endParaRPr lang="en-US" sz="1300" dirty="0"/>
          </a:p>
        </p:txBody>
      </p:sp>
      <p:sp>
        <p:nvSpPr>
          <p:cNvPr id="5" name="Shape 3"/>
          <p:cNvSpPr/>
          <p:nvPr/>
        </p:nvSpPr>
        <p:spPr>
          <a:xfrm>
            <a:off x="548640" y="1627632"/>
            <a:ext cx="6675120" cy="2148840"/>
          </a:xfrm>
          <a:prstGeom prst="roundRect">
            <a:avLst>
              <a:gd name="adj" fmla="val 2128"/>
            </a:avLst>
          </a:prstGeom>
          <a:solidFill>
            <a:srgbClr val="16243A"/>
          </a:solidFill>
          <a:ln w="12700">
            <a:solidFill>
              <a:srgbClr val="2E5580"/>
            </a:solidFill>
            <a:prstDash val="solid"/>
          </a:ln>
        </p:spPr>
      </p:sp>
      <p:sp>
        <p:nvSpPr>
          <p:cNvPr id="6" name="Text 4"/>
          <p:cNvSpPr txBox="1"/>
          <p:nvPr/>
        </p:nvSpPr>
        <p:spPr>
          <a:xfrm>
            <a:off x="731520" y="1773936"/>
            <a:ext cx="6309360" cy="1856232"/>
          </a:xfrm>
          <a:prstGeom prst="rect">
            <a:avLst/>
          </a:prstGeom>
          <a:noFill/>
          <a:ln/>
        </p:spPr>
        <p:txBody>
          <a:bodyPr wrap="square" lIns="0" tIns="0" rIns="0" bIns="0" rtlCol="0" anchor="ctr"/>
          <a:lstStyle/>
          <a:p>
            <a:pPr indent="0" marL="0">
              <a:lnSpc>
                <a:spcPts val="1200"/>
              </a:lnSpc>
              <a:buNone/>
            </a:pPr>
            <a:r>
              <a:rPr lang="en-US" sz="950" b="1" dirty="0">
                <a:solidFill>
                  <a:srgbClr val="7FD4D2"/>
                </a:solidFill>
                <a:latin typeface="Courier New" pitchFamily="34" charset="0"/>
                <a:ea typeface="Courier New" pitchFamily="34" charset="-122"/>
                <a:cs typeface="Courier New" pitchFamily="34" charset="-120"/>
              </a:rPr>
              <a:t>def stg_settlement(s):</a:t>
            </a:r>
            <a:endParaRPr lang="en-US" sz="950" dirty="0"/>
          </a:p>
          <a:p>
            <a:pPr indent="0" marL="0">
              <a:lnSpc>
                <a:spcPts val="1200"/>
              </a:lnSpc>
              <a:buNone/>
            </a:pPr>
            <a:r>
              <a:rPr lang="en-US" sz="950" dirty="0">
                <a:solidFill>
                  <a:srgbClr val="F2B366"/>
                </a:solidFill>
                <a:latin typeface="Courier New" pitchFamily="34" charset="0"/>
                <a:ea typeface="Courier New" pitchFamily="34" charset="-122"/>
                <a:cs typeface="Courier New" pitchFamily="34" charset="-120"/>
              </a:rPr>
              <a:t>    """GRAIN: 1 row per transaction_id.</a:t>
            </a:r>
            <a:endParaRPr lang="en-US" sz="950" dirty="0"/>
          </a:p>
          <a:p>
            <a:pPr indent="0" marL="0">
              <a:lnSpc>
                <a:spcPts val="1200"/>
              </a:lnSpc>
              <a:buNone/>
            </a:pPr>
            <a:r>
              <a:rPr lang="en-US" sz="950" dirty="0">
                <a:solidFill>
                  <a:srgbClr val="F2B366"/>
                </a:solidFill>
                <a:latin typeface="Courier New" pitchFamily="34" charset="0"/>
                <a:ea typeface="Courier New" pitchFamily="34" charset="-122"/>
                <a:cs typeface="Courier New" pitchFamily="34" charset="-120"/>
              </a:rPr>
              <a:t>    Collapses partial + correction pairs."""</a:t>
            </a:r>
            <a:endParaRPr lang="en-US" sz="950" dirty="0"/>
          </a:p>
          <a:p>
            <a:pPr indent="0" marL="0">
              <a:lnSpc>
                <a:spcPts val="1200"/>
              </a:lnSpc>
              <a:buNone/>
            </a:pPr>
            <a:r>
              <a:rPr lang="en-US" sz="950" dirty="0">
                <a:solidFill>
                  <a:srgbClr val="D6E2F0"/>
                </a:solidFill>
                <a:latin typeface="Courier New" pitchFamily="34" charset="0"/>
                <a:ea typeface="Courier New" pitchFamily="34" charset="-122"/>
                <a:cs typeface="Courier New" pitchFamily="34" charset="-120"/>
              </a:rPr>
              <a:t>    return (s.groupby("transaction_id")</a:t>
            </a:r>
            <a:endParaRPr lang="en-US" sz="950" dirty="0"/>
          </a:p>
          <a:p>
            <a:pPr indent="0" marL="0">
              <a:lnSpc>
                <a:spcPts val="1200"/>
              </a:lnSpc>
              <a:buNone/>
            </a:pPr>
            <a:r>
              <a:rPr lang="en-US" sz="950" dirty="0">
                <a:solidFill>
                  <a:srgbClr val="D6E2F0"/>
                </a:solidFill>
                <a:latin typeface="Courier New" pitchFamily="34" charset="0"/>
                <a:ea typeface="Courier New" pitchFamily="34" charset="-122"/>
                <a:cs typeface="Courier New" pitchFamily="34" charset="-120"/>
              </a:rPr>
              <a:t>             .agg(merchant_fee_usd=("fee_amount", "sum")))</a:t>
            </a:r>
            <a:endParaRPr lang="en-US" sz="950" dirty="0"/>
          </a:p>
          <a:p>
            <a:pPr indent="0" marL="0">
              <a:lnSpc>
                <a:spcPts val="1200"/>
              </a:lnSpc>
              <a:buNone/>
            </a:pPr>
            <a:endParaRPr lang="en-US" sz="950" dirty="0"/>
          </a:p>
          <a:p>
            <a:pPr indent="0" marL="0">
              <a:lnSpc>
                <a:spcPts val="1200"/>
              </a:lnSpc>
              <a:buNone/>
            </a:pPr>
            <a:r>
              <a:rPr lang="en-US" sz="950" b="1" dirty="0">
                <a:solidFill>
                  <a:srgbClr val="7FD4D2"/>
                </a:solidFill>
                <a:latin typeface="Courier New" pitchFamily="34" charset="0"/>
                <a:ea typeface="Courier New" pitchFamily="34" charset="-122"/>
                <a:cs typeface="Courier New" pitchFamily="34" charset="-120"/>
              </a:rPr>
              <a:t>def stg_fraud(f):   # GRAIN: 1 row per transaction_id</a:t>
            </a:r>
            <a:endParaRPr lang="en-US" sz="950" dirty="0"/>
          </a:p>
          <a:p>
            <a:pPr indent="0" marL="0">
              <a:lnSpc>
                <a:spcPts val="1200"/>
              </a:lnSpc>
              <a:buNone/>
            </a:pPr>
            <a:r>
              <a:rPr lang="en-US" sz="950" dirty="0">
                <a:solidFill>
                  <a:srgbClr val="D6E2F0"/>
                </a:solidFill>
                <a:latin typeface="Courier New" pitchFamily="34" charset="0"/>
                <a:ea typeface="Courier New" pitchFamily="34" charset="-122"/>
                <a:cs typeface="Courier New" pitchFamily="34" charset="-120"/>
              </a:rPr>
              <a:t>    f["score_norm"] = np.where(</a:t>
            </a:r>
            <a:endParaRPr lang="en-US" sz="950" dirty="0"/>
          </a:p>
          <a:p>
            <a:pPr indent="0" marL="0">
              <a:lnSpc>
                <a:spcPts val="1200"/>
              </a:lnSpc>
              <a:buNone/>
            </a:pPr>
            <a:r>
              <a:rPr lang="en-US" sz="950" dirty="0">
                <a:solidFill>
                  <a:srgbClr val="D6E2F0"/>
                </a:solidFill>
                <a:latin typeface="Courier New" pitchFamily="34" charset="0"/>
                <a:ea typeface="Courier New" pitchFamily="34" charset="-122"/>
                <a:cs typeface="Courier New" pitchFamily="34" charset="-120"/>
              </a:rPr>
              <a:t>        f.model_version.str.startswith("v3"),</a:t>
            </a:r>
            <a:endParaRPr lang="en-US" sz="950" dirty="0"/>
          </a:p>
          <a:p>
            <a:pPr indent="0" marL="0">
              <a:lnSpc>
                <a:spcPts val="1200"/>
              </a:lnSpc>
              <a:buNone/>
            </a:pPr>
            <a:r>
              <a:rPr lang="en-US" sz="950" dirty="0">
                <a:solidFill>
                  <a:srgbClr val="F2B366"/>
                </a:solidFill>
                <a:latin typeface="Courier New" pitchFamily="34" charset="0"/>
                <a:ea typeface="Courier New" pitchFamily="34" charset="-122"/>
                <a:cs typeface="Courier New" pitchFamily="34" charset="-120"/>
              </a:rPr>
              <a:t>        f.risk_score / 100.0, f.risk_score)   # two scales</a:t>
            </a:r>
            <a:endParaRPr lang="en-US" sz="950" dirty="0"/>
          </a:p>
          <a:p>
            <a:pPr indent="0" marL="0">
              <a:lnSpc>
                <a:spcPts val="1200"/>
              </a:lnSpc>
              <a:buNone/>
            </a:pPr>
            <a:endParaRPr lang="en-US" sz="950" dirty="0"/>
          </a:p>
          <a:p>
            <a:pPr indent="0" marL="0">
              <a:lnSpc>
                <a:spcPts val="1200"/>
              </a:lnSpc>
              <a:buNone/>
            </a:pPr>
            <a:r>
              <a:rPr lang="en-US" sz="950" dirty="0">
                <a:solidFill>
                  <a:srgbClr val="7FD4D2"/>
                </a:solidFill>
                <a:latin typeface="Courier New" pitchFamily="34" charset="0"/>
                <a:ea typeface="Courier New" pitchFamily="34" charset="-122"/>
                <a:cs typeface="Courier New" pitchFamily="34" charset="-120"/>
              </a:rPr>
              <a:t>def stg_event(e)   # pivots lifecycle, keeps latency</a:t>
            </a:r>
            <a:endParaRPr lang="en-US" sz="950" dirty="0"/>
          </a:p>
          <a:p>
            <a:pPr indent="0" marL="0">
              <a:lnSpc>
                <a:spcPts val="1200"/>
              </a:lnSpc>
              <a:buNone/>
            </a:pPr>
            <a:r>
              <a:rPr lang="en-US" sz="950" dirty="0">
                <a:solidFill>
                  <a:srgbClr val="7FD4D2"/>
                </a:solidFill>
                <a:latin typeface="Courier New" pitchFamily="34" charset="0"/>
                <a:ea typeface="Courier New" pitchFamily="34" charset="-122"/>
                <a:cs typeface="Courier New" pitchFamily="34" charset="-120"/>
              </a:rPr>
              <a:t>def stg_chargeback(c)   # sums disputes to txn grain</a:t>
            </a:r>
            <a:endParaRPr lang="en-US" sz="950" dirty="0"/>
          </a:p>
        </p:txBody>
      </p:sp>
      <p:sp>
        <p:nvSpPr>
          <p:cNvPr id="7" name="Shape 5"/>
          <p:cNvSpPr/>
          <p:nvPr/>
        </p:nvSpPr>
        <p:spPr>
          <a:xfrm>
            <a:off x="548640" y="3931920"/>
            <a:ext cx="6675120" cy="2194560"/>
          </a:xfrm>
          <a:prstGeom prst="roundRect">
            <a:avLst>
              <a:gd name="adj" fmla="val 2083"/>
            </a:avLst>
          </a:prstGeom>
          <a:solidFill>
            <a:srgbClr val="16243A"/>
          </a:solidFill>
          <a:ln w="12700">
            <a:solidFill>
              <a:srgbClr val="2E5580"/>
            </a:solidFill>
            <a:prstDash val="solid"/>
          </a:ln>
        </p:spPr>
      </p:sp>
      <p:sp>
        <p:nvSpPr>
          <p:cNvPr id="8" name="Text 6"/>
          <p:cNvSpPr txBox="1"/>
          <p:nvPr/>
        </p:nvSpPr>
        <p:spPr>
          <a:xfrm>
            <a:off x="731520" y="4078224"/>
            <a:ext cx="6309360" cy="1901952"/>
          </a:xfrm>
          <a:prstGeom prst="rect">
            <a:avLst/>
          </a:prstGeom>
          <a:noFill/>
          <a:ln/>
        </p:spPr>
        <p:txBody>
          <a:bodyPr wrap="square" lIns="0" tIns="0" rIns="0" bIns="0" rtlCol="0" anchor="ctr"/>
          <a:lstStyle/>
          <a:p>
            <a:pPr indent="0" marL="0">
              <a:lnSpc>
                <a:spcPts val="1200"/>
              </a:lnSpc>
              <a:buNone/>
            </a:pPr>
            <a:r>
              <a:rPr lang="en-US" sz="950" dirty="0">
                <a:solidFill>
                  <a:srgbClr val="D6E2F0"/>
                </a:solidFill>
                <a:latin typeface="Courier New" pitchFamily="34" charset="0"/>
                <a:ea typeface="Courier New" pitchFamily="34" charset="-122"/>
                <a:cs typeface="Courier New" pitchFamily="34" charset="-120"/>
              </a:rPr>
              <a:t>fx_sel = fx[fx.rate_type == RATE_TYPE] \</a:t>
            </a:r>
            <a:endParaRPr lang="en-US" sz="950" dirty="0"/>
          </a:p>
          <a:p>
            <a:pPr indent="0" marL="0">
              <a:lnSpc>
                <a:spcPts val="1200"/>
              </a:lnSpc>
              <a:buNone/>
            </a:pPr>
            <a:r>
              <a:rPr lang="en-US" sz="950" dirty="0">
                <a:solidFill>
                  <a:srgbClr val="D6E2F0"/>
                </a:solidFill>
                <a:latin typeface="Courier New" pitchFamily="34" charset="0"/>
                <a:ea typeface="Courier New" pitchFamily="34" charset="-122"/>
                <a:cs typeface="Courier New" pitchFamily="34" charset="-120"/>
              </a:rPr>
              <a:t>           .set_index(["currency", "rate_date"]).rate_to_usd</a:t>
            </a:r>
            <a:endParaRPr lang="en-US" sz="950" dirty="0"/>
          </a:p>
          <a:p>
            <a:pPr indent="0" marL="0">
              <a:lnSpc>
                <a:spcPts val="1200"/>
              </a:lnSpc>
              <a:buNone/>
            </a:pPr>
            <a:r>
              <a:rPr lang="en-US" sz="950" dirty="0">
                <a:solidFill>
                  <a:srgbClr val="D6E2F0"/>
                </a:solidFill>
                <a:latin typeface="Courier New" pitchFamily="34" charset="0"/>
                <a:ea typeface="Courier New" pitchFamily="34" charset="-122"/>
                <a:cs typeface="Courier New" pitchFamily="34" charset="-120"/>
              </a:rPr>
              <a:t>t["gross_usd"] = t.amount * t.fx_rate_to_usd</a:t>
            </a:r>
            <a:endParaRPr lang="en-US" sz="950" dirty="0"/>
          </a:p>
          <a:p>
            <a:pPr indent="0" marL="0">
              <a:lnSpc>
                <a:spcPts val="1200"/>
              </a:lnSpc>
              <a:buNone/>
            </a:pPr>
            <a:endParaRPr lang="en-US" sz="950" dirty="0"/>
          </a:p>
          <a:p>
            <a:pPr indent="0" marL="0">
              <a:lnSpc>
                <a:spcPts val="1200"/>
              </a:lnSpc>
              <a:buNone/>
            </a:pPr>
            <a:r>
              <a:rPr lang="en-US" sz="950" b="1" dirty="0">
                <a:solidFill>
                  <a:srgbClr val="7FD4D2"/>
                </a:solidFill>
                <a:latin typeface="Courier New" pitchFamily="34" charset="0"/>
                <a:ea typeface="Courier New" pitchFamily="34" charset="-122"/>
                <a:cs typeface="Courier New" pitchFamily="34" charset="-120"/>
              </a:rPr>
              <a:t>t["contribution_usd"] = ( t.merchant_revenue_usd</a:t>
            </a:r>
            <a:endParaRPr lang="en-US" sz="950" dirty="0"/>
          </a:p>
          <a:p>
            <a:pPr indent="0" marL="0">
              <a:lnSpc>
                <a:spcPts val="1200"/>
              </a:lnSpc>
              <a:buNone/>
            </a:pPr>
            <a:r>
              <a:rPr lang="en-US" sz="950" b="1" dirty="0">
                <a:solidFill>
                  <a:srgbClr val="7FD4D2"/>
                </a:solidFill>
                <a:latin typeface="Courier New" pitchFamily="34" charset="0"/>
                <a:ea typeface="Courier New" pitchFamily="34" charset="-122"/>
                <a:cs typeface="Courier New" pitchFamily="34" charset="-120"/>
              </a:rPr>
              <a:t>                        - t.processing_cost_usd</a:t>
            </a:r>
            <a:endParaRPr lang="en-US" sz="950" dirty="0"/>
          </a:p>
          <a:p>
            <a:pPr indent="0" marL="0">
              <a:lnSpc>
                <a:spcPts val="1200"/>
              </a:lnSpc>
              <a:buNone/>
            </a:pPr>
            <a:r>
              <a:rPr lang="en-US" sz="950" b="1" dirty="0">
                <a:solidFill>
                  <a:srgbClr val="7FD4D2"/>
                </a:solidFill>
                <a:latin typeface="Courier New" pitchFamily="34" charset="0"/>
                <a:ea typeface="Courier New" pitchFamily="34" charset="-122"/>
                <a:cs typeface="Courier New" pitchFamily="34" charset="-120"/>
              </a:rPr>
              <a:t>                        - t.chargeback_cost_usd )</a:t>
            </a:r>
            <a:endParaRPr lang="en-US" sz="950" dirty="0"/>
          </a:p>
          <a:p>
            <a:pPr indent="0" marL="0">
              <a:lnSpc>
                <a:spcPts val="1200"/>
              </a:lnSpc>
              <a:buNone/>
            </a:pPr>
            <a:endParaRPr lang="en-US" sz="950" dirty="0"/>
          </a:p>
          <a:p>
            <a:pPr indent="0" marL="0">
              <a:lnSpc>
                <a:spcPts val="1200"/>
              </a:lnSpc>
              <a:buNone/>
            </a:pPr>
            <a:r>
              <a:rPr lang="en-US" sz="950" i="1" dirty="0">
                <a:solidFill>
                  <a:srgbClr val="8FA6C4"/>
                </a:solidFill>
                <a:latin typeface="Courier New" pitchFamily="34" charset="0"/>
                <a:ea typeface="Courier New" pitchFamily="34" charset="-122"/>
                <a:cs typeface="Courier New" pitchFamily="34" charset="-120"/>
              </a:rPr>
              <a:t># no merchant -&gt; no plan -&gt; no rate -&gt; NaN contribution</a:t>
            </a:r>
            <a:endParaRPr lang="en-US" sz="950" dirty="0"/>
          </a:p>
          <a:p>
            <a:pPr indent="0" marL="0">
              <a:lnSpc>
                <a:spcPts val="1200"/>
              </a:lnSpc>
              <a:buNone/>
            </a:pPr>
            <a:r>
              <a:rPr lang="en-US" sz="950" dirty="0">
                <a:solidFill>
                  <a:srgbClr val="D6E2F0"/>
                </a:solidFill>
                <a:latin typeface="Courier New" pitchFamily="34" charset="0"/>
                <a:ea typeface="Courier New" pitchFamily="34" charset="-122"/>
                <a:cs typeface="Courier New" pitchFamily="34" charset="-120"/>
              </a:rPr>
              <a:t>portfolio_rate = (t.loc[settled, "merchant_fee_usd"].sum()</a:t>
            </a:r>
            <a:endParaRPr lang="en-US" sz="950" dirty="0"/>
          </a:p>
          <a:p>
            <a:pPr indent="0" marL="0">
              <a:lnSpc>
                <a:spcPts val="1200"/>
              </a:lnSpc>
              <a:buNone/>
            </a:pPr>
            <a:r>
              <a:rPr lang="en-US" sz="950" dirty="0">
                <a:solidFill>
                  <a:srgbClr val="D6E2F0"/>
                </a:solidFill>
                <a:latin typeface="Courier New" pitchFamily="34" charset="0"/>
                <a:ea typeface="Courier New" pitchFamily="34" charset="-122"/>
                <a:cs typeface="Courier New" pitchFamily="34" charset="-120"/>
              </a:rPr>
              <a:t>                  / t.loc[settled, "gross_usd"].sum())</a:t>
            </a:r>
            <a:endParaRPr lang="en-US" sz="950" dirty="0"/>
          </a:p>
          <a:p>
            <a:pPr indent="0" marL="0">
              <a:lnSpc>
                <a:spcPts val="1200"/>
              </a:lnSpc>
              <a:buNone/>
            </a:pPr>
            <a:r>
              <a:rPr lang="en-US" sz="950" dirty="0">
                <a:solidFill>
                  <a:srgbClr val="F2B366"/>
                </a:solidFill>
                <a:latin typeface="Courier New" pitchFamily="34" charset="0"/>
                <a:ea typeface="Courier New" pitchFamily="34" charset="-122"/>
                <a:cs typeface="Courier New" pitchFamily="34" charset="-120"/>
              </a:rPr>
              <a:t>imputed_rev = np.where(np.isnan(imputed_rev),</a:t>
            </a:r>
            <a:endParaRPr lang="en-US" sz="950" dirty="0"/>
          </a:p>
          <a:p>
            <a:pPr indent="0" marL="0">
              <a:lnSpc>
                <a:spcPts val="1200"/>
              </a:lnSpc>
              <a:buNone/>
            </a:pPr>
            <a:r>
              <a:rPr lang="en-US" sz="950" dirty="0">
                <a:solidFill>
                  <a:srgbClr val="F2B366"/>
                </a:solidFill>
                <a:latin typeface="Courier New" pitchFamily="34" charset="0"/>
                <a:ea typeface="Courier New" pitchFamily="34" charset="-122"/>
                <a:cs typeface="Courier New" pitchFamily="34" charset="-120"/>
              </a:rPr>
              <a:t>    t.gross_usd * portfolio_rate, imputed_rev)  # flagged</a:t>
            </a:r>
            <a:endParaRPr lang="en-US" sz="950" dirty="0"/>
          </a:p>
        </p:txBody>
      </p:sp>
      <p:sp>
        <p:nvSpPr>
          <p:cNvPr id="9" name="Text 7"/>
          <p:cNvSpPr txBox="1"/>
          <p:nvPr/>
        </p:nvSpPr>
        <p:spPr>
          <a:xfrm>
            <a:off x="7498080" y="1691640"/>
            <a:ext cx="4114800" cy="274320"/>
          </a:xfrm>
          <a:prstGeom prst="rect">
            <a:avLst/>
          </a:prstGeom>
          <a:noFill/>
          <a:ln/>
        </p:spPr>
        <p:txBody>
          <a:bodyPr wrap="square" lIns="0" tIns="0" rIns="0" bIns="0" rtlCol="0" anchor="ctr"/>
          <a:lstStyle/>
          <a:p>
            <a:pPr indent="0" marL="0">
              <a:buNone/>
            </a:pPr>
            <a:r>
              <a:rPr lang="en-US" sz="1250" b="1" dirty="0">
                <a:solidFill>
                  <a:srgbClr val="12233C"/>
                </a:solidFill>
                <a:latin typeface="Calibri" pitchFamily="34" charset="0"/>
                <a:ea typeface="Calibri" pitchFamily="34" charset="-122"/>
                <a:cs typeface="Calibri" pitchFamily="34" charset="-120"/>
              </a:rPr>
              <a:t>The decisions encoded above</a:t>
            </a:r>
            <a:endParaRPr lang="en-US" sz="1250" dirty="0"/>
          </a:p>
        </p:txBody>
      </p:sp>
      <p:sp>
        <p:nvSpPr>
          <p:cNvPr id="10" name="Shape 8"/>
          <p:cNvSpPr/>
          <p:nvPr/>
        </p:nvSpPr>
        <p:spPr>
          <a:xfrm>
            <a:off x="7498080" y="2057400"/>
            <a:ext cx="4114800" cy="758952"/>
          </a:xfrm>
          <a:prstGeom prst="roundRect">
            <a:avLst>
              <a:gd name="adj" fmla="val 7229"/>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sp>
        <p:nvSpPr>
          <p:cNvPr id="11" name="Text 9"/>
          <p:cNvSpPr txBox="1"/>
          <p:nvPr/>
        </p:nvSpPr>
        <p:spPr>
          <a:xfrm>
            <a:off x="7680960" y="2130552"/>
            <a:ext cx="3749040" cy="219456"/>
          </a:xfrm>
          <a:prstGeom prst="rect">
            <a:avLst/>
          </a:prstGeom>
          <a:noFill/>
          <a:ln/>
        </p:spPr>
        <p:txBody>
          <a:bodyPr wrap="square" lIns="0" tIns="0" rIns="0" bIns="0" rtlCol="0" anchor="ctr"/>
          <a:lstStyle/>
          <a:p>
            <a:pPr indent="0" marL="0">
              <a:buNone/>
            </a:pPr>
            <a:r>
              <a:rPr lang="en-US" sz="1050" b="1" dirty="0">
                <a:solidFill>
                  <a:srgbClr val="0E7C7B"/>
                </a:solidFill>
                <a:latin typeface="Calibri" pitchFamily="34" charset="0"/>
                <a:ea typeface="Calibri" pitchFamily="34" charset="-122"/>
                <a:cs typeface="Calibri" pitchFamily="34" charset="-120"/>
              </a:rPr>
              <a:t>Sum, never first</a:t>
            </a:r>
            <a:endParaRPr lang="en-US" sz="1050" dirty="0"/>
          </a:p>
        </p:txBody>
      </p:sp>
      <p:sp>
        <p:nvSpPr>
          <p:cNvPr id="12" name="Text 10"/>
          <p:cNvSpPr txBox="1"/>
          <p:nvPr/>
        </p:nvSpPr>
        <p:spPr>
          <a:xfrm>
            <a:off x="7680960" y="2340864"/>
            <a:ext cx="3749040" cy="457200"/>
          </a:xfrm>
          <a:prstGeom prst="rect">
            <a:avLst/>
          </a:prstGeom>
          <a:noFill/>
          <a:ln/>
        </p:spPr>
        <p:txBody>
          <a:bodyPr wrap="square" lIns="0" tIns="0" rIns="0" bIns="0" rtlCol="0" anchor="ctr"/>
          <a:lstStyle/>
          <a:p>
            <a:pPr indent="0" marL="0">
              <a:lnSpc>
                <a:spcPts val="1100"/>
              </a:lnSpc>
              <a:buNone/>
            </a:pPr>
            <a:r>
              <a:rPr lang="en-US" sz="900" dirty="0">
                <a:solidFill>
                  <a:srgbClr val="4A5663"/>
                </a:solidFill>
                <a:latin typeface="Calibri" pitchFamily="34" charset="0"/>
                <a:ea typeface="Calibri" pitchFamily="34" charset="-122"/>
                <a:cs typeface="Calibri" pitchFamily="34" charset="-120"/>
              </a:rPr>
              <a:t>A partial settlement plus a CORRECTION row are two halves of one fee. First loses the correction, max loses the partial — only the sum is the fee.</a:t>
            </a:r>
            <a:endParaRPr lang="en-US" sz="900" dirty="0"/>
          </a:p>
        </p:txBody>
      </p:sp>
      <p:sp>
        <p:nvSpPr>
          <p:cNvPr id="13" name="Shape 11"/>
          <p:cNvSpPr/>
          <p:nvPr/>
        </p:nvSpPr>
        <p:spPr>
          <a:xfrm>
            <a:off x="7498080" y="2907792"/>
            <a:ext cx="4114800" cy="758952"/>
          </a:xfrm>
          <a:prstGeom prst="roundRect">
            <a:avLst>
              <a:gd name="adj" fmla="val 7229"/>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sp>
        <p:nvSpPr>
          <p:cNvPr id="14" name="Text 12"/>
          <p:cNvSpPr txBox="1"/>
          <p:nvPr/>
        </p:nvSpPr>
        <p:spPr>
          <a:xfrm>
            <a:off x="7680960" y="2980944"/>
            <a:ext cx="3749040" cy="219456"/>
          </a:xfrm>
          <a:prstGeom prst="rect">
            <a:avLst/>
          </a:prstGeom>
          <a:noFill/>
          <a:ln/>
        </p:spPr>
        <p:txBody>
          <a:bodyPr wrap="square" lIns="0" tIns="0" rIns="0" bIns="0" rtlCol="0" anchor="ctr"/>
          <a:lstStyle/>
          <a:p>
            <a:pPr indent="0" marL="0">
              <a:buNone/>
            </a:pPr>
            <a:r>
              <a:rPr lang="en-US" sz="1050" b="1" dirty="0">
                <a:solidFill>
                  <a:srgbClr val="0E7C7B"/>
                </a:solidFill>
                <a:latin typeface="Calibri" pitchFamily="34" charset="0"/>
                <a:ea typeface="Calibri" pitchFamily="34" charset="-122"/>
                <a:cs typeface="Calibri" pitchFamily="34" charset="-120"/>
              </a:rPr>
              <a:t>Normalise at the boundary</a:t>
            </a:r>
            <a:endParaRPr lang="en-US" sz="1050" dirty="0"/>
          </a:p>
        </p:txBody>
      </p:sp>
      <p:sp>
        <p:nvSpPr>
          <p:cNvPr id="15" name="Text 13"/>
          <p:cNvSpPr txBox="1"/>
          <p:nvPr/>
        </p:nvSpPr>
        <p:spPr>
          <a:xfrm>
            <a:off x="7680960" y="3191256"/>
            <a:ext cx="3749040" cy="457200"/>
          </a:xfrm>
          <a:prstGeom prst="rect">
            <a:avLst/>
          </a:prstGeom>
          <a:noFill/>
          <a:ln/>
        </p:spPr>
        <p:txBody>
          <a:bodyPr wrap="square" lIns="0" tIns="0" rIns="0" bIns="0" rtlCol="0" anchor="ctr"/>
          <a:lstStyle/>
          <a:p>
            <a:pPr indent="0" marL="0">
              <a:lnSpc>
                <a:spcPts val="1100"/>
              </a:lnSpc>
              <a:buNone/>
            </a:pPr>
            <a:r>
              <a:rPr lang="en-US" sz="900" dirty="0">
                <a:solidFill>
                  <a:srgbClr val="4A5663"/>
                </a:solidFill>
                <a:latin typeface="Calibri" pitchFamily="34" charset="0"/>
                <a:ea typeface="Calibri" pitchFamily="34" charset="-122"/>
                <a:cs typeface="Calibri" pitchFamily="34" charset="-120"/>
              </a:rPr>
              <a:t>If the score scale is fixed downstream, someone eventually queries the raw column and gets a different answer. Fix it once and never expose the raw value.</a:t>
            </a:r>
            <a:endParaRPr lang="en-US" sz="900" dirty="0"/>
          </a:p>
        </p:txBody>
      </p:sp>
      <p:sp>
        <p:nvSpPr>
          <p:cNvPr id="16" name="Shape 14"/>
          <p:cNvSpPr/>
          <p:nvPr/>
        </p:nvSpPr>
        <p:spPr>
          <a:xfrm>
            <a:off x="7498080" y="3758184"/>
            <a:ext cx="4114800" cy="758952"/>
          </a:xfrm>
          <a:prstGeom prst="roundRect">
            <a:avLst>
              <a:gd name="adj" fmla="val 7229"/>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sp>
        <p:nvSpPr>
          <p:cNvPr id="17" name="Text 15"/>
          <p:cNvSpPr txBox="1"/>
          <p:nvPr/>
        </p:nvSpPr>
        <p:spPr>
          <a:xfrm>
            <a:off x="7680960" y="3831336"/>
            <a:ext cx="3749040" cy="219456"/>
          </a:xfrm>
          <a:prstGeom prst="rect">
            <a:avLst/>
          </a:prstGeom>
          <a:noFill/>
          <a:ln/>
        </p:spPr>
        <p:txBody>
          <a:bodyPr wrap="square" lIns="0" tIns="0" rIns="0" bIns="0" rtlCol="0" anchor="ctr"/>
          <a:lstStyle/>
          <a:p>
            <a:pPr indent="0" marL="0">
              <a:buNone/>
            </a:pPr>
            <a:r>
              <a:rPr lang="en-US" sz="1050" b="1" dirty="0">
                <a:solidFill>
                  <a:srgbClr val="0E7C7B"/>
                </a:solidFill>
                <a:latin typeface="Calibri" pitchFamily="34" charset="0"/>
                <a:ea typeface="Calibri" pitchFamily="34" charset="-122"/>
                <a:cs typeface="Calibri" pitchFamily="34" charset="-120"/>
              </a:rPr>
              <a:t>Dated joins, explicit rate type</a:t>
            </a:r>
            <a:endParaRPr lang="en-US" sz="1050" dirty="0"/>
          </a:p>
        </p:txBody>
      </p:sp>
      <p:sp>
        <p:nvSpPr>
          <p:cNvPr id="18" name="Text 16"/>
          <p:cNvSpPr txBox="1"/>
          <p:nvPr/>
        </p:nvSpPr>
        <p:spPr>
          <a:xfrm>
            <a:off x="7680960" y="4041648"/>
            <a:ext cx="3749040" cy="457200"/>
          </a:xfrm>
          <a:prstGeom prst="rect">
            <a:avLst/>
          </a:prstGeom>
          <a:noFill/>
          <a:ln/>
        </p:spPr>
        <p:txBody>
          <a:bodyPr wrap="square" lIns="0" tIns="0" rIns="0" bIns="0" rtlCol="0" anchor="ctr"/>
          <a:lstStyle/>
          <a:p>
            <a:pPr indent="0" marL="0">
              <a:lnSpc>
                <a:spcPts val="1100"/>
              </a:lnSpc>
              <a:buNone/>
            </a:pPr>
            <a:r>
              <a:rPr lang="en-US" sz="900" dirty="0">
                <a:solidFill>
                  <a:srgbClr val="4A5663"/>
                </a:solidFill>
                <a:latin typeface="Calibri" pitchFamily="34" charset="0"/>
                <a:ea typeface="Calibri" pitchFamily="34" charset="-122"/>
                <a:cs typeface="Calibri" pitchFamily="34" charset="-120"/>
              </a:rPr>
              <a:t>SETTLEMENT FX on the transaction date; route cost as-of the transaction date. PROV_ORBIT steps $0.35 → $0.52 on 1 July — a key-only join averages that away.</a:t>
            </a:r>
            <a:endParaRPr lang="en-US" sz="900" dirty="0"/>
          </a:p>
        </p:txBody>
      </p:sp>
      <p:sp>
        <p:nvSpPr>
          <p:cNvPr id="19" name="Shape 17"/>
          <p:cNvSpPr/>
          <p:nvPr/>
        </p:nvSpPr>
        <p:spPr>
          <a:xfrm>
            <a:off x="7498080" y="4608576"/>
            <a:ext cx="4114800" cy="758952"/>
          </a:xfrm>
          <a:prstGeom prst="roundRect">
            <a:avLst>
              <a:gd name="adj" fmla="val 7229"/>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sp>
        <p:nvSpPr>
          <p:cNvPr id="20" name="Text 18"/>
          <p:cNvSpPr txBox="1"/>
          <p:nvPr/>
        </p:nvSpPr>
        <p:spPr>
          <a:xfrm>
            <a:off x="7680960" y="4681728"/>
            <a:ext cx="3749040" cy="219456"/>
          </a:xfrm>
          <a:prstGeom prst="rect">
            <a:avLst/>
          </a:prstGeom>
          <a:noFill/>
          <a:ln/>
        </p:spPr>
        <p:txBody>
          <a:bodyPr wrap="square" lIns="0" tIns="0" rIns="0" bIns="0" rtlCol="0" anchor="ctr"/>
          <a:lstStyle/>
          <a:p>
            <a:pPr indent="0" marL="0">
              <a:buNone/>
            </a:pPr>
            <a:r>
              <a:rPr lang="en-US" sz="1050" b="1" dirty="0">
                <a:solidFill>
                  <a:srgbClr val="0E7C7B"/>
                </a:solidFill>
                <a:latin typeface="Calibri" pitchFamily="34" charset="0"/>
                <a:ea typeface="Calibri" pitchFamily="34" charset="-122"/>
                <a:cs typeface="Calibri" pitchFamily="34" charset="-120"/>
              </a:rPr>
              <a:t>Quarantine means flagged, not deleted</a:t>
            </a:r>
            <a:endParaRPr lang="en-US" sz="1050" dirty="0"/>
          </a:p>
        </p:txBody>
      </p:sp>
      <p:sp>
        <p:nvSpPr>
          <p:cNvPr id="21" name="Text 19"/>
          <p:cNvSpPr txBox="1"/>
          <p:nvPr/>
        </p:nvSpPr>
        <p:spPr>
          <a:xfrm>
            <a:off x="7680960" y="4892040"/>
            <a:ext cx="3749040" cy="457200"/>
          </a:xfrm>
          <a:prstGeom prst="rect">
            <a:avLst/>
          </a:prstGeom>
          <a:noFill/>
          <a:ln/>
        </p:spPr>
        <p:txBody>
          <a:bodyPr wrap="square" lIns="0" tIns="0" rIns="0" bIns="0" rtlCol="0" anchor="ctr"/>
          <a:lstStyle/>
          <a:p>
            <a:pPr indent="0" marL="0">
              <a:lnSpc>
                <a:spcPts val="1100"/>
              </a:lnSpc>
              <a:buNone/>
            </a:pPr>
            <a:r>
              <a:rPr lang="en-US" sz="900" dirty="0">
                <a:solidFill>
                  <a:srgbClr val="4A5663"/>
                </a:solidFill>
                <a:latin typeface="Calibri" pitchFamily="34" charset="0"/>
                <a:ea typeface="Calibri" pitchFamily="34" charset="-122"/>
                <a:cs typeface="Calibri" pitchFamily="34" charset="-120"/>
              </a:rPr>
              <a:t>The 390 impossible rows stay in the fact table with dq_quarantined = TRUE. Measures filter them; the count stays reportable.</a:t>
            </a:r>
            <a:endParaRPr lang="en-US" sz="900" dirty="0"/>
          </a:p>
        </p:txBody>
      </p:sp>
      <p:sp>
        <p:nvSpPr>
          <p:cNvPr id="22" name="Shape 20"/>
          <p:cNvSpPr/>
          <p:nvPr/>
        </p:nvSpPr>
        <p:spPr>
          <a:xfrm>
            <a:off x="7498080" y="5458968"/>
            <a:ext cx="4114800" cy="758952"/>
          </a:xfrm>
          <a:prstGeom prst="roundRect">
            <a:avLst>
              <a:gd name="adj" fmla="val 7229"/>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sp>
        <p:nvSpPr>
          <p:cNvPr id="23" name="Text 21"/>
          <p:cNvSpPr txBox="1"/>
          <p:nvPr/>
        </p:nvSpPr>
        <p:spPr>
          <a:xfrm>
            <a:off x="7680960" y="5532120"/>
            <a:ext cx="3749040" cy="219456"/>
          </a:xfrm>
          <a:prstGeom prst="rect">
            <a:avLst/>
          </a:prstGeom>
          <a:noFill/>
          <a:ln/>
        </p:spPr>
        <p:txBody>
          <a:bodyPr wrap="square" lIns="0" tIns="0" rIns="0" bIns="0" rtlCol="0" anchor="ctr"/>
          <a:lstStyle/>
          <a:p>
            <a:pPr indent="0" marL="0">
              <a:buNone/>
            </a:pPr>
            <a:r>
              <a:rPr lang="en-US" sz="1050" b="1" dirty="0">
                <a:solidFill>
                  <a:srgbClr val="A33D3D"/>
                </a:solidFill>
                <a:latin typeface="Calibri" pitchFamily="34" charset="0"/>
                <a:ea typeface="Calibri" pitchFamily="34" charset="-122"/>
                <a:cs typeface="Calibri" pitchFamily="34" charset="-120"/>
              </a:rPr>
              <a:t>The NaN that broke the decomposition</a:t>
            </a:r>
            <a:endParaRPr lang="en-US" sz="1050" dirty="0"/>
          </a:p>
        </p:txBody>
      </p:sp>
      <p:sp>
        <p:nvSpPr>
          <p:cNvPr id="24" name="Text 22"/>
          <p:cNvSpPr txBox="1"/>
          <p:nvPr/>
        </p:nvSpPr>
        <p:spPr>
          <a:xfrm>
            <a:off x="7680960" y="5742432"/>
            <a:ext cx="3749040" cy="457200"/>
          </a:xfrm>
          <a:prstGeom prst="rect">
            <a:avLst/>
          </a:prstGeom>
          <a:noFill/>
          <a:ln/>
        </p:spPr>
        <p:txBody>
          <a:bodyPr wrap="square" lIns="0" tIns="0" rIns="0" bIns="0" rtlCol="0" anchor="ctr"/>
          <a:lstStyle/>
          <a:p>
            <a:pPr indent="0" marL="0">
              <a:lnSpc>
                <a:spcPts val="1100"/>
              </a:lnSpc>
              <a:buNone/>
            </a:pPr>
            <a:r>
              <a:rPr lang="en-US" sz="900" dirty="0">
                <a:solidFill>
                  <a:srgbClr val="4A5663"/>
                </a:solidFill>
                <a:latin typeface="Calibri" pitchFamily="34" charset="0"/>
                <a:ea typeface="Calibri" pitchFamily="34" charset="-122"/>
                <a:cs typeface="Calibri" pitchFamily="34" charset="-120"/>
              </a:rPr>
              <a:t>Rows with no merchant had no imputable revenue, so contribution was NaN and the residual was non-zero. The portfolio-rate fallback — flagged, never silent — took it to exactly 0.</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6F8"/>
        </a:solidFill>
      </p:bgPr>
    </p:bg>
    <p:spTree>
      <p:nvGrpSpPr>
        <p:cNvPr id="1" name=""/>
        <p:cNvGrpSpPr/>
        <p:nvPr/>
      </p:nvGrpSpPr>
      <p:grpSpPr>
        <a:xfrm>
          <a:off x="0" y="0"/>
          <a:ext cx="0" cy="0"/>
          <a:chOff x="0" y="0"/>
          <a:chExt cx="0" cy="0"/>
        </a:xfrm>
      </p:grpSpPr>
      <p:sp>
        <p:nvSpPr>
          <p:cNvPr id="2" name="Text 0"/>
          <p:cNvSpPr txBox="1"/>
          <p:nvPr/>
        </p:nvSpPr>
        <p:spPr>
          <a:xfrm>
            <a:off x="548640" y="329184"/>
            <a:ext cx="7315200" cy="237744"/>
          </a:xfrm>
          <a:prstGeom prst="rect">
            <a:avLst/>
          </a:prstGeom>
          <a:noFill/>
          <a:ln/>
        </p:spPr>
        <p:txBody>
          <a:bodyPr wrap="square" lIns="0" tIns="0" rIns="0" bIns="0" rtlCol="0" anchor="ctr"/>
          <a:lstStyle/>
          <a:p>
            <a:pPr indent="0" marL="0">
              <a:buNone/>
            </a:pPr>
            <a:r>
              <a:rPr lang="en-US" sz="1050" b="1" spc="200" kern="0" dirty="0">
                <a:solidFill>
                  <a:srgbClr val="D98324"/>
                </a:solidFill>
                <a:latin typeface="Calibri" pitchFamily="34" charset="0"/>
                <a:ea typeface="Calibri" pitchFamily="34" charset="-122"/>
                <a:cs typeface="Calibri" pitchFamily="34" charset="-120"/>
              </a:rPr>
              <a:t>TASK 4 · OUTPUT</a:t>
            </a:r>
            <a:endParaRPr lang="en-US" sz="1050" dirty="0"/>
          </a:p>
        </p:txBody>
      </p:sp>
      <p:sp>
        <p:nvSpPr>
          <p:cNvPr id="3" name="Text 1"/>
          <p:cNvSpPr txBox="1"/>
          <p:nvPr/>
        </p:nvSpPr>
        <p:spPr>
          <a:xfrm>
            <a:off x="548640" y="603504"/>
            <a:ext cx="11064240" cy="502920"/>
          </a:xfrm>
          <a:prstGeom prst="rect">
            <a:avLst/>
          </a:prstGeom>
          <a:noFill/>
          <a:ln/>
        </p:spPr>
        <p:txBody>
          <a:bodyPr wrap="square" lIns="0" tIns="0" rIns="0" bIns="0" rtlCol="0" anchor="ctr"/>
          <a:lstStyle/>
          <a:p>
            <a:pPr indent="0" marL="0">
              <a:buNone/>
            </a:pPr>
            <a:r>
              <a:rPr lang="en-US" sz="2600" b="1" dirty="0">
                <a:solidFill>
                  <a:srgbClr val="12233C"/>
                </a:solidFill>
                <a:latin typeface="Cambria" pitchFamily="34" charset="0"/>
                <a:ea typeface="Cambria" pitchFamily="34" charset="-122"/>
                <a:cs typeface="Cambria" pitchFamily="34" charset="-120"/>
              </a:rPr>
              <a:t>Validation, and the monthly series the whole case rests on</a:t>
            </a:r>
            <a:endParaRPr lang="en-US" sz="2600" dirty="0"/>
          </a:p>
        </p:txBody>
      </p:sp>
      <p:sp>
        <p:nvSpPr>
          <p:cNvPr id="4" name="Text 2"/>
          <p:cNvSpPr txBox="1"/>
          <p:nvPr/>
        </p:nvSpPr>
        <p:spPr>
          <a:xfrm>
            <a:off x="548640" y="1115568"/>
            <a:ext cx="11064240" cy="310896"/>
          </a:xfrm>
          <a:prstGeom prst="rect">
            <a:avLst/>
          </a:prstGeom>
          <a:noFill/>
          <a:ln/>
        </p:spPr>
        <p:txBody>
          <a:bodyPr wrap="square" lIns="0" tIns="0" rIns="0" bIns="0" rtlCol="0" anchor="ctr"/>
          <a:lstStyle/>
          <a:p>
            <a:pPr indent="0" marL="0">
              <a:buNone/>
            </a:pPr>
            <a:r>
              <a:rPr lang="en-US" sz="1300" dirty="0">
                <a:solidFill>
                  <a:srgbClr val="6B7785"/>
                </a:solidFill>
                <a:latin typeface="Calibri" pitchFamily="34" charset="0"/>
                <a:ea typeface="Calibri" pitchFamily="34" charset="-122"/>
                <a:cs typeface="Calibri" pitchFamily="34" charset="-120"/>
              </a:rPr>
              <a:t>validation_checks() is the proof that the model does not double count. It runs every time the notebook runs.</a:t>
            </a:r>
            <a:endParaRPr lang="en-US" sz="1300" dirty="0"/>
          </a:p>
        </p:txBody>
      </p:sp>
      <p:sp>
        <p:nvSpPr>
          <p:cNvPr id="5" name="Shape 3"/>
          <p:cNvSpPr/>
          <p:nvPr/>
        </p:nvSpPr>
        <p:spPr>
          <a:xfrm>
            <a:off x="548640" y="1627632"/>
            <a:ext cx="6583680" cy="4224528"/>
          </a:xfrm>
          <a:prstGeom prst="roundRect">
            <a:avLst>
              <a:gd name="adj" fmla="val 1299"/>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graphicFrame>
        <p:nvGraphicFramePr>
          <p:cNvPr id="6" name="Chart 0" descr=""/>
          <p:cNvGraphicFramePr/>
          <p:nvPr/>
        </p:nvGraphicFramePr>
        <p:xfrm>
          <a:off x="713232" y="1783080"/>
          <a:ext cx="6263640" cy="3520440"/>
        </p:xfrm>
        <a:graphic xmlns:a="http://schemas.openxmlformats.org/drawingml/2006/main">
          <a:graphicData uri="http://schemas.openxmlformats.org/drawingml/2006/chart">
            <c:chart xmlns:c="http://schemas.openxmlformats.org/drawingml/2006/chart" r:id="rId1"/>
          </a:graphicData>
        </a:graphic>
      </p:graphicFrame>
      <p:sp>
        <p:nvSpPr>
          <p:cNvPr id="7" name="Text 4"/>
          <p:cNvSpPr txBox="1"/>
          <p:nvPr/>
        </p:nvSpPr>
        <p:spPr>
          <a:xfrm>
            <a:off x="777240" y="5440680"/>
            <a:ext cx="6126480" cy="365760"/>
          </a:xfrm>
          <a:prstGeom prst="rect">
            <a:avLst/>
          </a:prstGeom>
          <a:noFill/>
          <a:ln/>
        </p:spPr>
        <p:txBody>
          <a:bodyPr wrap="square" lIns="0" tIns="0" rIns="0" bIns="0" rtlCol="0" anchor="ctr"/>
          <a:lstStyle/>
          <a:p>
            <a:pPr indent="0" marL="0">
              <a:buNone/>
            </a:pPr>
            <a:r>
              <a:rPr lang="en-US" sz="1050" i="1" dirty="0">
                <a:solidFill>
                  <a:srgbClr val="6B7785"/>
                </a:solidFill>
                <a:latin typeface="Calibri" pitchFamily="34" charset="0"/>
                <a:ea typeface="Calibri" pitchFamily="34" charset="-122"/>
                <a:cs typeface="Calibri" pitchFamily="34" charset="-120"/>
              </a:rPr>
              <a:t>A smooth twelve-month decline — not a step. There is no single break date to find, which is precisely why ranking segments fails and decomposition is required.</a:t>
            </a:r>
            <a:endParaRPr lang="en-US" sz="1050" dirty="0"/>
          </a:p>
        </p:txBody>
      </p:sp>
      <p:sp>
        <p:nvSpPr>
          <p:cNvPr id="8" name="Text 5"/>
          <p:cNvSpPr txBox="1"/>
          <p:nvPr/>
        </p:nvSpPr>
        <p:spPr>
          <a:xfrm>
            <a:off x="7406640" y="1691640"/>
            <a:ext cx="4206240" cy="274320"/>
          </a:xfrm>
          <a:prstGeom prst="rect">
            <a:avLst/>
          </a:prstGeom>
          <a:noFill/>
          <a:ln/>
        </p:spPr>
        <p:txBody>
          <a:bodyPr wrap="square" lIns="0" tIns="0" rIns="0" bIns="0" rtlCol="0" anchor="ctr"/>
          <a:lstStyle/>
          <a:p>
            <a:pPr indent="0" marL="0">
              <a:buNone/>
            </a:pPr>
            <a:r>
              <a:rPr lang="en-US" sz="1250" b="1" dirty="0">
                <a:solidFill>
                  <a:srgbClr val="12233C"/>
                </a:solidFill>
                <a:latin typeface="Calibri" pitchFamily="34" charset="0"/>
                <a:ea typeface="Calibri" pitchFamily="34" charset="-122"/>
                <a:cs typeface="Calibri" pitchFamily="34" charset="-120"/>
              </a:rPr>
              <a:t>Validation checks that must pass before any analysis</a:t>
            </a:r>
            <a:endParaRPr lang="en-US" sz="1250" dirty="0"/>
          </a:p>
        </p:txBody>
      </p:sp>
      <p:sp>
        <p:nvSpPr>
          <p:cNvPr id="9" name="Shape 6"/>
          <p:cNvSpPr/>
          <p:nvPr/>
        </p:nvSpPr>
        <p:spPr>
          <a:xfrm>
            <a:off x="7406640" y="2057400"/>
            <a:ext cx="4206240" cy="530352"/>
          </a:xfrm>
          <a:prstGeom prst="roundRect">
            <a:avLst>
              <a:gd name="adj" fmla="val 10345"/>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sp>
        <p:nvSpPr>
          <p:cNvPr id="10" name="Text 7"/>
          <p:cNvSpPr txBox="1"/>
          <p:nvPr/>
        </p:nvSpPr>
        <p:spPr>
          <a:xfrm>
            <a:off x="7589520" y="2112264"/>
            <a:ext cx="3017520" cy="219456"/>
          </a:xfrm>
          <a:prstGeom prst="rect">
            <a:avLst/>
          </a:prstGeom>
          <a:noFill/>
          <a:ln/>
        </p:spPr>
        <p:txBody>
          <a:bodyPr wrap="square" lIns="0" tIns="0" rIns="0" bIns="0" rtlCol="0" anchor="ctr"/>
          <a:lstStyle/>
          <a:p>
            <a:pPr indent="0" marL="0">
              <a:buNone/>
            </a:pPr>
            <a:r>
              <a:rPr lang="en-US" sz="1050" b="1" dirty="0">
                <a:solidFill>
                  <a:srgbClr val="12233C"/>
                </a:solidFill>
                <a:latin typeface="Calibri" pitchFamily="34" charset="0"/>
                <a:ea typeface="Calibri" pitchFamily="34" charset="-122"/>
                <a:cs typeface="Calibri" pitchFamily="34" charset="-120"/>
              </a:rPr>
              <a:t>Fact row count = transaction row count</a:t>
            </a:r>
            <a:endParaRPr lang="en-US" sz="1050" dirty="0"/>
          </a:p>
        </p:txBody>
      </p:sp>
      <p:sp>
        <p:nvSpPr>
          <p:cNvPr id="11" name="Text 8"/>
          <p:cNvSpPr txBox="1"/>
          <p:nvPr/>
        </p:nvSpPr>
        <p:spPr>
          <a:xfrm>
            <a:off x="7589520" y="2331720"/>
            <a:ext cx="3017520" cy="201168"/>
          </a:xfrm>
          <a:prstGeom prst="rect">
            <a:avLst/>
          </a:prstGeom>
          <a:noFill/>
          <a:ln/>
        </p:spPr>
        <p:txBody>
          <a:bodyPr wrap="square" lIns="0" tIns="0" rIns="0" bIns="0" rtlCol="0" anchor="ctr"/>
          <a:lstStyle/>
          <a:p>
            <a:pPr indent="0" marL="0">
              <a:buNone/>
            </a:pPr>
            <a:r>
              <a:rPr lang="en-US" sz="950" dirty="0">
                <a:solidFill>
                  <a:srgbClr val="4A5663"/>
                </a:solidFill>
                <a:latin typeface="Courier New" pitchFamily="34" charset="0"/>
                <a:ea typeface="Courier New" pitchFamily="34" charset="-122"/>
                <a:cs typeface="Courier New" pitchFamily="34" charset="-120"/>
              </a:rPr>
              <a:t>260,287 = 260,287</a:t>
            </a:r>
            <a:endParaRPr lang="en-US" sz="950" dirty="0"/>
          </a:p>
        </p:txBody>
      </p:sp>
      <p:sp>
        <p:nvSpPr>
          <p:cNvPr id="12" name="Text 9"/>
          <p:cNvSpPr txBox="1"/>
          <p:nvPr/>
        </p:nvSpPr>
        <p:spPr>
          <a:xfrm>
            <a:off x="10652760" y="2057400"/>
            <a:ext cx="822960" cy="530352"/>
          </a:xfrm>
          <a:prstGeom prst="rect">
            <a:avLst/>
          </a:prstGeom>
          <a:noFill/>
          <a:ln/>
        </p:spPr>
        <p:txBody>
          <a:bodyPr wrap="square" lIns="0" tIns="0" rIns="0" bIns="0" rtlCol="0" anchor="ctr"/>
          <a:lstStyle/>
          <a:p>
            <a:pPr algn="ctr" indent="0" marL="0">
              <a:buNone/>
            </a:pPr>
            <a:r>
              <a:rPr lang="en-US" sz="1100" b="1" dirty="0">
                <a:solidFill>
                  <a:srgbClr val="0E7C7B"/>
                </a:solidFill>
                <a:latin typeface="Calibri" pitchFamily="34" charset="0"/>
                <a:ea typeface="Calibri" pitchFamily="34" charset="-122"/>
                <a:cs typeface="Calibri" pitchFamily="34" charset="-120"/>
              </a:rPr>
              <a:t>PASS</a:t>
            </a:r>
            <a:endParaRPr lang="en-US" sz="1100" dirty="0"/>
          </a:p>
        </p:txBody>
      </p:sp>
      <p:sp>
        <p:nvSpPr>
          <p:cNvPr id="13" name="Shape 10"/>
          <p:cNvSpPr/>
          <p:nvPr/>
        </p:nvSpPr>
        <p:spPr>
          <a:xfrm>
            <a:off x="7406640" y="2660904"/>
            <a:ext cx="4206240" cy="530352"/>
          </a:xfrm>
          <a:prstGeom prst="roundRect">
            <a:avLst>
              <a:gd name="adj" fmla="val 10345"/>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sp>
        <p:nvSpPr>
          <p:cNvPr id="14" name="Text 11"/>
          <p:cNvSpPr txBox="1"/>
          <p:nvPr/>
        </p:nvSpPr>
        <p:spPr>
          <a:xfrm>
            <a:off x="7589520" y="2715768"/>
            <a:ext cx="3017520" cy="219456"/>
          </a:xfrm>
          <a:prstGeom prst="rect">
            <a:avLst/>
          </a:prstGeom>
          <a:noFill/>
          <a:ln/>
        </p:spPr>
        <p:txBody>
          <a:bodyPr wrap="square" lIns="0" tIns="0" rIns="0" bIns="0" rtlCol="0" anchor="ctr"/>
          <a:lstStyle/>
          <a:p>
            <a:pPr indent="0" marL="0">
              <a:buNone/>
            </a:pPr>
            <a:r>
              <a:rPr lang="en-US" sz="1050" b="1" dirty="0">
                <a:solidFill>
                  <a:srgbClr val="12233C"/>
                </a:solidFill>
                <a:latin typeface="Calibri" pitchFamily="34" charset="0"/>
                <a:ea typeface="Calibri" pitchFamily="34" charset="-122"/>
                <a:cs typeface="Calibri" pitchFamily="34" charset="-120"/>
              </a:rPr>
              <a:t>transaction_id unique in the fact</a:t>
            </a:r>
            <a:endParaRPr lang="en-US" sz="1050" dirty="0"/>
          </a:p>
        </p:txBody>
      </p:sp>
      <p:sp>
        <p:nvSpPr>
          <p:cNvPr id="15" name="Text 12"/>
          <p:cNvSpPr txBox="1"/>
          <p:nvPr/>
        </p:nvSpPr>
        <p:spPr>
          <a:xfrm>
            <a:off x="7589520" y="2935224"/>
            <a:ext cx="3017520" cy="201168"/>
          </a:xfrm>
          <a:prstGeom prst="rect">
            <a:avLst/>
          </a:prstGeom>
          <a:noFill/>
          <a:ln/>
        </p:spPr>
        <p:txBody>
          <a:bodyPr wrap="square" lIns="0" tIns="0" rIns="0" bIns="0" rtlCol="0" anchor="ctr"/>
          <a:lstStyle/>
          <a:p>
            <a:pPr indent="0" marL="0">
              <a:buNone/>
            </a:pPr>
            <a:r>
              <a:rPr lang="en-US" sz="950" dirty="0">
                <a:solidFill>
                  <a:srgbClr val="4A5663"/>
                </a:solidFill>
                <a:latin typeface="Courier New" pitchFamily="34" charset="0"/>
                <a:ea typeface="Courier New" pitchFamily="34" charset="-122"/>
                <a:cs typeface="Courier New" pitchFamily="34" charset="-120"/>
              </a:rPr>
              <a:t>0 duplicates</a:t>
            </a:r>
            <a:endParaRPr lang="en-US" sz="950" dirty="0"/>
          </a:p>
        </p:txBody>
      </p:sp>
      <p:sp>
        <p:nvSpPr>
          <p:cNvPr id="16" name="Text 13"/>
          <p:cNvSpPr txBox="1"/>
          <p:nvPr/>
        </p:nvSpPr>
        <p:spPr>
          <a:xfrm>
            <a:off x="10652760" y="2660904"/>
            <a:ext cx="822960" cy="530352"/>
          </a:xfrm>
          <a:prstGeom prst="rect">
            <a:avLst/>
          </a:prstGeom>
          <a:noFill/>
          <a:ln/>
        </p:spPr>
        <p:txBody>
          <a:bodyPr wrap="square" lIns="0" tIns="0" rIns="0" bIns="0" rtlCol="0" anchor="ctr"/>
          <a:lstStyle/>
          <a:p>
            <a:pPr algn="ctr" indent="0" marL="0">
              <a:buNone/>
            </a:pPr>
            <a:r>
              <a:rPr lang="en-US" sz="1100" b="1" dirty="0">
                <a:solidFill>
                  <a:srgbClr val="0E7C7B"/>
                </a:solidFill>
                <a:latin typeface="Calibri" pitchFamily="34" charset="0"/>
                <a:ea typeface="Calibri" pitchFamily="34" charset="-122"/>
                <a:cs typeface="Calibri" pitchFamily="34" charset="-120"/>
              </a:rPr>
              <a:t>PASS</a:t>
            </a:r>
            <a:endParaRPr lang="en-US" sz="1100" dirty="0"/>
          </a:p>
        </p:txBody>
      </p:sp>
      <p:sp>
        <p:nvSpPr>
          <p:cNvPr id="17" name="Shape 14"/>
          <p:cNvSpPr/>
          <p:nvPr/>
        </p:nvSpPr>
        <p:spPr>
          <a:xfrm>
            <a:off x="7406640" y="3264408"/>
            <a:ext cx="4206240" cy="530352"/>
          </a:xfrm>
          <a:prstGeom prst="roundRect">
            <a:avLst>
              <a:gd name="adj" fmla="val 10345"/>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sp>
        <p:nvSpPr>
          <p:cNvPr id="18" name="Text 15"/>
          <p:cNvSpPr txBox="1"/>
          <p:nvPr/>
        </p:nvSpPr>
        <p:spPr>
          <a:xfrm>
            <a:off x="7589520" y="3319272"/>
            <a:ext cx="3017520" cy="219456"/>
          </a:xfrm>
          <a:prstGeom prst="rect">
            <a:avLst/>
          </a:prstGeom>
          <a:noFill/>
          <a:ln/>
        </p:spPr>
        <p:txBody>
          <a:bodyPr wrap="square" lIns="0" tIns="0" rIns="0" bIns="0" rtlCol="0" anchor="ctr"/>
          <a:lstStyle/>
          <a:p>
            <a:pPr indent="0" marL="0">
              <a:buNone/>
            </a:pPr>
            <a:r>
              <a:rPr lang="en-US" sz="1050" b="1" dirty="0">
                <a:solidFill>
                  <a:srgbClr val="12233C"/>
                </a:solidFill>
                <a:latin typeface="Calibri" pitchFamily="34" charset="0"/>
                <a:ea typeface="Calibri" pitchFamily="34" charset="-122"/>
                <a:cs typeface="Calibri" pitchFamily="34" charset="-120"/>
              </a:rPr>
              <a:t>Gross USD equals the source total</a:t>
            </a:r>
            <a:endParaRPr lang="en-US" sz="1050" dirty="0"/>
          </a:p>
        </p:txBody>
      </p:sp>
      <p:sp>
        <p:nvSpPr>
          <p:cNvPr id="19" name="Text 16"/>
          <p:cNvSpPr txBox="1"/>
          <p:nvPr/>
        </p:nvSpPr>
        <p:spPr>
          <a:xfrm>
            <a:off x="7589520" y="3538728"/>
            <a:ext cx="3017520" cy="201168"/>
          </a:xfrm>
          <a:prstGeom prst="rect">
            <a:avLst/>
          </a:prstGeom>
          <a:noFill/>
          <a:ln/>
        </p:spPr>
        <p:txBody>
          <a:bodyPr wrap="square" lIns="0" tIns="0" rIns="0" bIns="0" rtlCol="0" anchor="ctr"/>
          <a:lstStyle/>
          <a:p>
            <a:pPr indent="0" marL="0">
              <a:buNone/>
            </a:pPr>
            <a:r>
              <a:rPr lang="en-US" sz="950" dirty="0">
                <a:solidFill>
                  <a:srgbClr val="4A5663"/>
                </a:solidFill>
                <a:latin typeface="Courier New" pitchFamily="34" charset="0"/>
                <a:ea typeface="Courier New" pitchFamily="34" charset="-122"/>
                <a:cs typeface="Courier New" pitchFamily="34" charset="-120"/>
              </a:rPr>
              <a:t>ratio 1.000</a:t>
            </a:r>
            <a:endParaRPr lang="en-US" sz="950" dirty="0"/>
          </a:p>
        </p:txBody>
      </p:sp>
      <p:sp>
        <p:nvSpPr>
          <p:cNvPr id="20" name="Text 17"/>
          <p:cNvSpPr txBox="1"/>
          <p:nvPr/>
        </p:nvSpPr>
        <p:spPr>
          <a:xfrm>
            <a:off x="10652760" y="3264408"/>
            <a:ext cx="822960" cy="530352"/>
          </a:xfrm>
          <a:prstGeom prst="rect">
            <a:avLst/>
          </a:prstGeom>
          <a:noFill/>
          <a:ln/>
        </p:spPr>
        <p:txBody>
          <a:bodyPr wrap="square" lIns="0" tIns="0" rIns="0" bIns="0" rtlCol="0" anchor="ctr"/>
          <a:lstStyle/>
          <a:p>
            <a:pPr algn="ctr" indent="0" marL="0">
              <a:buNone/>
            </a:pPr>
            <a:r>
              <a:rPr lang="en-US" sz="1100" b="1" dirty="0">
                <a:solidFill>
                  <a:srgbClr val="0E7C7B"/>
                </a:solidFill>
                <a:latin typeface="Calibri" pitchFamily="34" charset="0"/>
                <a:ea typeface="Calibri" pitchFamily="34" charset="-122"/>
                <a:cs typeface="Calibri" pitchFamily="34" charset="-120"/>
              </a:rPr>
              <a:t>PASS</a:t>
            </a:r>
            <a:endParaRPr lang="en-US" sz="1100" dirty="0"/>
          </a:p>
        </p:txBody>
      </p:sp>
      <p:sp>
        <p:nvSpPr>
          <p:cNvPr id="21" name="Shape 18"/>
          <p:cNvSpPr/>
          <p:nvPr/>
        </p:nvSpPr>
        <p:spPr>
          <a:xfrm>
            <a:off x="7406640" y="3867912"/>
            <a:ext cx="4206240" cy="530352"/>
          </a:xfrm>
          <a:prstGeom prst="roundRect">
            <a:avLst>
              <a:gd name="adj" fmla="val 10345"/>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sp>
        <p:nvSpPr>
          <p:cNvPr id="22" name="Text 19"/>
          <p:cNvSpPr txBox="1"/>
          <p:nvPr/>
        </p:nvSpPr>
        <p:spPr>
          <a:xfrm>
            <a:off x="7589520" y="3922776"/>
            <a:ext cx="3017520" cy="219456"/>
          </a:xfrm>
          <a:prstGeom prst="rect">
            <a:avLst/>
          </a:prstGeom>
          <a:noFill/>
          <a:ln/>
        </p:spPr>
        <p:txBody>
          <a:bodyPr wrap="square" lIns="0" tIns="0" rIns="0" bIns="0" rtlCol="0" anchor="ctr"/>
          <a:lstStyle/>
          <a:p>
            <a:pPr indent="0" marL="0">
              <a:buNone/>
            </a:pPr>
            <a:r>
              <a:rPr lang="en-US" sz="1050" b="1" dirty="0">
                <a:solidFill>
                  <a:srgbClr val="12233C"/>
                </a:solidFill>
                <a:latin typeface="Calibri" pitchFamily="34" charset="0"/>
                <a:ea typeface="Calibri" pitchFamily="34" charset="-122"/>
                <a:cs typeface="Calibri" pitchFamily="34" charset="-120"/>
              </a:rPr>
              <a:t>Every staged table is at txn grain</a:t>
            </a:r>
            <a:endParaRPr lang="en-US" sz="1050" dirty="0"/>
          </a:p>
        </p:txBody>
      </p:sp>
      <p:sp>
        <p:nvSpPr>
          <p:cNvPr id="23" name="Text 20"/>
          <p:cNvSpPr txBox="1"/>
          <p:nvPr/>
        </p:nvSpPr>
        <p:spPr>
          <a:xfrm>
            <a:off x="7589520" y="4142232"/>
            <a:ext cx="3017520" cy="201168"/>
          </a:xfrm>
          <a:prstGeom prst="rect">
            <a:avLst/>
          </a:prstGeom>
          <a:noFill/>
          <a:ln/>
        </p:spPr>
        <p:txBody>
          <a:bodyPr wrap="square" lIns="0" tIns="0" rIns="0" bIns="0" rtlCol="0" anchor="ctr"/>
          <a:lstStyle/>
          <a:p>
            <a:pPr indent="0" marL="0">
              <a:buNone/>
            </a:pPr>
            <a:r>
              <a:rPr lang="en-US" sz="950" dirty="0">
                <a:solidFill>
                  <a:srgbClr val="4A5663"/>
                </a:solidFill>
                <a:latin typeface="Courier New" pitchFamily="34" charset="0"/>
                <a:ea typeface="Courier New" pitchFamily="34" charset="-122"/>
                <a:cs typeface="Courier New" pitchFamily="34" charset="-120"/>
              </a:rPr>
              <a:t>4 of 4 assertions hold</a:t>
            </a:r>
            <a:endParaRPr lang="en-US" sz="950" dirty="0"/>
          </a:p>
        </p:txBody>
      </p:sp>
      <p:sp>
        <p:nvSpPr>
          <p:cNvPr id="24" name="Text 21"/>
          <p:cNvSpPr txBox="1"/>
          <p:nvPr/>
        </p:nvSpPr>
        <p:spPr>
          <a:xfrm>
            <a:off x="10652760" y="3867912"/>
            <a:ext cx="822960" cy="530352"/>
          </a:xfrm>
          <a:prstGeom prst="rect">
            <a:avLst/>
          </a:prstGeom>
          <a:noFill/>
          <a:ln/>
        </p:spPr>
        <p:txBody>
          <a:bodyPr wrap="square" lIns="0" tIns="0" rIns="0" bIns="0" rtlCol="0" anchor="ctr"/>
          <a:lstStyle/>
          <a:p>
            <a:pPr algn="ctr" indent="0" marL="0">
              <a:buNone/>
            </a:pPr>
            <a:r>
              <a:rPr lang="en-US" sz="1100" b="1" dirty="0">
                <a:solidFill>
                  <a:srgbClr val="0E7C7B"/>
                </a:solidFill>
                <a:latin typeface="Calibri" pitchFamily="34" charset="0"/>
                <a:ea typeface="Calibri" pitchFamily="34" charset="-122"/>
                <a:cs typeface="Calibri" pitchFamily="34" charset="-120"/>
              </a:rPr>
              <a:t>PASS</a:t>
            </a:r>
            <a:endParaRPr lang="en-US" sz="1100" dirty="0"/>
          </a:p>
        </p:txBody>
      </p:sp>
      <p:sp>
        <p:nvSpPr>
          <p:cNvPr id="25" name="Shape 22"/>
          <p:cNvSpPr/>
          <p:nvPr/>
        </p:nvSpPr>
        <p:spPr>
          <a:xfrm>
            <a:off x="7406640" y="4471416"/>
            <a:ext cx="4206240" cy="530352"/>
          </a:xfrm>
          <a:prstGeom prst="roundRect">
            <a:avLst>
              <a:gd name="adj" fmla="val 10345"/>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sp>
        <p:nvSpPr>
          <p:cNvPr id="26" name="Text 23"/>
          <p:cNvSpPr txBox="1"/>
          <p:nvPr/>
        </p:nvSpPr>
        <p:spPr>
          <a:xfrm>
            <a:off x="7589520" y="4526280"/>
            <a:ext cx="3017520" cy="219456"/>
          </a:xfrm>
          <a:prstGeom prst="rect">
            <a:avLst/>
          </a:prstGeom>
          <a:noFill/>
          <a:ln/>
        </p:spPr>
        <p:txBody>
          <a:bodyPr wrap="square" lIns="0" tIns="0" rIns="0" bIns="0" rtlCol="0" anchor="ctr"/>
          <a:lstStyle/>
          <a:p>
            <a:pPr indent="0" marL="0">
              <a:buNone/>
            </a:pPr>
            <a:r>
              <a:rPr lang="en-US" sz="1050" b="1" dirty="0">
                <a:solidFill>
                  <a:srgbClr val="12233C"/>
                </a:solidFill>
                <a:latin typeface="Calibri" pitchFamily="34" charset="0"/>
                <a:ea typeface="Calibri" pitchFamily="34" charset="-122"/>
                <a:cs typeface="Calibri" pitchFamily="34" charset="-120"/>
              </a:rPr>
              <a:t>Revenue − cost − risk = contribution</a:t>
            </a:r>
            <a:endParaRPr lang="en-US" sz="1050" dirty="0"/>
          </a:p>
        </p:txBody>
      </p:sp>
      <p:sp>
        <p:nvSpPr>
          <p:cNvPr id="27" name="Text 24"/>
          <p:cNvSpPr txBox="1"/>
          <p:nvPr/>
        </p:nvSpPr>
        <p:spPr>
          <a:xfrm>
            <a:off x="7589520" y="4745736"/>
            <a:ext cx="3017520" cy="201168"/>
          </a:xfrm>
          <a:prstGeom prst="rect">
            <a:avLst/>
          </a:prstGeom>
          <a:noFill/>
          <a:ln/>
        </p:spPr>
        <p:txBody>
          <a:bodyPr wrap="square" lIns="0" tIns="0" rIns="0" bIns="0" rtlCol="0" anchor="ctr"/>
          <a:lstStyle/>
          <a:p>
            <a:pPr indent="0" marL="0">
              <a:buNone/>
            </a:pPr>
            <a:r>
              <a:rPr lang="en-US" sz="950" dirty="0">
                <a:solidFill>
                  <a:srgbClr val="4A5663"/>
                </a:solidFill>
                <a:latin typeface="Courier New" pitchFamily="34" charset="0"/>
                <a:ea typeface="Courier New" pitchFamily="34" charset="-122"/>
                <a:cs typeface="Courier New" pitchFamily="34" charset="-120"/>
              </a:rPr>
              <a:t>residual 0.00</a:t>
            </a:r>
            <a:endParaRPr lang="en-US" sz="950" dirty="0"/>
          </a:p>
        </p:txBody>
      </p:sp>
      <p:sp>
        <p:nvSpPr>
          <p:cNvPr id="28" name="Text 25"/>
          <p:cNvSpPr txBox="1"/>
          <p:nvPr/>
        </p:nvSpPr>
        <p:spPr>
          <a:xfrm>
            <a:off x="10652760" y="4471416"/>
            <a:ext cx="822960" cy="530352"/>
          </a:xfrm>
          <a:prstGeom prst="rect">
            <a:avLst/>
          </a:prstGeom>
          <a:noFill/>
          <a:ln/>
        </p:spPr>
        <p:txBody>
          <a:bodyPr wrap="square" lIns="0" tIns="0" rIns="0" bIns="0" rtlCol="0" anchor="ctr"/>
          <a:lstStyle/>
          <a:p>
            <a:pPr algn="ctr" indent="0" marL="0">
              <a:buNone/>
            </a:pPr>
            <a:r>
              <a:rPr lang="en-US" sz="1100" b="1" dirty="0">
                <a:solidFill>
                  <a:srgbClr val="0E7C7B"/>
                </a:solidFill>
                <a:latin typeface="Calibri" pitchFamily="34" charset="0"/>
                <a:ea typeface="Calibri" pitchFamily="34" charset="-122"/>
                <a:cs typeface="Calibri" pitchFamily="34" charset="-120"/>
              </a:rPr>
              <a:t>PASS</a:t>
            </a:r>
            <a:endParaRPr lang="en-US" sz="1100" dirty="0"/>
          </a:p>
        </p:txBody>
      </p:sp>
      <p:sp>
        <p:nvSpPr>
          <p:cNvPr id="29" name="Text 26"/>
          <p:cNvSpPr txBox="1"/>
          <p:nvPr/>
        </p:nvSpPr>
        <p:spPr>
          <a:xfrm>
            <a:off x="7406640" y="5138928"/>
            <a:ext cx="4206240" cy="411480"/>
          </a:xfrm>
          <a:prstGeom prst="rect">
            <a:avLst/>
          </a:prstGeom>
          <a:noFill/>
          <a:ln/>
        </p:spPr>
        <p:txBody>
          <a:bodyPr wrap="square" lIns="0" tIns="0" rIns="0" bIns="0" rtlCol="0" anchor="ctr"/>
          <a:lstStyle/>
          <a:p>
            <a:pPr algn="ctr" indent="0" marL="0">
              <a:buNone/>
            </a:pPr>
            <a:r>
              <a:rPr lang="en-US" sz="1500" b="1" dirty="0">
                <a:solidFill>
                  <a:srgbClr val="A33D3D"/>
                </a:solidFill>
                <a:latin typeface="Cambria" pitchFamily="34" charset="0"/>
                <a:ea typeface="Cambria" pitchFamily="34" charset="-122"/>
                <a:cs typeface="Cambria" pitchFamily="34" charset="-120"/>
              </a:rPr>
              <a:t>Jan $1.620  →  Dec $1.089      −32.8%</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6F8"/>
        </a:solidFill>
      </p:bgPr>
    </p:bg>
    <p:spTree>
      <p:nvGrpSpPr>
        <p:cNvPr id="1" name=""/>
        <p:cNvGrpSpPr/>
        <p:nvPr/>
      </p:nvGrpSpPr>
      <p:grpSpPr>
        <a:xfrm>
          <a:off x="0" y="0"/>
          <a:ext cx="0" cy="0"/>
          <a:chOff x="0" y="0"/>
          <a:chExt cx="0" cy="0"/>
        </a:xfrm>
      </p:grpSpPr>
      <p:sp>
        <p:nvSpPr>
          <p:cNvPr id="2" name="Text 0"/>
          <p:cNvSpPr txBox="1"/>
          <p:nvPr/>
        </p:nvSpPr>
        <p:spPr>
          <a:xfrm>
            <a:off x="548640" y="329184"/>
            <a:ext cx="7315200" cy="237744"/>
          </a:xfrm>
          <a:prstGeom prst="rect">
            <a:avLst/>
          </a:prstGeom>
          <a:noFill/>
          <a:ln/>
        </p:spPr>
        <p:txBody>
          <a:bodyPr wrap="square" lIns="0" tIns="0" rIns="0" bIns="0" rtlCol="0" anchor="ctr"/>
          <a:lstStyle/>
          <a:p>
            <a:pPr indent="0" marL="0">
              <a:buNone/>
            </a:pPr>
            <a:r>
              <a:rPr lang="en-US" sz="1050" b="1" spc="200" kern="0" dirty="0">
                <a:solidFill>
                  <a:srgbClr val="D98324"/>
                </a:solidFill>
                <a:latin typeface="Calibri" pitchFamily="34" charset="0"/>
                <a:ea typeface="Calibri" pitchFamily="34" charset="-122"/>
                <a:cs typeface="Calibri" pitchFamily="34" charset="-120"/>
              </a:rPr>
              <a:t>TASK 5 · METHOD</a:t>
            </a:r>
            <a:endParaRPr lang="en-US" sz="1050" dirty="0"/>
          </a:p>
        </p:txBody>
      </p:sp>
      <p:sp>
        <p:nvSpPr>
          <p:cNvPr id="3" name="Text 1"/>
          <p:cNvSpPr txBox="1"/>
          <p:nvPr/>
        </p:nvSpPr>
        <p:spPr>
          <a:xfrm>
            <a:off x="548640" y="603504"/>
            <a:ext cx="11064240" cy="502920"/>
          </a:xfrm>
          <a:prstGeom prst="rect">
            <a:avLst/>
          </a:prstGeom>
          <a:noFill/>
          <a:ln/>
        </p:spPr>
        <p:txBody>
          <a:bodyPr wrap="square" lIns="0" tIns="0" rIns="0" bIns="0" rtlCol="0" anchor="ctr"/>
          <a:lstStyle/>
          <a:p>
            <a:pPr indent="0" marL="0">
              <a:buNone/>
            </a:pPr>
            <a:r>
              <a:rPr lang="en-US" sz="2600" b="1" dirty="0">
                <a:solidFill>
                  <a:srgbClr val="12233C"/>
                </a:solidFill>
                <a:latin typeface="Cambria" pitchFamily="34" charset="0"/>
                <a:ea typeface="Cambria" pitchFamily="34" charset="-122"/>
                <a:cs typeface="Cambria" pitchFamily="34" charset="-120"/>
              </a:rPr>
              <a:t>Ranking segments cannot answer this question. Decomposition can.</a:t>
            </a:r>
            <a:endParaRPr lang="en-US" sz="2600" dirty="0"/>
          </a:p>
        </p:txBody>
      </p:sp>
      <p:sp>
        <p:nvSpPr>
          <p:cNvPr id="4" name="Text 2"/>
          <p:cNvSpPr txBox="1"/>
          <p:nvPr/>
        </p:nvSpPr>
        <p:spPr>
          <a:xfrm>
            <a:off x="548640" y="1115568"/>
            <a:ext cx="11064240" cy="310896"/>
          </a:xfrm>
          <a:prstGeom prst="rect">
            <a:avLst/>
          </a:prstGeom>
          <a:noFill/>
          <a:ln/>
        </p:spPr>
        <p:txBody>
          <a:bodyPr wrap="square" lIns="0" tIns="0" rIns="0" bIns="0" rtlCol="0" anchor="ctr"/>
          <a:lstStyle/>
          <a:p>
            <a:pPr indent="0" marL="0">
              <a:buNone/>
            </a:pPr>
            <a:r>
              <a:rPr lang="en-US" sz="1300" dirty="0">
                <a:solidFill>
                  <a:srgbClr val="6B7785"/>
                </a:solidFill>
                <a:latin typeface="Calibri" pitchFamily="34" charset="0"/>
                <a:ea typeface="Calibri" pitchFamily="34" charset="-122"/>
                <a:cs typeface="Calibri" pitchFamily="34" charset="-120"/>
              </a:rPr>
              <a:t>Two questions a ranked table never answers: how much of the fall does a segment contribute, and is that its weight moving or its own economics moving?</a:t>
            </a:r>
            <a:endParaRPr lang="en-US" sz="1300" dirty="0"/>
          </a:p>
        </p:txBody>
      </p:sp>
      <p:sp>
        <p:nvSpPr>
          <p:cNvPr id="5" name="Shape 3"/>
          <p:cNvSpPr/>
          <p:nvPr/>
        </p:nvSpPr>
        <p:spPr>
          <a:xfrm>
            <a:off x="548640" y="1572768"/>
            <a:ext cx="5029200" cy="2011680"/>
          </a:xfrm>
          <a:prstGeom prst="roundRect">
            <a:avLst>
              <a:gd name="adj" fmla="val 2727"/>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sp>
        <p:nvSpPr>
          <p:cNvPr id="6" name="Text 4"/>
          <p:cNvSpPr txBox="1"/>
          <p:nvPr/>
        </p:nvSpPr>
        <p:spPr>
          <a:xfrm>
            <a:off x="777240" y="1691640"/>
            <a:ext cx="4572000" cy="256032"/>
          </a:xfrm>
          <a:prstGeom prst="rect">
            <a:avLst/>
          </a:prstGeom>
          <a:noFill/>
          <a:ln/>
        </p:spPr>
        <p:txBody>
          <a:bodyPr wrap="square" lIns="0" tIns="0" rIns="0" bIns="0" rtlCol="0" anchor="ctr"/>
          <a:lstStyle/>
          <a:p>
            <a:pPr indent="0" marL="0">
              <a:buNone/>
            </a:pPr>
            <a:r>
              <a:rPr lang="en-US" sz="1250" b="1" dirty="0">
                <a:solidFill>
                  <a:srgbClr val="12233C"/>
                </a:solidFill>
                <a:latin typeface="Calibri" pitchFamily="34" charset="0"/>
                <a:ea typeface="Calibri" pitchFamily="34" charset="-122"/>
                <a:cs typeface="Calibri" pitchFamily="34" charset="-120"/>
              </a:rPr>
              <a:t>The identity</a:t>
            </a:r>
            <a:endParaRPr lang="en-US" sz="1250" dirty="0"/>
          </a:p>
        </p:txBody>
      </p:sp>
      <p:sp>
        <p:nvSpPr>
          <p:cNvPr id="7" name="Shape 5"/>
          <p:cNvSpPr/>
          <p:nvPr/>
        </p:nvSpPr>
        <p:spPr>
          <a:xfrm>
            <a:off x="777240" y="1993392"/>
            <a:ext cx="4572000" cy="1481328"/>
          </a:xfrm>
          <a:prstGeom prst="roundRect">
            <a:avLst>
              <a:gd name="adj" fmla="val 3086"/>
            </a:avLst>
          </a:prstGeom>
          <a:solidFill>
            <a:srgbClr val="16243A"/>
          </a:solidFill>
          <a:ln w="12700">
            <a:solidFill>
              <a:srgbClr val="2E5580"/>
            </a:solidFill>
            <a:prstDash val="solid"/>
          </a:ln>
        </p:spPr>
      </p:sp>
      <p:sp>
        <p:nvSpPr>
          <p:cNvPr id="8" name="Text 6"/>
          <p:cNvSpPr txBox="1"/>
          <p:nvPr/>
        </p:nvSpPr>
        <p:spPr>
          <a:xfrm>
            <a:off x="960120" y="2139696"/>
            <a:ext cx="4206240" cy="1188720"/>
          </a:xfrm>
          <a:prstGeom prst="rect">
            <a:avLst/>
          </a:prstGeom>
          <a:noFill/>
          <a:ln/>
        </p:spPr>
        <p:txBody>
          <a:bodyPr wrap="square" lIns="0" tIns="0" rIns="0" bIns="0" rtlCol="0" anchor="ctr"/>
          <a:lstStyle/>
          <a:p>
            <a:pPr indent="0" marL="0">
              <a:lnSpc>
                <a:spcPts val="1280"/>
              </a:lnSpc>
              <a:buNone/>
            </a:pPr>
            <a:r>
              <a:rPr lang="en-US" sz="1000" b="1" dirty="0">
                <a:solidFill>
                  <a:srgbClr val="F2B366"/>
                </a:solidFill>
                <a:latin typeface="Courier New" pitchFamily="34" charset="0"/>
                <a:ea typeface="Courier New" pitchFamily="34" charset="-122"/>
                <a:cs typeface="Courier New" pitchFamily="34" charset="-120"/>
              </a:rPr>
              <a:t>Δc  =  Σ (w₁ − w₀) · c₀     &lt;-- MIX</a:t>
            </a:r>
            <a:endParaRPr lang="en-US" sz="1000" dirty="0"/>
          </a:p>
          <a:p>
            <a:pPr indent="0" marL="0">
              <a:lnSpc>
                <a:spcPts val="1280"/>
              </a:lnSpc>
              <a:buNone/>
            </a:pPr>
            <a:r>
              <a:rPr lang="en-US" sz="1000" b="1" dirty="0">
                <a:solidFill>
                  <a:srgbClr val="7FD4D2"/>
                </a:solidFill>
                <a:latin typeface="Courier New" pitchFamily="34" charset="0"/>
                <a:ea typeface="Courier New" pitchFamily="34" charset="-122"/>
                <a:cs typeface="Courier New" pitchFamily="34" charset="-120"/>
              </a:rPr>
              <a:t>     + Σ  w₁ · (c₁ − c₀)    &lt;-- WITHIN</a:t>
            </a:r>
            <a:endParaRPr lang="en-US" sz="1000" dirty="0"/>
          </a:p>
          <a:p>
            <a:pPr indent="0" marL="0">
              <a:lnSpc>
                <a:spcPts val="1280"/>
              </a:lnSpc>
              <a:buNone/>
            </a:pPr>
            <a:endParaRPr lang="en-US" sz="1000" dirty="0"/>
          </a:p>
          <a:p>
            <a:pPr indent="0" marL="0">
              <a:lnSpc>
                <a:spcPts val="1280"/>
              </a:lnSpc>
              <a:buNone/>
            </a:pPr>
            <a:r>
              <a:rPr lang="en-US" sz="1000" dirty="0">
                <a:solidFill>
                  <a:srgbClr val="8FA6C4"/>
                </a:solidFill>
                <a:latin typeface="Courier New" pitchFamily="34" charset="0"/>
                <a:ea typeface="Courier New" pitchFamily="34" charset="-122"/>
                <a:cs typeface="Courier New" pitchFamily="34" charset="-120"/>
              </a:rPr>
              <a:t>w = segment share of successful txns</a:t>
            </a:r>
            <a:endParaRPr lang="en-US" sz="1000" dirty="0"/>
          </a:p>
          <a:p>
            <a:pPr indent="0" marL="0">
              <a:lnSpc>
                <a:spcPts val="1280"/>
              </a:lnSpc>
              <a:buNone/>
            </a:pPr>
            <a:r>
              <a:rPr lang="en-US" sz="1000" dirty="0">
                <a:solidFill>
                  <a:srgbClr val="8FA6C4"/>
                </a:solidFill>
                <a:latin typeface="Courier New" pitchFamily="34" charset="0"/>
                <a:ea typeface="Courier New" pitchFamily="34" charset="-122"/>
                <a:cs typeface="Courier New" pitchFamily="34" charset="-120"/>
              </a:rPr>
              <a:t>c = contribution per txn in that segment</a:t>
            </a:r>
            <a:endParaRPr lang="en-US" sz="1000" dirty="0"/>
          </a:p>
          <a:p>
            <a:pPr indent="0" marL="0">
              <a:lnSpc>
                <a:spcPts val="1280"/>
              </a:lnSpc>
              <a:buNone/>
            </a:pPr>
            <a:endParaRPr lang="en-US" sz="1000" dirty="0"/>
          </a:p>
          <a:p>
            <a:pPr indent="0" marL="0">
              <a:lnSpc>
                <a:spcPts val="1280"/>
              </a:lnSpc>
              <a:buNone/>
            </a:pPr>
            <a:r>
              <a:rPr lang="en-US" sz="1000" b="1" dirty="0">
                <a:solidFill>
                  <a:srgbClr val="D6E2F0"/>
                </a:solidFill>
                <a:latin typeface="Courier New" pitchFamily="34" charset="0"/>
                <a:ea typeface="Courier New" pitchFamily="34" charset="-122"/>
                <a:cs typeface="Courier New" pitchFamily="34" charset="-120"/>
              </a:rPr>
              <a:t>the two terms sum to Δc with NO residual</a:t>
            </a:r>
            <a:endParaRPr lang="en-US" sz="1000" dirty="0"/>
          </a:p>
        </p:txBody>
      </p:sp>
      <p:sp>
        <p:nvSpPr>
          <p:cNvPr id="9" name="Shape 7"/>
          <p:cNvSpPr/>
          <p:nvPr/>
        </p:nvSpPr>
        <p:spPr>
          <a:xfrm>
            <a:off x="5852160" y="1572768"/>
            <a:ext cx="5760720" cy="950976"/>
          </a:xfrm>
          <a:prstGeom prst="roundRect">
            <a:avLst>
              <a:gd name="adj" fmla="val 5769"/>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sp>
        <p:nvSpPr>
          <p:cNvPr id="10" name="Text 8"/>
          <p:cNvSpPr txBox="1"/>
          <p:nvPr/>
        </p:nvSpPr>
        <p:spPr>
          <a:xfrm>
            <a:off x="6053328" y="1645920"/>
            <a:ext cx="5349240" cy="237744"/>
          </a:xfrm>
          <a:prstGeom prst="rect">
            <a:avLst/>
          </a:prstGeom>
          <a:noFill/>
          <a:ln/>
        </p:spPr>
        <p:txBody>
          <a:bodyPr wrap="square" lIns="0" tIns="0" rIns="0" bIns="0" rtlCol="0" anchor="ctr"/>
          <a:lstStyle/>
          <a:p>
            <a:pPr indent="0" marL="0">
              <a:buNone/>
            </a:pPr>
            <a:r>
              <a:rPr lang="en-US" sz="1200" b="1" dirty="0">
                <a:solidFill>
                  <a:srgbClr val="D98324"/>
                </a:solidFill>
                <a:latin typeface="Calibri" pitchFamily="34" charset="0"/>
                <a:ea typeface="Calibri" pitchFamily="34" charset="-122"/>
                <a:cs typeface="Calibri" pitchFamily="34" charset="-120"/>
              </a:rPr>
              <a:t>MIX effect</a:t>
            </a:r>
            <a:endParaRPr lang="en-US" sz="1200" dirty="0"/>
          </a:p>
        </p:txBody>
      </p:sp>
      <p:sp>
        <p:nvSpPr>
          <p:cNvPr id="11" name="Text 9"/>
          <p:cNvSpPr txBox="1"/>
          <p:nvPr/>
        </p:nvSpPr>
        <p:spPr>
          <a:xfrm>
            <a:off x="6053328" y="1874520"/>
            <a:ext cx="5349240" cy="402336"/>
          </a:xfrm>
          <a:prstGeom prst="rect">
            <a:avLst/>
          </a:prstGeom>
          <a:noFill/>
          <a:ln/>
        </p:spPr>
        <p:txBody>
          <a:bodyPr wrap="square" lIns="0" tIns="0" rIns="0" bIns="0" rtlCol="0" anchor="ctr"/>
          <a:lstStyle/>
          <a:p>
            <a:pPr indent="0" marL="0">
              <a:lnSpc>
                <a:spcPts val="1200"/>
              </a:lnSpc>
              <a:buNone/>
            </a:pPr>
            <a:r>
              <a:rPr lang="en-US" sz="1000" dirty="0">
                <a:solidFill>
                  <a:srgbClr val="4A5663"/>
                </a:solidFill>
                <a:latin typeface="Calibri" pitchFamily="34" charset="0"/>
                <a:ea typeface="Calibri" pitchFamily="34" charset="-122"/>
                <a:cs typeface="Calibri" pitchFamily="34" charset="-120"/>
              </a:rPr>
              <a:t>The segment's weight changed. Its own economics may be untouched — the portfolio average moves because the composition moved.</a:t>
            </a:r>
            <a:endParaRPr lang="en-US" sz="1000" dirty="0"/>
          </a:p>
        </p:txBody>
      </p:sp>
      <p:sp>
        <p:nvSpPr>
          <p:cNvPr id="12" name="Text 10"/>
          <p:cNvSpPr txBox="1"/>
          <p:nvPr/>
        </p:nvSpPr>
        <p:spPr>
          <a:xfrm>
            <a:off x="6053328" y="2276856"/>
            <a:ext cx="5349240" cy="201168"/>
          </a:xfrm>
          <a:prstGeom prst="rect">
            <a:avLst/>
          </a:prstGeom>
          <a:noFill/>
          <a:ln/>
        </p:spPr>
        <p:txBody>
          <a:bodyPr wrap="square" lIns="0" tIns="0" rIns="0" bIns="0" rtlCol="0" anchor="ctr"/>
          <a:lstStyle/>
          <a:p>
            <a:pPr indent="0" marL="0">
              <a:buNone/>
            </a:pPr>
            <a:r>
              <a:rPr lang="en-US" sz="1000" b="1" i="1" dirty="0">
                <a:solidFill>
                  <a:srgbClr val="D98324"/>
                </a:solidFill>
                <a:latin typeface="Calibri" pitchFamily="34" charset="0"/>
                <a:ea typeface="Calibri" pitchFamily="34" charset="-122"/>
                <a:cs typeface="Calibri" pitchFamily="34" charset="-120"/>
              </a:rPr>
              <a:t>Commercial question: what are we selling, and to whom?</a:t>
            </a:r>
            <a:endParaRPr lang="en-US" sz="1000" dirty="0"/>
          </a:p>
        </p:txBody>
      </p:sp>
      <p:sp>
        <p:nvSpPr>
          <p:cNvPr id="13" name="Shape 11"/>
          <p:cNvSpPr/>
          <p:nvPr/>
        </p:nvSpPr>
        <p:spPr>
          <a:xfrm>
            <a:off x="5852160" y="2615184"/>
            <a:ext cx="5760720" cy="950976"/>
          </a:xfrm>
          <a:prstGeom prst="roundRect">
            <a:avLst>
              <a:gd name="adj" fmla="val 5769"/>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sp>
        <p:nvSpPr>
          <p:cNvPr id="14" name="Text 12"/>
          <p:cNvSpPr txBox="1"/>
          <p:nvPr/>
        </p:nvSpPr>
        <p:spPr>
          <a:xfrm>
            <a:off x="6053328" y="2688336"/>
            <a:ext cx="5349240" cy="237744"/>
          </a:xfrm>
          <a:prstGeom prst="rect">
            <a:avLst/>
          </a:prstGeom>
          <a:noFill/>
          <a:ln/>
        </p:spPr>
        <p:txBody>
          <a:bodyPr wrap="square" lIns="0" tIns="0" rIns="0" bIns="0" rtlCol="0" anchor="ctr"/>
          <a:lstStyle/>
          <a:p>
            <a:pPr indent="0" marL="0">
              <a:buNone/>
            </a:pPr>
            <a:r>
              <a:rPr lang="en-US" sz="1200" b="1" dirty="0">
                <a:solidFill>
                  <a:srgbClr val="0E7C7B"/>
                </a:solidFill>
                <a:latin typeface="Calibri" pitchFamily="34" charset="0"/>
                <a:ea typeface="Calibri" pitchFamily="34" charset="-122"/>
                <a:cs typeface="Calibri" pitchFamily="34" charset="-120"/>
              </a:rPr>
              <a:t>WITHIN effect</a:t>
            </a:r>
            <a:endParaRPr lang="en-US" sz="1200" dirty="0"/>
          </a:p>
        </p:txBody>
      </p:sp>
      <p:sp>
        <p:nvSpPr>
          <p:cNvPr id="15" name="Text 13"/>
          <p:cNvSpPr txBox="1"/>
          <p:nvPr/>
        </p:nvSpPr>
        <p:spPr>
          <a:xfrm>
            <a:off x="6053328" y="2916936"/>
            <a:ext cx="5349240" cy="402336"/>
          </a:xfrm>
          <a:prstGeom prst="rect">
            <a:avLst/>
          </a:prstGeom>
          <a:noFill/>
          <a:ln/>
        </p:spPr>
        <p:txBody>
          <a:bodyPr wrap="square" lIns="0" tIns="0" rIns="0" bIns="0" rtlCol="0" anchor="ctr"/>
          <a:lstStyle/>
          <a:p>
            <a:pPr indent="0" marL="0">
              <a:lnSpc>
                <a:spcPts val="1200"/>
              </a:lnSpc>
              <a:buNone/>
            </a:pPr>
            <a:r>
              <a:rPr lang="en-US" sz="1000" dirty="0">
                <a:solidFill>
                  <a:srgbClr val="4A5663"/>
                </a:solidFill>
                <a:latin typeface="Calibri" pitchFamily="34" charset="0"/>
                <a:ea typeface="Calibri" pitchFamily="34" charset="-122"/>
                <a:cs typeface="Calibri" pitchFamily="34" charset="-120"/>
              </a:rPr>
              <a:t>The segment's own contribution per transaction changed. Same customers, same products, worse or better unit economics.</a:t>
            </a:r>
            <a:endParaRPr lang="en-US" sz="1000" dirty="0"/>
          </a:p>
        </p:txBody>
      </p:sp>
      <p:sp>
        <p:nvSpPr>
          <p:cNvPr id="16" name="Text 14"/>
          <p:cNvSpPr txBox="1"/>
          <p:nvPr/>
        </p:nvSpPr>
        <p:spPr>
          <a:xfrm>
            <a:off x="6053328" y="3319272"/>
            <a:ext cx="5349240" cy="201168"/>
          </a:xfrm>
          <a:prstGeom prst="rect">
            <a:avLst/>
          </a:prstGeom>
          <a:noFill/>
          <a:ln/>
        </p:spPr>
        <p:txBody>
          <a:bodyPr wrap="square" lIns="0" tIns="0" rIns="0" bIns="0" rtlCol="0" anchor="ctr"/>
          <a:lstStyle/>
          <a:p>
            <a:pPr indent="0" marL="0">
              <a:buNone/>
            </a:pPr>
            <a:r>
              <a:rPr lang="en-US" sz="1000" b="1" i="1" dirty="0">
                <a:solidFill>
                  <a:srgbClr val="0E7C7B"/>
                </a:solidFill>
                <a:latin typeface="Calibri" pitchFamily="34" charset="0"/>
                <a:ea typeface="Calibri" pitchFamily="34" charset="-122"/>
                <a:cs typeface="Calibri" pitchFamily="34" charset="-120"/>
              </a:rPr>
              <a:t>Operational question: what changed in how we run it?</a:t>
            </a:r>
            <a:endParaRPr lang="en-US" sz="1000" dirty="0"/>
          </a:p>
        </p:txBody>
      </p:sp>
      <p:sp>
        <p:nvSpPr>
          <p:cNvPr id="17" name="Shape 15"/>
          <p:cNvSpPr/>
          <p:nvPr/>
        </p:nvSpPr>
        <p:spPr>
          <a:xfrm>
            <a:off x="548640" y="3749040"/>
            <a:ext cx="6400800" cy="2148840"/>
          </a:xfrm>
          <a:prstGeom prst="roundRect">
            <a:avLst>
              <a:gd name="adj" fmla="val 2128"/>
            </a:avLst>
          </a:prstGeom>
          <a:solidFill>
            <a:srgbClr val="16243A"/>
          </a:solidFill>
          <a:ln w="12700">
            <a:solidFill>
              <a:srgbClr val="2E5580"/>
            </a:solidFill>
            <a:prstDash val="solid"/>
          </a:ln>
        </p:spPr>
      </p:sp>
      <p:sp>
        <p:nvSpPr>
          <p:cNvPr id="18" name="Text 16"/>
          <p:cNvSpPr txBox="1"/>
          <p:nvPr/>
        </p:nvSpPr>
        <p:spPr>
          <a:xfrm>
            <a:off x="731520" y="3895344"/>
            <a:ext cx="6035040" cy="1856232"/>
          </a:xfrm>
          <a:prstGeom prst="rect">
            <a:avLst/>
          </a:prstGeom>
          <a:noFill/>
          <a:ln/>
        </p:spPr>
        <p:txBody>
          <a:bodyPr wrap="square" lIns="0" tIns="0" rIns="0" bIns="0" rtlCol="0" anchor="ctr"/>
          <a:lstStyle/>
          <a:p>
            <a:pPr indent="0" marL="0">
              <a:lnSpc>
                <a:spcPts val="1250"/>
              </a:lnSpc>
              <a:buNone/>
            </a:pPr>
            <a:r>
              <a:rPr lang="en-US" sz="950" b="1" dirty="0">
                <a:solidFill>
                  <a:srgbClr val="7FD4D2"/>
                </a:solidFill>
                <a:latin typeface="Courier New" pitchFamily="34" charset="0"/>
                <a:ea typeface="Courier New" pitchFamily="34" charset="-122"/>
                <a:cs typeface="Courier New" pitchFamily="34" charset="-120"/>
              </a:rPr>
              <a:t>def _effects(f, dim, first, last):</a:t>
            </a:r>
            <a:endParaRPr lang="en-US" sz="950" dirty="0"/>
          </a:p>
          <a:p>
            <a:pPr indent="0" marL="0">
              <a:lnSpc>
                <a:spcPts val="1250"/>
              </a:lnSpc>
              <a:buNone/>
            </a:pPr>
            <a:r>
              <a:rPr lang="en-US" sz="950" dirty="0">
                <a:solidFill>
                  <a:srgbClr val="D6E2F0"/>
                </a:solidFill>
                <a:latin typeface="Courier New" pitchFamily="34" charset="0"/>
                <a:ea typeface="Courier New" pitchFamily="34" charset="-122"/>
                <a:cs typeface="Courier New" pitchFamily="34" charset="-120"/>
              </a:rPr>
              <a:t>    a, b = f[f.txn_month == first], f[f.txn_month == last]</a:t>
            </a:r>
            <a:endParaRPr lang="en-US" sz="950" dirty="0"/>
          </a:p>
          <a:p>
            <a:pPr indent="0" marL="0">
              <a:lnSpc>
                <a:spcPts val="1250"/>
              </a:lnSpc>
              <a:buNone/>
            </a:pPr>
            <a:r>
              <a:rPr lang="en-US" sz="950" dirty="0">
                <a:solidFill>
                  <a:srgbClr val="F2B366"/>
                </a:solidFill>
                <a:latin typeface="Courier New" pitchFamily="34" charset="0"/>
                <a:ea typeface="Courier New" pitchFamily="34" charset="-122"/>
                <a:cs typeface="Courier New" pitchFamily="34" charset="-120"/>
              </a:rPr>
              <a:t>    idx = sorted(set(a[dim]) | set(b[dim]))   # union!</a:t>
            </a:r>
            <a:endParaRPr lang="en-US" sz="950" dirty="0"/>
          </a:p>
          <a:p>
            <a:pPr indent="0" marL="0">
              <a:lnSpc>
                <a:spcPts val="1250"/>
              </a:lnSpc>
              <a:buNone/>
            </a:pPr>
            <a:r>
              <a:rPr lang="en-US" sz="950" dirty="0">
                <a:solidFill>
                  <a:srgbClr val="D6E2F0"/>
                </a:solidFill>
                <a:latin typeface="Courier New" pitchFamily="34" charset="0"/>
                <a:ea typeface="Courier New" pitchFamily="34" charset="-122"/>
                <a:cs typeface="Courier New" pitchFamily="34" charset="-120"/>
              </a:rPr>
              <a:t>    w0 = a[dim].value_counts(normalize=True).reindex(idx).fillna(0)</a:t>
            </a:r>
            <a:endParaRPr lang="en-US" sz="950" dirty="0"/>
          </a:p>
          <a:p>
            <a:pPr indent="0" marL="0">
              <a:lnSpc>
                <a:spcPts val="1250"/>
              </a:lnSpc>
              <a:buNone/>
            </a:pPr>
            <a:r>
              <a:rPr lang="en-US" sz="950" dirty="0">
                <a:solidFill>
                  <a:srgbClr val="D6E2F0"/>
                </a:solidFill>
                <a:latin typeface="Courier New" pitchFamily="34" charset="0"/>
                <a:ea typeface="Courier New" pitchFamily="34" charset="-122"/>
                <a:cs typeface="Courier New" pitchFamily="34" charset="-120"/>
              </a:rPr>
              <a:t>    w1 = b[dim].value_counts(normalize=True).reindex(idx).fillna(0)</a:t>
            </a:r>
            <a:endParaRPr lang="en-US" sz="950" dirty="0"/>
          </a:p>
          <a:p>
            <a:pPr indent="0" marL="0">
              <a:lnSpc>
                <a:spcPts val="1250"/>
              </a:lnSpc>
              <a:buNone/>
            </a:pPr>
            <a:r>
              <a:rPr lang="en-US" sz="950" dirty="0">
                <a:solidFill>
                  <a:srgbClr val="D6E2F0"/>
                </a:solidFill>
                <a:latin typeface="Courier New" pitchFamily="34" charset="0"/>
                <a:ea typeface="Courier New" pitchFamily="34" charset="-122"/>
                <a:cs typeface="Courier New" pitchFamily="34" charset="-120"/>
              </a:rPr>
              <a:t>    c0 = a.groupby(dim).contribution_usd.mean().reindex(idx).fillna(0)</a:t>
            </a:r>
            <a:endParaRPr lang="en-US" sz="950" dirty="0"/>
          </a:p>
          <a:p>
            <a:pPr indent="0" marL="0">
              <a:lnSpc>
                <a:spcPts val="1250"/>
              </a:lnSpc>
              <a:buNone/>
            </a:pPr>
            <a:r>
              <a:rPr lang="en-US" sz="950" dirty="0">
                <a:solidFill>
                  <a:srgbClr val="D6E2F0"/>
                </a:solidFill>
                <a:latin typeface="Courier New" pitchFamily="34" charset="0"/>
                <a:ea typeface="Courier New" pitchFamily="34" charset="-122"/>
                <a:cs typeface="Courier New" pitchFamily="34" charset="-120"/>
              </a:rPr>
              <a:t>    c1 = b.groupby(dim).contribution_usd.mean().reindex(idx).fillna(0)</a:t>
            </a:r>
            <a:endParaRPr lang="en-US" sz="950" dirty="0"/>
          </a:p>
          <a:p>
            <a:pPr indent="0" marL="0">
              <a:lnSpc>
                <a:spcPts val="1250"/>
              </a:lnSpc>
              <a:buNone/>
            </a:pPr>
            <a:r>
              <a:rPr lang="en-US" sz="950" b="1" dirty="0">
                <a:solidFill>
                  <a:srgbClr val="7FD4D2"/>
                </a:solidFill>
                <a:latin typeface="Courier New" pitchFamily="34" charset="0"/>
                <a:ea typeface="Courier New" pitchFamily="34" charset="-122"/>
                <a:cs typeface="Courier New" pitchFamily="34" charset="-120"/>
              </a:rPr>
              <a:t>    return (w1 - w0) * c0,  w1 * (c1 - c0)    # mix, within</a:t>
            </a:r>
            <a:endParaRPr lang="en-US" sz="950" dirty="0"/>
          </a:p>
        </p:txBody>
      </p:sp>
      <p:sp>
        <p:nvSpPr>
          <p:cNvPr id="19" name="Shape 17"/>
          <p:cNvSpPr/>
          <p:nvPr/>
        </p:nvSpPr>
        <p:spPr>
          <a:xfrm>
            <a:off x="7223760" y="3749040"/>
            <a:ext cx="4389120" cy="658368"/>
          </a:xfrm>
          <a:prstGeom prst="roundRect">
            <a:avLst>
              <a:gd name="adj" fmla="val 8333"/>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sp>
        <p:nvSpPr>
          <p:cNvPr id="20" name="Text 18"/>
          <p:cNvSpPr txBox="1"/>
          <p:nvPr/>
        </p:nvSpPr>
        <p:spPr>
          <a:xfrm>
            <a:off x="7406640" y="3813048"/>
            <a:ext cx="4023360" cy="219456"/>
          </a:xfrm>
          <a:prstGeom prst="rect">
            <a:avLst/>
          </a:prstGeom>
          <a:noFill/>
          <a:ln/>
        </p:spPr>
        <p:txBody>
          <a:bodyPr wrap="square" lIns="0" tIns="0" rIns="0" bIns="0" rtlCol="0" anchor="ctr"/>
          <a:lstStyle/>
          <a:p>
            <a:pPr indent="0" marL="0">
              <a:buNone/>
            </a:pPr>
            <a:r>
              <a:rPr lang="en-US" sz="1050" b="1" dirty="0">
                <a:solidFill>
                  <a:srgbClr val="0E7C7B"/>
                </a:solidFill>
                <a:latin typeface="Calibri" pitchFamily="34" charset="0"/>
                <a:ea typeface="Calibri" pitchFamily="34" charset="-122"/>
                <a:cs typeface="Calibri" pitchFamily="34" charset="-120"/>
              </a:rPr>
              <a:t>Union of both indexes</a:t>
            </a:r>
            <a:endParaRPr lang="en-US" sz="1050" dirty="0"/>
          </a:p>
        </p:txBody>
      </p:sp>
      <p:sp>
        <p:nvSpPr>
          <p:cNvPr id="21" name="Text 19"/>
          <p:cNvSpPr txBox="1"/>
          <p:nvPr/>
        </p:nvSpPr>
        <p:spPr>
          <a:xfrm>
            <a:off x="7406640" y="4014216"/>
            <a:ext cx="4023360" cy="365760"/>
          </a:xfrm>
          <a:prstGeom prst="rect">
            <a:avLst/>
          </a:prstGeom>
          <a:noFill/>
          <a:ln/>
        </p:spPr>
        <p:txBody>
          <a:bodyPr wrap="square" lIns="0" tIns="0" rIns="0" bIns="0" rtlCol="0" anchor="ctr"/>
          <a:lstStyle/>
          <a:p>
            <a:pPr indent="0" marL="0">
              <a:lnSpc>
                <a:spcPts val="1100"/>
              </a:lnSpc>
              <a:buNone/>
            </a:pPr>
            <a:r>
              <a:rPr lang="en-US" sz="900" dirty="0">
                <a:solidFill>
                  <a:srgbClr val="4A5663"/>
                </a:solidFill>
                <a:latin typeface="Calibri" pitchFamily="34" charset="0"/>
                <a:ea typeface="Calibri" pitchFamily="34" charset="-122"/>
                <a:cs typeface="Calibri" pitchFamily="34" charset="-120"/>
              </a:rPr>
              <a:t>A segment present in December but absent in January must appear with weight 0, not be dropped — otherwise the weights stop summing to 1 and the residual stops being zero.</a:t>
            </a:r>
            <a:endParaRPr lang="en-US" sz="900" dirty="0"/>
          </a:p>
        </p:txBody>
      </p:sp>
      <p:sp>
        <p:nvSpPr>
          <p:cNvPr id="22" name="Shape 20"/>
          <p:cNvSpPr/>
          <p:nvPr/>
        </p:nvSpPr>
        <p:spPr>
          <a:xfrm>
            <a:off x="7223760" y="4480560"/>
            <a:ext cx="4389120" cy="658368"/>
          </a:xfrm>
          <a:prstGeom prst="roundRect">
            <a:avLst>
              <a:gd name="adj" fmla="val 8333"/>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sp>
        <p:nvSpPr>
          <p:cNvPr id="23" name="Text 21"/>
          <p:cNvSpPr txBox="1"/>
          <p:nvPr/>
        </p:nvSpPr>
        <p:spPr>
          <a:xfrm>
            <a:off x="7406640" y="4544568"/>
            <a:ext cx="4023360" cy="219456"/>
          </a:xfrm>
          <a:prstGeom prst="rect">
            <a:avLst/>
          </a:prstGeom>
          <a:noFill/>
          <a:ln/>
        </p:spPr>
        <p:txBody>
          <a:bodyPr wrap="square" lIns="0" tIns="0" rIns="0" bIns="0" rtlCol="0" anchor="ctr"/>
          <a:lstStyle/>
          <a:p>
            <a:pPr indent="0" marL="0">
              <a:buNone/>
            </a:pPr>
            <a:r>
              <a:rPr lang="en-US" sz="1050" b="1" dirty="0">
                <a:solidFill>
                  <a:srgbClr val="0E7C7B"/>
                </a:solidFill>
                <a:latin typeface="Calibri" pitchFamily="34" charset="0"/>
                <a:ea typeface="Calibri" pitchFamily="34" charset="-122"/>
                <a:cs typeface="Calibri" pitchFamily="34" charset="-120"/>
              </a:rPr>
              <a:t>Rounding is display-only</a:t>
            </a:r>
            <a:endParaRPr lang="en-US" sz="1050" dirty="0"/>
          </a:p>
        </p:txBody>
      </p:sp>
      <p:sp>
        <p:nvSpPr>
          <p:cNvPr id="24" name="Text 22"/>
          <p:cNvSpPr txBox="1"/>
          <p:nvPr/>
        </p:nvSpPr>
        <p:spPr>
          <a:xfrm>
            <a:off x="7406640" y="4745736"/>
            <a:ext cx="4023360" cy="365760"/>
          </a:xfrm>
          <a:prstGeom prst="rect">
            <a:avLst/>
          </a:prstGeom>
          <a:noFill/>
          <a:ln/>
        </p:spPr>
        <p:txBody>
          <a:bodyPr wrap="square" lIns="0" tIns="0" rIns="0" bIns="0" rtlCol="0" anchor="ctr"/>
          <a:lstStyle/>
          <a:p>
            <a:pPr indent="0" marL="0">
              <a:lnSpc>
                <a:spcPts val="1100"/>
              </a:lnSpc>
              <a:buNone/>
            </a:pPr>
            <a:r>
              <a:rPr lang="en-US" sz="900" dirty="0">
                <a:solidFill>
                  <a:srgbClr val="4A5663"/>
                </a:solidFill>
                <a:latin typeface="Calibri" pitchFamily="34" charset="0"/>
                <a:ea typeface="Calibri" pitchFamily="34" charset="-122"/>
                <a:cs typeface="Calibri" pitchFamily="34" charset="-120"/>
              </a:rPr>
              <a:t>Rounding inside the calculation is how a residual of 0 becomes 0.0003 and a reviewer stops trusting the identity.</a:t>
            </a:r>
            <a:endParaRPr lang="en-US" sz="900" dirty="0"/>
          </a:p>
        </p:txBody>
      </p:sp>
      <p:sp>
        <p:nvSpPr>
          <p:cNvPr id="25" name="Shape 23"/>
          <p:cNvSpPr/>
          <p:nvPr/>
        </p:nvSpPr>
        <p:spPr>
          <a:xfrm>
            <a:off x="7223760" y="5212080"/>
            <a:ext cx="4389120" cy="658368"/>
          </a:xfrm>
          <a:prstGeom prst="roundRect">
            <a:avLst>
              <a:gd name="adj" fmla="val 8333"/>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sp>
        <p:nvSpPr>
          <p:cNvPr id="26" name="Text 24"/>
          <p:cNvSpPr txBox="1"/>
          <p:nvPr/>
        </p:nvSpPr>
        <p:spPr>
          <a:xfrm>
            <a:off x="7406640" y="5276088"/>
            <a:ext cx="4023360" cy="219456"/>
          </a:xfrm>
          <a:prstGeom prst="rect">
            <a:avLst/>
          </a:prstGeom>
          <a:noFill/>
          <a:ln/>
        </p:spPr>
        <p:txBody>
          <a:bodyPr wrap="square" lIns="0" tIns="0" rIns="0" bIns="0" rtlCol="0" anchor="ctr"/>
          <a:lstStyle/>
          <a:p>
            <a:pPr indent="0" marL="0">
              <a:buNone/>
            </a:pPr>
            <a:r>
              <a:rPr lang="en-US" sz="1050" b="1" dirty="0">
                <a:solidFill>
                  <a:srgbClr val="0E7C7B"/>
                </a:solidFill>
                <a:latin typeface="Calibri" pitchFamily="34" charset="0"/>
                <a:ea typeface="Calibri" pitchFamily="34" charset="-122"/>
                <a:cs typeface="Calibri" pitchFamily="34" charset="-120"/>
              </a:rPr>
              <a:t>Missing merchants get their own segment</a:t>
            </a:r>
            <a:endParaRPr lang="en-US" sz="1050" dirty="0"/>
          </a:p>
        </p:txBody>
      </p:sp>
      <p:sp>
        <p:nvSpPr>
          <p:cNvPr id="27" name="Text 25"/>
          <p:cNvSpPr txBox="1"/>
          <p:nvPr/>
        </p:nvSpPr>
        <p:spPr>
          <a:xfrm>
            <a:off x="7406640" y="5477256"/>
            <a:ext cx="4023360" cy="365760"/>
          </a:xfrm>
          <a:prstGeom prst="rect">
            <a:avLst/>
          </a:prstGeom>
          <a:noFill/>
          <a:ln/>
        </p:spPr>
        <p:txBody>
          <a:bodyPr wrap="square" lIns="0" tIns="0" rIns="0" bIns="0" rtlCol="0" anchor="ctr"/>
          <a:lstStyle/>
          <a:p>
            <a:pPr indent="0" marL="0">
              <a:lnSpc>
                <a:spcPts val="1100"/>
              </a:lnSpc>
              <a:buNone/>
            </a:pPr>
            <a:r>
              <a:rPr lang="en-US" sz="900" dirty="0">
                <a:solidFill>
                  <a:srgbClr val="4A5663"/>
                </a:solidFill>
                <a:latin typeface="Calibri" pitchFamily="34" charset="0"/>
                <a:ea typeface="Calibri" pitchFamily="34" charset="-122"/>
                <a:cs typeface="Calibri" pitchFamily="34" charset="-120"/>
              </a:rPr>
              <a:t>"(unknown)" is a segment, not a dropped row. Dropping it breaks the identity and quietly deletes 0.68% of real payments.</a:t>
            </a:r>
            <a:endParaRPr lang="en-US" sz="900" dirty="0"/>
          </a:p>
        </p:txBody>
      </p:sp>
      <p:sp>
        <p:nvSpPr>
          <p:cNvPr id="28" name="Text 26"/>
          <p:cNvSpPr txBox="1"/>
          <p:nvPr/>
        </p:nvSpPr>
        <p:spPr>
          <a:xfrm>
            <a:off x="548640" y="6199632"/>
            <a:ext cx="11064240" cy="411480"/>
          </a:xfrm>
          <a:prstGeom prst="rect">
            <a:avLst/>
          </a:prstGeom>
          <a:noFill/>
          <a:ln/>
        </p:spPr>
        <p:txBody>
          <a:bodyPr wrap="square" lIns="0" tIns="0" rIns="0" bIns="0" rtlCol="0" anchor="ctr"/>
          <a:lstStyle/>
          <a:p>
            <a:pPr indent="0" marL="0">
              <a:lnSpc>
                <a:spcPts val="1300"/>
              </a:lnSpc>
              <a:buNone/>
            </a:pPr>
            <a:r>
              <a:rPr lang="en-US" sz="1100" i="1" dirty="0">
                <a:solidFill>
                  <a:srgbClr val="6B7785"/>
                </a:solidFill>
                <a:latin typeface="Calibri" pitchFamily="34" charset="0"/>
                <a:ea typeface="Calibri" pitchFamily="34" charset="-122"/>
                <a:cs typeface="Calibri" pitchFamily="34" charset="-120"/>
              </a:rPr>
              <a:t>If the fall were a within effect the plan would be operational: fix the process, retune the model, escalate to the provider. If it is mix, none of that helps — every segment could be performing perfectly and the average would still fall.</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6F8"/>
        </a:solidFill>
      </p:bgPr>
    </p:bg>
    <p:spTree>
      <p:nvGrpSpPr>
        <p:cNvPr id="1" name=""/>
        <p:cNvGrpSpPr/>
        <p:nvPr/>
      </p:nvGrpSpPr>
      <p:grpSpPr>
        <a:xfrm>
          <a:off x="0" y="0"/>
          <a:ext cx="0" cy="0"/>
          <a:chOff x="0" y="0"/>
          <a:chExt cx="0" cy="0"/>
        </a:xfrm>
      </p:grpSpPr>
      <p:sp>
        <p:nvSpPr>
          <p:cNvPr id="2" name="Text 0"/>
          <p:cNvSpPr txBox="1"/>
          <p:nvPr/>
        </p:nvSpPr>
        <p:spPr>
          <a:xfrm>
            <a:off x="548640" y="329184"/>
            <a:ext cx="7315200" cy="237744"/>
          </a:xfrm>
          <a:prstGeom prst="rect">
            <a:avLst/>
          </a:prstGeom>
          <a:noFill/>
          <a:ln/>
        </p:spPr>
        <p:txBody>
          <a:bodyPr wrap="square" lIns="0" tIns="0" rIns="0" bIns="0" rtlCol="0" anchor="ctr"/>
          <a:lstStyle/>
          <a:p>
            <a:pPr indent="0" marL="0">
              <a:buNone/>
            </a:pPr>
            <a:r>
              <a:rPr lang="en-US" sz="1050" b="1" spc="200" kern="0" dirty="0">
                <a:solidFill>
                  <a:srgbClr val="D98324"/>
                </a:solidFill>
                <a:latin typeface="Calibri" pitchFamily="34" charset="0"/>
                <a:ea typeface="Calibri" pitchFamily="34" charset="-122"/>
                <a:cs typeface="Calibri" pitchFamily="34" charset="-120"/>
              </a:rPr>
              <a:t>TASK 5 · OUTPUT</a:t>
            </a:r>
            <a:endParaRPr lang="en-US" sz="1050" dirty="0"/>
          </a:p>
        </p:txBody>
      </p:sp>
      <p:sp>
        <p:nvSpPr>
          <p:cNvPr id="3" name="Text 1"/>
          <p:cNvSpPr txBox="1"/>
          <p:nvPr/>
        </p:nvSpPr>
        <p:spPr>
          <a:xfrm>
            <a:off x="548640" y="603504"/>
            <a:ext cx="11064240" cy="502920"/>
          </a:xfrm>
          <a:prstGeom prst="rect">
            <a:avLst/>
          </a:prstGeom>
          <a:noFill/>
          <a:ln/>
        </p:spPr>
        <p:txBody>
          <a:bodyPr wrap="square" lIns="0" tIns="0" rIns="0" bIns="0" rtlCol="0" anchor="ctr"/>
          <a:lstStyle/>
          <a:p>
            <a:pPr indent="0" marL="0">
              <a:buNone/>
            </a:pPr>
            <a:r>
              <a:rPr lang="en-US" sz="2600" b="1" dirty="0">
                <a:solidFill>
                  <a:srgbClr val="12233C"/>
                </a:solidFill>
                <a:latin typeface="Cambria" pitchFamily="34" charset="0"/>
                <a:ea typeface="Cambria" pitchFamily="34" charset="-122"/>
                <a:cs typeface="Cambria" pitchFamily="34" charset="-120"/>
              </a:rPr>
              <a:t>Nine dimensions decomposed. One of them answers the question.</a:t>
            </a:r>
            <a:endParaRPr lang="en-US" sz="2600" dirty="0"/>
          </a:p>
        </p:txBody>
      </p:sp>
      <p:sp>
        <p:nvSpPr>
          <p:cNvPr id="4" name="Text 2"/>
          <p:cNvSpPr txBox="1"/>
          <p:nvPr/>
        </p:nvSpPr>
        <p:spPr>
          <a:xfrm>
            <a:off x="548640" y="1115568"/>
            <a:ext cx="11064240" cy="310896"/>
          </a:xfrm>
          <a:prstGeom prst="rect">
            <a:avLst/>
          </a:prstGeom>
          <a:noFill/>
          <a:ln/>
        </p:spPr>
        <p:txBody>
          <a:bodyPr wrap="square" lIns="0" tIns="0" rIns="0" bIns="0" rtlCol="0" anchor="ctr"/>
          <a:lstStyle/>
          <a:p>
            <a:pPr indent="0" marL="0">
              <a:buNone/>
            </a:pPr>
            <a:r>
              <a:rPr lang="en-US" sz="1300" dirty="0">
                <a:solidFill>
                  <a:srgbClr val="6B7785"/>
                </a:solidFill>
                <a:latin typeface="Calibri" pitchFamily="34" charset="0"/>
                <a:ea typeface="Calibri" pitchFamily="34" charset="-122"/>
                <a:cs typeface="Calibri" pitchFamily="34" charset="-120"/>
              </a:rPr>
              <a:t>Every row sums to the same actual change of −$0.5310, with residual zero. That is the check that the arithmetic is right before the interpretation starts.</a:t>
            </a:r>
            <a:endParaRPr lang="en-US" sz="13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627632"/>
          <a:ext cx="11064240" cy="914400"/>
        </p:xfrm>
        <a:graphic>
          <a:graphicData uri="http://schemas.openxmlformats.org/drawingml/2006/table">
            <a:tbl>
              <a:tblPr/>
              <a:tblGrid>
                <a:gridCol w="1965960"/>
                <a:gridCol w="1143000"/>
                <a:gridCol w="1234440"/>
                <a:gridCol w="1005840"/>
                <a:gridCol w="960120"/>
                <a:gridCol w="1005840"/>
                <a:gridCol w="3749040"/>
              </a:tblGrid>
              <a:tr h="402336">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Dimension</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2233C"/>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Mix effect</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2233C"/>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Within effect</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2233C"/>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Sum</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2233C"/>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Mix share</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2233C"/>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Residual</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2233C"/>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Reading</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2233C"/>
                    </a:solidFill>
                  </a:tcPr>
                </a:tc>
              </a:tr>
              <a:tr h="402336">
                <a:tc>
                  <a:txBody>
                    <a:bodyPr/>
                    <a:lstStyle/>
                    <a:p>
                      <a:pPr algn="l" indent="0" marL="0">
                        <a:buNone/>
                      </a:pPr>
                      <a:r>
                        <a:rPr lang="en-US" sz="1050" b="1" dirty="0">
                          <a:solidFill>
                            <a:srgbClr val="1A1A1A"/>
                          </a:solidFill>
                          <a:latin typeface="Calibri" pitchFamily="34" charset="0"/>
                          <a:ea typeface="Calibri" pitchFamily="34" charset="-122"/>
                          <a:cs typeface="Calibri" pitchFamily="34" charset="-120"/>
                        </a:rPr>
                        <a:t>Ticket size band</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−$0.4719</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−$0.0609</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−$0.5310</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88.6%</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0E7C7B"/>
                          </a:solidFill>
                          <a:latin typeface="Calibri" pitchFamily="34" charset="0"/>
                          <a:ea typeface="Calibri" pitchFamily="34" charset="-122"/>
                          <a:cs typeface="Calibri" pitchFamily="34" charset="-120"/>
                        </a:rPr>
                        <a:t>0.000000</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The answer. Small tickets took over the book.</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r>
              <a:tr h="402336">
                <a:tc>
                  <a:txBody>
                    <a:bodyPr/>
                    <a:lstStyle/>
                    <a:p>
                      <a:pPr algn="l" indent="0" marL="0">
                        <a:buNone/>
                      </a:pPr>
                      <a:r>
                        <a:rPr lang="en-US" sz="1050" b="1" dirty="0">
                          <a:solidFill>
                            <a:srgbClr val="1A1A1A"/>
                          </a:solidFill>
                          <a:latin typeface="Calibri" pitchFamily="34" charset="0"/>
                          <a:ea typeface="Calibri" pitchFamily="34" charset="-122"/>
                          <a:cs typeface="Calibri" pitchFamily="34" charset="-120"/>
                        </a:rPr>
                        <a:t>Category × country cohort</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−$0.4296</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−$0.1014</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−$0.5310</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80.9%</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ctr" indent="0" marL="0">
                        <a:buNone/>
                      </a:pPr>
                      <a:r>
                        <a:rPr lang="en-US" sz="1050" b="1" dirty="0">
                          <a:solidFill>
                            <a:srgbClr val="0E7C7B"/>
                          </a:solidFill>
                          <a:latin typeface="Calibri" pitchFamily="34" charset="0"/>
                          <a:ea typeface="Calibri" pitchFamily="34" charset="-122"/>
                          <a:cs typeface="Calibri" pitchFamily="34" charset="-120"/>
                        </a:rPr>
                        <a:t>0.000000</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Same story named differently — DIGITAL_GOODS in SG and AE</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r>
              <a:tr h="402336">
                <a:tc>
                  <a:txBody>
                    <a:bodyPr/>
                    <a:lstStyle/>
                    <a:p>
                      <a:pPr algn="l" indent="0" marL="0">
                        <a:buNone/>
                      </a:pPr>
                      <a:r>
                        <a:rPr lang="en-US" sz="1050" b="1" dirty="0">
                          <a:solidFill>
                            <a:srgbClr val="1A1A1A"/>
                          </a:solidFill>
                          <a:latin typeface="Calibri" pitchFamily="34" charset="0"/>
                          <a:ea typeface="Calibri" pitchFamily="34" charset="-122"/>
                          <a:cs typeface="Calibri" pitchFamily="34" charset="-120"/>
                        </a:rPr>
                        <a:t>Merchant category</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−$0.41</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−$0.12</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−$0.5310</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~77%</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0E7C7B"/>
                          </a:solidFill>
                          <a:latin typeface="Calibri" pitchFamily="34" charset="0"/>
                          <a:ea typeface="Calibri" pitchFamily="34" charset="-122"/>
                          <a:cs typeface="Calibri" pitchFamily="34" charset="-120"/>
                        </a:rPr>
                        <a:t>0.000000</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Consistent; the cohort view is sharper</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r>
              <a:tr h="402336">
                <a:tc>
                  <a:txBody>
                    <a:bodyPr/>
                    <a:lstStyle/>
                    <a:p>
                      <a:pPr algn="l" indent="0" marL="0">
                        <a:buNone/>
                      </a:pPr>
                      <a:r>
                        <a:rPr lang="en-US" sz="1050" b="1" dirty="0">
                          <a:solidFill>
                            <a:srgbClr val="1A1A1A"/>
                          </a:solidFill>
                          <a:latin typeface="Calibri" pitchFamily="34" charset="0"/>
                          <a:ea typeface="Calibri" pitchFamily="34" charset="-122"/>
                          <a:cs typeface="Calibri" pitchFamily="34" charset="-120"/>
                        </a:rPr>
                        <a:t>Provider</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small</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moderate</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−$0.5310</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mixed</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ctr" indent="0" marL="0">
                        <a:buNone/>
                      </a:pPr>
                      <a:r>
                        <a:rPr lang="en-US" sz="1050" b="1" dirty="0">
                          <a:solidFill>
                            <a:srgbClr val="0E7C7B"/>
                          </a:solidFill>
                          <a:latin typeface="Calibri" pitchFamily="34" charset="0"/>
                          <a:ea typeface="Calibri" pitchFamily="34" charset="-122"/>
                          <a:cs typeface="Calibri" pitchFamily="34" charset="-120"/>
                        </a:rPr>
                        <a:t>0.000000</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Routing drift shows up here as a within effect</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r>
              <a:tr h="402336">
                <a:tc>
                  <a:txBody>
                    <a:bodyPr/>
                    <a:lstStyle/>
                    <a:p>
                      <a:pPr algn="l" indent="0" marL="0">
                        <a:buNone/>
                      </a:pPr>
                      <a:r>
                        <a:rPr lang="en-US" sz="1050" b="1" dirty="0">
                          <a:solidFill>
                            <a:srgbClr val="1A1A1A"/>
                          </a:solidFill>
                          <a:latin typeface="Calibri" pitchFamily="34" charset="0"/>
                          <a:ea typeface="Calibri" pitchFamily="34" charset="-122"/>
                          <a:cs typeface="Calibri" pitchFamily="34" charset="-120"/>
                        </a:rPr>
                        <a:t>Payment channel</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moderate</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small</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−$0.5310</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mostly mix</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0E7C7B"/>
                          </a:solidFill>
                          <a:latin typeface="Calibri" pitchFamily="34" charset="0"/>
                          <a:ea typeface="Calibri" pitchFamily="34" charset="-122"/>
                          <a:cs typeface="Calibri" pitchFamily="34" charset="-120"/>
                        </a:rPr>
                        <a:t>0.000000</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WALLET grows with the small-ticket cohort</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r>
              <a:tr h="402336">
                <a:tc>
                  <a:txBody>
                    <a:bodyPr/>
                    <a:lstStyle/>
                    <a:p>
                      <a:pPr algn="l" indent="0" marL="0">
                        <a:buNone/>
                      </a:pPr>
                      <a:r>
                        <a:rPr lang="en-US" sz="1050" b="1" dirty="0">
                          <a:solidFill>
                            <a:srgbClr val="1A1A1A"/>
                          </a:solidFill>
                          <a:latin typeface="Calibri" pitchFamily="34" charset="0"/>
                          <a:ea typeface="Calibri" pitchFamily="34" charset="-122"/>
                          <a:cs typeface="Calibri" pitchFamily="34" charset="-120"/>
                        </a:rPr>
                        <a:t>Merchant country</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moderate</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small</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−$0.5310</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mostly mix</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ctr" indent="0" marL="0">
                        <a:buNone/>
                      </a:pPr>
                      <a:r>
                        <a:rPr lang="en-US" sz="1050" b="1" dirty="0">
                          <a:solidFill>
                            <a:srgbClr val="0E7C7B"/>
                          </a:solidFill>
                          <a:latin typeface="Calibri" pitchFamily="34" charset="0"/>
                          <a:ea typeface="Calibri" pitchFamily="34" charset="-122"/>
                          <a:cs typeface="Calibri" pitchFamily="34" charset="-120"/>
                        </a:rPr>
                        <a:t>0.000000</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SG and AE gain share</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r>
              <a:tr h="402336">
                <a:tc>
                  <a:txBody>
                    <a:bodyPr/>
                    <a:lstStyle/>
                    <a:p>
                      <a:pPr algn="l" indent="0" marL="0">
                        <a:buNone/>
                      </a:pPr>
                      <a:r>
                        <a:rPr lang="en-US" sz="1050" b="1" dirty="0">
                          <a:solidFill>
                            <a:srgbClr val="1A1A1A"/>
                          </a:solidFill>
                          <a:latin typeface="Calibri" pitchFamily="34" charset="0"/>
                          <a:ea typeface="Calibri" pitchFamily="34" charset="-122"/>
                          <a:cs typeface="Calibri" pitchFamily="34" charset="-120"/>
                        </a:rPr>
                        <a:t>Customer segment</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small</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small</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−$0.5310</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0E7C7B"/>
                          </a:solidFill>
                          <a:latin typeface="Calibri" pitchFamily="34" charset="0"/>
                          <a:ea typeface="Calibri" pitchFamily="34" charset="-122"/>
                          <a:cs typeface="Calibri" pitchFamily="34" charset="-120"/>
                        </a:rPr>
                        <a:t>0.000000</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Not where the story lives</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r>
              <a:tr h="402336">
                <a:tc>
                  <a:txBody>
                    <a:bodyPr/>
                    <a:lstStyle/>
                    <a:p>
                      <a:pPr algn="l" indent="0" marL="0">
                        <a:buNone/>
                      </a:pPr>
                      <a:r>
                        <a:rPr lang="en-US" sz="1050" b="1" dirty="0">
                          <a:solidFill>
                            <a:srgbClr val="1A1A1A"/>
                          </a:solidFill>
                          <a:latin typeface="Calibri" pitchFamily="34" charset="0"/>
                          <a:ea typeface="Calibri" pitchFamily="34" charset="-122"/>
                          <a:cs typeface="Calibri" pitchFamily="34" charset="-120"/>
                        </a:rPr>
                        <a:t>Merchant risk band</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small</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small</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−$0.5310</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ctr" indent="0" marL="0">
                        <a:buNone/>
                      </a:pPr>
                      <a:r>
                        <a:rPr lang="en-US" sz="1050" b="1" dirty="0">
                          <a:solidFill>
                            <a:srgbClr val="0E7C7B"/>
                          </a:solidFill>
                          <a:latin typeface="Calibri" pitchFamily="34" charset="0"/>
                          <a:ea typeface="Calibri" pitchFamily="34" charset="-122"/>
                          <a:cs typeface="Calibri" pitchFamily="34" charset="-120"/>
                        </a:rPr>
                        <a:t>0.000000</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Disproves H3a — risk weights are stable</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r>
              <a:tr h="402336">
                <a:tc>
                  <a:txBody>
                    <a:bodyPr/>
                    <a:lstStyle/>
                    <a:p>
                      <a:pPr algn="l" indent="0" marL="0">
                        <a:buNone/>
                      </a:pPr>
                      <a:r>
                        <a:rPr lang="en-US" sz="1050" b="1" dirty="0">
                          <a:solidFill>
                            <a:srgbClr val="1A1A1A"/>
                          </a:solidFill>
                          <a:latin typeface="Calibri" pitchFamily="34" charset="0"/>
                          <a:ea typeface="Calibri" pitchFamily="34" charset="-122"/>
                          <a:cs typeface="Calibri" pitchFamily="34" charset="-120"/>
                        </a:rPr>
                        <a:t>Pricing plan</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moderate</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 0</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−$0.5310</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~all mix</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0E7C7B"/>
                          </a:solidFill>
                          <a:latin typeface="Calibri" pitchFamily="34" charset="0"/>
                          <a:ea typeface="Calibri" pitchFamily="34" charset="-122"/>
                          <a:cs typeface="Calibri" pitchFamily="34" charset="-120"/>
                        </a:rPr>
                        <a:t>0.000000</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Disproves H1b — no plan's own rate fell</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548640" y="6199632"/>
            <a:ext cx="11064240" cy="411480"/>
          </a:xfrm>
          <a:prstGeom prst="rect">
            <a:avLst/>
          </a:prstGeom>
          <a:noFill/>
          <a:ln/>
        </p:spPr>
        <p:txBody>
          <a:bodyPr wrap="square" lIns="0" tIns="0" rIns="0" bIns="0" rtlCol="0" anchor="ctr"/>
          <a:lstStyle/>
          <a:p>
            <a:pPr indent="0" marL="0">
              <a:lnSpc>
                <a:spcPts val="1300"/>
              </a:lnSpc>
              <a:buNone/>
            </a:pPr>
            <a:r>
              <a:rPr lang="en-US" sz="1100" i="1" dirty="0">
                <a:solidFill>
                  <a:srgbClr val="6B7785"/>
                </a:solidFill>
                <a:latin typeface="Calibri" pitchFamily="34" charset="0"/>
                <a:ea typeface="Calibri" pitchFamily="34" charset="-122"/>
                <a:cs typeface="Calibri" pitchFamily="34" charset="-120"/>
              </a:rPr>
              <a:t>Ticket band and the category-country cohort are two views of one phenomenon, which is why they agree: the cohort that grew is the cohort with a $14 median ticket. Reporting both is the honest thing to do — reporting only the higher number would be shopping for a headline.</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6F8"/>
        </a:solidFill>
      </p:bgPr>
    </p:bg>
    <p:spTree>
      <p:nvGrpSpPr>
        <p:cNvPr id="1" name=""/>
        <p:cNvGrpSpPr/>
        <p:nvPr/>
      </p:nvGrpSpPr>
      <p:grpSpPr>
        <a:xfrm>
          <a:off x="0" y="0"/>
          <a:ext cx="0" cy="0"/>
          <a:chOff x="0" y="0"/>
          <a:chExt cx="0" cy="0"/>
        </a:xfrm>
      </p:grpSpPr>
      <p:sp>
        <p:nvSpPr>
          <p:cNvPr id="2" name="Text 0"/>
          <p:cNvSpPr txBox="1"/>
          <p:nvPr/>
        </p:nvSpPr>
        <p:spPr>
          <a:xfrm>
            <a:off x="548640" y="329184"/>
            <a:ext cx="7315200" cy="237744"/>
          </a:xfrm>
          <a:prstGeom prst="rect">
            <a:avLst/>
          </a:prstGeom>
          <a:noFill/>
          <a:ln/>
        </p:spPr>
        <p:txBody>
          <a:bodyPr wrap="square" lIns="0" tIns="0" rIns="0" bIns="0" rtlCol="0" anchor="ctr"/>
          <a:lstStyle/>
          <a:p>
            <a:pPr indent="0" marL="0">
              <a:buNone/>
            </a:pPr>
            <a:r>
              <a:rPr lang="en-US" sz="1050" b="1" spc="200" kern="0" dirty="0">
                <a:solidFill>
                  <a:srgbClr val="D98324"/>
                </a:solidFill>
                <a:latin typeface="Calibri" pitchFamily="34" charset="0"/>
                <a:ea typeface="Calibri" pitchFamily="34" charset="-122"/>
                <a:cs typeface="Calibri" pitchFamily="34" charset="-120"/>
              </a:rPr>
              <a:t>TASK 5 · OUTPUT</a:t>
            </a:r>
            <a:endParaRPr lang="en-US" sz="1050" dirty="0"/>
          </a:p>
        </p:txBody>
      </p:sp>
      <p:sp>
        <p:nvSpPr>
          <p:cNvPr id="3" name="Text 1"/>
          <p:cNvSpPr txBox="1"/>
          <p:nvPr/>
        </p:nvSpPr>
        <p:spPr>
          <a:xfrm>
            <a:off x="548640" y="603504"/>
            <a:ext cx="11064240" cy="502920"/>
          </a:xfrm>
          <a:prstGeom prst="rect">
            <a:avLst/>
          </a:prstGeom>
          <a:noFill/>
          <a:ln/>
        </p:spPr>
        <p:txBody>
          <a:bodyPr wrap="square" lIns="0" tIns="0" rIns="0" bIns="0" rtlCol="0" anchor="ctr"/>
          <a:lstStyle/>
          <a:p>
            <a:pPr indent="0" marL="0">
              <a:buNone/>
            </a:pPr>
            <a:r>
              <a:rPr lang="en-US" sz="2600" b="1" dirty="0">
                <a:solidFill>
                  <a:srgbClr val="12233C"/>
                </a:solidFill>
                <a:latin typeface="Cambria" pitchFamily="34" charset="0"/>
                <a:ea typeface="Cambria" pitchFamily="34" charset="-122"/>
                <a:cs typeface="Cambria" pitchFamily="34" charset="-120"/>
              </a:rPr>
              <a:t>What grew, what shrank, and which part of the formula actually moved</a:t>
            </a:r>
            <a:endParaRPr lang="en-US" sz="2600" dirty="0"/>
          </a:p>
        </p:txBody>
      </p:sp>
      <p:sp>
        <p:nvSpPr>
          <p:cNvPr id="4" name="Text 2"/>
          <p:cNvSpPr txBox="1"/>
          <p:nvPr/>
        </p:nvSpPr>
        <p:spPr>
          <a:xfrm>
            <a:off x="548640" y="1115568"/>
            <a:ext cx="11064240" cy="310896"/>
          </a:xfrm>
          <a:prstGeom prst="rect">
            <a:avLst/>
          </a:prstGeom>
          <a:noFill/>
          <a:ln/>
        </p:spPr>
        <p:txBody>
          <a:bodyPr wrap="square" lIns="0" tIns="0" rIns="0" bIns="0" rtlCol="0" anchor="ctr"/>
          <a:lstStyle/>
          <a:p>
            <a:pPr indent="0" marL="0">
              <a:buNone/>
            </a:pPr>
            <a:r>
              <a:rPr lang="en-US" sz="1300" dirty="0">
                <a:solidFill>
                  <a:srgbClr val="6B7785"/>
                </a:solidFill>
                <a:latin typeface="Calibri" pitchFamily="34" charset="0"/>
                <a:ea typeface="Calibri" pitchFamily="34" charset="-122"/>
                <a:cs typeface="Calibri" pitchFamily="34" charset="-120"/>
              </a:rPr>
              <a:t>Decomposing the same fall a second way — by formula component rather than by segment — and getting a consistent answer is the cross-check.</a:t>
            </a:r>
            <a:endParaRPr lang="en-US" sz="1300" dirty="0"/>
          </a:p>
        </p:txBody>
      </p:sp>
      <p:sp>
        <p:nvSpPr>
          <p:cNvPr id="5" name="Shape 3"/>
          <p:cNvSpPr/>
          <p:nvPr/>
        </p:nvSpPr>
        <p:spPr>
          <a:xfrm>
            <a:off x="548640" y="1572768"/>
            <a:ext cx="5486400" cy="3977640"/>
          </a:xfrm>
          <a:prstGeom prst="roundRect">
            <a:avLst>
              <a:gd name="adj" fmla="val 1379"/>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graphicFrame>
        <p:nvGraphicFramePr>
          <p:cNvPr id="6" name="Chart 0" descr=""/>
          <p:cNvGraphicFramePr/>
          <p:nvPr/>
        </p:nvGraphicFramePr>
        <p:xfrm>
          <a:off x="685800" y="1719072"/>
          <a:ext cx="5212080" cy="3657600"/>
        </p:xfrm>
        <a:graphic xmlns:a="http://schemas.openxmlformats.org/drawingml/2006/main">
          <a:graphicData uri="http://schemas.openxmlformats.org/drawingml/2006/chart">
            <c:chart xmlns:c="http://schemas.openxmlformats.org/drawingml/2006/chart" r:id="rId1"/>
          </a:graphicData>
        </a:graphic>
      </p:graphicFrame>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6309360" y="1572768"/>
          <a:ext cx="5303520" cy="914400"/>
        </p:xfrm>
        <a:graphic>
          <a:graphicData uri="http://schemas.openxmlformats.org/drawingml/2006/table">
            <a:tbl>
              <a:tblPr/>
              <a:tblGrid>
                <a:gridCol w="1691640"/>
                <a:gridCol w="868680"/>
                <a:gridCol w="868680"/>
                <a:gridCol w="914400"/>
                <a:gridCol w="960120"/>
              </a:tblGrid>
              <a:tr h="384048">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Cohort</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2233C"/>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Weight Jan</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2233C"/>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Weight Dec</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2233C"/>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Contrib/txn Jan</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2233C"/>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Contrib/txn Dec</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2233C"/>
                    </a:solidFill>
                  </a:tcPr>
                </a:tc>
              </a:tr>
              <a:tr h="384048">
                <a:tc>
                  <a:txBody>
                    <a:bodyPr/>
                    <a:lstStyle/>
                    <a:p>
                      <a:pPr algn="l" indent="0" marL="0">
                        <a:buNone/>
                      </a:pPr>
                      <a:r>
                        <a:rPr lang="en-US" sz="1050" b="1" dirty="0">
                          <a:solidFill>
                            <a:srgbClr val="1A1A1A"/>
                          </a:solidFill>
                          <a:latin typeface="Calibri" pitchFamily="34" charset="0"/>
                          <a:ea typeface="Calibri" pitchFamily="34" charset="-122"/>
                          <a:cs typeface="Calibri" pitchFamily="34" charset="-120"/>
                        </a:rPr>
                        <a:t>DIGITAL SME, SG+AE</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8.1%</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33.9%</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$0.083</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A33D3D"/>
                          </a:solidFill>
                          <a:latin typeface="Calibri" pitchFamily="34" charset="0"/>
                          <a:ea typeface="Calibri" pitchFamily="34" charset="-122"/>
                          <a:cs typeface="Calibri" pitchFamily="34" charset="-120"/>
                        </a:rPr>
                        <a:t>−$0.138</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r>
              <a:tr h="384048">
                <a:tc>
                  <a:txBody>
                    <a:bodyPr/>
                    <a:lstStyle/>
                    <a:p>
                      <a:pPr algn="l" indent="0" marL="0">
                        <a:buNone/>
                      </a:pPr>
                      <a:r>
                        <a:rPr lang="en-US" sz="1050" b="1" dirty="0">
                          <a:solidFill>
                            <a:srgbClr val="1A1A1A"/>
                          </a:solidFill>
                          <a:latin typeface="Calibri" pitchFamily="34" charset="0"/>
                          <a:ea typeface="Calibri" pitchFamily="34" charset="-122"/>
                          <a:cs typeface="Calibri" pitchFamily="34" charset="-120"/>
                        </a:rPr>
                        <a:t>TRAVEL</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12.4%</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9.0%</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$5.06</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ctr" indent="0" marL="0">
                        <a:buNone/>
                      </a:pPr>
                      <a:r>
                        <a:rPr lang="en-US" sz="1050" b="1" dirty="0">
                          <a:solidFill>
                            <a:srgbClr val="1A1A1A"/>
                          </a:solidFill>
                          <a:latin typeface="Calibri" pitchFamily="34" charset="0"/>
                          <a:ea typeface="Calibri" pitchFamily="34" charset="-122"/>
                          <a:cs typeface="Calibri" pitchFamily="34" charset="-120"/>
                        </a:rPr>
                        <a:t>$4.72</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r>
              <a:tr h="384048">
                <a:tc>
                  <a:txBody>
                    <a:bodyPr/>
                    <a:lstStyle/>
                    <a:p>
                      <a:pPr algn="l" indent="0" marL="0">
                        <a:buNone/>
                      </a:pPr>
                      <a:r>
                        <a:rPr lang="en-US" sz="1050" b="1" dirty="0">
                          <a:solidFill>
                            <a:srgbClr val="1A1A1A"/>
                          </a:solidFill>
                          <a:latin typeface="Calibri" pitchFamily="34" charset="0"/>
                          <a:ea typeface="Calibri" pitchFamily="34" charset="-122"/>
                          <a:cs typeface="Calibri" pitchFamily="34" charset="-120"/>
                        </a:rPr>
                        <a:t>ELECTRONICS</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7.1%</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5.2%</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$4.09</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1A1A1A"/>
                          </a:solidFill>
                          <a:latin typeface="Calibri" pitchFamily="34" charset="0"/>
                          <a:ea typeface="Calibri" pitchFamily="34" charset="-122"/>
                          <a:cs typeface="Calibri" pitchFamily="34" charset="-120"/>
                        </a:rPr>
                        <a:t>$4.66</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r>
              <a:tr h="384048">
                <a:tc>
                  <a:txBody>
                    <a:bodyPr/>
                    <a:lstStyle/>
                    <a:p>
                      <a:pPr algn="l" indent="0" marL="0">
                        <a:buNone/>
                      </a:pPr>
                      <a:r>
                        <a:rPr lang="en-US" sz="1050" b="1" dirty="0">
                          <a:solidFill>
                            <a:srgbClr val="1A1A1A"/>
                          </a:solidFill>
                          <a:latin typeface="Calibri" pitchFamily="34" charset="0"/>
                          <a:ea typeface="Calibri" pitchFamily="34" charset="-122"/>
                          <a:cs typeface="Calibri" pitchFamily="34" charset="-120"/>
                        </a:rPr>
                        <a:t>GROCERY</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30.2%</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21.6%</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$1.20</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ctr" indent="0" marL="0">
                        <a:buNone/>
                      </a:pPr>
                      <a:r>
                        <a:rPr lang="en-US" sz="1050" b="1" dirty="0">
                          <a:solidFill>
                            <a:srgbClr val="1A1A1A"/>
                          </a:solidFill>
                          <a:latin typeface="Calibri" pitchFamily="34" charset="0"/>
                          <a:ea typeface="Calibri" pitchFamily="34" charset="-122"/>
                          <a:cs typeface="Calibri" pitchFamily="34" charset="-120"/>
                        </a:rPr>
                        <a:t>$1.03</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r>
              <a:tr h="384048">
                <a:tc>
                  <a:txBody>
                    <a:bodyPr/>
                    <a:lstStyle/>
                    <a:p>
                      <a:pPr algn="l" indent="0" marL="0">
                        <a:buNone/>
                      </a:pPr>
                      <a:r>
                        <a:rPr lang="en-US" sz="1050" b="1" dirty="0">
                          <a:solidFill>
                            <a:srgbClr val="1A1A1A"/>
                          </a:solidFill>
                          <a:latin typeface="Calibri" pitchFamily="34" charset="0"/>
                          <a:ea typeface="Calibri" pitchFamily="34" charset="-122"/>
                          <a:cs typeface="Calibri" pitchFamily="34" charset="-120"/>
                        </a:rPr>
                        <a:t>SERVICES</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18.9%</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13.2%</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$1.16</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1A1A1A"/>
                          </a:solidFill>
                          <a:latin typeface="Calibri" pitchFamily="34" charset="0"/>
                          <a:ea typeface="Calibri" pitchFamily="34" charset="-122"/>
                          <a:cs typeface="Calibri" pitchFamily="34" charset="-120"/>
                        </a:rPr>
                        <a:t>$1.23</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r>
              <a:tr h="384048">
                <a:tc>
                  <a:txBody>
                    <a:bodyPr/>
                    <a:lstStyle/>
                    <a:p>
                      <a:pPr algn="l" indent="0" marL="0">
                        <a:buNone/>
                      </a:pPr>
                      <a:r>
                        <a:rPr lang="en-US" sz="1050" b="1" dirty="0">
                          <a:solidFill>
                            <a:srgbClr val="1A1A1A"/>
                          </a:solidFill>
                          <a:latin typeface="Calibri" pitchFamily="34" charset="0"/>
                          <a:ea typeface="Calibri" pitchFamily="34" charset="-122"/>
                          <a:cs typeface="Calibri" pitchFamily="34" charset="-120"/>
                        </a:rPr>
                        <a:t>GAMING</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15.0%</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11.2%</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$0.44</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ctr" indent="0" marL="0">
                        <a:buNone/>
                      </a:pPr>
                      <a:r>
                        <a:rPr lang="en-US" sz="1050" b="1" dirty="0">
                          <a:solidFill>
                            <a:srgbClr val="1A1A1A"/>
                          </a:solidFill>
                          <a:latin typeface="Calibri" pitchFamily="34" charset="0"/>
                          <a:ea typeface="Calibri" pitchFamily="34" charset="-122"/>
                          <a:cs typeface="Calibri" pitchFamily="34" charset="-120"/>
                        </a:rPr>
                        <a:t>$0.37</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r>
              <a:tr h="384048">
                <a:tc>
                  <a:txBody>
                    <a:bodyPr/>
                    <a:lstStyle/>
                    <a:p>
                      <a:pPr algn="l" indent="0" marL="0">
                        <a:buNone/>
                      </a:pPr>
                      <a:r>
                        <a:rPr lang="en-US" sz="1050" b="1" dirty="0">
                          <a:solidFill>
                            <a:srgbClr val="1A1A1A"/>
                          </a:solidFill>
                          <a:latin typeface="Calibri" pitchFamily="34" charset="0"/>
                          <a:ea typeface="Calibri" pitchFamily="34" charset="-122"/>
                          <a:cs typeface="Calibri" pitchFamily="34" charset="-120"/>
                        </a:rPr>
                        <a:t>DIGITAL_GOODS (other)</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8.3%</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5.9%</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$0.57</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1A1A1A"/>
                          </a:solidFill>
                          <a:latin typeface="Calibri" pitchFamily="34" charset="0"/>
                          <a:ea typeface="Calibri" pitchFamily="34" charset="-122"/>
                          <a:cs typeface="Calibri" pitchFamily="34" charset="-120"/>
                        </a:rPr>
                        <a:t>$0.71</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r>
            </a:tbl>
          </a:graphicData>
        </a:graphic>
      </p:graphicFrame>
      <p:sp>
        <p:nvSpPr>
          <p:cNvPr id="8" name="Text 4"/>
          <p:cNvSpPr txBox="1"/>
          <p:nvPr/>
        </p:nvSpPr>
        <p:spPr>
          <a:xfrm>
            <a:off x="6309360" y="4709160"/>
            <a:ext cx="2377440" cy="502920"/>
          </a:xfrm>
          <a:prstGeom prst="rect">
            <a:avLst/>
          </a:prstGeom>
          <a:noFill/>
          <a:ln/>
        </p:spPr>
        <p:txBody>
          <a:bodyPr wrap="square" lIns="0" tIns="0" rIns="0" bIns="0" rtlCol="0" anchor="ctr"/>
          <a:lstStyle/>
          <a:p>
            <a:pPr indent="0" marL="0">
              <a:lnSpc>
                <a:spcPts val="1250"/>
              </a:lnSpc>
              <a:buNone/>
            </a:pPr>
            <a:r>
              <a:rPr lang="en-US" sz="1050" b="1" dirty="0">
                <a:solidFill>
                  <a:srgbClr val="12233C"/>
                </a:solidFill>
                <a:latin typeface="Calibri" pitchFamily="34" charset="0"/>
                <a:ea typeface="Calibri" pitchFamily="34" charset="-122"/>
                <a:cs typeface="Calibri" pitchFamily="34" charset="-120"/>
              </a:rPr>
              <a:t>Revenue did all the damage</a:t>
            </a:r>
            <a:endParaRPr lang="en-US" sz="1050" dirty="0"/>
          </a:p>
        </p:txBody>
      </p:sp>
      <p:sp>
        <p:nvSpPr>
          <p:cNvPr id="9" name="Text 5"/>
          <p:cNvSpPr txBox="1"/>
          <p:nvPr/>
        </p:nvSpPr>
        <p:spPr>
          <a:xfrm>
            <a:off x="8778240" y="4709160"/>
            <a:ext cx="2834640" cy="502920"/>
          </a:xfrm>
          <a:prstGeom prst="rect">
            <a:avLst/>
          </a:prstGeom>
          <a:noFill/>
          <a:ln/>
        </p:spPr>
        <p:txBody>
          <a:bodyPr wrap="square" lIns="0" tIns="0" rIns="0" bIns="0" rtlCol="0" anchor="ctr"/>
          <a:lstStyle/>
          <a:p>
            <a:pPr indent="0" marL="0">
              <a:lnSpc>
                <a:spcPts val="1150"/>
              </a:lnSpc>
              <a:buNone/>
            </a:pPr>
            <a:r>
              <a:rPr lang="en-US" sz="950" dirty="0">
                <a:solidFill>
                  <a:srgbClr val="4A5663"/>
                </a:solidFill>
                <a:latin typeface="Calibri" pitchFamily="34" charset="0"/>
                <a:ea typeface="Calibri" pitchFamily="34" charset="-122"/>
                <a:cs typeface="Calibri" pitchFamily="34" charset="-120"/>
              </a:rPr>
              <a:t>−$0.744 per transaction. A percentage fee returns about $0.48 on a $14 ticket and $12 on a $600 one.</a:t>
            </a:r>
            <a:endParaRPr lang="en-US" sz="950" dirty="0"/>
          </a:p>
        </p:txBody>
      </p:sp>
      <p:sp>
        <p:nvSpPr>
          <p:cNvPr id="10" name="Text 6"/>
          <p:cNvSpPr txBox="1"/>
          <p:nvPr/>
        </p:nvSpPr>
        <p:spPr>
          <a:xfrm>
            <a:off x="6309360" y="5257800"/>
            <a:ext cx="2377440" cy="502920"/>
          </a:xfrm>
          <a:prstGeom prst="rect">
            <a:avLst/>
          </a:prstGeom>
          <a:noFill/>
          <a:ln/>
        </p:spPr>
        <p:txBody>
          <a:bodyPr wrap="square" lIns="0" tIns="0" rIns="0" bIns="0" rtlCol="0" anchor="ctr"/>
          <a:lstStyle/>
          <a:p>
            <a:pPr indent="0" marL="0">
              <a:lnSpc>
                <a:spcPts val="1250"/>
              </a:lnSpc>
              <a:buNone/>
            </a:pPr>
            <a:r>
              <a:rPr lang="en-US" sz="1050" b="1" dirty="0">
                <a:solidFill>
                  <a:srgbClr val="12233C"/>
                </a:solidFill>
                <a:latin typeface="Calibri" pitchFamily="34" charset="0"/>
                <a:ea typeface="Calibri" pitchFamily="34" charset="-122"/>
                <a:cs typeface="Calibri" pitchFamily="34" charset="-120"/>
              </a:rPr>
              <a:t>Costs actually improved</a:t>
            </a:r>
            <a:endParaRPr lang="en-US" sz="1050" dirty="0"/>
          </a:p>
        </p:txBody>
      </p:sp>
      <p:sp>
        <p:nvSpPr>
          <p:cNvPr id="11" name="Text 7"/>
          <p:cNvSpPr txBox="1"/>
          <p:nvPr/>
        </p:nvSpPr>
        <p:spPr>
          <a:xfrm>
            <a:off x="8778240" y="5257800"/>
            <a:ext cx="2834640" cy="502920"/>
          </a:xfrm>
          <a:prstGeom prst="rect">
            <a:avLst/>
          </a:prstGeom>
          <a:noFill/>
          <a:ln/>
        </p:spPr>
        <p:txBody>
          <a:bodyPr wrap="square" lIns="0" tIns="0" rIns="0" bIns="0" rtlCol="0" anchor="ctr"/>
          <a:lstStyle/>
          <a:p>
            <a:pPr indent="0" marL="0">
              <a:lnSpc>
                <a:spcPts val="1150"/>
              </a:lnSpc>
              <a:buNone/>
            </a:pPr>
            <a:r>
              <a:rPr lang="en-US" sz="950" dirty="0">
                <a:solidFill>
                  <a:srgbClr val="4A5663"/>
                </a:solidFill>
                <a:latin typeface="Calibri" pitchFamily="34" charset="0"/>
                <a:ea typeface="Calibri" pitchFamily="34" charset="-122"/>
                <a:cs typeface="Calibri" pitchFamily="34" charset="-120"/>
              </a:rPr>
              <a:t>Processing cost per txn fell $1.08 → $0.97, chargeback cost $0.25 → $0.15. Both are positive bars, so the cost story is dead.</a:t>
            </a:r>
            <a:endParaRPr lang="en-US" sz="950" dirty="0"/>
          </a:p>
        </p:txBody>
      </p:sp>
      <p:sp>
        <p:nvSpPr>
          <p:cNvPr id="12" name="Text 8"/>
          <p:cNvSpPr txBox="1"/>
          <p:nvPr/>
        </p:nvSpPr>
        <p:spPr>
          <a:xfrm>
            <a:off x="6309360" y="5806440"/>
            <a:ext cx="2377440" cy="502920"/>
          </a:xfrm>
          <a:prstGeom prst="rect">
            <a:avLst/>
          </a:prstGeom>
          <a:noFill/>
          <a:ln/>
        </p:spPr>
        <p:txBody>
          <a:bodyPr wrap="square" lIns="0" tIns="0" rIns="0" bIns="0" rtlCol="0" anchor="ctr"/>
          <a:lstStyle/>
          <a:p>
            <a:pPr indent="0" marL="0">
              <a:lnSpc>
                <a:spcPts val="1250"/>
              </a:lnSpc>
              <a:buNone/>
            </a:pPr>
            <a:r>
              <a:rPr lang="en-US" sz="1050" b="1" dirty="0">
                <a:solidFill>
                  <a:srgbClr val="12233C"/>
                </a:solidFill>
                <a:latin typeface="Calibri" pitchFamily="34" charset="0"/>
                <a:ea typeface="Calibri" pitchFamily="34" charset="-122"/>
                <a:cs typeface="Calibri" pitchFamily="34" charset="-120"/>
              </a:rPr>
              <a:t>Three of seven cohorts improved</a:t>
            </a:r>
            <a:endParaRPr lang="en-US" sz="1050" dirty="0"/>
          </a:p>
        </p:txBody>
      </p:sp>
      <p:sp>
        <p:nvSpPr>
          <p:cNvPr id="13" name="Text 9"/>
          <p:cNvSpPr txBox="1"/>
          <p:nvPr/>
        </p:nvSpPr>
        <p:spPr>
          <a:xfrm>
            <a:off x="8778240" y="5806440"/>
            <a:ext cx="2834640" cy="502920"/>
          </a:xfrm>
          <a:prstGeom prst="rect">
            <a:avLst/>
          </a:prstGeom>
          <a:noFill/>
          <a:ln/>
        </p:spPr>
        <p:txBody>
          <a:bodyPr wrap="square" lIns="0" tIns="0" rIns="0" bIns="0" rtlCol="0" anchor="ctr"/>
          <a:lstStyle/>
          <a:p>
            <a:pPr indent="0" marL="0">
              <a:lnSpc>
                <a:spcPts val="1150"/>
              </a:lnSpc>
              <a:buNone/>
            </a:pPr>
            <a:r>
              <a:rPr lang="en-US" sz="950" dirty="0">
                <a:solidFill>
                  <a:srgbClr val="4A5663"/>
                </a:solidFill>
                <a:latin typeface="Calibri" pitchFamily="34" charset="0"/>
                <a:ea typeface="Calibri" pitchFamily="34" charset="-122"/>
                <a:cs typeface="Calibri" pitchFamily="34" charset="-120"/>
              </a:rPr>
              <a:t>Exactly one goes negative — and it is the one that quadrupled its share. That is what a mix problem looks like from the inside.</a:t>
            </a:r>
            <a:endParaRPr lang="en-US" sz="950" dirty="0"/>
          </a:p>
        </p:txBody>
      </p:sp>
      <p:sp>
        <p:nvSpPr>
          <p:cNvPr id="14" name="Text 10"/>
          <p:cNvSpPr txBox="1"/>
          <p:nvPr/>
        </p:nvSpPr>
        <p:spPr>
          <a:xfrm>
            <a:off x="548640" y="6199632"/>
            <a:ext cx="11064240" cy="411480"/>
          </a:xfrm>
          <a:prstGeom prst="rect">
            <a:avLst/>
          </a:prstGeom>
          <a:noFill/>
          <a:ln/>
        </p:spPr>
        <p:txBody>
          <a:bodyPr wrap="square" lIns="0" tIns="0" rIns="0" bIns="0" rtlCol="0" anchor="ctr"/>
          <a:lstStyle/>
          <a:p>
            <a:pPr indent="0" marL="0">
              <a:lnSpc>
                <a:spcPts val="1300"/>
              </a:lnSpc>
              <a:buNone/>
            </a:pPr>
            <a:r>
              <a:rPr lang="en-US" sz="1100" i="1" dirty="0">
                <a:solidFill>
                  <a:srgbClr val="6B7785"/>
                </a:solidFill>
                <a:latin typeface="Calibri" pitchFamily="34" charset="0"/>
                <a:ea typeface="Calibri" pitchFamily="34" charset="-122"/>
                <a:cs typeface="Calibri" pitchFamily="34" charset="-120"/>
              </a:rPr>
              <a:t>FX is the memo line: drag widens −$0.01 → −$0.09, about 16% of the fall. Real, secondary, and already inside the revenue bar — not added on top of it.</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6F8"/>
        </a:solidFill>
      </p:bgPr>
    </p:bg>
    <p:spTree>
      <p:nvGrpSpPr>
        <p:cNvPr id="1" name=""/>
        <p:cNvGrpSpPr/>
        <p:nvPr/>
      </p:nvGrpSpPr>
      <p:grpSpPr>
        <a:xfrm>
          <a:off x="0" y="0"/>
          <a:ext cx="0" cy="0"/>
          <a:chOff x="0" y="0"/>
          <a:chExt cx="0" cy="0"/>
        </a:xfrm>
      </p:grpSpPr>
      <p:sp>
        <p:nvSpPr>
          <p:cNvPr id="2" name="Text 0"/>
          <p:cNvSpPr txBox="1"/>
          <p:nvPr/>
        </p:nvSpPr>
        <p:spPr>
          <a:xfrm>
            <a:off x="548640" y="329184"/>
            <a:ext cx="7315200" cy="237744"/>
          </a:xfrm>
          <a:prstGeom prst="rect">
            <a:avLst/>
          </a:prstGeom>
          <a:noFill/>
          <a:ln/>
        </p:spPr>
        <p:txBody>
          <a:bodyPr wrap="square" lIns="0" tIns="0" rIns="0" bIns="0" rtlCol="0" anchor="ctr"/>
          <a:lstStyle/>
          <a:p>
            <a:pPr indent="0" marL="0">
              <a:buNone/>
            </a:pPr>
            <a:r>
              <a:rPr lang="en-US" sz="1050" b="1" spc="200" kern="0" dirty="0">
                <a:solidFill>
                  <a:srgbClr val="D98324"/>
                </a:solidFill>
                <a:latin typeface="Calibri" pitchFamily="34" charset="0"/>
                <a:ea typeface="Calibri" pitchFamily="34" charset="-122"/>
                <a:cs typeface="Calibri" pitchFamily="34" charset="-120"/>
              </a:rPr>
              <a:t>TASK 6 · DIAGNOSIS</a:t>
            </a:r>
            <a:endParaRPr lang="en-US" sz="1050" dirty="0"/>
          </a:p>
        </p:txBody>
      </p:sp>
      <p:sp>
        <p:nvSpPr>
          <p:cNvPr id="3" name="Text 1"/>
          <p:cNvSpPr txBox="1"/>
          <p:nvPr/>
        </p:nvSpPr>
        <p:spPr>
          <a:xfrm>
            <a:off x="548640" y="603504"/>
            <a:ext cx="11064240" cy="502920"/>
          </a:xfrm>
          <a:prstGeom prst="rect">
            <a:avLst/>
          </a:prstGeom>
          <a:noFill/>
          <a:ln/>
        </p:spPr>
        <p:txBody>
          <a:bodyPr wrap="square" lIns="0" tIns="0" rIns="0" bIns="0" rtlCol="0" anchor="ctr"/>
          <a:lstStyle/>
          <a:p>
            <a:pPr indent="0" marL="0">
              <a:buNone/>
            </a:pPr>
            <a:r>
              <a:rPr lang="en-US" sz="2600" b="1" dirty="0">
                <a:solidFill>
                  <a:srgbClr val="12233C"/>
                </a:solidFill>
                <a:latin typeface="Cambria" pitchFamily="34" charset="0"/>
                <a:ea typeface="Cambria" pitchFamily="34" charset="-122"/>
                <a:cs typeface="Cambria" pitchFamily="34" charset="-120"/>
              </a:rPr>
              <a:t>Six hypotheses tested. Three of the four in the room are wrong.</a:t>
            </a:r>
            <a:endParaRPr lang="en-US" sz="2600" dirty="0"/>
          </a:p>
        </p:txBody>
      </p:sp>
      <p:sp>
        <p:nvSpPr>
          <p:cNvPr id="4" name="Text 2"/>
          <p:cNvSpPr txBox="1"/>
          <p:nvPr/>
        </p:nvSpPr>
        <p:spPr>
          <a:xfrm>
            <a:off x="548640" y="1115568"/>
            <a:ext cx="11064240" cy="310896"/>
          </a:xfrm>
          <a:prstGeom prst="rect">
            <a:avLst/>
          </a:prstGeom>
          <a:noFill/>
          <a:ln/>
        </p:spPr>
        <p:txBody>
          <a:bodyPr wrap="square" lIns="0" tIns="0" rIns="0" bIns="0" rtlCol="0" anchor="ctr"/>
          <a:lstStyle/>
          <a:p>
            <a:pPr indent="0" marL="0">
              <a:buNone/>
            </a:pPr>
            <a:r>
              <a:rPr lang="en-US" sz="1300" dirty="0">
                <a:solidFill>
                  <a:srgbClr val="6B7785"/>
                </a:solidFill>
                <a:latin typeface="Calibri" pitchFamily="34" charset="0"/>
                <a:ea typeface="Calibri" pitchFamily="34" charset="-122"/>
                <a:cs typeface="Calibri" pitchFamily="34" charset="-120"/>
              </a:rPr>
              <a:t>Every test holds composition constant — without that, a segment gaining share looks exactly like a segment getting worse.</a:t>
            </a:r>
            <a:endParaRPr lang="en-US" sz="13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627632"/>
          <a:ext cx="11064240" cy="914400"/>
        </p:xfrm>
        <a:graphic>
          <a:graphicData uri="http://schemas.openxmlformats.org/drawingml/2006/table">
            <a:tbl>
              <a:tblPr/>
              <a:tblGrid>
                <a:gridCol w="2011680"/>
                <a:gridCol w="1005840"/>
                <a:gridCol w="1234440"/>
                <a:gridCol w="4160520"/>
                <a:gridCol w="960120"/>
                <a:gridCol w="1691640"/>
              </a:tblGrid>
              <a:tr h="54864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Driver</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2233C"/>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Type</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2233C"/>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Claimed by</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2233C"/>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Test result</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2233C"/>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Effect / txn</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2233C"/>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Verdict</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2233C"/>
                    </a:solidFill>
                  </a:tcPr>
                </a:tc>
              </a:tr>
              <a:tr h="548640">
                <a:tc>
                  <a:txBody>
                    <a:bodyPr/>
                    <a:lstStyle/>
                    <a:p>
                      <a:pPr algn="l" indent="0" marL="0">
                        <a:buNone/>
                      </a:pPr>
                      <a:r>
                        <a:rPr lang="en-US" sz="1050" b="1" dirty="0">
                          <a:solidFill>
                            <a:srgbClr val="1A1A1A"/>
                          </a:solidFill>
                          <a:latin typeface="Calibri" pitchFamily="34" charset="0"/>
                          <a:ea typeface="Calibri" pitchFamily="34" charset="-122"/>
                          <a:cs typeface="Calibri" pitchFamily="34" charset="-120"/>
                        </a:rPr>
                        <a:t>Merchant pricing</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Commercial</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CFO</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No pricing plan's take rate fell. FLAT_2_0 rose 0.2247pp. Blended rate falls only because plan mix moved.</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$0.000</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A33D3D"/>
                          </a:solidFill>
                          <a:latin typeface="Calibri" pitchFamily="34" charset="0"/>
                          <a:ea typeface="Calibri" pitchFamily="34" charset="-122"/>
                          <a:cs typeface="Calibri" pitchFamily="34" charset="-120"/>
                        </a:rPr>
                        <a:t>DISPROVED</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r>
              <a:tr h="548640">
                <a:tc>
                  <a:txBody>
                    <a:bodyPr/>
                    <a:lstStyle/>
                    <a:p>
                      <a:pPr algn="l" indent="0" marL="0">
                        <a:buNone/>
                      </a:pPr>
                      <a:r>
                        <a:rPr lang="en-US" sz="1050" b="1" dirty="0">
                          <a:solidFill>
                            <a:srgbClr val="1A1A1A"/>
                          </a:solidFill>
                          <a:latin typeface="Calibri" pitchFamily="34" charset="0"/>
                          <a:ea typeface="Calibri" pitchFamily="34" charset="-122"/>
                          <a:cs typeface="Calibri" pitchFamily="34" charset="-120"/>
                        </a:rPr>
                        <a:t>Fraud controls</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Risk</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Risk Head</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On the normalised score, decline rate moves −0.014pp. The apparent spike is a score-scale artefact at the v2.1 → v3.0 cutover.</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 $0.000</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ctr" indent="0" marL="0">
                        <a:buNone/>
                      </a:pPr>
                      <a:r>
                        <a:rPr lang="en-US" sz="1050" b="1" dirty="0">
                          <a:solidFill>
                            <a:srgbClr val="A33D3D"/>
                          </a:solidFill>
                          <a:latin typeface="Calibri" pitchFamily="34" charset="0"/>
                          <a:ea typeface="Calibri" pitchFamily="34" charset="-122"/>
                          <a:cs typeface="Calibri" pitchFamily="34" charset="-120"/>
                        </a:rPr>
                        <a:t>DISPROVED</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r>
              <a:tr h="548640">
                <a:tc>
                  <a:txBody>
                    <a:bodyPr/>
                    <a:lstStyle/>
                    <a:p>
                      <a:pPr algn="l" indent="0" marL="0">
                        <a:buNone/>
                      </a:pPr>
                      <a:r>
                        <a:rPr lang="en-US" sz="1050" b="1" dirty="0">
                          <a:solidFill>
                            <a:srgbClr val="1A1A1A"/>
                          </a:solidFill>
                          <a:latin typeface="Calibri" pitchFamily="34" charset="0"/>
                          <a:ea typeface="Calibri" pitchFamily="34" charset="-122"/>
                          <a:cs typeface="Calibri" pitchFamily="34" charset="-120"/>
                        </a:rPr>
                        <a:t>Chargebacks</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Risk</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Risk Head</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Chargeback cost per successful txn falls $0.2515 → $0.1495. Rate ranks high, impact ranks last.</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+$0.102</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A33D3D"/>
                          </a:solidFill>
                          <a:latin typeface="Calibri" pitchFamily="34" charset="0"/>
                          <a:ea typeface="Calibri" pitchFamily="34" charset="-122"/>
                          <a:cs typeface="Calibri" pitchFamily="34" charset="-120"/>
                        </a:rPr>
                        <a:t>DISPROVED</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r>
              <a:tr h="548640">
                <a:tc>
                  <a:txBody>
                    <a:bodyPr/>
                    <a:lstStyle/>
                    <a:p>
                      <a:pPr algn="l" indent="0" marL="0">
                        <a:buNone/>
                      </a:pPr>
                      <a:r>
                        <a:rPr lang="en-US" sz="1050" b="1" dirty="0">
                          <a:solidFill>
                            <a:srgbClr val="1A1A1A"/>
                          </a:solidFill>
                          <a:latin typeface="Calibri" pitchFamily="34" charset="0"/>
                          <a:ea typeface="Calibri" pitchFamily="34" charset="-122"/>
                          <a:cs typeface="Calibri" pitchFamily="34" charset="-120"/>
                        </a:rPr>
                        <a:t>Provider latency</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Operational</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Head of Payments</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PROV_MERIDIAN p95 227 → 1,517ms, success 90.3% → 82.5% for eight weeks. Roughly 698 transactions lost.</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 $0.000</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ctr" indent="0" marL="0">
                        <a:buNone/>
                      </a:pPr>
                      <a:r>
                        <a:rPr lang="en-US" sz="1050" b="1" dirty="0">
                          <a:solidFill>
                            <a:srgbClr val="D98324"/>
                          </a:solidFill>
                          <a:latin typeface="Calibri" pitchFamily="34" charset="0"/>
                          <a:ea typeface="Calibri" pitchFamily="34" charset="-122"/>
                          <a:cs typeface="Calibri" pitchFamily="34" charset="-120"/>
                        </a:rPr>
                        <a:t>REAL, WRONG KPI</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r>
              <a:tr h="548640">
                <a:tc>
                  <a:txBody>
                    <a:bodyPr/>
                    <a:lstStyle/>
                    <a:p>
                      <a:pPr algn="l" indent="0" marL="0">
                        <a:buNone/>
                      </a:pPr>
                      <a:r>
                        <a:rPr lang="en-US" sz="1050" b="1" dirty="0">
                          <a:solidFill>
                            <a:srgbClr val="1A1A1A"/>
                          </a:solidFill>
                          <a:latin typeface="Calibri" pitchFamily="34" charset="0"/>
                          <a:ea typeface="Calibri" pitchFamily="34" charset="-122"/>
                          <a:cs typeface="Calibri" pitchFamily="34" charset="-120"/>
                        </a:rPr>
                        <a:t>FX translation</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External</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Drag widens −$0.01 → −$0.09 as the settlement spread goes 0.35% → 0.60% in Q4.</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−$0.08</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D98324"/>
                          </a:solidFill>
                          <a:latin typeface="Calibri" pitchFamily="34" charset="0"/>
                          <a:ea typeface="Calibri" pitchFamily="34" charset="-122"/>
                          <a:cs typeface="Calibri" pitchFamily="34" charset="-120"/>
                        </a:rPr>
                        <a:t>SECONDARY</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r>
              <a:tr h="548640">
                <a:tc>
                  <a:txBody>
                    <a:bodyPr/>
                    <a:lstStyle/>
                    <a:p>
                      <a:pPr algn="l" indent="0" marL="0">
                        <a:buNone/>
                      </a:pPr>
                      <a:r>
                        <a:rPr lang="en-US" sz="1050" b="1" dirty="0">
                          <a:solidFill>
                            <a:srgbClr val="1A1A1A"/>
                          </a:solidFill>
                          <a:latin typeface="Calibri" pitchFamily="34" charset="0"/>
                          <a:ea typeface="Calibri" pitchFamily="34" charset="-122"/>
                          <a:cs typeface="Calibri" pitchFamily="34" charset="-120"/>
                        </a:rPr>
                        <a:t>Routing drift + Orbit repricing</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Operational</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Our finding</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Cohort share on PROV_ORBIT climbs 28% → 89% across the year while Orbit's fixed fee rises 50.6% on 1 July.</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−$0.10</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ctr" indent="0" marL="0">
                        <a:buNone/>
                      </a:pPr>
                      <a:r>
                        <a:rPr lang="en-US" sz="1050" b="1" dirty="0">
                          <a:solidFill>
                            <a:srgbClr val="0E7C7B"/>
                          </a:solidFill>
                          <a:latin typeface="Calibri" pitchFamily="34" charset="0"/>
                          <a:ea typeface="Calibri" pitchFamily="34" charset="-122"/>
                          <a:cs typeface="Calibri" pitchFamily="34" charset="-120"/>
                        </a:rPr>
                        <a:t>CONFIRMED</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r>
              <a:tr h="548640">
                <a:tc>
                  <a:txBody>
                    <a:bodyPr/>
                    <a:lstStyle/>
                    <a:p>
                      <a:pPr algn="l" indent="0" marL="0">
                        <a:buNone/>
                      </a:pPr>
                      <a:r>
                        <a:rPr lang="en-US" sz="1050" b="1" dirty="0">
                          <a:solidFill>
                            <a:srgbClr val="1A1A1A"/>
                          </a:solidFill>
                          <a:latin typeface="Calibri" pitchFamily="34" charset="0"/>
                          <a:ea typeface="Calibri" pitchFamily="34" charset="-122"/>
                          <a:cs typeface="Calibri" pitchFamily="34" charset="-120"/>
                        </a:rPr>
                        <a:t>Ticket-size mix</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Commercial</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Our finding</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Mix −$0.4719 against within −$0.0609 on ticket band; −$0.4296 / −$0.1014 on the cohort view.</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−$0.43</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050" b="1" dirty="0">
                          <a:solidFill>
                            <a:srgbClr val="0E7C7B"/>
                          </a:solidFill>
                          <a:latin typeface="Calibri" pitchFamily="34" charset="0"/>
                          <a:ea typeface="Calibri" pitchFamily="34" charset="-122"/>
                          <a:cs typeface="Calibri" pitchFamily="34" charset="-120"/>
                        </a:rPr>
                        <a:t>CONFIRMED</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r>
            </a:tbl>
          </a:graphicData>
        </a:graphic>
      </p:graphicFrame>
      <p:sp>
        <p:nvSpPr>
          <p:cNvPr id="6" name="Text 3"/>
          <p:cNvSpPr txBox="1"/>
          <p:nvPr/>
        </p:nvSpPr>
        <p:spPr>
          <a:xfrm>
            <a:off x="548640" y="6199632"/>
            <a:ext cx="11064240" cy="411480"/>
          </a:xfrm>
          <a:prstGeom prst="rect">
            <a:avLst/>
          </a:prstGeom>
          <a:noFill/>
          <a:ln/>
        </p:spPr>
        <p:txBody>
          <a:bodyPr wrap="square" lIns="0" tIns="0" rIns="0" bIns="0" rtlCol="0" anchor="ctr"/>
          <a:lstStyle/>
          <a:p>
            <a:pPr indent="0" marL="0">
              <a:lnSpc>
                <a:spcPts val="1300"/>
              </a:lnSpc>
              <a:buNone/>
            </a:pPr>
            <a:r>
              <a:rPr lang="en-US" sz="1100" i="1" dirty="0">
                <a:solidFill>
                  <a:srgbClr val="6B7785"/>
                </a:solidFill>
                <a:latin typeface="Calibri" pitchFamily="34" charset="0"/>
                <a:ea typeface="Calibri" pitchFamily="34" charset="-122"/>
                <a:cs typeface="Calibri" pitchFamily="34" charset="-120"/>
              </a:rPr>
              <a:t>Sizing beats ranking. Chargebacks rank near the top on rate and last on impact; latency is the most dramatic operational event of the year and contributes almost nothing to this KPI. A ranked list would have put both at the top of the plan.</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6F8"/>
        </a:solidFill>
      </p:bgPr>
    </p:bg>
    <p:spTree>
      <p:nvGrpSpPr>
        <p:cNvPr id="1" name=""/>
        <p:cNvGrpSpPr/>
        <p:nvPr/>
      </p:nvGrpSpPr>
      <p:grpSpPr>
        <a:xfrm>
          <a:off x="0" y="0"/>
          <a:ext cx="0" cy="0"/>
          <a:chOff x="0" y="0"/>
          <a:chExt cx="0" cy="0"/>
        </a:xfrm>
      </p:grpSpPr>
      <p:sp>
        <p:nvSpPr>
          <p:cNvPr id="2" name="Text 0"/>
          <p:cNvSpPr txBox="1"/>
          <p:nvPr/>
        </p:nvSpPr>
        <p:spPr>
          <a:xfrm>
            <a:off x="548640" y="329184"/>
            <a:ext cx="7315200" cy="237744"/>
          </a:xfrm>
          <a:prstGeom prst="rect">
            <a:avLst/>
          </a:prstGeom>
          <a:noFill/>
          <a:ln/>
        </p:spPr>
        <p:txBody>
          <a:bodyPr wrap="square" lIns="0" tIns="0" rIns="0" bIns="0" rtlCol="0" anchor="ctr"/>
          <a:lstStyle/>
          <a:p>
            <a:pPr indent="0" marL="0">
              <a:buNone/>
            </a:pPr>
            <a:r>
              <a:rPr lang="en-US" sz="1050" b="1" spc="200" kern="0" dirty="0">
                <a:solidFill>
                  <a:srgbClr val="D98324"/>
                </a:solidFill>
                <a:latin typeface="Calibri" pitchFamily="34" charset="0"/>
                <a:ea typeface="Calibri" pitchFamily="34" charset="-122"/>
                <a:cs typeface="Calibri" pitchFamily="34" charset="-120"/>
              </a:rPr>
              <a:t>TASK 6 · DEEP DIVE</a:t>
            </a:r>
            <a:endParaRPr lang="en-US" sz="1050" dirty="0"/>
          </a:p>
        </p:txBody>
      </p:sp>
      <p:sp>
        <p:nvSpPr>
          <p:cNvPr id="3" name="Text 1"/>
          <p:cNvSpPr txBox="1"/>
          <p:nvPr/>
        </p:nvSpPr>
        <p:spPr>
          <a:xfrm>
            <a:off x="548640" y="603504"/>
            <a:ext cx="11064240" cy="502920"/>
          </a:xfrm>
          <a:prstGeom prst="rect">
            <a:avLst/>
          </a:prstGeom>
          <a:noFill/>
          <a:ln/>
        </p:spPr>
        <p:txBody>
          <a:bodyPr wrap="square" lIns="0" tIns="0" rIns="0" bIns="0" rtlCol="0" anchor="ctr"/>
          <a:lstStyle/>
          <a:p>
            <a:pPr indent="0" marL="0">
              <a:buNone/>
            </a:pPr>
            <a:r>
              <a:rPr lang="en-US" sz="2600" b="1" dirty="0">
                <a:solidFill>
                  <a:srgbClr val="12233C"/>
                </a:solidFill>
                <a:latin typeface="Cambria" pitchFamily="34" charset="0"/>
                <a:ea typeface="Cambria" pitchFamily="34" charset="-122"/>
                <a:cs typeface="Cambria" pitchFamily="34" charset="-120"/>
              </a:rPr>
              <a:t>The fraud hypothesis is disproved by a data defect, not a business fact</a:t>
            </a:r>
            <a:endParaRPr lang="en-US" sz="2600" dirty="0"/>
          </a:p>
        </p:txBody>
      </p:sp>
      <p:sp>
        <p:nvSpPr>
          <p:cNvPr id="4" name="Text 2"/>
          <p:cNvSpPr txBox="1"/>
          <p:nvPr/>
        </p:nvSpPr>
        <p:spPr>
          <a:xfrm>
            <a:off x="548640" y="1115568"/>
            <a:ext cx="11064240" cy="310896"/>
          </a:xfrm>
          <a:prstGeom prst="rect">
            <a:avLst/>
          </a:prstGeom>
          <a:noFill/>
          <a:ln/>
        </p:spPr>
        <p:txBody>
          <a:bodyPr wrap="square" lIns="0" tIns="0" rIns="0" bIns="0" rtlCol="0" anchor="ctr"/>
          <a:lstStyle/>
          <a:p>
            <a:pPr indent="0" marL="0">
              <a:buNone/>
            </a:pPr>
            <a:r>
              <a:rPr lang="en-US" sz="1300" dirty="0">
                <a:solidFill>
                  <a:srgbClr val="6B7785"/>
                </a:solidFill>
                <a:latin typeface="Calibri" pitchFamily="34" charset="0"/>
                <a:ea typeface="Calibri" pitchFamily="34" charset="-122"/>
                <a:cs typeface="Calibri" pitchFamily="34" charset="-120"/>
              </a:rPr>
              <a:t>The most important finding in Task 6 — and it is a data-quality finding that happens to answer a commercial question.</a:t>
            </a:r>
            <a:endParaRPr lang="en-US" sz="13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64240" cy="914400"/>
        </p:xfrm>
        <a:graphic>
          <a:graphicData uri="http://schemas.openxmlformats.org/drawingml/2006/table">
            <a:tbl>
              <a:tblPr/>
              <a:tblGrid>
                <a:gridCol w="2194560"/>
                <a:gridCol w="1828800"/>
                <a:gridCol w="1371600"/>
                <a:gridCol w="1371600"/>
                <a:gridCol w="1280160"/>
                <a:gridCol w="3017520"/>
              </a:tblGrid>
              <a:tr h="402336">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model_version</a:t>
                      </a:r>
                      <a:endParaRPr lang="en-US" sz="11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2233C"/>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Share of fraud rows</a:t>
                      </a:r>
                      <a:endParaRPr lang="en-US" sz="11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2233C"/>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min score</a:t>
                      </a:r>
                      <a:endParaRPr lang="en-US" sz="11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2233C"/>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max score</a:t>
                      </a:r>
                      <a:endParaRPr lang="en-US" sz="11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2233C"/>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Scale</a:t>
                      </a:r>
                      <a:endParaRPr lang="en-US" sz="11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2233C"/>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What a naive reading says</a:t>
                      </a:r>
                      <a:endParaRPr lang="en-US" sz="11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2233C"/>
                    </a:solidFill>
                  </a:tcPr>
                </a:tc>
              </a:tr>
              <a:tr h="402336">
                <a:tc>
                  <a:txBody>
                    <a:bodyPr/>
                    <a:lstStyle/>
                    <a:p>
                      <a:pPr algn="l" indent="0" marL="0">
                        <a:buNone/>
                      </a:pPr>
                      <a:r>
                        <a:rPr lang="en-US" sz="1150" b="1" dirty="0">
                          <a:solidFill>
                            <a:srgbClr val="1A1A1A"/>
                          </a:solidFill>
                          <a:latin typeface="Calibri" pitchFamily="34" charset="0"/>
                          <a:ea typeface="Calibri" pitchFamily="34" charset="-122"/>
                          <a:cs typeface="Calibri" pitchFamily="34" charset="-120"/>
                        </a:rPr>
                        <a:t>v2.1</a:t>
                      </a:r>
                      <a:endParaRPr lang="en-US" sz="11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A1A1A"/>
                          </a:solidFill>
                          <a:latin typeface="Calibri" pitchFamily="34" charset="0"/>
                          <a:ea typeface="Calibri" pitchFamily="34" charset="-122"/>
                          <a:cs typeface="Calibri" pitchFamily="34" charset="-120"/>
                        </a:rPr>
                        <a:t>62.1%</a:t>
                      </a:r>
                      <a:endParaRPr lang="en-US" sz="11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A1A1A"/>
                          </a:solidFill>
                          <a:latin typeface="Calibri" pitchFamily="34" charset="0"/>
                          <a:ea typeface="Calibri" pitchFamily="34" charset="-122"/>
                          <a:cs typeface="Calibri" pitchFamily="34" charset="-120"/>
                        </a:rPr>
                        <a:t>0.00</a:t>
                      </a:r>
                      <a:endParaRPr lang="en-US" sz="11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A1A1A"/>
                          </a:solidFill>
                          <a:latin typeface="Calibri" pitchFamily="34" charset="0"/>
                          <a:ea typeface="Calibri" pitchFamily="34" charset="-122"/>
                          <a:cs typeface="Calibri" pitchFamily="34" charset="-120"/>
                        </a:rPr>
                        <a:t>1.00</a:t>
                      </a:r>
                      <a:endParaRPr lang="en-US" sz="11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A1A1A"/>
                          </a:solidFill>
                          <a:latin typeface="Calibri" pitchFamily="34" charset="0"/>
                          <a:ea typeface="Calibri" pitchFamily="34" charset="-122"/>
                          <a:cs typeface="Calibri" pitchFamily="34" charset="-120"/>
                        </a:rPr>
                        <a:t>0 – 1</a:t>
                      </a:r>
                      <a:endParaRPr lang="en-US" sz="11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Baseline</a:t>
                      </a:r>
                      <a:endParaRPr lang="en-US" sz="11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r>
              <a:tr h="402336">
                <a:tc>
                  <a:txBody>
                    <a:bodyPr/>
                    <a:lstStyle/>
                    <a:p>
                      <a:pPr algn="l" indent="0" marL="0">
                        <a:buNone/>
                      </a:pPr>
                      <a:r>
                        <a:rPr lang="en-US" sz="1150" b="1" dirty="0">
                          <a:solidFill>
                            <a:srgbClr val="1A1A1A"/>
                          </a:solidFill>
                          <a:latin typeface="Calibri" pitchFamily="34" charset="0"/>
                          <a:ea typeface="Calibri" pitchFamily="34" charset="-122"/>
                          <a:cs typeface="Calibri" pitchFamily="34" charset="-120"/>
                        </a:rPr>
                        <a:t>v3.0 (from 1 Sep)</a:t>
                      </a:r>
                      <a:endParaRPr lang="en-US" sz="11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ctr" indent="0" marL="0">
                        <a:buNone/>
                      </a:pPr>
                      <a:r>
                        <a:rPr lang="en-US" sz="1150" dirty="0">
                          <a:solidFill>
                            <a:srgbClr val="1A1A1A"/>
                          </a:solidFill>
                          <a:latin typeface="Calibri" pitchFamily="34" charset="0"/>
                          <a:ea typeface="Calibri" pitchFamily="34" charset="-122"/>
                          <a:cs typeface="Calibri" pitchFamily="34" charset="-120"/>
                        </a:rPr>
                        <a:t>37.9%</a:t>
                      </a:r>
                      <a:endParaRPr lang="en-US" sz="11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ctr" indent="0" marL="0">
                        <a:buNone/>
                      </a:pPr>
                      <a:r>
                        <a:rPr lang="en-US" sz="1150" dirty="0">
                          <a:solidFill>
                            <a:srgbClr val="1A1A1A"/>
                          </a:solidFill>
                          <a:latin typeface="Calibri" pitchFamily="34" charset="0"/>
                          <a:ea typeface="Calibri" pitchFamily="34" charset="-122"/>
                          <a:cs typeface="Calibri" pitchFamily="34" charset="-120"/>
                        </a:rPr>
                        <a:t>0.00</a:t>
                      </a:r>
                      <a:endParaRPr lang="en-US" sz="11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ctr" indent="0" marL="0">
                        <a:buNone/>
                      </a:pPr>
                      <a:r>
                        <a:rPr lang="en-US" sz="1150" dirty="0">
                          <a:solidFill>
                            <a:srgbClr val="1A1A1A"/>
                          </a:solidFill>
                          <a:latin typeface="Calibri" pitchFamily="34" charset="0"/>
                          <a:ea typeface="Calibri" pitchFamily="34" charset="-122"/>
                          <a:cs typeface="Calibri" pitchFamily="34" charset="-120"/>
                        </a:rPr>
                        <a:t>100.00</a:t>
                      </a:r>
                      <a:endParaRPr lang="en-US" sz="11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ctr" indent="0" marL="0">
                        <a:buNone/>
                      </a:pPr>
                      <a:r>
                        <a:rPr lang="en-US" sz="1150" dirty="0">
                          <a:solidFill>
                            <a:srgbClr val="1A1A1A"/>
                          </a:solidFill>
                          <a:latin typeface="Calibri" pitchFamily="34" charset="0"/>
                          <a:ea typeface="Calibri" pitchFamily="34" charset="-122"/>
                          <a:cs typeface="Calibri" pitchFamily="34" charset="-120"/>
                        </a:rPr>
                        <a:t>0 – 100</a:t>
                      </a:r>
                      <a:endParaRPr lang="en-US" sz="11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"Risk scores exploded in September"</a:t>
                      </a:r>
                      <a:endParaRPr lang="en-US" sz="11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r>
            </a:tbl>
          </a:graphicData>
        </a:graphic>
      </p:graphicFrame>
      <p:sp>
        <p:nvSpPr>
          <p:cNvPr id="6" name="Shape 3"/>
          <p:cNvSpPr/>
          <p:nvPr/>
        </p:nvSpPr>
        <p:spPr>
          <a:xfrm>
            <a:off x="548640" y="2944368"/>
            <a:ext cx="5394960" cy="1828800"/>
          </a:xfrm>
          <a:prstGeom prst="roundRect">
            <a:avLst>
              <a:gd name="adj" fmla="val 3000"/>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sp>
        <p:nvSpPr>
          <p:cNvPr id="7" name="Text 4"/>
          <p:cNvSpPr txBox="1"/>
          <p:nvPr/>
        </p:nvSpPr>
        <p:spPr>
          <a:xfrm>
            <a:off x="777240" y="3081528"/>
            <a:ext cx="4937760" cy="256032"/>
          </a:xfrm>
          <a:prstGeom prst="rect">
            <a:avLst/>
          </a:prstGeom>
          <a:noFill/>
          <a:ln/>
        </p:spPr>
        <p:txBody>
          <a:bodyPr wrap="square" lIns="0" tIns="0" rIns="0" bIns="0" rtlCol="0" anchor="ctr"/>
          <a:lstStyle/>
          <a:p>
            <a:pPr indent="0" marL="0">
              <a:buNone/>
            </a:pPr>
            <a:r>
              <a:rPr lang="en-US" sz="1300" b="1" dirty="0">
                <a:solidFill>
                  <a:srgbClr val="A33D3D"/>
                </a:solidFill>
                <a:latin typeface="Calibri" pitchFamily="34" charset="0"/>
                <a:ea typeface="Calibri" pitchFamily="34" charset="-122"/>
                <a:cs typeface="Calibri" pitchFamily="34" charset="-120"/>
              </a:rPr>
              <a:t>The trap</a:t>
            </a:r>
            <a:endParaRPr lang="en-US" sz="1300" dirty="0"/>
          </a:p>
        </p:txBody>
      </p:sp>
      <p:sp>
        <p:nvSpPr>
          <p:cNvPr id="8" name="Text 5"/>
          <p:cNvSpPr txBox="1"/>
          <p:nvPr/>
        </p:nvSpPr>
        <p:spPr>
          <a:xfrm>
            <a:off x="777240" y="3364992"/>
            <a:ext cx="4937760" cy="1298448"/>
          </a:xfrm>
          <a:prstGeom prst="rect">
            <a:avLst/>
          </a:prstGeom>
          <a:noFill/>
          <a:ln/>
        </p:spPr>
        <p:txBody>
          <a:bodyPr wrap="square" lIns="0" tIns="0" rIns="0" bIns="0" rtlCol="0" anchor="ctr"/>
          <a:lstStyle/>
          <a:p>
            <a:pPr indent="0" marL="0">
              <a:lnSpc>
                <a:spcPts val="1400"/>
              </a:lnSpc>
              <a:buNone/>
            </a:pPr>
            <a:r>
              <a:rPr lang="en-US" sz="1100" dirty="0">
                <a:solidFill>
                  <a:srgbClr val="4A5663"/>
                </a:solidFill>
                <a:latin typeface="Calibri" pitchFamily="34" charset="0"/>
                <a:ea typeface="Calibri" pitchFamily="34" charset="-122"/>
                <a:cs typeface="Calibri" pitchFamily="34" charset="-120"/>
              </a:rPr>
              <a:t>Compare score distributions across 1 September and the mean risk score rises roughly a hundredfold. Compare decline rates at a fixed threshold of 0.8 and everything above 0.8 after the cutover is a v3.0 score — which is almost all of them. The evidence for "the new model is rejecting good payments" is overwhelming, internally consistent, and entirely an artefact of two scales sharing one column.</a:t>
            </a:r>
            <a:endParaRPr lang="en-US" sz="1100" dirty="0"/>
          </a:p>
        </p:txBody>
      </p:sp>
      <p:sp>
        <p:nvSpPr>
          <p:cNvPr id="9" name="Shape 6"/>
          <p:cNvSpPr/>
          <p:nvPr/>
        </p:nvSpPr>
        <p:spPr>
          <a:xfrm>
            <a:off x="6217920" y="2944368"/>
            <a:ext cx="5394960" cy="1828800"/>
          </a:xfrm>
          <a:prstGeom prst="roundRect">
            <a:avLst>
              <a:gd name="adj" fmla="val 3000"/>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sp>
        <p:nvSpPr>
          <p:cNvPr id="10" name="Text 7"/>
          <p:cNvSpPr txBox="1"/>
          <p:nvPr/>
        </p:nvSpPr>
        <p:spPr>
          <a:xfrm>
            <a:off x="6446520" y="3081528"/>
            <a:ext cx="4937760" cy="256032"/>
          </a:xfrm>
          <a:prstGeom prst="rect">
            <a:avLst/>
          </a:prstGeom>
          <a:noFill/>
          <a:ln/>
        </p:spPr>
        <p:txBody>
          <a:bodyPr wrap="square" lIns="0" tIns="0" rIns="0" bIns="0" rtlCol="0" anchor="ctr"/>
          <a:lstStyle/>
          <a:p>
            <a:pPr indent="0" marL="0">
              <a:buNone/>
            </a:pPr>
            <a:r>
              <a:rPr lang="en-US" sz="1300" b="1" dirty="0">
                <a:solidFill>
                  <a:srgbClr val="0E7C7B"/>
                </a:solidFill>
                <a:latin typeface="Calibri" pitchFamily="34" charset="0"/>
                <a:ea typeface="Calibri" pitchFamily="34" charset="-122"/>
                <a:cs typeface="Calibri" pitchFamily="34" charset="-120"/>
              </a:rPr>
              <a:t>After normalising</a:t>
            </a:r>
            <a:endParaRPr lang="en-US" sz="1300" dirty="0"/>
          </a:p>
        </p:txBody>
      </p:sp>
      <p:sp>
        <p:nvSpPr>
          <p:cNvPr id="11" name="Text 8"/>
          <p:cNvSpPr txBox="1"/>
          <p:nvPr/>
        </p:nvSpPr>
        <p:spPr>
          <a:xfrm>
            <a:off x="6446520" y="3364992"/>
            <a:ext cx="4937760" cy="1298448"/>
          </a:xfrm>
          <a:prstGeom prst="rect">
            <a:avLst/>
          </a:prstGeom>
          <a:noFill/>
          <a:ln/>
        </p:spPr>
        <p:txBody>
          <a:bodyPr wrap="square" lIns="0" tIns="0" rIns="0" bIns="0" rtlCol="0" anchor="ctr"/>
          <a:lstStyle/>
          <a:p>
            <a:pPr indent="0" marL="0">
              <a:lnSpc>
                <a:spcPts val="1400"/>
              </a:lnSpc>
              <a:buNone/>
            </a:pPr>
            <a:r>
              <a:rPr lang="en-US" sz="1100" dirty="0">
                <a:solidFill>
                  <a:srgbClr val="4A5663"/>
                </a:solidFill>
                <a:latin typeface="Calibri" pitchFamily="34" charset="0"/>
                <a:ea typeface="Calibri" pitchFamily="34" charset="-122"/>
                <a:cs typeface="Calibri" pitchFamily="34" charset="-120"/>
              </a:rPr>
              <a:t>Divide v3.0 scores by 100 and the distributions line up. Decline rate at a comparable threshold moves −0.014pp across the cutover — declines fall very slightly. Chargeback rate does not rise, which it would if controls had loosened, and does not fall, which it would if they had tightened. The model is behaving.</a:t>
            </a:r>
            <a:endParaRPr lang="en-US" sz="1100" dirty="0"/>
          </a:p>
        </p:txBody>
      </p:sp>
      <p:sp>
        <p:nvSpPr>
          <p:cNvPr id="12" name="Shape 9"/>
          <p:cNvSpPr/>
          <p:nvPr/>
        </p:nvSpPr>
        <p:spPr>
          <a:xfrm>
            <a:off x="548640" y="4919472"/>
            <a:ext cx="11064240" cy="1143000"/>
          </a:xfrm>
          <a:prstGeom prst="roundRect">
            <a:avLst>
              <a:gd name="adj" fmla="val 4800"/>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sp>
        <p:nvSpPr>
          <p:cNvPr id="13" name="Text 10"/>
          <p:cNvSpPr txBox="1"/>
          <p:nvPr/>
        </p:nvSpPr>
        <p:spPr>
          <a:xfrm>
            <a:off x="777240" y="5056632"/>
            <a:ext cx="10607040" cy="256032"/>
          </a:xfrm>
          <a:prstGeom prst="rect">
            <a:avLst/>
          </a:prstGeom>
          <a:noFill/>
          <a:ln/>
        </p:spPr>
        <p:txBody>
          <a:bodyPr wrap="square" lIns="0" tIns="0" rIns="0" bIns="0" rtlCol="0" anchor="ctr"/>
          <a:lstStyle/>
          <a:p>
            <a:pPr indent="0" marL="0">
              <a:buNone/>
            </a:pPr>
            <a:r>
              <a:rPr lang="en-US" sz="1250" b="1" dirty="0">
                <a:solidFill>
                  <a:srgbClr val="12233C"/>
                </a:solidFill>
                <a:latin typeface="Calibri" pitchFamily="34" charset="0"/>
                <a:ea typeface="Calibri" pitchFamily="34" charset="-122"/>
                <a:cs typeface="Calibri" pitchFamily="34" charset="-120"/>
              </a:rPr>
              <a:t>Why this belongs in an executive deck and not a data-quality appendix</a:t>
            </a:r>
            <a:endParaRPr lang="en-US" sz="1250" dirty="0"/>
          </a:p>
        </p:txBody>
      </p:sp>
      <p:sp>
        <p:nvSpPr>
          <p:cNvPr id="14" name="Text 11"/>
          <p:cNvSpPr txBox="1"/>
          <p:nvPr/>
        </p:nvSpPr>
        <p:spPr>
          <a:xfrm>
            <a:off x="777240" y="5330952"/>
            <a:ext cx="10607040" cy="658368"/>
          </a:xfrm>
          <a:prstGeom prst="rect">
            <a:avLst/>
          </a:prstGeom>
          <a:noFill/>
          <a:ln/>
        </p:spPr>
        <p:txBody>
          <a:bodyPr wrap="square" lIns="0" tIns="0" rIns="0" bIns="0" rtlCol="0" anchor="ctr"/>
          <a:lstStyle/>
          <a:p>
            <a:pPr indent="0" marL="0">
              <a:lnSpc>
                <a:spcPts val="1500"/>
              </a:lnSpc>
              <a:buNone/>
            </a:pPr>
            <a:r>
              <a:rPr lang="en-US" sz="1150" dirty="0">
                <a:solidFill>
                  <a:srgbClr val="4A5663"/>
                </a:solidFill>
                <a:latin typeface="Calibri" pitchFamily="34" charset="0"/>
                <a:ea typeface="Calibri" pitchFamily="34" charset="-122"/>
                <a:cs typeface="Calibri" pitchFamily="34" charset="-120"/>
              </a:rPr>
              <a:t>Without Task 3, this hypothesis is confirmed with a chart any reviewer would accept, and the 60-day plan contains a fraud-model rollback that costs engineering time and raises genuine fraud losses. The check that prevents it — "is risk_score inside its declared range?" — takes one line to write and is exactly the kind of check that gets skipped.</a:t>
            </a:r>
            <a:endParaRPr lang="en-US" sz="11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4F6F8"/>
        </a:solidFill>
      </p:bgPr>
    </p:bg>
    <p:spTree>
      <p:nvGrpSpPr>
        <p:cNvPr id="1" name=""/>
        <p:cNvGrpSpPr/>
        <p:nvPr/>
      </p:nvGrpSpPr>
      <p:grpSpPr>
        <a:xfrm>
          <a:off x="0" y="0"/>
          <a:ext cx="0" cy="0"/>
          <a:chOff x="0" y="0"/>
          <a:chExt cx="0" cy="0"/>
        </a:xfrm>
      </p:grpSpPr>
      <p:sp>
        <p:nvSpPr>
          <p:cNvPr id="2" name="Text 0"/>
          <p:cNvSpPr txBox="1"/>
          <p:nvPr/>
        </p:nvSpPr>
        <p:spPr>
          <a:xfrm>
            <a:off x="548640" y="329184"/>
            <a:ext cx="7315200" cy="237744"/>
          </a:xfrm>
          <a:prstGeom prst="rect">
            <a:avLst/>
          </a:prstGeom>
          <a:noFill/>
          <a:ln/>
        </p:spPr>
        <p:txBody>
          <a:bodyPr wrap="square" lIns="0" tIns="0" rIns="0" bIns="0" rtlCol="0" anchor="ctr"/>
          <a:lstStyle/>
          <a:p>
            <a:pPr indent="0" marL="0">
              <a:buNone/>
            </a:pPr>
            <a:r>
              <a:rPr lang="en-US" sz="1050" b="1" spc="200" kern="0" dirty="0">
                <a:solidFill>
                  <a:srgbClr val="D98324"/>
                </a:solidFill>
                <a:latin typeface="Calibri" pitchFamily="34" charset="0"/>
                <a:ea typeface="Calibri" pitchFamily="34" charset="-122"/>
                <a:cs typeface="Calibri" pitchFamily="34" charset="-120"/>
              </a:rPr>
              <a:t>TASK 6 · DEEP DIVE</a:t>
            </a:r>
            <a:endParaRPr lang="en-US" sz="1050" dirty="0"/>
          </a:p>
        </p:txBody>
      </p:sp>
      <p:sp>
        <p:nvSpPr>
          <p:cNvPr id="3" name="Text 1"/>
          <p:cNvSpPr txBox="1"/>
          <p:nvPr/>
        </p:nvSpPr>
        <p:spPr>
          <a:xfrm>
            <a:off x="548640" y="603504"/>
            <a:ext cx="11064240" cy="502920"/>
          </a:xfrm>
          <a:prstGeom prst="rect">
            <a:avLst/>
          </a:prstGeom>
          <a:noFill/>
          <a:ln/>
        </p:spPr>
        <p:txBody>
          <a:bodyPr wrap="square" lIns="0" tIns="0" rIns="0" bIns="0" rtlCol="0" anchor="ctr"/>
          <a:lstStyle/>
          <a:p>
            <a:pPr indent="0" marL="0">
              <a:buNone/>
            </a:pPr>
            <a:r>
              <a:rPr lang="en-US" sz="2600" b="1" dirty="0">
                <a:solidFill>
                  <a:srgbClr val="12233C"/>
                </a:solidFill>
                <a:latin typeface="Cambria" pitchFamily="34" charset="0"/>
                <a:ea typeface="Cambria" pitchFamily="34" charset="-122"/>
                <a:cs typeface="Cambria" pitchFamily="34" charset="-120"/>
              </a:rPr>
              <a:t>One real incident, correctly parked. One real driver, correctly promoted.</a:t>
            </a:r>
            <a:endParaRPr lang="en-US" sz="2600" dirty="0"/>
          </a:p>
        </p:txBody>
      </p:sp>
      <p:sp>
        <p:nvSpPr>
          <p:cNvPr id="4" name="Text 2"/>
          <p:cNvSpPr txBox="1"/>
          <p:nvPr/>
        </p:nvSpPr>
        <p:spPr>
          <a:xfrm>
            <a:off x="548640" y="1115568"/>
            <a:ext cx="11064240" cy="310896"/>
          </a:xfrm>
          <a:prstGeom prst="rect">
            <a:avLst/>
          </a:prstGeom>
          <a:noFill/>
          <a:ln/>
        </p:spPr>
        <p:txBody>
          <a:bodyPr wrap="square" lIns="0" tIns="0" rIns="0" bIns="0" rtlCol="0" anchor="ctr"/>
          <a:lstStyle/>
          <a:p>
            <a:pPr indent="0" marL="0">
              <a:buNone/>
            </a:pPr>
            <a:r>
              <a:rPr lang="en-US" sz="1300" dirty="0">
                <a:solidFill>
                  <a:srgbClr val="6B7785"/>
                </a:solidFill>
                <a:latin typeface="Calibri" pitchFamily="34" charset="0"/>
                <a:ea typeface="Calibri" pitchFamily="34" charset="-122"/>
                <a:cs typeface="Calibri" pitchFamily="34" charset="-120"/>
              </a:rPr>
              <a:t>The discipline being tested here is sizing an effect rather than reacting to its severity.</a:t>
            </a:r>
            <a:endParaRPr lang="en-US" sz="1300" dirty="0"/>
          </a:p>
        </p:txBody>
      </p:sp>
      <p:sp>
        <p:nvSpPr>
          <p:cNvPr id="5" name="Shape 3"/>
          <p:cNvSpPr/>
          <p:nvPr/>
        </p:nvSpPr>
        <p:spPr>
          <a:xfrm>
            <a:off x="548640" y="1627632"/>
            <a:ext cx="5440680" cy="2395728"/>
          </a:xfrm>
          <a:prstGeom prst="roundRect">
            <a:avLst>
              <a:gd name="adj" fmla="val 2290"/>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sp>
        <p:nvSpPr>
          <p:cNvPr id="6" name="Text 4"/>
          <p:cNvSpPr txBox="1"/>
          <p:nvPr/>
        </p:nvSpPr>
        <p:spPr>
          <a:xfrm>
            <a:off x="777240" y="1755648"/>
            <a:ext cx="4983480" cy="256032"/>
          </a:xfrm>
          <a:prstGeom prst="rect">
            <a:avLst/>
          </a:prstGeom>
          <a:noFill/>
          <a:ln/>
        </p:spPr>
        <p:txBody>
          <a:bodyPr wrap="square" lIns="0" tIns="0" rIns="0" bIns="0" rtlCol="0" anchor="ctr"/>
          <a:lstStyle/>
          <a:p>
            <a:pPr indent="0" marL="0">
              <a:buNone/>
            </a:pPr>
            <a:r>
              <a:rPr lang="en-US" sz="1250" b="1" dirty="0">
                <a:solidFill>
                  <a:srgbClr val="D98324"/>
                </a:solidFill>
                <a:latin typeface="Calibri" pitchFamily="34" charset="0"/>
                <a:ea typeface="Calibri" pitchFamily="34" charset="-122"/>
                <a:cs typeface="Calibri" pitchFamily="34" charset="-120"/>
              </a:rPr>
              <a:t>PROV_MERIDIAN latency incident — 1 Aug to 24 Sep</a:t>
            </a:r>
            <a:endParaRPr lang="en-US" sz="125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777240" y="2066544"/>
          <a:ext cx="4983480" cy="914400"/>
        </p:xfrm>
        <a:graphic>
          <a:graphicData uri="http://schemas.openxmlformats.org/drawingml/2006/table">
            <a:tbl>
              <a:tblPr/>
              <a:tblGrid>
                <a:gridCol w="1828800"/>
                <a:gridCol w="786384"/>
                <a:gridCol w="786384"/>
                <a:gridCol w="786384"/>
                <a:gridCol w="795528"/>
              </a:tblGrid>
              <a:tr h="347472">
                <a:tc>
                  <a:txBody>
                    <a:bodyPr/>
                    <a:lstStyle/>
                    <a:p>
                      <a:pPr indent="0" marL="0">
                        <a:buNone/>
                      </a:pP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2233C"/>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Jul</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2233C"/>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Aug</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2233C"/>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Sep</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2233C"/>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Oct</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2233C"/>
                    </a:solidFill>
                  </a:tcPr>
                </a:tc>
              </a:tr>
              <a:tr h="347472">
                <a:tc>
                  <a:txBody>
                    <a:bodyPr/>
                    <a:lstStyle/>
                    <a:p>
                      <a:pPr algn="l" indent="0" marL="0">
                        <a:buNone/>
                      </a:pPr>
                      <a:r>
                        <a:rPr lang="en-US" sz="1050" b="1" dirty="0">
                          <a:solidFill>
                            <a:srgbClr val="1A1A1A"/>
                          </a:solidFill>
                          <a:latin typeface="Calibri" pitchFamily="34" charset="0"/>
                          <a:ea typeface="Calibri" pitchFamily="34" charset="-122"/>
                          <a:cs typeface="Calibri" pitchFamily="34" charset="-120"/>
                        </a:rPr>
                        <a:t>p95 processing_ms</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227</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1,517</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1,417</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227</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r>
              <a:tr h="347472">
                <a:tc>
                  <a:txBody>
                    <a:bodyPr/>
                    <a:lstStyle/>
                    <a:p>
                      <a:pPr algn="l" indent="0" marL="0">
                        <a:buNone/>
                      </a:pPr>
                      <a:r>
                        <a:rPr lang="en-US" sz="1050" b="1" dirty="0">
                          <a:solidFill>
                            <a:srgbClr val="1A1A1A"/>
                          </a:solidFill>
                          <a:latin typeface="Calibri" pitchFamily="34" charset="0"/>
                          <a:ea typeface="Calibri" pitchFamily="34" charset="-122"/>
                          <a:cs typeface="Calibri" pitchFamily="34" charset="-120"/>
                        </a:rPr>
                        <a:t>Success rate</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90.3%</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82.5%</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84.2%</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89.9%</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r>
            </a:tbl>
          </a:graphicData>
        </a:graphic>
      </p:graphicFrame>
      <p:sp>
        <p:nvSpPr>
          <p:cNvPr id="8" name="Text 5"/>
          <p:cNvSpPr txBox="1"/>
          <p:nvPr/>
        </p:nvSpPr>
        <p:spPr>
          <a:xfrm>
            <a:off x="777240" y="3200400"/>
            <a:ext cx="4983480" cy="777240"/>
          </a:xfrm>
          <a:prstGeom prst="rect">
            <a:avLst/>
          </a:prstGeom>
          <a:noFill/>
          <a:ln/>
        </p:spPr>
        <p:txBody>
          <a:bodyPr wrap="square" lIns="0" tIns="0" rIns="0" bIns="0" rtlCol="0" anchor="ctr"/>
          <a:lstStyle/>
          <a:p>
            <a:pPr indent="0" marL="0">
              <a:lnSpc>
                <a:spcPts val="1300"/>
              </a:lnSpc>
              <a:buNone/>
            </a:pPr>
            <a:r>
              <a:rPr lang="en-US" sz="1050" dirty="0">
                <a:solidFill>
                  <a:srgbClr val="4A5663"/>
                </a:solidFill>
                <a:latin typeface="Calibri" pitchFamily="34" charset="0"/>
                <a:ea typeface="Calibri" pitchFamily="34" charset="-122"/>
                <a:cs typeface="Calibri" pitchFamily="34" charset="-120"/>
              </a:rPr>
              <a:t>Severe, genuine, worth roughly 698 lost transactions. It costs VOLUME. It barely touches contribution per SUCCESSFUL transaction, because a failed attempt never enters the denominator and incurs almost no cost. If a decomposition assigns this a slice of the −$0.53, the model is wrong.</a:t>
            </a:r>
            <a:endParaRPr lang="en-US" sz="1050" dirty="0"/>
          </a:p>
        </p:txBody>
      </p:sp>
      <p:sp>
        <p:nvSpPr>
          <p:cNvPr id="9" name="Shape 6"/>
          <p:cNvSpPr/>
          <p:nvPr/>
        </p:nvSpPr>
        <p:spPr>
          <a:xfrm>
            <a:off x="6172200" y="1627632"/>
            <a:ext cx="5440680" cy="2395728"/>
          </a:xfrm>
          <a:prstGeom prst="roundRect">
            <a:avLst>
              <a:gd name="adj" fmla="val 2290"/>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sp>
        <p:nvSpPr>
          <p:cNvPr id="10" name="Text 7"/>
          <p:cNvSpPr txBox="1"/>
          <p:nvPr/>
        </p:nvSpPr>
        <p:spPr>
          <a:xfrm>
            <a:off x="6400800" y="1755648"/>
            <a:ext cx="4983480" cy="256032"/>
          </a:xfrm>
          <a:prstGeom prst="rect">
            <a:avLst/>
          </a:prstGeom>
          <a:noFill/>
          <a:ln/>
        </p:spPr>
        <p:txBody>
          <a:bodyPr wrap="square" lIns="0" tIns="0" rIns="0" bIns="0" rtlCol="0" anchor="ctr"/>
          <a:lstStyle/>
          <a:p>
            <a:pPr indent="0" marL="0">
              <a:buNone/>
            </a:pPr>
            <a:r>
              <a:rPr lang="en-US" sz="1250" b="1" dirty="0">
                <a:solidFill>
                  <a:srgbClr val="0E7C7B"/>
                </a:solidFill>
                <a:latin typeface="Calibri" pitchFamily="34" charset="0"/>
                <a:ea typeface="Calibri" pitchFamily="34" charset="-122"/>
                <a:cs typeface="Calibri" pitchFamily="34" charset="-120"/>
              </a:rPr>
              <a:t>Routing drift + the 1 July Orbit repricing</a:t>
            </a:r>
            <a:endParaRPr lang="en-US" sz="1250" dirty="0"/>
          </a:p>
        </p:txBody>
      </p:sp>
      <p:graphicFrame>
        <p:nvGraphicFramePr>
          <p:cNvPr id="41" name="Table 1"/>
          <p:cNvGraphicFramePr>
            <a:graphicFrameLocks noGrp="1"/>
          </p:cNvGraphicFramePr>
          <p:nvPr>
            <p:extLst>
              <p:ext uri="{D42A27DB-BD31-4B8C-83A1-F6EECF244321}">
                <p14:modId xmlns:p14="http://schemas.microsoft.com/office/powerpoint/2010/main" val="1579011935"/>
              </p:ext>
            </p:extLst>
          </p:nvPr>
        </p:nvGraphicFramePr>
        <p:xfrm>
          <a:off x="6400800" y="2066544"/>
          <a:ext cx="4983480" cy="914400"/>
        </p:xfrm>
        <a:graphic>
          <a:graphicData uri="http://schemas.openxmlformats.org/drawingml/2006/table">
            <a:tbl>
              <a:tblPr/>
              <a:tblGrid>
                <a:gridCol w="2377440"/>
                <a:gridCol w="649224"/>
                <a:gridCol w="649224"/>
                <a:gridCol w="649224"/>
                <a:gridCol w="658368"/>
              </a:tblGrid>
              <a:tr h="347472">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Small-ticket cohort</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2233C"/>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Q1</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2233C"/>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Q2</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2233C"/>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Q3</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2233C"/>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Q4</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2233C"/>
                    </a:solidFill>
                  </a:tcPr>
                </a:tc>
              </a:tr>
              <a:tr h="347472">
                <a:tc>
                  <a:txBody>
                    <a:bodyPr/>
                    <a:lstStyle/>
                    <a:p>
                      <a:pPr algn="l" indent="0" marL="0">
                        <a:buNone/>
                      </a:pPr>
                      <a:r>
                        <a:rPr lang="en-US" sz="1050" b="1" dirty="0">
                          <a:solidFill>
                            <a:srgbClr val="1A1A1A"/>
                          </a:solidFill>
                          <a:latin typeface="Calibri" pitchFamily="34" charset="0"/>
                          <a:ea typeface="Calibri" pitchFamily="34" charset="-122"/>
                          <a:cs typeface="Calibri" pitchFamily="34" charset="-120"/>
                        </a:rPr>
                        <a:t>Share routed to ORBIT</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28%</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47%</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67%</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89%</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r>
            </a:tbl>
          </a:graphicData>
        </a:graphic>
      </p:graphicFrame>
      <p:sp>
        <p:nvSpPr>
          <p:cNvPr id="12" name="Text 8"/>
          <p:cNvSpPr txBox="1"/>
          <p:nvPr/>
        </p:nvSpPr>
        <p:spPr>
          <a:xfrm>
            <a:off x="6400800" y="3127248"/>
            <a:ext cx="4983480" cy="822960"/>
          </a:xfrm>
          <a:prstGeom prst="rect">
            <a:avLst/>
          </a:prstGeom>
          <a:noFill/>
          <a:ln/>
        </p:spPr>
        <p:txBody>
          <a:bodyPr wrap="square" lIns="0" tIns="0" rIns="0" bIns="0" rtlCol="0" anchor="ctr"/>
          <a:lstStyle/>
          <a:p>
            <a:pPr indent="0" marL="0">
              <a:lnSpc>
                <a:spcPts val="1300"/>
              </a:lnSpc>
              <a:buNone/>
            </a:pPr>
            <a:r>
              <a:rPr lang="en-US" sz="1050" dirty="0">
                <a:solidFill>
                  <a:srgbClr val="4A5663"/>
                </a:solidFill>
                <a:latin typeface="Calibri" pitchFamily="34" charset="0"/>
                <a:ea typeface="Calibri" pitchFamily="34" charset="-122"/>
                <a:cs typeface="Calibri" pitchFamily="34" charset="-120"/>
              </a:rPr>
              <a:t>The routing table keys on merchant COUNTRY, not ticket size. As the small-ticket cohort grows in SG and AE, more micro-payments land on the provider with the highest fixed fee — and that fee rose from $0.35 to $0.52 on 1 July, visible as a dated step in route_cost.csv.</a:t>
            </a:r>
            <a:endParaRPr lang="en-US" sz="1050" dirty="0"/>
          </a:p>
        </p:txBody>
      </p:sp>
      <p:sp>
        <p:nvSpPr>
          <p:cNvPr id="13" name="Shape 9"/>
          <p:cNvSpPr/>
          <p:nvPr/>
        </p:nvSpPr>
        <p:spPr>
          <a:xfrm>
            <a:off x="548640" y="4187952"/>
            <a:ext cx="11064240" cy="2121408"/>
          </a:xfrm>
          <a:prstGeom prst="roundRect">
            <a:avLst>
              <a:gd name="adj" fmla="val 2586"/>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sp>
        <p:nvSpPr>
          <p:cNvPr id="14" name="Text 10"/>
          <p:cNvSpPr txBox="1"/>
          <p:nvPr/>
        </p:nvSpPr>
        <p:spPr>
          <a:xfrm>
            <a:off x="777240" y="4315968"/>
            <a:ext cx="10607040" cy="256032"/>
          </a:xfrm>
          <a:prstGeom prst="rect">
            <a:avLst/>
          </a:prstGeom>
          <a:noFill/>
          <a:ln/>
        </p:spPr>
        <p:txBody>
          <a:bodyPr wrap="square" lIns="0" tIns="0" rIns="0" bIns="0" rtlCol="0" anchor="ctr"/>
          <a:lstStyle/>
          <a:p>
            <a:pPr indent="0" marL="0">
              <a:buNone/>
            </a:pPr>
            <a:r>
              <a:rPr lang="en-US" sz="1250" b="1" dirty="0">
                <a:solidFill>
                  <a:srgbClr val="12233C"/>
                </a:solidFill>
                <a:latin typeface="Calibri" pitchFamily="34" charset="0"/>
                <a:ea typeface="Calibri" pitchFamily="34" charset="-122"/>
                <a:cs typeface="Calibri" pitchFamily="34" charset="-120"/>
              </a:rPr>
              <a:t>The break-even that turns this into a routing rule</a:t>
            </a:r>
            <a:endParaRPr lang="en-US" sz="1250" dirty="0"/>
          </a:p>
        </p:txBody>
      </p:sp>
      <p:graphicFrame>
        <p:nvGraphicFramePr>
          <p:cNvPr id="61" name="Table 2"/>
          <p:cNvGraphicFramePr>
            <a:graphicFrameLocks noGrp="1"/>
          </p:cNvGraphicFramePr>
          <p:nvPr>
            <p:extLst>
              <p:ext uri="{D42A27DB-BD31-4B8C-83A1-F6EECF244321}">
                <p14:modId xmlns:p14="http://schemas.microsoft.com/office/powerpoint/2010/main" val="1579011935"/>
              </p:ext>
            </p:extLst>
          </p:nvPr>
        </p:nvGraphicFramePr>
        <p:xfrm>
          <a:off x="777240" y="4617720"/>
          <a:ext cx="10607040" cy="914400"/>
        </p:xfrm>
        <a:graphic>
          <a:graphicData uri="http://schemas.openxmlformats.org/drawingml/2006/table">
            <a:tbl>
              <a:tblPr/>
              <a:tblGrid>
                <a:gridCol w="1737360"/>
                <a:gridCol w="1691640"/>
                <a:gridCol w="1097280"/>
                <a:gridCol w="2011680"/>
                <a:gridCol w="2057400"/>
                <a:gridCol w="2011680"/>
              </a:tblGrid>
              <a:tr h="329184">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Provider</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2233C"/>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Fixed fee</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2233C"/>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Variable</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2233C"/>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Cost on a $14 ticket</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2233C"/>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Cost on a $600 ticket</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2233C"/>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Where it wins</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2233C"/>
                    </a:solidFill>
                  </a:tcPr>
                </a:tc>
              </a:tr>
              <a:tr h="329184">
                <a:tc>
                  <a:txBody>
                    <a:bodyPr/>
                    <a:lstStyle/>
                    <a:p>
                      <a:pPr algn="l" indent="0" marL="0">
                        <a:buNone/>
                      </a:pPr>
                      <a:r>
                        <a:rPr lang="en-US" sz="1050" b="1" dirty="0">
                          <a:solidFill>
                            <a:srgbClr val="1A1A1A"/>
                          </a:solidFill>
                          <a:latin typeface="Calibri" pitchFamily="34" charset="0"/>
                          <a:ea typeface="Calibri" pitchFamily="34" charset="-122"/>
                          <a:cs typeface="Calibri" pitchFamily="34" charset="-120"/>
                        </a:rPr>
                        <a:t>PROV_NORTH</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$0.05</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0.60%</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$0.13</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$3.65</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Everything below ~$147</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r>
              <a:tr h="329184">
                <a:tc>
                  <a:txBody>
                    <a:bodyPr/>
                    <a:lstStyle/>
                    <a:p>
                      <a:pPr algn="l" indent="0" marL="0">
                        <a:buNone/>
                      </a:pPr>
                      <a:r>
                        <a:rPr lang="en-US" sz="1050" b="1" dirty="0">
                          <a:solidFill>
                            <a:srgbClr val="1A1A1A"/>
                          </a:solidFill>
                          <a:latin typeface="Calibri" pitchFamily="34" charset="0"/>
                          <a:ea typeface="Calibri" pitchFamily="34" charset="-122"/>
                          <a:cs typeface="Calibri" pitchFamily="34" charset="-120"/>
                        </a:rPr>
                        <a:t>PROV_MERIDIAN</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$0.15</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0.45%</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$0.21</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$2.85</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Middle of the range</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r>
              <a:tr h="329184">
                <a:tc>
                  <a:txBody>
                    <a:bodyPr/>
                    <a:lstStyle/>
                    <a:p>
                      <a:pPr algn="l" indent="0" marL="0">
                        <a:buNone/>
                      </a:pPr>
                      <a:r>
                        <a:rPr lang="en-US" sz="1050" b="1" dirty="0">
                          <a:solidFill>
                            <a:srgbClr val="1A1A1A"/>
                          </a:solidFill>
                          <a:latin typeface="Calibri" pitchFamily="34" charset="0"/>
                          <a:ea typeface="Calibri" pitchFamily="34" charset="-122"/>
                          <a:cs typeface="Calibri" pitchFamily="34" charset="-120"/>
                        </a:rPr>
                        <a:t>PROV_ORBIT</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$0.52 (was $0.35)</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0.28%</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$0.56</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1A1A1A"/>
                          </a:solidFill>
                          <a:latin typeface="Calibri" pitchFamily="34" charset="0"/>
                          <a:ea typeface="Calibri" pitchFamily="34" charset="-122"/>
                          <a:cs typeface="Calibri" pitchFamily="34" charset="-120"/>
                        </a:rPr>
                        <a:t>$2.20</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1A1A"/>
                          </a:solidFill>
                          <a:latin typeface="Calibri" pitchFamily="34" charset="0"/>
                          <a:ea typeface="Calibri" pitchFamily="34" charset="-122"/>
                          <a:cs typeface="Calibri" pitchFamily="34" charset="-120"/>
                        </a:rPr>
                        <a:t>Large tickets only</a:t>
                      </a:r>
                      <a:endParaRPr lang="en-US" sz="10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r>
            </a:tbl>
          </a:graphicData>
        </a:graphic>
      </p:graphicFrame>
      <p:sp>
        <p:nvSpPr>
          <p:cNvPr id="16" name="Text 11"/>
          <p:cNvSpPr txBox="1"/>
          <p:nvPr/>
        </p:nvSpPr>
        <p:spPr>
          <a:xfrm>
            <a:off x="777240" y="5943600"/>
            <a:ext cx="10607040" cy="292608"/>
          </a:xfrm>
          <a:prstGeom prst="rect">
            <a:avLst/>
          </a:prstGeom>
          <a:noFill/>
          <a:ln/>
        </p:spPr>
        <p:txBody>
          <a:bodyPr wrap="square" lIns="0" tIns="0" rIns="0" bIns="0" rtlCol="0" anchor="ctr"/>
          <a:lstStyle/>
          <a:p>
            <a:pPr indent="0" marL="0">
              <a:buNone/>
            </a:pPr>
            <a:r>
              <a:rPr lang="en-US" sz="1100" i="1" dirty="0">
                <a:solidFill>
                  <a:srgbClr val="6B7785"/>
                </a:solidFill>
                <a:latin typeface="Calibri" pitchFamily="34" charset="0"/>
                <a:ea typeface="Calibri" pitchFamily="34" charset="-122"/>
                <a:cs typeface="Calibri" pitchFamily="34" charset="-120"/>
              </a:rPr>
              <a:t>Break-even between NORTH and ORBIT: about $94 before the repricing, about $147 after. The cohort that grew has a $14 median ticket and was being routed to the provider that only wins above $147.</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4F6F8"/>
        </a:solidFill>
      </p:bgPr>
    </p:bg>
    <p:spTree>
      <p:nvGrpSpPr>
        <p:cNvPr id="1" name=""/>
        <p:cNvGrpSpPr/>
        <p:nvPr/>
      </p:nvGrpSpPr>
      <p:grpSpPr>
        <a:xfrm>
          <a:off x="0" y="0"/>
          <a:ext cx="0" cy="0"/>
          <a:chOff x="0" y="0"/>
          <a:chExt cx="0" cy="0"/>
        </a:xfrm>
      </p:grpSpPr>
      <p:sp>
        <p:nvSpPr>
          <p:cNvPr id="2" name="Text 0"/>
          <p:cNvSpPr txBox="1"/>
          <p:nvPr/>
        </p:nvSpPr>
        <p:spPr>
          <a:xfrm>
            <a:off x="548640" y="329184"/>
            <a:ext cx="7315200" cy="237744"/>
          </a:xfrm>
          <a:prstGeom prst="rect">
            <a:avLst/>
          </a:prstGeom>
          <a:noFill/>
          <a:ln/>
        </p:spPr>
        <p:txBody>
          <a:bodyPr wrap="square" lIns="0" tIns="0" rIns="0" bIns="0" rtlCol="0" anchor="ctr"/>
          <a:lstStyle/>
          <a:p>
            <a:pPr indent="0" marL="0">
              <a:buNone/>
            </a:pPr>
            <a:r>
              <a:rPr lang="en-US" sz="1050" b="1" spc="200" kern="0" dirty="0">
                <a:solidFill>
                  <a:srgbClr val="D98324"/>
                </a:solidFill>
                <a:latin typeface="Calibri" pitchFamily="34" charset="0"/>
                <a:ea typeface="Calibri" pitchFamily="34" charset="-122"/>
                <a:cs typeface="Calibri" pitchFamily="34" charset="-120"/>
              </a:rPr>
              <a:t>TASK 7 · DASHBOARD MODEL</a:t>
            </a:r>
            <a:endParaRPr lang="en-US" sz="1050" dirty="0"/>
          </a:p>
        </p:txBody>
      </p:sp>
      <p:sp>
        <p:nvSpPr>
          <p:cNvPr id="3" name="Text 1"/>
          <p:cNvSpPr txBox="1"/>
          <p:nvPr/>
        </p:nvSpPr>
        <p:spPr>
          <a:xfrm>
            <a:off x="548640" y="603504"/>
            <a:ext cx="11064240" cy="502920"/>
          </a:xfrm>
          <a:prstGeom prst="rect">
            <a:avLst/>
          </a:prstGeom>
          <a:noFill/>
          <a:ln/>
        </p:spPr>
        <p:txBody>
          <a:bodyPr wrap="square" lIns="0" tIns="0" rIns="0" bIns="0" rtlCol="0" anchor="ctr"/>
          <a:lstStyle/>
          <a:p>
            <a:pPr indent="0" marL="0">
              <a:buNone/>
            </a:pPr>
            <a:r>
              <a:rPr lang="en-US" sz="2600" b="1" dirty="0">
                <a:solidFill>
                  <a:srgbClr val="12233C"/>
                </a:solidFill>
                <a:latin typeface="Cambria" pitchFamily="34" charset="0"/>
                <a:ea typeface="Cambria" pitchFamily="34" charset="-122"/>
                <a:cs typeface="Cambria" pitchFamily="34" charset="-120"/>
              </a:rPr>
              <a:t>Power BI consumes the governed star, never the raw files</a:t>
            </a:r>
            <a:endParaRPr lang="en-US" sz="2600" dirty="0"/>
          </a:p>
        </p:txBody>
      </p:sp>
      <p:sp>
        <p:nvSpPr>
          <p:cNvPr id="4" name="Text 2"/>
          <p:cNvSpPr txBox="1"/>
          <p:nvPr/>
        </p:nvSpPr>
        <p:spPr>
          <a:xfrm>
            <a:off x="548640" y="1115568"/>
            <a:ext cx="11064240" cy="310896"/>
          </a:xfrm>
          <a:prstGeom prst="rect">
            <a:avLst/>
          </a:prstGeom>
          <a:noFill/>
          <a:ln/>
        </p:spPr>
        <p:txBody>
          <a:bodyPr wrap="square" lIns="0" tIns="0" rIns="0" bIns="0" rtlCol="0" anchor="ctr"/>
          <a:lstStyle/>
          <a:p>
            <a:pPr indent="0" marL="0">
              <a:buNone/>
            </a:pPr>
            <a:r>
              <a:rPr lang="en-US" sz="1300" dirty="0">
                <a:solidFill>
                  <a:srgbClr val="6B7785"/>
                </a:solidFill>
                <a:latin typeface="Calibri" pitchFamily="34" charset="0"/>
                <a:ea typeface="Calibri" pitchFamily="34" charset="-122"/>
                <a:cs typeface="Calibri" pitchFamily="34" charset="-120"/>
              </a:rPr>
              <a:t>Ten tables from powerbi_model/. Six many-to-one single-direction relationships. Two analysis tables deliberately disconnected.</a:t>
            </a:r>
            <a:endParaRPr lang="en-US" sz="13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627632"/>
          <a:ext cx="11064240" cy="914400"/>
        </p:xfrm>
        <a:graphic>
          <a:graphicData uri="http://schemas.openxmlformats.org/drawingml/2006/table">
            <a:tbl>
              <a:tblPr/>
              <a:tblGrid>
                <a:gridCol w="2834640"/>
                <a:gridCol w="6766560"/>
                <a:gridCol w="1463040"/>
              </a:tblGrid>
              <a:tr h="301752">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Measure</a:t>
                      </a:r>
                      <a:endParaRPr lang="en-US" sz="9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2233C"/>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DAX</a:t>
                      </a:r>
                      <a:endParaRPr lang="en-US" sz="9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2233C"/>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Additive?</a:t>
                      </a:r>
                      <a:endParaRPr lang="en-US" sz="9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2233C"/>
                    </a:solidFill>
                  </a:tcPr>
                </a:tc>
              </a:tr>
              <a:tr h="301752">
                <a:tc>
                  <a:txBody>
                    <a:bodyPr/>
                    <a:lstStyle/>
                    <a:p>
                      <a:pPr algn="l" indent="0" marL="0">
                        <a:buNone/>
                      </a:pPr>
                      <a:r>
                        <a:rPr lang="en-US" sz="950" b="1" dirty="0">
                          <a:solidFill>
                            <a:srgbClr val="1A1A1A"/>
                          </a:solidFill>
                          <a:latin typeface="Calibri" pitchFamily="34" charset="0"/>
                          <a:ea typeface="Calibri" pitchFamily="34" charset="-122"/>
                          <a:cs typeface="Calibri" pitchFamily="34" charset="-120"/>
                        </a:rPr>
                        <a:t>Attempted / Successful Volume</a:t>
                      </a:r>
                      <a:endParaRPr lang="en-US" sz="9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900" dirty="0">
                          <a:solidFill>
                            <a:srgbClr val="1A1A1A"/>
                          </a:solidFill>
                          <a:latin typeface="Courier New" pitchFamily="34" charset="0"/>
                          <a:ea typeface="Courier New" pitchFamily="34" charset="-122"/>
                          <a:cs typeface="Courier New" pitchFamily="34" charset="-120"/>
                        </a:rPr>
                        <a:t>SUM(fact_payment[is_attempt])  /  SUM(fact_payment[is_success])</a:t>
                      </a:r>
                      <a:endParaRPr lang="en-US" sz="900" dirty="0">
                        <a:latin typeface="Courier New" charset="0"/>
                        <a:ea typeface="Courier New" charset="0"/>
                        <a:cs typeface="Courier New"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0E7C7B"/>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r>
              <a:tr h="301752">
                <a:tc>
                  <a:txBody>
                    <a:bodyPr/>
                    <a:lstStyle/>
                    <a:p>
                      <a:pPr algn="l" indent="0" marL="0">
                        <a:buNone/>
                      </a:pPr>
                      <a:r>
                        <a:rPr lang="en-US" sz="950" b="1" dirty="0">
                          <a:solidFill>
                            <a:srgbClr val="1A1A1A"/>
                          </a:solidFill>
                          <a:latin typeface="Calibri" pitchFamily="34" charset="0"/>
                          <a:ea typeface="Calibri" pitchFamily="34" charset="-122"/>
                          <a:cs typeface="Calibri" pitchFamily="34" charset="-120"/>
                        </a:rPr>
                        <a:t>Gross Payment Value</a:t>
                      </a:r>
                      <a:endParaRPr lang="en-US" sz="9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900" dirty="0">
                          <a:solidFill>
                            <a:srgbClr val="1A1A1A"/>
                          </a:solidFill>
                          <a:latin typeface="Courier New" pitchFamily="34" charset="0"/>
                          <a:ea typeface="Courier New" pitchFamily="34" charset="-122"/>
                          <a:cs typeface="Courier New" pitchFamily="34" charset="-120"/>
                        </a:rPr>
                        <a:t>SUM(fact_payment[gross_usd])</a:t>
                      </a:r>
                      <a:endParaRPr lang="en-US" sz="900" dirty="0">
                        <a:latin typeface="Courier New" charset="0"/>
                        <a:ea typeface="Courier New" charset="0"/>
                        <a:cs typeface="Courier New"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ctr" indent="0" marL="0">
                        <a:buNone/>
                      </a:pPr>
                      <a:r>
                        <a:rPr lang="en-US" sz="950" b="1" dirty="0">
                          <a:solidFill>
                            <a:srgbClr val="0E7C7B"/>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r>
              <a:tr h="301752">
                <a:tc>
                  <a:txBody>
                    <a:bodyPr/>
                    <a:lstStyle/>
                    <a:p>
                      <a:pPr algn="l" indent="0" marL="0">
                        <a:buNone/>
                      </a:pPr>
                      <a:r>
                        <a:rPr lang="en-US" sz="950" b="1" dirty="0">
                          <a:solidFill>
                            <a:srgbClr val="1A1A1A"/>
                          </a:solidFill>
                          <a:latin typeface="Calibri" pitchFamily="34" charset="0"/>
                          <a:ea typeface="Calibri" pitchFamily="34" charset="-122"/>
                          <a:cs typeface="Calibri" pitchFamily="34" charset="-120"/>
                        </a:rPr>
                        <a:t>Merchant Revenue</a:t>
                      </a:r>
                      <a:endParaRPr lang="en-US" sz="9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900" dirty="0">
                          <a:solidFill>
                            <a:srgbClr val="1A1A1A"/>
                          </a:solidFill>
                          <a:latin typeface="Courier New" pitchFamily="34" charset="0"/>
                          <a:ea typeface="Courier New" pitchFamily="34" charset="-122"/>
                          <a:cs typeface="Courier New" pitchFamily="34" charset="-120"/>
                        </a:rPr>
                        <a:t>SUM(fact_payment[merchant_revenue_usd])</a:t>
                      </a:r>
                      <a:endParaRPr lang="en-US" sz="900" dirty="0">
                        <a:latin typeface="Courier New" charset="0"/>
                        <a:ea typeface="Courier New" charset="0"/>
                        <a:cs typeface="Courier New"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0E7C7B"/>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r>
              <a:tr h="301752">
                <a:tc>
                  <a:txBody>
                    <a:bodyPr/>
                    <a:lstStyle/>
                    <a:p>
                      <a:pPr algn="l" indent="0" marL="0">
                        <a:buNone/>
                      </a:pPr>
                      <a:r>
                        <a:rPr lang="en-US" sz="950" b="1" dirty="0">
                          <a:solidFill>
                            <a:srgbClr val="1A1A1A"/>
                          </a:solidFill>
                          <a:latin typeface="Calibri" pitchFamily="34" charset="0"/>
                          <a:ea typeface="Calibri" pitchFamily="34" charset="-122"/>
                          <a:cs typeface="Calibri" pitchFamily="34" charset="-120"/>
                        </a:rPr>
                        <a:t>Processing / Chargeback Cost</a:t>
                      </a:r>
                      <a:endParaRPr lang="en-US" sz="9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900" dirty="0">
                          <a:solidFill>
                            <a:srgbClr val="1A1A1A"/>
                          </a:solidFill>
                          <a:latin typeface="Courier New" pitchFamily="34" charset="0"/>
                          <a:ea typeface="Courier New" pitchFamily="34" charset="-122"/>
                          <a:cs typeface="Courier New" pitchFamily="34" charset="-120"/>
                        </a:rPr>
                        <a:t>SUM(fact_payment[processing_cost_usd])  /  SUM(...[chargeback_cost_usd])</a:t>
                      </a:r>
                      <a:endParaRPr lang="en-US" sz="900" dirty="0">
                        <a:latin typeface="Courier New" charset="0"/>
                        <a:ea typeface="Courier New" charset="0"/>
                        <a:cs typeface="Courier New"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ctr" indent="0" marL="0">
                        <a:buNone/>
                      </a:pPr>
                      <a:r>
                        <a:rPr lang="en-US" sz="950" b="1" dirty="0">
                          <a:solidFill>
                            <a:srgbClr val="0E7C7B"/>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r>
              <a:tr h="301752">
                <a:tc>
                  <a:txBody>
                    <a:bodyPr/>
                    <a:lstStyle/>
                    <a:p>
                      <a:pPr algn="l" indent="0" marL="0">
                        <a:buNone/>
                      </a:pPr>
                      <a:r>
                        <a:rPr lang="en-US" sz="950" b="1" dirty="0">
                          <a:solidFill>
                            <a:srgbClr val="1A1A1A"/>
                          </a:solidFill>
                          <a:latin typeface="Calibri" pitchFamily="34" charset="0"/>
                          <a:ea typeface="Calibri" pitchFamily="34" charset="-122"/>
                          <a:cs typeface="Calibri" pitchFamily="34" charset="-120"/>
                        </a:rPr>
                        <a:t>Contribution Profit</a:t>
                      </a:r>
                      <a:endParaRPr lang="en-US" sz="9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900" dirty="0">
                          <a:solidFill>
                            <a:srgbClr val="1A1A1A"/>
                          </a:solidFill>
                          <a:latin typeface="Courier New" pitchFamily="34" charset="0"/>
                          <a:ea typeface="Courier New" pitchFamily="34" charset="-122"/>
                          <a:cs typeface="Courier New" pitchFamily="34" charset="-120"/>
                        </a:rPr>
                        <a:t>[Merchant Revenue] - [Processing Cost] - [Chargeback Cost]</a:t>
                      </a:r>
                      <a:endParaRPr lang="en-US" sz="900" dirty="0">
                        <a:latin typeface="Courier New" charset="0"/>
                        <a:ea typeface="Courier New" charset="0"/>
                        <a:cs typeface="Courier New"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0E7C7B"/>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r>
              <a:tr h="301752">
                <a:tc>
                  <a:txBody>
                    <a:bodyPr/>
                    <a:lstStyle/>
                    <a:p>
                      <a:pPr algn="l" indent="0" marL="0">
                        <a:buNone/>
                      </a:pPr>
                      <a:r>
                        <a:rPr lang="en-US" sz="950" b="1" dirty="0">
                          <a:solidFill>
                            <a:srgbClr val="1A1A1A"/>
                          </a:solidFill>
                          <a:latin typeface="Calibri" pitchFamily="34" charset="0"/>
                          <a:ea typeface="Calibri" pitchFamily="34" charset="-122"/>
                          <a:cs typeface="Calibri" pitchFamily="34" charset="-120"/>
                        </a:rPr>
                        <a:t>Success Rate</a:t>
                      </a:r>
                      <a:endParaRPr lang="en-US" sz="9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900" dirty="0">
                          <a:solidFill>
                            <a:srgbClr val="1A1A1A"/>
                          </a:solidFill>
                          <a:latin typeface="Courier New" pitchFamily="34" charset="0"/>
                          <a:ea typeface="Courier New" pitchFamily="34" charset="-122"/>
                          <a:cs typeface="Courier New" pitchFamily="34" charset="-120"/>
                        </a:rPr>
                        <a:t>DIVIDE([Successful Volume], [Attempted Volume])</a:t>
                      </a:r>
                      <a:endParaRPr lang="en-US" sz="900" dirty="0">
                        <a:latin typeface="Courier New" charset="0"/>
                        <a:ea typeface="Courier New" charset="0"/>
                        <a:cs typeface="Courier New"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ctr" indent="0" marL="0">
                        <a:buNone/>
                      </a:pPr>
                      <a:r>
                        <a:rPr lang="en-US" sz="950" b="1" dirty="0">
                          <a:solidFill>
                            <a:srgbClr val="A33D3D"/>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r>
              <a:tr h="301752">
                <a:tc>
                  <a:txBody>
                    <a:bodyPr/>
                    <a:lstStyle/>
                    <a:p>
                      <a:pPr algn="l" indent="0" marL="0">
                        <a:buNone/>
                      </a:pPr>
                      <a:r>
                        <a:rPr lang="en-US" sz="950" b="1" dirty="0">
                          <a:solidFill>
                            <a:srgbClr val="1A1A1A"/>
                          </a:solidFill>
                          <a:latin typeface="Calibri" pitchFamily="34" charset="0"/>
                          <a:ea typeface="Calibri" pitchFamily="34" charset="-122"/>
                          <a:cs typeface="Calibri" pitchFamily="34" charset="-120"/>
                        </a:rPr>
                        <a:t>Contribution per Successful Txn</a:t>
                      </a:r>
                      <a:endParaRPr lang="en-US" sz="9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900" dirty="0">
                          <a:solidFill>
                            <a:srgbClr val="1A1A1A"/>
                          </a:solidFill>
                          <a:latin typeface="Courier New" pitchFamily="34" charset="0"/>
                          <a:ea typeface="Courier New" pitchFamily="34" charset="-122"/>
                          <a:cs typeface="Courier New" pitchFamily="34" charset="-120"/>
                        </a:rPr>
                        <a:t>DIVIDE([Contribution Profit], [Successful Volume])</a:t>
                      </a:r>
                      <a:endParaRPr lang="en-US" sz="900" dirty="0">
                        <a:latin typeface="Courier New" charset="0"/>
                        <a:ea typeface="Courier New" charset="0"/>
                        <a:cs typeface="Courier New"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A33D3D"/>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r>
              <a:tr h="301752">
                <a:tc>
                  <a:txBody>
                    <a:bodyPr/>
                    <a:lstStyle/>
                    <a:p>
                      <a:pPr algn="l" indent="0" marL="0">
                        <a:buNone/>
                      </a:pPr>
                      <a:r>
                        <a:rPr lang="en-US" sz="950" b="1" dirty="0">
                          <a:solidFill>
                            <a:srgbClr val="1A1A1A"/>
                          </a:solidFill>
                          <a:latin typeface="Calibri" pitchFamily="34" charset="0"/>
                          <a:ea typeface="Calibri" pitchFamily="34" charset="-122"/>
                          <a:cs typeface="Calibri" pitchFamily="34" charset="-120"/>
                        </a:rPr>
                        <a:t>Cost per Successful Txn</a:t>
                      </a:r>
                      <a:endParaRPr lang="en-US" sz="9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900" dirty="0">
                          <a:solidFill>
                            <a:srgbClr val="1A1A1A"/>
                          </a:solidFill>
                          <a:latin typeface="Courier New" pitchFamily="34" charset="0"/>
                          <a:ea typeface="Courier New" pitchFamily="34" charset="-122"/>
                          <a:cs typeface="Courier New" pitchFamily="34" charset="-120"/>
                        </a:rPr>
                        <a:t>DIVIDE([Processing Cost], [Successful Volume])</a:t>
                      </a:r>
                      <a:endParaRPr lang="en-US" sz="900" dirty="0">
                        <a:latin typeface="Courier New" charset="0"/>
                        <a:ea typeface="Courier New" charset="0"/>
                        <a:cs typeface="Courier New"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ctr" indent="0" marL="0">
                        <a:buNone/>
                      </a:pPr>
                      <a:r>
                        <a:rPr lang="en-US" sz="950" b="1" dirty="0">
                          <a:solidFill>
                            <a:srgbClr val="A33D3D"/>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r>
              <a:tr h="301752">
                <a:tc>
                  <a:txBody>
                    <a:bodyPr/>
                    <a:lstStyle/>
                    <a:p>
                      <a:pPr algn="l" indent="0" marL="0">
                        <a:buNone/>
                      </a:pPr>
                      <a:r>
                        <a:rPr lang="en-US" sz="950" b="1" dirty="0">
                          <a:solidFill>
                            <a:srgbClr val="1A1A1A"/>
                          </a:solidFill>
                          <a:latin typeface="Calibri" pitchFamily="34" charset="0"/>
                          <a:ea typeface="Calibri" pitchFamily="34" charset="-122"/>
                          <a:cs typeface="Calibri" pitchFamily="34" charset="-120"/>
                        </a:rPr>
                        <a:t>Quarantined Rows</a:t>
                      </a:r>
                      <a:endParaRPr lang="en-US" sz="9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900" dirty="0">
                          <a:solidFill>
                            <a:srgbClr val="1A1A1A"/>
                          </a:solidFill>
                          <a:latin typeface="Courier New" pitchFamily="34" charset="0"/>
                          <a:ea typeface="Courier New" pitchFamily="34" charset="-122"/>
                          <a:cs typeface="Courier New" pitchFamily="34" charset="-120"/>
                        </a:rPr>
                        <a:t>CALCULATE(COUNTROWS(fact_payment), fact_payment[dq_quarantined] = TRUE())</a:t>
                      </a:r>
                      <a:endParaRPr lang="en-US" sz="900" dirty="0">
                        <a:latin typeface="Courier New" charset="0"/>
                        <a:ea typeface="Courier New" charset="0"/>
                        <a:cs typeface="Courier New"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0E7C7B"/>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r>
            </a:tbl>
          </a:graphicData>
        </a:graphic>
      </p:graphicFrame>
      <p:sp>
        <p:nvSpPr>
          <p:cNvPr id="6" name="Shape 3"/>
          <p:cNvSpPr/>
          <p:nvPr/>
        </p:nvSpPr>
        <p:spPr>
          <a:xfrm>
            <a:off x="548640" y="4846320"/>
            <a:ext cx="5440680" cy="1737360"/>
          </a:xfrm>
          <a:prstGeom prst="roundRect">
            <a:avLst>
              <a:gd name="adj" fmla="val 3158"/>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sp>
        <p:nvSpPr>
          <p:cNvPr id="7" name="Text 4"/>
          <p:cNvSpPr txBox="1"/>
          <p:nvPr/>
        </p:nvSpPr>
        <p:spPr>
          <a:xfrm>
            <a:off x="777240" y="4956048"/>
            <a:ext cx="4983480" cy="237744"/>
          </a:xfrm>
          <a:prstGeom prst="rect">
            <a:avLst/>
          </a:prstGeom>
          <a:noFill/>
          <a:ln/>
        </p:spPr>
        <p:txBody>
          <a:bodyPr wrap="square" lIns="0" tIns="0" rIns="0" bIns="0" rtlCol="0" anchor="ctr"/>
          <a:lstStyle/>
          <a:p>
            <a:pPr indent="0" marL="0">
              <a:buNone/>
            </a:pPr>
            <a:r>
              <a:rPr lang="en-US" sz="1200" b="1" dirty="0">
                <a:solidFill>
                  <a:srgbClr val="12233C"/>
                </a:solidFill>
                <a:latin typeface="Calibri" pitchFamily="34" charset="0"/>
                <a:ea typeface="Calibri" pitchFamily="34" charset="-122"/>
                <a:cs typeface="Calibri" pitchFamily="34" charset="-120"/>
              </a:rPr>
              <a:t>The non-additive rule</a:t>
            </a:r>
            <a:endParaRPr lang="en-US" sz="1200" dirty="0"/>
          </a:p>
        </p:txBody>
      </p:sp>
      <p:sp>
        <p:nvSpPr>
          <p:cNvPr id="8" name="Text 5"/>
          <p:cNvSpPr txBox="1"/>
          <p:nvPr/>
        </p:nvSpPr>
        <p:spPr>
          <a:xfrm>
            <a:off x="822960" y="5212080"/>
            <a:ext cx="4937760" cy="1298448"/>
          </a:xfrm>
          <a:prstGeom prst="rect">
            <a:avLst/>
          </a:prstGeom>
          <a:noFill/>
          <a:ln/>
        </p:spPr>
        <p:txBody>
          <a:bodyPr wrap="square" lIns="0" tIns="0" rIns="0" bIns="0" rtlCol="0" anchor="ctr"/>
          <a:lstStyle/>
          <a:p>
            <a:pPr marL="342900" indent="-342900">
              <a:lnSpc>
                <a:spcPts val="1200"/>
              </a:lnSpc>
              <a:spcAft>
                <a:spcPts val="500"/>
              </a:spcAft>
              <a:buSzPct val="100000"/>
              <a:buChar char="•"/>
            </a:pPr>
            <a:r>
              <a:rPr lang="en-US" sz="950" dirty="0">
                <a:solidFill>
                  <a:srgbClr val="4A5663"/>
                </a:solidFill>
                <a:latin typeface="Calibri" pitchFamily="34" charset="0"/>
                <a:ea typeface="Calibri" pitchFamily="34" charset="-122"/>
                <a:cs typeface="Calibri" pitchFamily="34" charset="-120"/>
              </a:rPr>
              <a:t>Every ratio is a DIVIDE of two additive measures, so it recomputes at any filter level instead of aggregating a pre-computed value.</a:t>
            </a:r>
            <a:endParaRPr lang="en-US" sz="950" dirty="0"/>
          </a:p>
          <a:p>
            <a:pPr marL="342900" indent="-342900">
              <a:lnSpc>
                <a:spcPts val="1200"/>
              </a:lnSpc>
              <a:spcAft>
                <a:spcPts val="500"/>
              </a:spcAft>
              <a:buSzPct val="100000"/>
              <a:buChar char="•"/>
            </a:pPr>
            <a:r>
              <a:rPr lang="en-US" sz="950" dirty="0">
                <a:solidFill>
                  <a:srgbClr val="4A5663"/>
                </a:solidFill>
                <a:latin typeface="Calibri" pitchFamily="34" charset="0"/>
                <a:ea typeface="Calibri" pitchFamily="34" charset="-122"/>
                <a:cs typeface="Calibri" pitchFamily="34" charset="-120"/>
              </a:rPr>
              <a:t>No ratio goes in a stacked visual, where a reader reads the parts as summing to the whole.</a:t>
            </a:r>
            <a:endParaRPr lang="en-US" sz="950" dirty="0"/>
          </a:p>
          <a:p>
            <a:pPr marL="342900" indent="-342900">
              <a:lnSpc>
                <a:spcPts val="1200"/>
              </a:lnSpc>
              <a:spcAft>
                <a:spcPts val="500"/>
              </a:spcAft>
              <a:buSzPct val="100000"/>
              <a:buChar char="•"/>
            </a:pPr>
            <a:r>
              <a:rPr lang="en-US" sz="950" dirty="0">
                <a:solidFill>
                  <a:srgbClr val="4A5663"/>
                </a:solidFill>
                <a:latin typeface="Calibri" pitchFamily="34" charset="0"/>
                <a:ea typeface="Calibri" pitchFamily="34" charset="-122"/>
                <a:cs typeface="Calibri" pitchFamily="34" charset="-120"/>
              </a:rPr>
              <a:t>Anything containing "per" or "Rate" is non-additive — the naming carries the signal.</a:t>
            </a:r>
            <a:endParaRPr lang="en-US" sz="950" dirty="0"/>
          </a:p>
        </p:txBody>
      </p:sp>
      <p:sp>
        <p:nvSpPr>
          <p:cNvPr id="9" name="Shape 6"/>
          <p:cNvSpPr/>
          <p:nvPr/>
        </p:nvSpPr>
        <p:spPr>
          <a:xfrm>
            <a:off x="6172200" y="4846320"/>
            <a:ext cx="5440680" cy="1737360"/>
          </a:xfrm>
          <a:prstGeom prst="roundRect">
            <a:avLst>
              <a:gd name="adj" fmla="val 3158"/>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sp>
        <p:nvSpPr>
          <p:cNvPr id="10" name="Text 7"/>
          <p:cNvSpPr txBox="1"/>
          <p:nvPr/>
        </p:nvSpPr>
        <p:spPr>
          <a:xfrm>
            <a:off x="6400800" y="4956048"/>
            <a:ext cx="4983480" cy="237744"/>
          </a:xfrm>
          <a:prstGeom prst="rect">
            <a:avLst/>
          </a:prstGeom>
          <a:noFill/>
          <a:ln/>
        </p:spPr>
        <p:txBody>
          <a:bodyPr wrap="square" lIns="0" tIns="0" rIns="0" bIns="0" rtlCol="0" anchor="ctr"/>
          <a:lstStyle/>
          <a:p>
            <a:pPr indent="0" marL="0">
              <a:buNone/>
            </a:pPr>
            <a:r>
              <a:rPr lang="en-US" sz="1200" b="1" dirty="0">
                <a:solidFill>
                  <a:srgbClr val="12233C"/>
                </a:solidFill>
                <a:latin typeface="Calibri" pitchFamily="34" charset="0"/>
                <a:ea typeface="Calibri" pitchFamily="34" charset="-122"/>
                <a:cs typeface="Calibri" pitchFamily="34" charset="-120"/>
              </a:rPr>
              <a:t>Five build errors worth writing down</a:t>
            </a:r>
            <a:endParaRPr lang="en-US" sz="1200" dirty="0"/>
          </a:p>
        </p:txBody>
      </p:sp>
      <p:sp>
        <p:nvSpPr>
          <p:cNvPr id="11" name="Text 8"/>
          <p:cNvSpPr txBox="1"/>
          <p:nvPr/>
        </p:nvSpPr>
        <p:spPr>
          <a:xfrm>
            <a:off x="6446520" y="5212080"/>
            <a:ext cx="4937760" cy="1298448"/>
          </a:xfrm>
          <a:prstGeom prst="rect">
            <a:avLst/>
          </a:prstGeom>
          <a:noFill/>
          <a:ln/>
        </p:spPr>
        <p:txBody>
          <a:bodyPr wrap="square" lIns="0" tIns="0" rIns="0" bIns="0" rtlCol="0" anchor="ctr"/>
          <a:lstStyle/>
          <a:p>
            <a:pPr marL="342900" indent="-342900">
              <a:lnSpc>
                <a:spcPts val="1100"/>
              </a:lnSpc>
              <a:spcAft>
                <a:spcPts val="300"/>
              </a:spcAft>
              <a:buSzPct val="100000"/>
              <a:buChar char="•"/>
            </a:pPr>
            <a:r>
              <a:rPr lang="en-US" sz="900" dirty="0">
                <a:solidFill>
                  <a:srgbClr val="4A5663"/>
                </a:solidFill>
                <a:latin typeface="Calibri" pitchFamily="34" charset="0"/>
                <a:ea typeface="Calibri" pitchFamily="34" charset="-122"/>
                <a:cs typeface="Calibri" pitchFamily="34" charset="-120"/>
              </a:rPr>
              <a:t>Columns as Column1..Column5 — header row not promoted.</a:t>
            </a:r>
            <a:endParaRPr lang="en-US" sz="900" dirty="0"/>
          </a:p>
          <a:p>
            <a:pPr marL="342900" indent="-342900">
              <a:lnSpc>
                <a:spcPts val="1100"/>
              </a:lnSpc>
              <a:spcAft>
                <a:spcPts val="300"/>
              </a:spcAft>
              <a:buSzPct val="100000"/>
              <a:buChar char="•"/>
            </a:pPr>
            <a:r>
              <a:rPr lang="en-US" sz="900" dirty="0">
                <a:solidFill>
                  <a:srgbClr val="4A5663"/>
                </a:solidFill>
                <a:latin typeface="Calibri" pitchFamily="34" charset="0"/>
                <a:ea typeface="Calibri" pitchFamily="34" charset="-122"/>
                <a:cs typeface="Calibri" pitchFamily="34" charset="-120"/>
              </a:rPr>
              <a:t>DataFormat.Error on "True" — boolean flags arrive as text; convert Text → True/False → Whole Number.</a:t>
            </a:r>
            <a:endParaRPr lang="en-US" sz="900" dirty="0"/>
          </a:p>
          <a:p>
            <a:pPr marL="342900" indent="-342900">
              <a:lnSpc>
                <a:spcPts val="1100"/>
              </a:lnSpc>
              <a:spcAft>
                <a:spcPts val="300"/>
              </a:spcAft>
              <a:buSzPct val="100000"/>
              <a:buChar char="•"/>
            </a:pPr>
            <a:r>
              <a:rPr lang="en-US" sz="900" dirty="0">
                <a:solidFill>
                  <a:srgbClr val="4A5663"/>
                </a:solidFill>
                <a:latin typeface="Calibri" pitchFamily="34" charset="0"/>
                <a:ea typeface="Calibri" pitchFamily="34" charset="-122"/>
                <a:cs typeface="Calibri" pitchFamily="34" charset="-120"/>
              </a:rPr>
              <a:t>Circular dependency ticket_band ↔ ticket_band_sort — the sort column read the band it sorts.</a:t>
            </a:r>
            <a:endParaRPr lang="en-US" sz="900" dirty="0"/>
          </a:p>
          <a:p>
            <a:pPr marL="342900" indent="-342900">
              <a:lnSpc>
                <a:spcPts val="1100"/>
              </a:lnSpc>
              <a:spcAft>
                <a:spcPts val="300"/>
              </a:spcAft>
              <a:buSzPct val="100000"/>
              <a:buChar char="•"/>
            </a:pPr>
            <a:r>
              <a:rPr lang="en-US" sz="900" dirty="0">
                <a:solidFill>
                  <a:srgbClr val="4A5663"/>
                </a:solidFill>
                <a:latin typeface="Calibri" pitchFamily="34" charset="0"/>
                <a:ea typeface="Calibri" pitchFamily="34" charset="-122"/>
                <a:cs typeface="Calibri" pitchFamily="34" charset="-120"/>
              </a:rPr>
              <a:t>Blank KPI card — created as a calculated column, not a measure ("Sum of..." gave it away).</a:t>
            </a:r>
            <a:endParaRPr lang="en-US" sz="900" dirty="0"/>
          </a:p>
          <a:p>
            <a:pPr marL="342900" indent="-342900">
              <a:lnSpc>
                <a:spcPts val="1100"/>
              </a:lnSpc>
              <a:spcAft>
                <a:spcPts val="300"/>
              </a:spcAft>
              <a:buSzPct val="100000"/>
              <a:buChar char="•"/>
            </a:pPr>
            <a:r>
              <a:rPr lang="en-US" sz="900" dirty="0">
                <a:solidFill>
                  <a:srgbClr val="4A5663"/>
                </a:solidFill>
                <a:latin typeface="Calibri" pitchFamily="34" charset="0"/>
                <a:ea typeface="Calibri" pitchFamily="34" charset="-122"/>
                <a:cs typeface="Calibri" pitchFamily="34" charset="-120"/>
              </a:rPr>
              <a:t>Processing Cost $91K instead of $234K — a visual-level filter left over from an earlier experiment.</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4F6F8"/>
        </a:solidFill>
      </p:bgPr>
    </p:bg>
    <p:spTree>
      <p:nvGrpSpPr>
        <p:cNvPr id="1" name=""/>
        <p:cNvGrpSpPr/>
        <p:nvPr/>
      </p:nvGrpSpPr>
      <p:grpSpPr>
        <a:xfrm>
          <a:off x="0" y="0"/>
          <a:ext cx="0" cy="0"/>
          <a:chOff x="0" y="0"/>
          <a:chExt cx="0" cy="0"/>
        </a:xfrm>
      </p:grpSpPr>
      <p:sp>
        <p:nvSpPr>
          <p:cNvPr id="2" name="Text 0"/>
          <p:cNvSpPr txBox="1"/>
          <p:nvPr/>
        </p:nvSpPr>
        <p:spPr>
          <a:xfrm>
            <a:off x="548640" y="329184"/>
            <a:ext cx="7315200" cy="237744"/>
          </a:xfrm>
          <a:prstGeom prst="rect">
            <a:avLst/>
          </a:prstGeom>
          <a:noFill/>
          <a:ln/>
        </p:spPr>
        <p:txBody>
          <a:bodyPr wrap="square" lIns="0" tIns="0" rIns="0" bIns="0" rtlCol="0" anchor="ctr"/>
          <a:lstStyle/>
          <a:p>
            <a:pPr indent="0" marL="0">
              <a:buNone/>
            </a:pPr>
            <a:r>
              <a:rPr lang="en-US" sz="1050" b="1" spc="200" kern="0" dirty="0">
                <a:solidFill>
                  <a:srgbClr val="D98324"/>
                </a:solidFill>
                <a:latin typeface="Calibri" pitchFamily="34" charset="0"/>
                <a:ea typeface="Calibri" pitchFamily="34" charset="-122"/>
                <a:cs typeface="Calibri" pitchFamily="34" charset="-120"/>
              </a:rPr>
              <a:t>TASK 7 · DASHBOARD</a:t>
            </a:r>
            <a:endParaRPr lang="en-US" sz="1050" dirty="0"/>
          </a:p>
        </p:txBody>
      </p:sp>
      <p:sp>
        <p:nvSpPr>
          <p:cNvPr id="3" name="Text 1"/>
          <p:cNvSpPr txBox="1"/>
          <p:nvPr/>
        </p:nvSpPr>
        <p:spPr>
          <a:xfrm>
            <a:off x="548640" y="603504"/>
            <a:ext cx="11064240" cy="502920"/>
          </a:xfrm>
          <a:prstGeom prst="rect">
            <a:avLst/>
          </a:prstGeom>
          <a:noFill/>
          <a:ln/>
        </p:spPr>
        <p:txBody>
          <a:bodyPr wrap="square" lIns="0" tIns="0" rIns="0" bIns="0" rtlCol="0" anchor="ctr"/>
          <a:lstStyle/>
          <a:p>
            <a:pPr indent="0" marL="0">
              <a:buNone/>
            </a:pPr>
            <a:r>
              <a:rPr lang="en-US" sz="2600" b="1" dirty="0">
                <a:solidFill>
                  <a:srgbClr val="12233C"/>
                </a:solidFill>
                <a:latin typeface="Cambria" pitchFamily="34" charset="0"/>
                <a:ea typeface="Cambria" pitchFamily="34" charset="-122"/>
                <a:cs typeface="Cambria" pitchFamily="34" charset="-120"/>
              </a:rPr>
              <a:t>Page 1 — Executive overview</a:t>
            </a:r>
            <a:endParaRPr lang="en-US" sz="2600" dirty="0"/>
          </a:p>
        </p:txBody>
      </p:sp>
      <p:sp>
        <p:nvSpPr>
          <p:cNvPr id="4" name="Text 2"/>
          <p:cNvSpPr txBox="1"/>
          <p:nvPr/>
        </p:nvSpPr>
        <p:spPr>
          <a:xfrm>
            <a:off x="548640" y="1115568"/>
            <a:ext cx="11064240" cy="310896"/>
          </a:xfrm>
          <a:prstGeom prst="rect">
            <a:avLst/>
          </a:prstGeom>
          <a:noFill/>
          <a:ln/>
        </p:spPr>
        <p:txBody>
          <a:bodyPr wrap="square" lIns="0" tIns="0" rIns="0" bIns="0" rtlCol="0" anchor="ctr"/>
          <a:lstStyle/>
          <a:p>
            <a:pPr indent="0" marL="0">
              <a:buNone/>
            </a:pPr>
            <a:r>
              <a:rPr lang="en-US" sz="1300" dirty="0">
                <a:solidFill>
                  <a:srgbClr val="6B7785"/>
                </a:solidFill>
                <a:latin typeface="Calibri" pitchFamily="34" charset="0"/>
                <a:ea typeface="Calibri" pitchFamily="34" charset="-122"/>
                <a:cs typeface="Calibri" pitchFamily="34" charset="-120"/>
              </a:rPr>
              <a:t>Five KPI cards plus the scissors chart</a:t>
            </a:r>
            <a:endParaRPr lang="en-US" sz="1300" dirty="0"/>
          </a:p>
        </p:txBody>
      </p:sp>
      <p:sp>
        <p:nvSpPr>
          <p:cNvPr id="5" name="Shape 3"/>
          <p:cNvSpPr/>
          <p:nvPr/>
        </p:nvSpPr>
        <p:spPr>
          <a:xfrm>
            <a:off x="548640" y="1627632"/>
            <a:ext cx="6949440" cy="4343400"/>
          </a:xfrm>
          <a:prstGeom prst="roundRect">
            <a:avLst>
              <a:gd name="adj" fmla="val 842"/>
            </a:avLst>
          </a:prstGeom>
          <a:solidFill>
            <a:srgbClr val="E9EDF1"/>
          </a:solidFill>
          <a:ln w="19050">
            <a:solidFill>
              <a:srgbClr val="9AA5B1"/>
            </a:solidFill>
            <a:prstDash val="dash"/>
          </a:ln>
        </p:spPr>
      </p:sp>
      <p:sp>
        <p:nvSpPr>
          <p:cNvPr id="6" name="Text 4"/>
          <p:cNvSpPr txBox="1"/>
          <p:nvPr/>
        </p:nvSpPr>
        <p:spPr>
          <a:xfrm>
            <a:off x="777240" y="3415284"/>
            <a:ext cx="6492240" cy="310896"/>
          </a:xfrm>
          <a:prstGeom prst="rect">
            <a:avLst/>
          </a:prstGeom>
          <a:noFill/>
          <a:ln/>
        </p:spPr>
        <p:txBody>
          <a:bodyPr wrap="square" lIns="0" tIns="0" rIns="0" bIns="0" rtlCol="0" anchor="ctr"/>
          <a:lstStyle/>
          <a:p>
            <a:pPr algn="ctr" indent="0" marL="0">
              <a:buNone/>
            </a:pPr>
            <a:r>
              <a:rPr lang="en-US" sz="1300" b="1" dirty="0">
                <a:solidFill>
                  <a:srgbClr val="12233C"/>
                </a:solidFill>
                <a:latin typeface="Calibri" pitchFamily="34" charset="0"/>
                <a:ea typeface="Calibri" pitchFamily="34" charset="-122"/>
                <a:cs typeface="Calibri" pitchFamily="34" charset="-120"/>
              </a:rPr>
              <a:t>[ PASTE POWER BI SCREENSHOT HERE ]</a:t>
            </a:r>
            <a:endParaRPr lang="en-US" sz="1300" dirty="0"/>
          </a:p>
        </p:txBody>
      </p:sp>
      <p:sp>
        <p:nvSpPr>
          <p:cNvPr id="7" name="Text 5"/>
          <p:cNvSpPr txBox="1"/>
          <p:nvPr/>
        </p:nvSpPr>
        <p:spPr>
          <a:xfrm>
            <a:off x="777240" y="3753612"/>
            <a:ext cx="6492240" cy="548640"/>
          </a:xfrm>
          <a:prstGeom prst="rect">
            <a:avLst/>
          </a:prstGeom>
          <a:noFill/>
          <a:ln/>
        </p:spPr>
        <p:txBody>
          <a:bodyPr wrap="square" lIns="0" tIns="0" rIns="0" bIns="0" rtlCol="0" anchor="ctr"/>
          <a:lstStyle/>
          <a:p>
            <a:pPr algn="ctr" indent="0" marL="0">
              <a:lnSpc>
                <a:spcPts val="1300"/>
              </a:lnSpc>
              <a:buNone/>
            </a:pPr>
            <a:r>
              <a:rPr lang="en-US" sz="1050" i="1" dirty="0">
                <a:solidFill>
                  <a:srgbClr val="6B7785"/>
                </a:solidFill>
                <a:latin typeface="Calibri" pitchFamily="34" charset="0"/>
                <a:ea typeface="Calibri" pitchFamily="34" charset="-122"/>
                <a:cs typeface="Calibri" pitchFamily="34" charset="-120"/>
              </a:rPr>
              <a:t>Page 1 — Executive overview — full page capture</a:t>
            </a:r>
            <a:endParaRPr lang="en-US" sz="1050" dirty="0"/>
          </a:p>
        </p:txBody>
      </p:sp>
      <p:sp>
        <p:nvSpPr>
          <p:cNvPr id="8" name="Text 6"/>
          <p:cNvSpPr txBox="1"/>
          <p:nvPr/>
        </p:nvSpPr>
        <p:spPr>
          <a:xfrm>
            <a:off x="7726680" y="1691640"/>
            <a:ext cx="3886200" cy="274320"/>
          </a:xfrm>
          <a:prstGeom prst="rect">
            <a:avLst/>
          </a:prstGeom>
          <a:noFill/>
          <a:ln/>
        </p:spPr>
        <p:txBody>
          <a:bodyPr wrap="square" lIns="0" tIns="0" rIns="0" bIns="0" rtlCol="0" anchor="ctr"/>
          <a:lstStyle/>
          <a:p>
            <a:pPr indent="0" marL="0">
              <a:buNone/>
            </a:pPr>
            <a:r>
              <a:rPr lang="en-US" sz="1250" b="1" dirty="0">
                <a:solidFill>
                  <a:srgbClr val="12233C"/>
                </a:solidFill>
                <a:latin typeface="Calibri" pitchFamily="34" charset="0"/>
                <a:ea typeface="Calibri" pitchFamily="34" charset="-122"/>
                <a:cs typeface="Calibri" pitchFamily="34" charset="-120"/>
              </a:rPr>
              <a:t>How to read this page</a:t>
            </a:r>
            <a:endParaRPr lang="en-US" sz="1250" dirty="0"/>
          </a:p>
        </p:txBody>
      </p:sp>
      <p:sp>
        <p:nvSpPr>
          <p:cNvPr id="9" name="Shape 7"/>
          <p:cNvSpPr/>
          <p:nvPr/>
        </p:nvSpPr>
        <p:spPr>
          <a:xfrm>
            <a:off x="7726680" y="2057400"/>
            <a:ext cx="3886200" cy="1261872"/>
          </a:xfrm>
          <a:prstGeom prst="roundRect">
            <a:avLst>
              <a:gd name="adj" fmla="val 4348"/>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sp>
        <p:nvSpPr>
          <p:cNvPr id="10" name="Shape 8"/>
          <p:cNvSpPr/>
          <p:nvPr/>
        </p:nvSpPr>
        <p:spPr>
          <a:xfrm>
            <a:off x="7909560" y="2203704"/>
            <a:ext cx="274320" cy="274320"/>
          </a:xfrm>
          <a:prstGeom prst="ellipse">
            <a:avLst/>
          </a:prstGeom>
          <a:solidFill>
            <a:srgbClr val="0E7C7B"/>
          </a:solidFill>
          <a:ln/>
        </p:spPr>
      </p:sp>
      <p:sp>
        <p:nvSpPr>
          <p:cNvPr id="11" name="Text 9"/>
          <p:cNvSpPr txBox="1"/>
          <p:nvPr/>
        </p:nvSpPr>
        <p:spPr>
          <a:xfrm>
            <a:off x="7909560" y="2203704"/>
            <a:ext cx="274320" cy="27432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1</a:t>
            </a:r>
            <a:endParaRPr lang="en-US" sz="1150" dirty="0"/>
          </a:p>
        </p:txBody>
      </p:sp>
      <p:sp>
        <p:nvSpPr>
          <p:cNvPr id="12" name="Text 10"/>
          <p:cNvSpPr txBox="1"/>
          <p:nvPr/>
        </p:nvSpPr>
        <p:spPr>
          <a:xfrm>
            <a:off x="8275320" y="2185416"/>
            <a:ext cx="3200400" cy="1051560"/>
          </a:xfrm>
          <a:prstGeom prst="rect">
            <a:avLst/>
          </a:prstGeom>
          <a:noFill/>
          <a:ln/>
        </p:spPr>
        <p:txBody>
          <a:bodyPr wrap="square" lIns="0" tIns="0" rIns="0" bIns="0" rtlCol="0" anchor="ctr"/>
          <a:lstStyle/>
          <a:p>
            <a:pPr indent="0" marL="0">
              <a:lnSpc>
                <a:spcPts val="1150"/>
              </a:lnSpc>
              <a:buNone/>
            </a:pPr>
            <a:r>
              <a:rPr lang="en-US" sz="900" dirty="0">
                <a:solidFill>
                  <a:srgbClr val="4A5663"/>
                </a:solidFill>
                <a:latin typeface="Calibri" pitchFamily="34" charset="0"/>
                <a:ea typeface="Calibri" pitchFamily="34" charset="-122"/>
                <a:cs typeface="Calibri" pitchFamily="34" charset="-120"/>
              </a:rPr>
              <a:t>Attempted Volume, Successful Volume, Success Rate, Contribution Profit, and Contribution per Successful Txn — the last sized to dominate, because it is the KPI the executive question is asked in.</a:t>
            </a:r>
            <a:endParaRPr lang="en-US" sz="900" dirty="0"/>
          </a:p>
        </p:txBody>
      </p:sp>
      <p:sp>
        <p:nvSpPr>
          <p:cNvPr id="13" name="Shape 11"/>
          <p:cNvSpPr/>
          <p:nvPr/>
        </p:nvSpPr>
        <p:spPr>
          <a:xfrm>
            <a:off x="7726680" y="3429000"/>
            <a:ext cx="3886200" cy="1261872"/>
          </a:xfrm>
          <a:prstGeom prst="roundRect">
            <a:avLst>
              <a:gd name="adj" fmla="val 4348"/>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sp>
        <p:nvSpPr>
          <p:cNvPr id="14" name="Shape 12"/>
          <p:cNvSpPr/>
          <p:nvPr/>
        </p:nvSpPr>
        <p:spPr>
          <a:xfrm>
            <a:off x="7909560" y="3575304"/>
            <a:ext cx="274320" cy="274320"/>
          </a:xfrm>
          <a:prstGeom prst="ellipse">
            <a:avLst/>
          </a:prstGeom>
          <a:solidFill>
            <a:srgbClr val="0E7C7B"/>
          </a:solidFill>
          <a:ln/>
        </p:spPr>
      </p:sp>
      <p:sp>
        <p:nvSpPr>
          <p:cNvPr id="15" name="Text 13"/>
          <p:cNvSpPr txBox="1"/>
          <p:nvPr/>
        </p:nvSpPr>
        <p:spPr>
          <a:xfrm>
            <a:off x="7909560" y="3575304"/>
            <a:ext cx="274320" cy="27432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2</a:t>
            </a:r>
            <a:endParaRPr lang="en-US" sz="1150" dirty="0"/>
          </a:p>
        </p:txBody>
      </p:sp>
      <p:sp>
        <p:nvSpPr>
          <p:cNvPr id="16" name="Text 14"/>
          <p:cNvSpPr txBox="1"/>
          <p:nvPr/>
        </p:nvSpPr>
        <p:spPr>
          <a:xfrm>
            <a:off x="8275320" y="3557016"/>
            <a:ext cx="3200400" cy="1051560"/>
          </a:xfrm>
          <a:prstGeom prst="rect">
            <a:avLst/>
          </a:prstGeom>
          <a:noFill/>
          <a:ln/>
        </p:spPr>
        <p:txBody>
          <a:bodyPr wrap="square" lIns="0" tIns="0" rIns="0" bIns="0" rtlCol="0" anchor="ctr"/>
          <a:lstStyle/>
          <a:p>
            <a:pPr indent="0" marL="0">
              <a:lnSpc>
                <a:spcPts val="1150"/>
              </a:lnSpc>
              <a:buNone/>
            </a:pPr>
            <a:r>
              <a:rPr lang="en-US" sz="900" dirty="0">
                <a:solidFill>
                  <a:srgbClr val="4A5663"/>
                </a:solidFill>
                <a:latin typeface="Calibri" pitchFamily="34" charset="0"/>
                <a:ea typeface="Calibri" pitchFamily="34" charset="-122"/>
                <a:cs typeface="Calibri" pitchFamily="34" charset="-120"/>
              </a:rPr>
              <a:t>Visual 1: line and clustered column. Columns are Contribution Profit (rising). The line on the secondary axis is Contribution per Successful Txn (falling). The two crossing is the paradox in one picture.</a:t>
            </a:r>
            <a:endParaRPr lang="en-US" sz="900" dirty="0"/>
          </a:p>
        </p:txBody>
      </p:sp>
      <p:sp>
        <p:nvSpPr>
          <p:cNvPr id="17" name="Shape 15"/>
          <p:cNvSpPr/>
          <p:nvPr/>
        </p:nvSpPr>
        <p:spPr>
          <a:xfrm>
            <a:off x="7726680" y="4800600"/>
            <a:ext cx="3886200" cy="1261872"/>
          </a:xfrm>
          <a:prstGeom prst="roundRect">
            <a:avLst>
              <a:gd name="adj" fmla="val 4348"/>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sp>
        <p:nvSpPr>
          <p:cNvPr id="18" name="Shape 16"/>
          <p:cNvSpPr/>
          <p:nvPr/>
        </p:nvSpPr>
        <p:spPr>
          <a:xfrm>
            <a:off x="7909560" y="4946904"/>
            <a:ext cx="274320" cy="274320"/>
          </a:xfrm>
          <a:prstGeom prst="ellipse">
            <a:avLst/>
          </a:prstGeom>
          <a:solidFill>
            <a:srgbClr val="0E7C7B"/>
          </a:solidFill>
          <a:ln/>
        </p:spPr>
      </p:sp>
      <p:sp>
        <p:nvSpPr>
          <p:cNvPr id="19" name="Text 17"/>
          <p:cNvSpPr txBox="1"/>
          <p:nvPr/>
        </p:nvSpPr>
        <p:spPr>
          <a:xfrm>
            <a:off x="7909560" y="4946904"/>
            <a:ext cx="274320" cy="27432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3</a:t>
            </a:r>
            <a:endParaRPr lang="en-US" sz="1150" dirty="0"/>
          </a:p>
        </p:txBody>
      </p:sp>
      <p:sp>
        <p:nvSpPr>
          <p:cNvPr id="20" name="Text 18"/>
          <p:cNvSpPr txBox="1"/>
          <p:nvPr/>
        </p:nvSpPr>
        <p:spPr>
          <a:xfrm>
            <a:off x="8275320" y="4928616"/>
            <a:ext cx="3200400" cy="1051560"/>
          </a:xfrm>
          <a:prstGeom prst="rect">
            <a:avLst/>
          </a:prstGeom>
          <a:noFill/>
          <a:ln/>
        </p:spPr>
        <p:txBody>
          <a:bodyPr wrap="square" lIns="0" tIns="0" rIns="0" bIns="0" rtlCol="0" anchor="ctr"/>
          <a:lstStyle/>
          <a:p>
            <a:pPr indent="0" marL="0">
              <a:lnSpc>
                <a:spcPts val="1150"/>
              </a:lnSpc>
              <a:buNone/>
            </a:pPr>
            <a:r>
              <a:rPr lang="en-US" sz="900" dirty="0">
                <a:solidFill>
                  <a:srgbClr val="4A5663"/>
                </a:solidFill>
                <a:latin typeface="Calibri" pitchFamily="34" charset="0"/>
                <a:ea typeface="Calibri" pitchFamily="34" charset="-122"/>
                <a:cs typeface="Calibri" pitchFamily="34" charset="-120"/>
              </a:rPr>
              <a:t>Slicers for quarter, merchant category and provider, synced across all three pages.</a:t>
            </a:r>
            <a:endParaRPr lang="en-US" sz="900" dirty="0"/>
          </a:p>
        </p:txBody>
      </p:sp>
      <p:sp>
        <p:nvSpPr>
          <p:cNvPr id="21" name="Text 19"/>
          <p:cNvSpPr txBox="1"/>
          <p:nvPr/>
        </p:nvSpPr>
        <p:spPr>
          <a:xfrm>
            <a:off x="548640" y="6199632"/>
            <a:ext cx="11064240" cy="411480"/>
          </a:xfrm>
          <a:prstGeom prst="rect">
            <a:avLst/>
          </a:prstGeom>
          <a:noFill/>
          <a:ln/>
        </p:spPr>
        <p:txBody>
          <a:bodyPr wrap="square" lIns="0" tIns="0" rIns="0" bIns="0" rtlCol="0" anchor="ctr"/>
          <a:lstStyle/>
          <a:p>
            <a:pPr indent="0" marL="0">
              <a:lnSpc>
                <a:spcPts val="1300"/>
              </a:lnSpc>
              <a:buNone/>
            </a:pPr>
            <a:r>
              <a:rPr lang="en-US" sz="1100" i="1" dirty="0">
                <a:solidFill>
                  <a:srgbClr val="6B7785"/>
                </a:solidFill>
                <a:latin typeface="Calibri" pitchFamily="34" charset="0"/>
                <a:ea typeface="Calibri" pitchFamily="34" charset="-122"/>
                <a:cs typeface="Calibri" pitchFamily="34" charset="-120"/>
              </a:rPr>
              <a:t>Placeholder — replace the dashed frame with the Power BI screenshot of this page before submitting.</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4F6F8"/>
        </a:solidFill>
      </p:bgPr>
    </p:bg>
    <p:spTree>
      <p:nvGrpSpPr>
        <p:cNvPr id="1" name=""/>
        <p:cNvGrpSpPr/>
        <p:nvPr/>
      </p:nvGrpSpPr>
      <p:grpSpPr>
        <a:xfrm>
          <a:off x="0" y="0"/>
          <a:ext cx="0" cy="0"/>
          <a:chOff x="0" y="0"/>
          <a:chExt cx="0" cy="0"/>
        </a:xfrm>
      </p:grpSpPr>
      <p:sp>
        <p:nvSpPr>
          <p:cNvPr id="2" name="Text 0"/>
          <p:cNvSpPr txBox="1"/>
          <p:nvPr/>
        </p:nvSpPr>
        <p:spPr>
          <a:xfrm>
            <a:off x="548640" y="329184"/>
            <a:ext cx="7315200" cy="237744"/>
          </a:xfrm>
          <a:prstGeom prst="rect">
            <a:avLst/>
          </a:prstGeom>
          <a:noFill/>
          <a:ln/>
        </p:spPr>
        <p:txBody>
          <a:bodyPr wrap="square" lIns="0" tIns="0" rIns="0" bIns="0" rtlCol="0" anchor="ctr"/>
          <a:lstStyle/>
          <a:p>
            <a:pPr indent="0" marL="0">
              <a:buNone/>
            </a:pPr>
            <a:r>
              <a:rPr lang="en-US" sz="1050" b="1" spc="200" kern="0" dirty="0">
                <a:solidFill>
                  <a:srgbClr val="D98324"/>
                </a:solidFill>
                <a:latin typeface="Calibri" pitchFamily="34" charset="0"/>
                <a:ea typeface="Calibri" pitchFamily="34" charset="-122"/>
                <a:cs typeface="Calibri" pitchFamily="34" charset="-120"/>
              </a:rPr>
              <a:t>TASK 7 · DASHBOARD</a:t>
            </a:r>
            <a:endParaRPr lang="en-US" sz="1050" dirty="0"/>
          </a:p>
        </p:txBody>
      </p:sp>
      <p:sp>
        <p:nvSpPr>
          <p:cNvPr id="3" name="Text 1"/>
          <p:cNvSpPr txBox="1"/>
          <p:nvPr/>
        </p:nvSpPr>
        <p:spPr>
          <a:xfrm>
            <a:off x="548640" y="603504"/>
            <a:ext cx="11064240" cy="502920"/>
          </a:xfrm>
          <a:prstGeom prst="rect">
            <a:avLst/>
          </a:prstGeom>
          <a:noFill/>
          <a:ln/>
        </p:spPr>
        <p:txBody>
          <a:bodyPr wrap="square" lIns="0" tIns="0" rIns="0" bIns="0" rtlCol="0" anchor="ctr"/>
          <a:lstStyle/>
          <a:p>
            <a:pPr indent="0" marL="0">
              <a:buNone/>
            </a:pPr>
            <a:r>
              <a:rPr lang="en-US" sz="2600" b="1" dirty="0">
                <a:solidFill>
                  <a:srgbClr val="12233C"/>
                </a:solidFill>
                <a:latin typeface="Cambria" pitchFamily="34" charset="0"/>
                <a:ea typeface="Cambria" pitchFamily="34" charset="-122"/>
                <a:cs typeface="Cambria" pitchFamily="34" charset="-120"/>
              </a:rPr>
              <a:t>Page 2 — Diagnostic</a:t>
            </a:r>
            <a:endParaRPr lang="en-US" sz="2600" dirty="0"/>
          </a:p>
        </p:txBody>
      </p:sp>
      <p:sp>
        <p:nvSpPr>
          <p:cNvPr id="4" name="Text 2"/>
          <p:cNvSpPr txBox="1"/>
          <p:nvPr/>
        </p:nvSpPr>
        <p:spPr>
          <a:xfrm>
            <a:off x="548640" y="1115568"/>
            <a:ext cx="11064240" cy="310896"/>
          </a:xfrm>
          <a:prstGeom prst="rect">
            <a:avLst/>
          </a:prstGeom>
          <a:noFill/>
          <a:ln/>
        </p:spPr>
        <p:txBody>
          <a:bodyPr wrap="square" lIns="0" tIns="0" rIns="0" bIns="0" rtlCol="0" anchor="ctr"/>
          <a:lstStyle/>
          <a:p>
            <a:pPr indent="0" marL="0">
              <a:buNone/>
            </a:pPr>
            <a:r>
              <a:rPr lang="en-US" sz="1300" dirty="0">
                <a:solidFill>
                  <a:srgbClr val="6B7785"/>
                </a:solidFill>
                <a:latin typeface="Calibri" pitchFamily="34" charset="0"/>
                <a:ea typeface="Calibri" pitchFamily="34" charset="-122"/>
                <a:cs typeface="Calibri" pitchFamily="34" charset="-120"/>
              </a:rPr>
              <a:t>Where the decline comes from, and whether it is mix or performance</a:t>
            </a:r>
            <a:endParaRPr lang="en-US" sz="1300" dirty="0"/>
          </a:p>
        </p:txBody>
      </p:sp>
      <p:sp>
        <p:nvSpPr>
          <p:cNvPr id="5" name="Shape 3"/>
          <p:cNvSpPr/>
          <p:nvPr/>
        </p:nvSpPr>
        <p:spPr>
          <a:xfrm>
            <a:off x="548640" y="1627632"/>
            <a:ext cx="6949440" cy="4343400"/>
          </a:xfrm>
          <a:prstGeom prst="roundRect">
            <a:avLst>
              <a:gd name="adj" fmla="val 842"/>
            </a:avLst>
          </a:prstGeom>
          <a:solidFill>
            <a:srgbClr val="E9EDF1"/>
          </a:solidFill>
          <a:ln w="19050">
            <a:solidFill>
              <a:srgbClr val="9AA5B1"/>
            </a:solidFill>
            <a:prstDash val="dash"/>
          </a:ln>
        </p:spPr>
      </p:sp>
      <p:sp>
        <p:nvSpPr>
          <p:cNvPr id="6" name="Text 4"/>
          <p:cNvSpPr txBox="1"/>
          <p:nvPr/>
        </p:nvSpPr>
        <p:spPr>
          <a:xfrm>
            <a:off x="777240" y="3415284"/>
            <a:ext cx="6492240" cy="310896"/>
          </a:xfrm>
          <a:prstGeom prst="rect">
            <a:avLst/>
          </a:prstGeom>
          <a:noFill/>
          <a:ln/>
        </p:spPr>
        <p:txBody>
          <a:bodyPr wrap="square" lIns="0" tIns="0" rIns="0" bIns="0" rtlCol="0" anchor="ctr"/>
          <a:lstStyle/>
          <a:p>
            <a:pPr algn="ctr" indent="0" marL="0">
              <a:buNone/>
            </a:pPr>
            <a:r>
              <a:rPr lang="en-US" sz="1300" b="1" dirty="0">
                <a:solidFill>
                  <a:srgbClr val="12233C"/>
                </a:solidFill>
                <a:latin typeface="Calibri" pitchFamily="34" charset="0"/>
                <a:ea typeface="Calibri" pitchFamily="34" charset="-122"/>
                <a:cs typeface="Calibri" pitchFamily="34" charset="-120"/>
              </a:rPr>
              <a:t>[ PASTE POWER BI SCREENSHOT HERE ]</a:t>
            </a:r>
            <a:endParaRPr lang="en-US" sz="1300" dirty="0"/>
          </a:p>
        </p:txBody>
      </p:sp>
      <p:sp>
        <p:nvSpPr>
          <p:cNvPr id="7" name="Text 5"/>
          <p:cNvSpPr txBox="1"/>
          <p:nvPr/>
        </p:nvSpPr>
        <p:spPr>
          <a:xfrm>
            <a:off x="777240" y="3753612"/>
            <a:ext cx="6492240" cy="548640"/>
          </a:xfrm>
          <a:prstGeom prst="rect">
            <a:avLst/>
          </a:prstGeom>
          <a:noFill/>
          <a:ln/>
        </p:spPr>
        <p:txBody>
          <a:bodyPr wrap="square" lIns="0" tIns="0" rIns="0" bIns="0" rtlCol="0" anchor="ctr"/>
          <a:lstStyle/>
          <a:p>
            <a:pPr algn="ctr" indent="0" marL="0">
              <a:lnSpc>
                <a:spcPts val="1300"/>
              </a:lnSpc>
              <a:buNone/>
            </a:pPr>
            <a:r>
              <a:rPr lang="en-US" sz="1050" i="1" dirty="0">
                <a:solidFill>
                  <a:srgbClr val="6B7785"/>
                </a:solidFill>
                <a:latin typeface="Calibri" pitchFamily="34" charset="0"/>
                <a:ea typeface="Calibri" pitchFamily="34" charset="-122"/>
                <a:cs typeface="Calibri" pitchFamily="34" charset="-120"/>
              </a:rPr>
              <a:t>Page 2 — Diagnostic — full page capture</a:t>
            </a:r>
            <a:endParaRPr lang="en-US" sz="1050" dirty="0"/>
          </a:p>
        </p:txBody>
      </p:sp>
      <p:sp>
        <p:nvSpPr>
          <p:cNvPr id="8" name="Text 6"/>
          <p:cNvSpPr txBox="1"/>
          <p:nvPr/>
        </p:nvSpPr>
        <p:spPr>
          <a:xfrm>
            <a:off x="7726680" y="1691640"/>
            <a:ext cx="3886200" cy="274320"/>
          </a:xfrm>
          <a:prstGeom prst="rect">
            <a:avLst/>
          </a:prstGeom>
          <a:noFill/>
          <a:ln/>
        </p:spPr>
        <p:txBody>
          <a:bodyPr wrap="square" lIns="0" tIns="0" rIns="0" bIns="0" rtlCol="0" anchor="ctr"/>
          <a:lstStyle/>
          <a:p>
            <a:pPr indent="0" marL="0">
              <a:buNone/>
            </a:pPr>
            <a:r>
              <a:rPr lang="en-US" sz="1250" b="1" dirty="0">
                <a:solidFill>
                  <a:srgbClr val="12233C"/>
                </a:solidFill>
                <a:latin typeface="Calibri" pitchFamily="34" charset="0"/>
                <a:ea typeface="Calibri" pitchFamily="34" charset="-122"/>
                <a:cs typeface="Calibri" pitchFamily="34" charset="-120"/>
              </a:rPr>
              <a:t>How to read this page</a:t>
            </a:r>
            <a:endParaRPr lang="en-US" sz="1250" dirty="0"/>
          </a:p>
        </p:txBody>
      </p:sp>
      <p:sp>
        <p:nvSpPr>
          <p:cNvPr id="9" name="Shape 7"/>
          <p:cNvSpPr/>
          <p:nvPr/>
        </p:nvSpPr>
        <p:spPr>
          <a:xfrm>
            <a:off x="7726680" y="2057400"/>
            <a:ext cx="3886200" cy="1261872"/>
          </a:xfrm>
          <a:prstGeom prst="roundRect">
            <a:avLst>
              <a:gd name="adj" fmla="val 4348"/>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sp>
        <p:nvSpPr>
          <p:cNvPr id="10" name="Shape 8"/>
          <p:cNvSpPr/>
          <p:nvPr/>
        </p:nvSpPr>
        <p:spPr>
          <a:xfrm>
            <a:off x="7909560" y="2203704"/>
            <a:ext cx="274320" cy="274320"/>
          </a:xfrm>
          <a:prstGeom prst="ellipse">
            <a:avLst/>
          </a:prstGeom>
          <a:solidFill>
            <a:srgbClr val="0E7C7B"/>
          </a:solidFill>
          <a:ln/>
        </p:spPr>
      </p:sp>
      <p:sp>
        <p:nvSpPr>
          <p:cNvPr id="11" name="Text 9"/>
          <p:cNvSpPr txBox="1"/>
          <p:nvPr/>
        </p:nvSpPr>
        <p:spPr>
          <a:xfrm>
            <a:off x="7909560" y="2203704"/>
            <a:ext cx="274320" cy="27432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1</a:t>
            </a:r>
            <a:endParaRPr lang="en-US" sz="1150" dirty="0"/>
          </a:p>
        </p:txBody>
      </p:sp>
      <p:sp>
        <p:nvSpPr>
          <p:cNvPr id="12" name="Text 10"/>
          <p:cNvSpPr txBox="1"/>
          <p:nvPr/>
        </p:nvSpPr>
        <p:spPr>
          <a:xfrm>
            <a:off x="8275320" y="2185416"/>
            <a:ext cx="3200400" cy="1051560"/>
          </a:xfrm>
          <a:prstGeom prst="rect">
            <a:avLst/>
          </a:prstGeom>
          <a:noFill/>
          <a:ln/>
        </p:spPr>
        <p:txBody>
          <a:bodyPr wrap="square" lIns="0" tIns="0" rIns="0" bIns="0" rtlCol="0" anchor="ctr"/>
          <a:lstStyle/>
          <a:p>
            <a:pPr indent="0" marL="0">
              <a:lnSpc>
                <a:spcPts val="1150"/>
              </a:lnSpc>
              <a:buNone/>
            </a:pPr>
            <a:r>
              <a:rPr lang="en-US" sz="900" dirty="0">
                <a:solidFill>
                  <a:srgbClr val="4A5663"/>
                </a:solidFill>
                <a:latin typeface="Calibri" pitchFamily="34" charset="0"/>
                <a:ea typeface="Calibri" pitchFamily="34" charset="-122"/>
                <a:cs typeface="Calibri" pitchFamily="34" charset="-120"/>
              </a:rPr>
              <a:t>Visual 2: stacked bar from analysis_decomposition filtered to "Ticket size band", showing mix_effect against within_effect per band. The bars are almost entirely mix — that is the finding.</a:t>
            </a:r>
            <a:endParaRPr lang="en-US" sz="900" dirty="0"/>
          </a:p>
        </p:txBody>
      </p:sp>
      <p:sp>
        <p:nvSpPr>
          <p:cNvPr id="13" name="Shape 11"/>
          <p:cNvSpPr/>
          <p:nvPr/>
        </p:nvSpPr>
        <p:spPr>
          <a:xfrm>
            <a:off x="7726680" y="3429000"/>
            <a:ext cx="3886200" cy="1261872"/>
          </a:xfrm>
          <a:prstGeom prst="roundRect">
            <a:avLst>
              <a:gd name="adj" fmla="val 4348"/>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sp>
        <p:nvSpPr>
          <p:cNvPr id="14" name="Shape 12"/>
          <p:cNvSpPr/>
          <p:nvPr/>
        </p:nvSpPr>
        <p:spPr>
          <a:xfrm>
            <a:off x="7909560" y="3575304"/>
            <a:ext cx="274320" cy="274320"/>
          </a:xfrm>
          <a:prstGeom prst="ellipse">
            <a:avLst/>
          </a:prstGeom>
          <a:solidFill>
            <a:srgbClr val="0E7C7B"/>
          </a:solidFill>
          <a:ln/>
        </p:spPr>
      </p:sp>
      <p:sp>
        <p:nvSpPr>
          <p:cNvPr id="15" name="Text 13"/>
          <p:cNvSpPr txBox="1"/>
          <p:nvPr/>
        </p:nvSpPr>
        <p:spPr>
          <a:xfrm>
            <a:off x="7909560" y="3575304"/>
            <a:ext cx="274320" cy="27432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2</a:t>
            </a:r>
            <a:endParaRPr lang="en-US" sz="1150" dirty="0"/>
          </a:p>
        </p:txBody>
      </p:sp>
      <p:sp>
        <p:nvSpPr>
          <p:cNvPr id="16" name="Text 14"/>
          <p:cNvSpPr txBox="1"/>
          <p:nvPr/>
        </p:nvSpPr>
        <p:spPr>
          <a:xfrm>
            <a:off x="8275320" y="3557016"/>
            <a:ext cx="3200400" cy="1051560"/>
          </a:xfrm>
          <a:prstGeom prst="rect">
            <a:avLst/>
          </a:prstGeom>
          <a:noFill/>
          <a:ln/>
        </p:spPr>
        <p:txBody>
          <a:bodyPr wrap="square" lIns="0" tIns="0" rIns="0" bIns="0" rtlCol="0" anchor="ctr"/>
          <a:lstStyle/>
          <a:p>
            <a:pPr indent="0" marL="0">
              <a:lnSpc>
                <a:spcPts val="1150"/>
              </a:lnSpc>
              <a:buNone/>
            </a:pPr>
            <a:r>
              <a:rPr lang="en-US" sz="900" dirty="0">
                <a:solidFill>
                  <a:srgbClr val="4A5663"/>
                </a:solidFill>
                <a:latin typeface="Calibri" pitchFamily="34" charset="0"/>
                <a:ea typeface="Calibri" pitchFamily="34" charset="-122"/>
                <a:cs typeface="Calibri" pitchFamily="34" charset="-120"/>
              </a:rPr>
              <a:t>Visual 3: matrix of Cost per Successful Txn, provider on rows and ticket band on columns, with Successful Volume as a second value so the reader sees where volume sits. ORBIT $0.53 under $25 against NORTH $0.14 is visible in one cell.</a:t>
            </a:r>
            <a:endParaRPr lang="en-US" sz="900" dirty="0"/>
          </a:p>
        </p:txBody>
      </p:sp>
      <p:sp>
        <p:nvSpPr>
          <p:cNvPr id="17" name="Shape 15"/>
          <p:cNvSpPr/>
          <p:nvPr/>
        </p:nvSpPr>
        <p:spPr>
          <a:xfrm>
            <a:off x="7726680" y="4800600"/>
            <a:ext cx="3886200" cy="1261872"/>
          </a:xfrm>
          <a:prstGeom prst="roundRect">
            <a:avLst>
              <a:gd name="adj" fmla="val 4348"/>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sp>
        <p:nvSpPr>
          <p:cNvPr id="18" name="Shape 16"/>
          <p:cNvSpPr/>
          <p:nvPr/>
        </p:nvSpPr>
        <p:spPr>
          <a:xfrm>
            <a:off x="7909560" y="4946904"/>
            <a:ext cx="274320" cy="274320"/>
          </a:xfrm>
          <a:prstGeom prst="ellipse">
            <a:avLst/>
          </a:prstGeom>
          <a:solidFill>
            <a:srgbClr val="0E7C7B"/>
          </a:solidFill>
          <a:ln/>
        </p:spPr>
      </p:sp>
      <p:sp>
        <p:nvSpPr>
          <p:cNvPr id="19" name="Text 17"/>
          <p:cNvSpPr txBox="1"/>
          <p:nvPr/>
        </p:nvSpPr>
        <p:spPr>
          <a:xfrm>
            <a:off x="7909560" y="4946904"/>
            <a:ext cx="274320" cy="27432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3</a:t>
            </a:r>
            <a:endParaRPr lang="en-US" sz="1150" dirty="0"/>
          </a:p>
        </p:txBody>
      </p:sp>
      <p:sp>
        <p:nvSpPr>
          <p:cNvPr id="20" name="Text 18"/>
          <p:cNvSpPr txBox="1"/>
          <p:nvPr/>
        </p:nvSpPr>
        <p:spPr>
          <a:xfrm>
            <a:off x="8275320" y="4928616"/>
            <a:ext cx="3200400" cy="1051560"/>
          </a:xfrm>
          <a:prstGeom prst="rect">
            <a:avLst/>
          </a:prstGeom>
          <a:noFill/>
          <a:ln/>
        </p:spPr>
        <p:txBody>
          <a:bodyPr wrap="square" lIns="0" tIns="0" rIns="0" bIns="0" rtlCol="0" anchor="ctr"/>
          <a:lstStyle/>
          <a:p>
            <a:pPr indent="0" marL="0">
              <a:lnSpc>
                <a:spcPts val="1150"/>
              </a:lnSpc>
              <a:buNone/>
            </a:pPr>
            <a:r>
              <a:rPr lang="en-US" sz="900" dirty="0">
                <a:solidFill>
                  <a:srgbClr val="4A5663"/>
                </a:solidFill>
                <a:latin typeface="Calibri" pitchFamily="34" charset="0"/>
                <a:ea typeface="Calibri" pitchFamily="34" charset="-122"/>
                <a:cs typeface="Calibri" pitchFamily="34" charset="-120"/>
              </a:rPr>
              <a:t>Supporting: ticket-band share over time, cohort economics crossing zero, and effective take rate by pricing plan — the last disproves the CFO at a glance.</a:t>
            </a:r>
            <a:endParaRPr lang="en-US" sz="900" dirty="0"/>
          </a:p>
        </p:txBody>
      </p:sp>
      <p:sp>
        <p:nvSpPr>
          <p:cNvPr id="21" name="Text 19"/>
          <p:cNvSpPr txBox="1"/>
          <p:nvPr/>
        </p:nvSpPr>
        <p:spPr>
          <a:xfrm>
            <a:off x="548640" y="6199632"/>
            <a:ext cx="11064240" cy="411480"/>
          </a:xfrm>
          <a:prstGeom prst="rect">
            <a:avLst/>
          </a:prstGeom>
          <a:noFill/>
          <a:ln/>
        </p:spPr>
        <p:txBody>
          <a:bodyPr wrap="square" lIns="0" tIns="0" rIns="0" bIns="0" rtlCol="0" anchor="ctr"/>
          <a:lstStyle/>
          <a:p>
            <a:pPr indent="0" marL="0">
              <a:lnSpc>
                <a:spcPts val="1300"/>
              </a:lnSpc>
              <a:buNone/>
            </a:pPr>
            <a:r>
              <a:rPr lang="en-US" sz="1100" i="1" dirty="0">
                <a:solidFill>
                  <a:srgbClr val="6B7785"/>
                </a:solidFill>
                <a:latin typeface="Calibri" pitchFamily="34" charset="0"/>
                <a:ea typeface="Calibri" pitchFamily="34" charset="-122"/>
                <a:cs typeface="Calibri" pitchFamily="34" charset="-120"/>
              </a:rPr>
              <a:t>Placeholder — replace the dashed frame with the Power BI screenshot of this page before submitting.</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4F6F8"/>
        </a:solidFill>
      </p:bgPr>
    </p:bg>
    <p:spTree>
      <p:nvGrpSpPr>
        <p:cNvPr id="1" name=""/>
        <p:cNvGrpSpPr/>
        <p:nvPr/>
      </p:nvGrpSpPr>
      <p:grpSpPr>
        <a:xfrm>
          <a:off x="0" y="0"/>
          <a:ext cx="0" cy="0"/>
          <a:chOff x="0" y="0"/>
          <a:chExt cx="0" cy="0"/>
        </a:xfrm>
      </p:grpSpPr>
      <p:sp>
        <p:nvSpPr>
          <p:cNvPr id="2" name="Text 0"/>
          <p:cNvSpPr txBox="1"/>
          <p:nvPr/>
        </p:nvSpPr>
        <p:spPr>
          <a:xfrm>
            <a:off x="548640" y="329184"/>
            <a:ext cx="7315200" cy="237744"/>
          </a:xfrm>
          <a:prstGeom prst="rect">
            <a:avLst/>
          </a:prstGeom>
          <a:noFill/>
          <a:ln/>
        </p:spPr>
        <p:txBody>
          <a:bodyPr wrap="square" lIns="0" tIns="0" rIns="0" bIns="0" rtlCol="0" anchor="ctr"/>
          <a:lstStyle/>
          <a:p>
            <a:pPr indent="0" marL="0">
              <a:buNone/>
            </a:pPr>
            <a:r>
              <a:rPr lang="en-US" sz="1050" b="1" spc="200" kern="0" dirty="0">
                <a:solidFill>
                  <a:srgbClr val="D98324"/>
                </a:solidFill>
                <a:latin typeface="Calibri" pitchFamily="34" charset="0"/>
                <a:ea typeface="Calibri" pitchFamily="34" charset="-122"/>
                <a:cs typeface="Calibri" pitchFamily="34" charset="-120"/>
              </a:rPr>
              <a:t>TASK 7 · DASHBOARD</a:t>
            </a:r>
            <a:endParaRPr lang="en-US" sz="1050" dirty="0"/>
          </a:p>
        </p:txBody>
      </p:sp>
      <p:sp>
        <p:nvSpPr>
          <p:cNvPr id="3" name="Text 1"/>
          <p:cNvSpPr txBox="1"/>
          <p:nvPr/>
        </p:nvSpPr>
        <p:spPr>
          <a:xfrm>
            <a:off x="548640" y="603504"/>
            <a:ext cx="11064240" cy="502920"/>
          </a:xfrm>
          <a:prstGeom prst="rect">
            <a:avLst/>
          </a:prstGeom>
          <a:noFill/>
          <a:ln/>
        </p:spPr>
        <p:txBody>
          <a:bodyPr wrap="square" lIns="0" tIns="0" rIns="0" bIns="0" rtlCol="0" anchor="ctr"/>
          <a:lstStyle/>
          <a:p>
            <a:pPr indent="0" marL="0">
              <a:buNone/>
            </a:pPr>
            <a:r>
              <a:rPr lang="en-US" sz="2600" b="1" dirty="0">
                <a:solidFill>
                  <a:srgbClr val="12233C"/>
                </a:solidFill>
                <a:latin typeface="Cambria" pitchFamily="34" charset="0"/>
                <a:ea typeface="Cambria" pitchFamily="34" charset="-122"/>
                <a:cs typeface="Cambria" pitchFamily="34" charset="-120"/>
              </a:rPr>
              <a:t>Page 3 — Action</a:t>
            </a:r>
            <a:endParaRPr lang="en-US" sz="2600" dirty="0"/>
          </a:p>
        </p:txBody>
      </p:sp>
      <p:sp>
        <p:nvSpPr>
          <p:cNvPr id="4" name="Text 2"/>
          <p:cNvSpPr txBox="1"/>
          <p:nvPr/>
        </p:nvSpPr>
        <p:spPr>
          <a:xfrm>
            <a:off x="548640" y="1115568"/>
            <a:ext cx="11064240" cy="310896"/>
          </a:xfrm>
          <a:prstGeom prst="rect">
            <a:avLst/>
          </a:prstGeom>
          <a:noFill/>
          <a:ln/>
        </p:spPr>
        <p:txBody>
          <a:bodyPr wrap="square" lIns="0" tIns="0" rIns="0" bIns="0" rtlCol="0" anchor="ctr"/>
          <a:lstStyle/>
          <a:p>
            <a:pPr indent="0" marL="0">
              <a:buNone/>
            </a:pPr>
            <a:r>
              <a:rPr lang="en-US" sz="1300" dirty="0">
                <a:solidFill>
                  <a:srgbClr val="6B7785"/>
                </a:solidFill>
                <a:latin typeface="Calibri" pitchFamily="34" charset="0"/>
                <a:ea typeface="Calibri" pitchFamily="34" charset="-122"/>
                <a:cs typeface="Calibri" pitchFamily="34" charset="-120"/>
              </a:rPr>
              <a:t>The bridge and the 60-day plan</a:t>
            </a:r>
            <a:endParaRPr lang="en-US" sz="1300" dirty="0"/>
          </a:p>
        </p:txBody>
      </p:sp>
      <p:sp>
        <p:nvSpPr>
          <p:cNvPr id="5" name="Shape 3"/>
          <p:cNvSpPr/>
          <p:nvPr/>
        </p:nvSpPr>
        <p:spPr>
          <a:xfrm>
            <a:off x="548640" y="1627632"/>
            <a:ext cx="6949440" cy="4343400"/>
          </a:xfrm>
          <a:prstGeom prst="roundRect">
            <a:avLst>
              <a:gd name="adj" fmla="val 842"/>
            </a:avLst>
          </a:prstGeom>
          <a:solidFill>
            <a:srgbClr val="E9EDF1"/>
          </a:solidFill>
          <a:ln w="19050">
            <a:solidFill>
              <a:srgbClr val="9AA5B1"/>
            </a:solidFill>
            <a:prstDash val="dash"/>
          </a:ln>
        </p:spPr>
      </p:sp>
      <p:sp>
        <p:nvSpPr>
          <p:cNvPr id="6" name="Text 4"/>
          <p:cNvSpPr txBox="1"/>
          <p:nvPr/>
        </p:nvSpPr>
        <p:spPr>
          <a:xfrm>
            <a:off x="777240" y="3415284"/>
            <a:ext cx="6492240" cy="310896"/>
          </a:xfrm>
          <a:prstGeom prst="rect">
            <a:avLst/>
          </a:prstGeom>
          <a:noFill/>
          <a:ln/>
        </p:spPr>
        <p:txBody>
          <a:bodyPr wrap="square" lIns="0" tIns="0" rIns="0" bIns="0" rtlCol="0" anchor="ctr"/>
          <a:lstStyle/>
          <a:p>
            <a:pPr algn="ctr" indent="0" marL="0">
              <a:buNone/>
            </a:pPr>
            <a:r>
              <a:rPr lang="en-US" sz="1300" b="1" dirty="0">
                <a:solidFill>
                  <a:srgbClr val="12233C"/>
                </a:solidFill>
                <a:latin typeface="Calibri" pitchFamily="34" charset="0"/>
                <a:ea typeface="Calibri" pitchFamily="34" charset="-122"/>
                <a:cs typeface="Calibri" pitchFamily="34" charset="-120"/>
              </a:rPr>
              <a:t>[ PASTE POWER BI SCREENSHOT HERE ]</a:t>
            </a:r>
            <a:endParaRPr lang="en-US" sz="1300" dirty="0"/>
          </a:p>
        </p:txBody>
      </p:sp>
      <p:sp>
        <p:nvSpPr>
          <p:cNvPr id="7" name="Text 5"/>
          <p:cNvSpPr txBox="1"/>
          <p:nvPr/>
        </p:nvSpPr>
        <p:spPr>
          <a:xfrm>
            <a:off x="777240" y="3753612"/>
            <a:ext cx="6492240" cy="548640"/>
          </a:xfrm>
          <a:prstGeom prst="rect">
            <a:avLst/>
          </a:prstGeom>
          <a:noFill/>
          <a:ln/>
        </p:spPr>
        <p:txBody>
          <a:bodyPr wrap="square" lIns="0" tIns="0" rIns="0" bIns="0" rtlCol="0" anchor="ctr"/>
          <a:lstStyle/>
          <a:p>
            <a:pPr algn="ctr" indent="0" marL="0">
              <a:lnSpc>
                <a:spcPts val="1300"/>
              </a:lnSpc>
              <a:buNone/>
            </a:pPr>
            <a:r>
              <a:rPr lang="en-US" sz="1050" i="1" dirty="0">
                <a:solidFill>
                  <a:srgbClr val="6B7785"/>
                </a:solidFill>
                <a:latin typeface="Calibri" pitchFamily="34" charset="0"/>
                <a:ea typeface="Calibri" pitchFamily="34" charset="-122"/>
                <a:cs typeface="Calibri" pitchFamily="34" charset="-120"/>
              </a:rPr>
              <a:t>Page 3 — Action — full page capture</a:t>
            </a:r>
            <a:endParaRPr lang="en-US" sz="1050" dirty="0"/>
          </a:p>
        </p:txBody>
      </p:sp>
      <p:sp>
        <p:nvSpPr>
          <p:cNvPr id="8" name="Text 6"/>
          <p:cNvSpPr txBox="1"/>
          <p:nvPr/>
        </p:nvSpPr>
        <p:spPr>
          <a:xfrm>
            <a:off x="7726680" y="1691640"/>
            <a:ext cx="3886200" cy="274320"/>
          </a:xfrm>
          <a:prstGeom prst="rect">
            <a:avLst/>
          </a:prstGeom>
          <a:noFill/>
          <a:ln/>
        </p:spPr>
        <p:txBody>
          <a:bodyPr wrap="square" lIns="0" tIns="0" rIns="0" bIns="0" rtlCol="0" anchor="ctr"/>
          <a:lstStyle/>
          <a:p>
            <a:pPr indent="0" marL="0">
              <a:buNone/>
            </a:pPr>
            <a:r>
              <a:rPr lang="en-US" sz="1250" b="1" dirty="0">
                <a:solidFill>
                  <a:srgbClr val="12233C"/>
                </a:solidFill>
                <a:latin typeface="Calibri" pitchFamily="34" charset="0"/>
                <a:ea typeface="Calibri" pitchFamily="34" charset="-122"/>
                <a:cs typeface="Calibri" pitchFamily="34" charset="-120"/>
              </a:rPr>
              <a:t>How to read this page</a:t>
            </a:r>
            <a:endParaRPr lang="en-US" sz="1250" dirty="0"/>
          </a:p>
        </p:txBody>
      </p:sp>
      <p:sp>
        <p:nvSpPr>
          <p:cNvPr id="9" name="Shape 7"/>
          <p:cNvSpPr/>
          <p:nvPr/>
        </p:nvSpPr>
        <p:spPr>
          <a:xfrm>
            <a:off x="7726680" y="2057400"/>
            <a:ext cx="3886200" cy="1261872"/>
          </a:xfrm>
          <a:prstGeom prst="roundRect">
            <a:avLst>
              <a:gd name="adj" fmla="val 4348"/>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sp>
        <p:nvSpPr>
          <p:cNvPr id="10" name="Shape 8"/>
          <p:cNvSpPr/>
          <p:nvPr/>
        </p:nvSpPr>
        <p:spPr>
          <a:xfrm>
            <a:off x="7909560" y="2203704"/>
            <a:ext cx="274320" cy="274320"/>
          </a:xfrm>
          <a:prstGeom prst="ellipse">
            <a:avLst/>
          </a:prstGeom>
          <a:solidFill>
            <a:srgbClr val="0E7C7B"/>
          </a:solidFill>
          <a:ln/>
        </p:spPr>
      </p:sp>
      <p:sp>
        <p:nvSpPr>
          <p:cNvPr id="11" name="Text 9"/>
          <p:cNvSpPr txBox="1"/>
          <p:nvPr/>
        </p:nvSpPr>
        <p:spPr>
          <a:xfrm>
            <a:off x="7909560" y="2203704"/>
            <a:ext cx="274320" cy="27432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1</a:t>
            </a:r>
            <a:endParaRPr lang="en-US" sz="1150" dirty="0"/>
          </a:p>
        </p:txBody>
      </p:sp>
      <p:sp>
        <p:nvSpPr>
          <p:cNvPr id="12" name="Text 10"/>
          <p:cNvSpPr txBox="1"/>
          <p:nvPr/>
        </p:nvSpPr>
        <p:spPr>
          <a:xfrm>
            <a:off x="8275320" y="2185416"/>
            <a:ext cx="3200400" cy="1051560"/>
          </a:xfrm>
          <a:prstGeom prst="rect">
            <a:avLst/>
          </a:prstGeom>
          <a:noFill/>
          <a:ln/>
        </p:spPr>
        <p:txBody>
          <a:bodyPr wrap="square" lIns="0" tIns="0" rIns="0" bIns="0" rtlCol="0" anchor="ctr"/>
          <a:lstStyle/>
          <a:p>
            <a:pPr indent="0" marL="0">
              <a:lnSpc>
                <a:spcPts val="1150"/>
              </a:lnSpc>
              <a:buNone/>
            </a:pPr>
            <a:r>
              <a:rPr lang="en-US" sz="900" dirty="0">
                <a:solidFill>
                  <a:srgbClr val="4A5663"/>
                </a:solidFill>
                <a:latin typeface="Calibri" pitchFamily="34" charset="0"/>
                <a:ea typeface="Calibri" pitchFamily="34" charset="-122"/>
                <a:cs typeface="Calibri" pitchFamily="34" charset="-120"/>
              </a:rPr>
              <a:t>Visual 4: waterfall from analysis_bridge. Opening $1.613, merchant revenue −$0.744, processing cost +$0.109, chargeback cost +$0.102. No closing row is supplied — Power BI computes its own total, so a hand-written closing row is counted twice.</a:t>
            </a:r>
            <a:endParaRPr lang="en-US" sz="900" dirty="0"/>
          </a:p>
        </p:txBody>
      </p:sp>
      <p:sp>
        <p:nvSpPr>
          <p:cNvPr id="13" name="Shape 11"/>
          <p:cNvSpPr/>
          <p:nvPr/>
        </p:nvSpPr>
        <p:spPr>
          <a:xfrm>
            <a:off x="7726680" y="3429000"/>
            <a:ext cx="3886200" cy="1261872"/>
          </a:xfrm>
          <a:prstGeom prst="roundRect">
            <a:avLst>
              <a:gd name="adj" fmla="val 4348"/>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sp>
        <p:nvSpPr>
          <p:cNvPr id="14" name="Shape 12"/>
          <p:cNvSpPr/>
          <p:nvPr/>
        </p:nvSpPr>
        <p:spPr>
          <a:xfrm>
            <a:off x="7909560" y="3575304"/>
            <a:ext cx="274320" cy="274320"/>
          </a:xfrm>
          <a:prstGeom prst="ellipse">
            <a:avLst/>
          </a:prstGeom>
          <a:solidFill>
            <a:srgbClr val="0E7C7B"/>
          </a:solidFill>
          <a:ln/>
        </p:spPr>
      </p:sp>
      <p:sp>
        <p:nvSpPr>
          <p:cNvPr id="15" name="Text 13"/>
          <p:cNvSpPr txBox="1"/>
          <p:nvPr/>
        </p:nvSpPr>
        <p:spPr>
          <a:xfrm>
            <a:off x="7909560" y="3575304"/>
            <a:ext cx="274320" cy="27432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2</a:t>
            </a:r>
            <a:endParaRPr lang="en-US" sz="1150" dirty="0"/>
          </a:p>
        </p:txBody>
      </p:sp>
      <p:sp>
        <p:nvSpPr>
          <p:cNvPr id="16" name="Text 14"/>
          <p:cNvSpPr txBox="1"/>
          <p:nvPr/>
        </p:nvSpPr>
        <p:spPr>
          <a:xfrm>
            <a:off x="8275320" y="3557016"/>
            <a:ext cx="3200400" cy="1051560"/>
          </a:xfrm>
          <a:prstGeom prst="rect">
            <a:avLst/>
          </a:prstGeom>
          <a:noFill/>
          <a:ln/>
        </p:spPr>
        <p:txBody>
          <a:bodyPr wrap="square" lIns="0" tIns="0" rIns="0" bIns="0" rtlCol="0" anchor="ctr"/>
          <a:lstStyle/>
          <a:p>
            <a:pPr indent="0" marL="0">
              <a:lnSpc>
                <a:spcPts val="1150"/>
              </a:lnSpc>
              <a:buNone/>
            </a:pPr>
            <a:r>
              <a:rPr lang="en-US" sz="900" dirty="0">
                <a:solidFill>
                  <a:srgbClr val="4A5663"/>
                </a:solidFill>
                <a:latin typeface="Calibri" pitchFamily="34" charset="0"/>
                <a:ea typeface="Calibri" pitchFamily="34" charset="-122"/>
                <a:cs typeface="Calibri" pitchFamily="34" charset="-120"/>
              </a:rPr>
              <a:t>The Task 6 verdict table beside it as a supporting table: driver, type, claimed by, result, verdict. It is the audit trail for the three disproved hypotheses.</a:t>
            </a:r>
            <a:endParaRPr lang="en-US" sz="900" dirty="0"/>
          </a:p>
        </p:txBody>
      </p:sp>
      <p:sp>
        <p:nvSpPr>
          <p:cNvPr id="17" name="Shape 15"/>
          <p:cNvSpPr/>
          <p:nvPr/>
        </p:nvSpPr>
        <p:spPr>
          <a:xfrm>
            <a:off x="7726680" y="4800600"/>
            <a:ext cx="3886200" cy="1261872"/>
          </a:xfrm>
          <a:prstGeom prst="roundRect">
            <a:avLst>
              <a:gd name="adj" fmla="val 4348"/>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sp>
        <p:nvSpPr>
          <p:cNvPr id="18" name="Shape 16"/>
          <p:cNvSpPr/>
          <p:nvPr/>
        </p:nvSpPr>
        <p:spPr>
          <a:xfrm>
            <a:off x="7909560" y="4946904"/>
            <a:ext cx="274320" cy="274320"/>
          </a:xfrm>
          <a:prstGeom prst="ellipse">
            <a:avLst/>
          </a:prstGeom>
          <a:solidFill>
            <a:srgbClr val="0E7C7B"/>
          </a:solidFill>
          <a:ln/>
        </p:spPr>
      </p:sp>
      <p:sp>
        <p:nvSpPr>
          <p:cNvPr id="19" name="Text 17"/>
          <p:cNvSpPr txBox="1"/>
          <p:nvPr/>
        </p:nvSpPr>
        <p:spPr>
          <a:xfrm>
            <a:off x="7909560" y="4946904"/>
            <a:ext cx="274320" cy="274320"/>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3</a:t>
            </a:r>
            <a:endParaRPr lang="en-US" sz="1150" dirty="0"/>
          </a:p>
        </p:txBody>
      </p:sp>
      <p:sp>
        <p:nvSpPr>
          <p:cNvPr id="20" name="Text 18"/>
          <p:cNvSpPr txBox="1"/>
          <p:nvPr/>
        </p:nvSpPr>
        <p:spPr>
          <a:xfrm>
            <a:off x="8275320" y="4928616"/>
            <a:ext cx="3200400" cy="1051560"/>
          </a:xfrm>
          <a:prstGeom prst="rect">
            <a:avLst/>
          </a:prstGeom>
          <a:noFill/>
          <a:ln/>
        </p:spPr>
        <p:txBody>
          <a:bodyPr wrap="square" lIns="0" tIns="0" rIns="0" bIns="0" rtlCol="0" anchor="ctr"/>
          <a:lstStyle/>
          <a:p>
            <a:pPr indent="0" marL="0">
              <a:lnSpc>
                <a:spcPts val="1150"/>
              </a:lnSpc>
              <a:buNone/>
            </a:pPr>
            <a:r>
              <a:rPr lang="en-US" sz="900" dirty="0">
                <a:solidFill>
                  <a:srgbClr val="4A5663"/>
                </a:solidFill>
                <a:latin typeface="Calibri" pitchFamily="34" charset="0"/>
                <a:ea typeface="Calibri" pitchFamily="34" charset="-122"/>
                <a:cs typeface="Calibri" pitchFamily="34" charset="-120"/>
              </a:rPr>
              <a:t>Below: the five-action 60-day table imported from actions_60day.csv, so deck, dashboard and repository all quote the same five actions.</a:t>
            </a:r>
            <a:endParaRPr lang="en-US" sz="900" dirty="0"/>
          </a:p>
        </p:txBody>
      </p:sp>
      <p:sp>
        <p:nvSpPr>
          <p:cNvPr id="21" name="Text 19"/>
          <p:cNvSpPr txBox="1"/>
          <p:nvPr/>
        </p:nvSpPr>
        <p:spPr>
          <a:xfrm>
            <a:off x="548640" y="6199632"/>
            <a:ext cx="11064240" cy="411480"/>
          </a:xfrm>
          <a:prstGeom prst="rect">
            <a:avLst/>
          </a:prstGeom>
          <a:noFill/>
          <a:ln/>
        </p:spPr>
        <p:txBody>
          <a:bodyPr wrap="square" lIns="0" tIns="0" rIns="0" bIns="0" rtlCol="0" anchor="ctr"/>
          <a:lstStyle/>
          <a:p>
            <a:pPr indent="0" marL="0">
              <a:lnSpc>
                <a:spcPts val="1300"/>
              </a:lnSpc>
              <a:buNone/>
            </a:pPr>
            <a:r>
              <a:rPr lang="en-US" sz="1100" i="1" dirty="0">
                <a:solidFill>
                  <a:srgbClr val="6B7785"/>
                </a:solidFill>
                <a:latin typeface="Calibri" pitchFamily="34" charset="0"/>
                <a:ea typeface="Calibri" pitchFamily="34" charset="-122"/>
                <a:cs typeface="Calibri" pitchFamily="34" charset="-120"/>
              </a:rPr>
              <a:t>Placeholder — replace the dashed frame with the Power BI screenshot of this page before submitting.</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4F6F8"/>
        </a:solidFill>
      </p:bgPr>
    </p:bg>
    <p:spTree>
      <p:nvGrpSpPr>
        <p:cNvPr id="1" name=""/>
        <p:cNvGrpSpPr/>
        <p:nvPr/>
      </p:nvGrpSpPr>
      <p:grpSpPr>
        <a:xfrm>
          <a:off x="0" y="0"/>
          <a:ext cx="0" cy="0"/>
          <a:chOff x="0" y="0"/>
          <a:chExt cx="0" cy="0"/>
        </a:xfrm>
      </p:grpSpPr>
      <p:sp>
        <p:nvSpPr>
          <p:cNvPr id="2" name="Text 0"/>
          <p:cNvSpPr txBox="1"/>
          <p:nvPr/>
        </p:nvSpPr>
        <p:spPr>
          <a:xfrm>
            <a:off x="548640" y="329184"/>
            <a:ext cx="7315200" cy="237744"/>
          </a:xfrm>
          <a:prstGeom prst="rect">
            <a:avLst/>
          </a:prstGeom>
          <a:noFill/>
          <a:ln/>
        </p:spPr>
        <p:txBody>
          <a:bodyPr wrap="square" lIns="0" tIns="0" rIns="0" bIns="0" rtlCol="0" anchor="ctr"/>
          <a:lstStyle/>
          <a:p>
            <a:pPr indent="0" marL="0">
              <a:buNone/>
            </a:pPr>
            <a:r>
              <a:rPr lang="en-US" sz="1050" b="1" spc="200" kern="0" dirty="0">
                <a:solidFill>
                  <a:srgbClr val="D98324"/>
                </a:solidFill>
                <a:latin typeface="Calibri" pitchFamily="34" charset="0"/>
                <a:ea typeface="Calibri" pitchFamily="34" charset="-122"/>
                <a:cs typeface="Calibri" pitchFamily="34" charset="-120"/>
              </a:rPr>
              <a:t>TASK 8 · DECISION</a:t>
            </a:r>
            <a:endParaRPr lang="en-US" sz="1050" dirty="0"/>
          </a:p>
        </p:txBody>
      </p:sp>
      <p:sp>
        <p:nvSpPr>
          <p:cNvPr id="3" name="Text 1"/>
          <p:cNvSpPr txBox="1"/>
          <p:nvPr/>
        </p:nvSpPr>
        <p:spPr>
          <a:xfrm>
            <a:off x="548640" y="603504"/>
            <a:ext cx="11064240" cy="502920"/>
          </a:xfrm>
          <a:prstGeom prst="rect">
            <a:avLst/>
          </a:prstGeom>
          <a:noFill/>
          <a:ln/>
        </p:spPr>
        <p:txBody>
          <a:bodyPr wrap="square" lIns="0" tIns="0" rIns="0" bIns="0" rtlCol="0" anchor="ctr"/>
          <a:lstStyle/>
          <a:p>
            <a:pPr indent="0" marL="0">
              <a:buNone/>
            </a:pPr>
            <a:r>
              <a:rPr lang="en-US" sz="2600" b="1" dirty="0">
                <a:solidFill>
                  <a:srgbClr val="12233C"/>
                </a:solidFill>
                <a:latin typeface="Cambria" pitchFamily="34" charset="0"/>
                <a:ea typeface="Cambria" pitchFamily="34" charset="-122"/>
                <a:cs typeface="Cambria" pitchFamily="34" charset="-120"/>
              </a:rPr>
              <a:t>Price the floor, route the floor, defend the top</a:t>
            </a:r>
            <a:endParaRPr lang="en-US" sz="2600" dirty="0"/>
          </a:p>
        </p:txBody>
      </p:sp>
      <p:sp>
        <p:nvSpPr>
          <p:cNvPr id="4" name="Text 2"/>
          <p:cNvSpPr txBox="1"/>
          <p:nvPr/>
        </p:nvSpPr>
        <p:spPr>
          <a:xfrm>
            <a:off x="548640" y="1115568"/>
            <a:ext cx="11064240" cy="310896"/>
          </a:xfrm>
          <a:prstGeom prst="rect">
            <a:avLst/>
          </a:prstGeom>
          <a:noFill/>
          <a:ln/>
        </p:spPr>
        <p:txBody>
          <a:bodyPr wrap="square" lIns="0" tIns="0" rIns="0" bIns="0" rtlCol="0" anchor="ctr"/>
          <a:lstStyle/>
          <a:p>
            <a:pPr indent="0" marL="0">
              <a:buNone/>
            </a:pPr>
            <a:r>
              <a:rPr lang="en-US" sz="1300" dirty="0">
                <a:solidFill>
                  <a:srgbClr val="6B7785"/>
                </a:solidFill>
                <a:latin typeface="Calibri" pitchFamily="34" charset="0"/>
                <a:ea typeface="Calibri" pitchFamily="34" charset="-122"/>
                <a:cs typeface="Calibri" pitchFamily="34" charset="-120"/>
              </a:rPr>
              <a:t>Small tickets are not the problem. Small tickets priced and routed like large ones are.</a:t>
            </a:r>
            <a:endParaRPr lang="en-US" sz="1300" dirty="0"/>
          </a:p>
        </p:txBody>
      </p:sp>
      <p:sp>
        <p:nvSpPr>
          <p:cNvPr id="5" name="Shape 3"/>
          <p:cNvSpPr/>
          <p:nvPr/>
        </p:nvSpPr>
        <p:spPr>
          <a:xfrm>
            <a:off x="548640" y="1600200"/>
            <a:ext cx="3538728" cy="1783080"/>
          </a:xfrm>
          <a:prstGeom prst="roundRect">
            <a:avLst>
              <a:gd name="adj" fmla="val 3077"/>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sp>
        <p:nvSpPr>
          <p:cNvPr id="6" name="Text 4"/>
          <p:cNvSpPr txBox="1"/>
          <p:nvPr/>
        </p:nvSpPr>
        <p:spPr>
          <a:xfrm>
            <a:off x="768096" y="1719072"/>
            <a:ext cx="3108960" cy="219456"/>
          </a:xfrm>
          <a:prstGeom prst="rect">
            <a:avLst/>
          </a:prstGeom>
          <a:noFill/>
          <a:ln/>
        </p:spPr>
        <p:txBody>
          <a:bodyPr wrap="square" lIns="0" tIns="0" rIns="0" bIns="0" rtlCol="0" anchor="ctr"/>
          <a:lstStyle/>
          <a:p>
            <a:pPr indent="0" marL="0">
              <a:buNone/>
            </a:pPr>
            <a:r>
              <a:rPr lang="en-US" sz="1050" b="1" spc="200" kern="0" dirty="0">
                <a:solidFill>
                  <a:srgbClr val="D98324"/>
                </a:solidFill>
                <a:latin typeface="Calibri" pitchFamily="34" charset="0"/>
                <a:ea typeface="Calibri" pitchFamily="34" charset="-122"/>
                <a:cs typeface="Calibri" pitchFamily="34" charset="-120"/>
              </a:rPr>
              <a:t>PRICE</a:t>
            </a:r>
            <a:endParaRPr lang="en-US" sz="1050" dirty="0"/>
          </a:p>
        </p:txBody>
      </p:sp>
      <p:sp>
        <p:nvSpPr>
          <p:cNvPr id="7" name="Text 5"/>
          <p:cNvSpPr txBox="1"/>
          <p:nvPr/>
        </p:nvSpPr>
        <p:spPr>
          <a:xfrm>
            <a:off x="768096" y="1956816"/>
            <a:ext cx="3108960" cy="566928"/>
          </a:xfrm>
          <a:prstGeom prst="rect">
            <a:avLst/>
          </a:prstGeom>
          <a:noFill/>
          <a:ln/>
        </p:spPr>
        <p:txBody>
          <a:bodyPr wrap="square" lIns="0" tIns="0" rIns="0" bIns="0" rtlCol="0" anchor="ctr"/>
          <a:lstStyle/>
          <a:p>
            <a:pPr indent="0" marL="0">
              <a:lnSpc>
                <a:spcPts val="1900"/>
              </a:lnSpc>
              <a:buNone/>
            </a:pPr>
            <a:r>
              <a:rPr lang="en-US" sz="1500" b="1" dirty="0">
                <a:solidFill>
                  <a:srgbClr val="12233C"/>
                </a:solidFill>
                <a:latin typeface="Cambria" pitchFamily="34" charset="0"/>
                <a:ea typeface="Cambria" pitchFamily="34" charset="-122"/>
                <a:cs typeface="Cambria" pitchFamily="34" charset="-120"/>
              </a:rPr>
              <a:t>$0.35 minimum fee on FLAT_2_0</a:t>
            </a:r>
            <a:endParaRPr lang="en-US" sz="1500" dirty="0"/>
          </a:p>
        </p:txBody>
      </p:sp>
      <p:sp>
        <p:nvSpPr>
          <p:cNvPr id="8" name="Text 6"/>
          <p:cNvSpPr txBox="1"/>
          <p:nvPr/>
        </p:nvSpPr>
        <p:spPr>
          <a:xfrm>
            <a:off x="768096" y="2578608"/>
            <a:ext cx="3108960" cy="731520"/>
          </a:xfrm>
          <a:prstGeom prst="rect">
            <a:avLst/>
          </a:prstGeom>
          <a:noFill/>
          <a:ln/>
        </p:spPr>
        <p:txBody>
          <a:bodyPr wrap="square" lIns="0" tIns="0" rIns="0" bIns="0" rtlCol="0" anchor="ctr"/>
          <a:lstStyle/>
          <a:p>
            <a:pPr indent="0" marL="0">
              <a:lnSpc>
                <a:spcPts val="1250"/>
              </a:lnSpc>
              <a:buNone/>
            </a:pPr>
            <a:r>
              <a:rPr lang="en-US" sz="1000" dirty="0">
                <a:solidFill>
                  <a:srgbClr val="4A5663"/>
                </a:solidFill>
                <a:latin typeface="Calibri" pitchFamily="34" charset="0"/>
                <a:ea typeface="Calibri" pitchFamily="34" charset="-122"/>
                <a:cs typeface="Calibri" pitchFamily="34" charset="-120"/>
              </a:rPr>
              <a:t>2.00% + $0.20 returns ~$0.48 on a $14 ticket against $0.56 of Orbit cost — loss-making by design.</a:t>
            </a:r>
            <a:endParaRPr lang="en-US" sz="1000" dirty="0"/>
          </a:p>
        </p:txBody>
      </p:sp>
      <p:sp>
        <p:nvSpPr>
          <p:cNvPr id="9" name="Shape 7"/>
          <p:cNvSpPr/>
          <p:nvPr/>
        </p:nvSpPr>
        <p:spPr>
          <a:xfrm>
            <a:off x="4325112" y="1600200"/>
            <a:ext cx="3538728" cy="1783080"/>
          </a:xfrm>
          <a:prstGeom prst="roundRect">
            <a:avLst>
              <a:gd name="adj" fmla="val 3077"/>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sp>
        <p:nvSpPr>
          <p:cNvPr id="10" name="Text 8"/>
          <p:cNvSpPr txBox="1"/>
          <p:nvPr/>
        </p:nvSpPr>
        <p:spPr>
          <a:xfrm>
            <a:off x="4544568" y="1719072"/>
            <a:ext cx="3108960" cy="219456"/>
          </a:xfrm>
          <a:prstGeom prst="rect">
            <a:avLst/>
          </a:prstGeom>
          <a:noFill/>
          <a:ln/>
        </p:spPr>
        <p:txBody>
          <a:bodyPr wrap="square" lIns="0" tIns="0" rIns="0" bIns="0" rtlCol="0" anchor="ctr"/>
          <a:lstStyle/>
          <a:p>
            <a:pPr indent="0" marL="0">
              <a:buNone/>
            </a:pPr>
            <a:r>
              <a:rPr lang="en-US" sz="1050" b="1" spc="200" kern="0" dirty="0">
                <a:solidFill>
                  <a:srgbClr val="0E7C7B"/>
                </a:solidFill>
                <a:latin typeface="Calibri" pitchFamily="34" charset="0"/>
                <a:ea typeface="Calibri" pitchFamily="34" charset="-122"/>
                <a:cs typeface="Calibri" pitchFamily="34" charset="-120"/>
              </a:rPr>
              <a:t>ROUTE</a:t>
            </a:r>
            <a:endParaRPr lang="en-US" sz="1050" dirty="0"/>
          </a:p>
        </p:txBody>
      </p:sp>
      <p:sp>
        <p:nvSpPr>
          <p:cNvPr id="11" name="Text 9"/>
          <p:cNvSpPr txBox="1"/>
          <p:nvPr/>
        </p:nvSpPr>
        <p:spPr>
          <a:xfrm>
            <a:off x="4544568" y="1956816"/>
            <a:ext cx="3108960" cy="566928"/>
          </a:xfrm>
          <a:prstGeom prst="rect">
            <a:avLst/>
          </a:prstGeom>
          <a:noFill/>
          <a:ln/>
        </p:spPr>
        <p:txBody>
          <a:bodyPr wrap="square" lIns="0" tIns="0" rIns="0" bIns="0" rtlCol="0" anchor="ctr"/>
          <a:lstStyle/>
          <a:p>
            <a:pPr indent="0" marL="0">
              <a:lnSpc>
                <a:spcPts val="1900"/>
              </a:lnSpc>
              <a:buNone/>
            </a:pPr>
            <a:r>
              <a:rPr lang="en-US" sz="1500" b="1" dirty="0">
                <a:solidFill>
                  <a:srgbClr val="12233C"/>
                </a:solidFill>
                <a:latin typeface="Cambria" pitchFamily="34" charset="0"/>
                <a:ea typeface="Cambria" pitchFamily="34" charset="-122"/>
                <a:cs typeface="Cambria" pitchFamily="34" charset="-120"/>
              </a:rPr>
              <a:t>Sub-$90 volume to PROV_NORTH</a:t>
            </a:r>
            <a:endParaRPr lang="en-US" sz="1500" dirty="0"/>
          </a:p>
        </p:txBody>
      </p:sp>
      <p:sp>
        <p:nvSpPr>
          <p:cNvPr id="12" name="Text 10"/>
          <p:cNvSpPr txBox="1"/>
          <p:nvPr/>
        </p:nvSpPr>
        <p:spPr>
          <a:xfrm>
            <a:off x="4544568" y="2578608"/>
            <a:ext cx="3108960" cy="731520"/>
          </a:xfrm>
          <a:prstGeom prst="rect">
            <a:avLst/>
          </a:prstGeom>
          <a:noFill/>
          <a:ln/>
        </p:spPr>
        <p:txBody>
          <a:bodyPr wrap="square" lIns="0" tIns="0" rIns="0" bIns="0" rtlCol="0" anchor="ctr"/>
          <a:lstStyle/>
          <a:p>
            <a:pPr indent="0" marL="0">
              <a:lnSpc>
                <a:spcPts val="1250"/>
              </a:lnSpc>
              <a:buNone/>
            </a:pPr>
            <a:r>
              <a:rPr lang="en-US" sz="1000" dirty="0">
                <a:solidFill>
                  <a:srgbClr val="4A5663"/>
                </a:solidFill>
                <a:latin typeface="Calibri" pitchFamily="34" charset="0"/>
                <a:ea typeface="Calibri" pitchFamily="34" charset="-122"/>
                <a:cs typeface="Calibri" pitchFamily="34" charset="-120"/>
              </a:rPr>
              <a:t>Break-even against ORBIT is ~$147 after the July repricing. Below it, NORTH costs $0.13 where ORBIT costs $0.56.</a:t>
            </a:r>
            <a:endParaRPr lang="en-US" sz="1000" dirty="0"/>
          </a:p>
        </p:txBody>
      </p:sp>
      <p:sp>
        <p:nvSpPr>
          <p:cNvPr id="13" name="Shape 11"/>
          <p:cNvSpPr/>
          <p:nvPr/>
        </p:nvSpPr>
        <p:spPr>
          <a:xfrm>
            <a:off x="8101584" y="1600200"/>
            <a:ext cx="3538728" cy="1783080"/>
          </a:xfrm>
          <a:prstGeom prst="roundRect">
            <a:avLst>
              <a:gd name="adj" fmla="val 3077"/>
            </a:avLst>
          </a:prstGeom>
          <a:solidFill>
            <a:srgbClr val="FFFFFF"/>
          </a:solidFill>
          <a:ln w="12700">
            <a:solidFill>
              <a:srgbClr val="E2E7EC"/>
            </a:solidFill>
            <a:prstDash val="solid"/>
          </a:ln>
          <a:effectLst>
            <a:outerShdw sx="100000" sy="100000" kx="0" ky="0" algn="bl" rotWithShape="0" blurRad="101600" dist="25400" dir="5400000">
              <a:srgbClr val="9AA5B1">
                <a:alpha val="35000"/>
              </a:srgbClr>
            </a:outerShdw>
          </a:effectLst>
        </p:spPr>
      </p:sp>
      <p:sp>
        <p:nvSpPr>
          <p:cNvPr id="14" name="Text 12"/>
          <p:cNvSpPr txBox="1"/>
          <p:nvPr/>
        </p:nvSpPr>
        <p:spPr>
          <a:xfrm>
            <a:off x="8321040" y="1719072"/>
            <a:ext cx="3108960" cy="219456"/>
          </a:xfrm>
          <a:prstGeom prst="rect">
            <a:avLst/>
          </a:prstGeom>
          <a:noFill/>
          <a:ln/>
        </p:spPr>
        <p:txBody>
          <a:bodyPr wrap="square" lIns="0" tIns="0" rIns="0" bIns="0" rtlCol="0" anchor="ctr"/>
          <a:lstStyle/>
          <a:p>
            <a:pPr indent="0" marL="0">
              <a:buNone/>
            </a:pPr>
            <a:r>
              <a:rPr lang="en-US" sz="1050" b="1" spc="200" kern="0" dirty="0">
                <a:solidFill>
                  <a:srgbClr val="12233C"/>
                </a:solidFill>
                <a:latin typeface="Calibri" pitchFamily="34" charset="0"/>
                <a:ea typeface="Calibri" pitchFamily="34" charset="-122"/>
                <a:cs typeface="Calibri" pitchFamily="34" charset="-120"/>
              </a:rPr>
              <a:t>DEFEND</a:t>
            </a:r>
            <a:endParaRPr lang="en-US" sz="1050" dirty="0"/>
          </a:p>
        </p:txBody>
      </p:sp>
      <p:sp>
        <p:nvSpPr>
          <p:cNvPr id="15" name="Text 13"/>
          <p:cNvSpPr txBox="1"/>
          <p:nvPr/>
        </p:nvSpPr>
        <p:spPr>
          <a:xfrm>
            <a:off x="8321040" y="1956816"/>
            <a:ext cx="3108960" cy="566928"/>
          </a:xfrm>
          <a:prstGeom prst="rect">
            <a:avLst/>
          </a:prstGeom>
          <a:noFill/>
          <a:ln/>
        </p:spPr>
        <p:txBody>
          <a:bodyPr wrap="square" lIns="0" tIns="0" rIns="0" bIns="0" rtlCol="0" anchor="ctr"/>
          <a:lstStyle/>
          <a:p>
            <a:pPr indent="0" marL="0">
              <a:lnSpc>
                <a:spcPts val="1900"/>
              </a:lnSpc>
              <a:buNone/>
            </a:pPr>
            <a:r>
              <a:rPr lang="en-US" sz="1500" b="1" dirty="0">
                <a:solidFill>
                  <a:srgbClr val="12233C"/>
                </a:solidFill>
                <a:latin typeface="Cambria" pitchFamily="34" charset="0"/>
                <a:ea typeface="Cambria" pitchFamily="34" charset="-122"/>
                <a:cs typeface="Cambria" pitchFamily="34" charset="-120"/>
              </a:rPr>
              <a:t>Over-$500 volume, and renegotiate Orbit</a:t>
            </a:r>
            <a:endParaRPr lang="en-US" sz="1500" dirty="0"/>
          </a:p>
        </p:txBody>
      </p:sp>
      <p:sp>
        <p:nvSpPr>
          <p:cNvPr id="16" name="Text 14"/>
          <p:cNvSpPr txBox="1"/>
          <p:nvPr/>
        </p:nvSpPr>
        <p:spPr>
          <a:xfrm>
            <a:off x="8321040" y="2578608"/>
            <a:ext cx="3108960" cy="731520"/>
          </a:xfrm>
          <a:prstGeom prst="rect">
            <a:avLst/>
          </a:prstGeom>
          <a:noFill/>
          <a:ln/>
        </p:spPr>
        <p:txBody>
          <a:bodyPr wrap="square" lIns="0" tIns="0" rIns="0" bIns="0" rtlCol="0" anchor="ctr"/>
          <a:lstStyle/>
          <a:p>
            <a:pPr indent="0" marL="0">
              <a:lnSpc>
                <a:spcPts val="1250"/>
              </a:lnSpc>
              <a:buNone/>
            </a:pPr>
            <a:r>
              <a:rPr lang="en-US" sz="1000" dirty="0">
                <a:solidFill>
                  <a:srgbClr val="4A5663"/>
                </a:solidFill>
                <a:latin typeface="Calibri" pitchFamily="34" charset="0"/>
                <a:ea typeface="Calibri" pitchFamily="34" charset="-122"/>
                <a:cs typeface="Calibri" pitchFamily="34" charset="-120"/>
              </a:rPr>
              <a:t>TRAVEL and ELECTRONICS improved their own economics while losing share. Orbit's fixed fee rose 50.6% with no repricing on our side.</a:t>
            </a:r>
            <a:endParaRPr lang="en-US" sz="10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48640" y="3566160"/>
          <a:ext cx="11064240" cy="914400"/>
        </p:xfrm>
        <a:graphic>
          <a:graphicData uri="http://schemas.openxmlformats.org/drawingml/2006/table">
            <a:tbl>
              <a:tblPr/>
              <a:tblGrid>
                <a:gridCol w="411480"/>
                <a:gridCol w="3200400"/>
                <a:gridCol w="1463040"/>
                <a:gridCol w="2743200"/>
                <a:gridCol w="2423160"/>
                <a:gridCol w="822960"/>
              </a:tblGrid>
              <a:tr h="402336">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2233C"/>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Action</a:t>
                      </a:r>
                      <a:endParaRPr lang="en-US" sz="9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2233C"/>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Owner</a:t>
                      </a:r>
                      <a:endParaRPr lang="en-US" sz="9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2233C"/>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Risk</a:t>
                      </a:r>
                      <a:endParaRPr lang="en-US" sz="9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2233C"/>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Success metric</a:t>
                      </a:r>
                      <a:endParaRPr lang="en-US" sz="9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2233C"/>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Window</a:t>
                      </a:r>
                      <a:endParaRPr lang="en-US" sz="9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12233C"/>
                    </a:solidFill>
                  </a:tcPr>
                </a:tc>
              </a:tr>
              <a:tr h="402336">
                <a:tc>
                  <a:txBody>
                    <a:bodyPr/>
                    <a:lstStyle/>
                    <a:p>
                      <a:pPr algn="ctr" indent="0" marL="0">
                        <a:buNone/>
                      </a:pPr>
                      <a:r>
                        <a:rPr lang="en-US" sz="900" b="1" dirty="0">
                          <a:solidFill>
                            <a:srgbClr val="0E7C7B"/>
                          </a:solidFill>
                          <a:latin typeface="Calibri" pitchFamily="34" charset="0"/>
                          <a:ea typeface="Calibri" pitchFamily="34" charset="-122"/>
                          <a:cs typeface="Calibri" pitchFamily="34" charset="-120"/>
                        </a:rPr>
                        <a:t>1</a:t>
                      </a:r>
                      <a:endParaRPr lang="en-US" sz="9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900" dirty="0">
                          <a:solidFill>
                            <a:srgbClr val="1A1A1A"/>
                          </a:solidFill>
                          <a:latin typeface="Calibri" pitchFamily="34" charset="0"/>
                          <a:ea typeface="Calibri" pitchFamily="34" charset="-122"/>
                          <a:cs typeface="Calibri" pitchFamily="34" charset="-120"/>
                        </a:rPr>
                        <a:t>Route transactions under $90 to PROV_NORTH</a:t>
                      </a:r>
                      <a:endParaRPr lang="en-US" sz="9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900" dirty="0">
                          <a:solidFill>
                            <a:srgbClr val="1A1A1A"/>
                          </a:solidFill>
                          <a:latin typeface="Calibri" pitchFamily="34" charset="0"/>
                          <a:ea typeface="Calibri" pitchFamily="34" charset="-122"/>
                          <a:cs typeface="Calibri" pitchFamily="34" charset="-120"/>
                        </a:rPr>
                        <a:t>Head of Payments</a:t>
                      </a:r>
                      <a:endParaRPr lang="en-US" sz="9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900" dirty="0">
                          <a:solidFill>
                            <a:srgbClr val="1A1A1A"/>
                          </a:solidFill>
                          <a:latin typeface="Calibri" pitchFamily="34" charset="0"/>
                          <a:ea typeface="Calibri" pitchFamily="34" charset="-122"/>
                          <a:cs typeface="Calibri" pitchFamily="34" charset="-120"/>
                        </a:rPr>
                        <a:t>Capacity limits at North; needs a volume commitment check first</a:t>
                      </a:r>
                      <a:endParaRPr lang="en-US" sz="9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900" dirty="0">
                          <a:solidFill>
                            <a:srgbClr val="1A1A1A"/>
                          </a:solidFill>
                          <a:latin typeface="Calibri" pitchFamily="34" charset="0"/>
                          <a:ea typeface="Calibri" pitchFamily="34" charset="-122"/>
                          <a:cs typeface="Calibri" pitchFamily="34" charset="-120"/>
                        </a:rPr>
                        <a:t>Cost per successful txn by ticket band</a:t>
                      </a:r>
                      <a:endParaRPr lang="en-US" sz="9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A1A1A"/>
                          </a:solidFill>
                          <a:latin typeface="Calibri" pitchFamily="34" charset="0"/>
                          <a:ea typeface="Calibri" pitchFamily="34" charset="-122"/>
                          <a:cs typeface="Calibri" pitchFamily="34" charset="-120"/>
                        </a:rPr>
                        <a:t>Days 1–20</a:t>
                      </a:r>
                      <a:endParaRPr lang="en-US" sz="9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r>
              <a:tr h="402336">
                <a:tc>
                  <a:txBody>
                    <a:bodyPr/>
                    <a:lstStyle/>
                    <a:p>
                      <a:pPr algn="ctr" indent="0" marL="0">
                        <a:buNone/>
                      </a:pPr>
                      <a:r>
                        <a:rPr lang="en-US" sz="900" b="1" dirty="0">
                          <a:solidFill>
                            <a:srgbClr val="0E7C7B"/>
                          </a:solidFill>
                          <a:latin typeface="Calibri" pitchFamily="34" charset="0"/>
                          <a:ea typeface="Calibri" pitchFamily="34" charset="-122"/>
                          <a:cs typeface="Calibri" pitchFamily="34" charset="-120"/>
                        </a:rPr>
                        <a:t>2</a:t>
                      </a:r>
                      <a:endParaRPr lang="en-US" sz="9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900" dirty="0">
                          <a:solidFill>
                            <a:srgbClr val="1A1A1A"/>
                          </a:solidFill>
                          <a:latin typeface="Calibri" pitchFamily="34" charset="0"/>
                          <a:ea typeface="Calibri" pitchFamily="34" charset="-122"/>
                          <a:cs typeface="Calibri" pitchFamily="34" charset="-120"/>
                        </a:rPr>
                        <a:t>Minimum per-transaction fee of $0.35 on FLAT_2_0</a:t>
                      </a:r>
                      <a:endParaRPr lang="en-US" sz="9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900" dirty="0">
                          <a:solidFill>
                            <a:srgbClr val="1A1A1A"/>
                          </a:solidFill>
                          <a:latin typeface="Calibri" pitchFamily="34" charset="0"/>
                          <a:ea typeface="Calibri" pitchFamily="34" charset="-122"/>
                          <a:cs typeface="Calibri" pitchFamily="34" charset="-120"/>
                        </a:rPr>
                        <a:t>CFO</a:t>
                      </a:r>
                      <a:endParaRPr lang="en-US" sz="9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900" dirty="0">
                          <a:solidFill>
                            <a:srgbClr val="1A1A1A"/>
                          </a:solidFill>
                          <a:latin typeface="Calibri" pitchFamily="34" charset="0"/>
                          <a:ea typeface="Calibri" pitchFamily="34" charset="-122"/>
                          <a:cs typeface="Calibri" pitchFamily="34" charset="-120"/>
                        </a:rPr>
                        <a:t>Merchant churn among DIGITAL_GOODS SME accounts</a:t>
                      </a:r>
                      <a:endParaRPr lang="en-US" sz="9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900" dirty="0">
                          <a:solidFill>
                            <a:srgbClr val="1A1A1A"/>
                          </a:solidFill>
                          <a:latin typeface="Calibri" pitchFamily="34" charset="0"/>
                          <a:ea typeface="Calibri" pitchFamily="34" charset="-122"/>
                          <a:cs typeface="Calibri" pitchFamily="34" charset="-120"/>
                        </a:rPr>
                        <a:t>Contribution per txn, DIGITAL_GOODS SG and AE</a:t>
                      </a:r>
                      <a:endParaRPr lang="en-US" sz="9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ctr" indent="0" marL="0">
                        <a:buNone/>
                      </a:pPr>
                      <a:r>
                        <a:rPr lang="en-US" sz="900" dirty="0">
                          <a:solidFill>
                            <a:srgbClr val="1A1A1A"/>
                          </a:solidFill>
                          <a:latin typeface="Calibri" pitchFamily="34" charset="0"/>
                          <a:ea typeface="Calibri" pitchFamily="34" charset="-122"/>
                          <a:cs typeface="Calibri" pitchFamily="34" charset="-120"/>
                        </a:rPr>
                        <a:t>Days 1–30</a:t>
                      </a:r>
                      <a:endParaRPr lang="en-US" sz="9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r>
              <a:tr h="402336">
                <a:tc>
                  <a:txBody>
                    <a:bodyPr/>
                    <a:lstStyle/>
                    <a:p>
                      <a:pPr algn="ctr" indent="0" marL="0">
                        <a:buNone/>
                      </a:pPr>
                      <a:r>
                        <a:rPr lang="en-US" sz="900" b="1" dirty="0">
                          <a:solidFill>
                            <a:srgbClr val="0E7C7B"/>
                          </a:solidFill>
                          <a:latin typeface="Calibri" pitchFamily="34" charset="0"/>
                          <a:ea typeface="Calibri" pitchFamily="34" charset="-122"/>
                          <a:cs typeface="Calibri" pitchFamily="34" charset="-120"/>
                        </a:rPr>
                        <a:t>3</a:t>
                      </a:r>
                      <a:endParaRPr lang="en-US" sz="9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900" dirty="0">
                          <a:solidFill>
                            <a:srgbClr val="1A1A1A"/>
                          </a:solidFill>
                          <a:latin typeface="Calibri" pitchFamily="34" charset="0"/>
                          <a:ea typeface="Calibri" pitchFamily="34" charset="-122"/>
                          <a:cs typeface="Calibri" pitchFamily="34" charset="-120"/>
                        </a:rPr>
                        <a:t>Renegotiate the PROV_ORBIT fixed fee</a:t>
                      </a:r>
                      <a:endParaRPr lang="en-US" sz="9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900" dirty="0">
                          <a:solidFill>
                            <a:srgbClr val="1A1A1A"/>
                          </a:solidFill>
                          <a:latin typeface="Calibri" pitchFamily="34" charset="0"/>
                          <a:ea typeface="Calibri" pitchFamily="34" charset="-122"/>
                          <a:cs typeface="Calibri" pitchFamily="34" charset="-120"/>
                        </a:rPr>
                        <a:t>Procurement</a:t>
                      </a:r>
                      <a:endParaRPr lang="en-US" sz="9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900" dirty="0">
                          <a:solidFill>
                            <a:srgbClr val="1A1A1A"/>
                          </a:solidFill>
                          <a:latin typeface="Calibri" pitchFamily="34" charset="0"/>
                          <a:ea typeface="Calibri" pitchFamily="34" charset="-122"/>
                          <a:cs typeface="Calibri" pitchFamily="34" charset="-120"/>
                        </a:rPr>
                        <a:t>Orbit may refuse; contract may have no reopener until renewal</a:t>
                      </a:r>
                      <a:endParaRPr lang="en-US" sz="9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900" dirty="0">
                          <a:solidFill>
                            <a:srgbClr val="1A1A1A"/>
                          </a:solidFill>
                          <a:latin typeface="Calibri" pitchFamily="34" charset="0"/>
                          <a:ea typeface="Calibri" pitchFamily="34" charset="-122"/>
                          <a:cs typeface="Calibri" pitchFamily="34" charset="-120"/>
                        </a:rPr>
                        <a:t>Fixed fee recorded in route_cost</a:t>
                      </a:r>
                      <a:endParaRPr lang="en-US" sz="9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A1A1A"/>
                          </a:solidFill>
                          <a:latin typeface="Calibri" pitchFamily="34" charset="0"/>
                          <a:ea typeface="Calibri" pitchFamily="34" charset="-122"/>
                          <a:cs typeface="Calibri" pitchFamily="34" charset="-120"/>
                        </a:rPr>
                        <a:t>Days 10–60</a:t>
                      </a:r>
                      <a:endParaRPr lang="en-US" sz="9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r>
              <a:tr h="402336">
                <a:tc>
                  <a:txBody>
                    <a:bodyPr/>
                    <a:lstStyle/>
                    <a:p>
                      <a:pPr algn="ctr" indent="0" marL="0">
                        <a:buNone/>
                      </a:pPr>
                      <a:r>
                        <a:rPr lang="en-US" sz="900" b="1" dirty="0">
                          <a:solidFill>
                            <a:srgbClr val="0E7C7B"/>
                          </a:solidFill>
                          <a:latin typeface="Calibri" pitchFamily="34" charset="0"/>
                          <a:ea typeface="Calibri" pitchFamily="34" charset="-122"/>
                          <a:cs typeface="Calibri" pitchFamily="34" charset="-120"/>
                        </a:rPr>
                        <a:t>4</a:t>
                      </a:r>
                      <a:endParaRPr lang="en-US" sz="9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900" dirty="0">
                          <a:solidFill>
                            <a:srgbClr val="1A1A1A"/>
                          </a:solidFill>
                          <a:latin typeface="Calibri" pitchFamily="34" charset="0"/>
                          <a:ea typeface="Calibri" pitchFamily="34" charset="-122"/>
                          <a:cs typeface="Calibri" pitchFamily="34" charset="-120"/>
                        </a:rPr>
                        <a:t>Protect large-ticket volume in TRAVEL and ELECTRONICS</a:t>
                      </a:r>
                      <a:endParaRPr lang="en-US" sz="9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900" dirty="0">
                          <a:solidFill>
                            <a:srgbClr val="1A1A1A"/>
                          </a:solidFill>
                          <a:latin typeface="Calibri" pitchFamily="34" charset="0"/>
                          <a:ea typeface="Calibri" pitchFamily="34" charset="-122"/>
                          <a:cs typeface="Calibri" pitchFamily="34" charset="-120"/>
                        </a:rPr>
                        <a:t>Commercial</a:t>
                      </a:r>
                      <a:endParaRPr lang="en-US" sz="9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900" dirty="0">
                          <a:solidFill>
                            <a:srgbClr val="1A1A1A"/>
                          </a:solidFill>
                          <a:latin typeface="Calibri" pitchFamily="34" charset="0"/>
                          <a:ea typeface="Calibri" pitchFamily="34" charset="-122"/>
                          <a:cs typeface="Calibri" pitchFamily="34" charset="-120"/>
                        </a:rPr>
                        <a:t>Slower headline growth; incentives reward count, not value</a:t>
                      </a:r>
                      <a:endParaRPr lang="en-US" sz="9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l" indent="0" marL="0">
                        <a:buNone/>
                      </a:pPr>
                      <a:r>
                        <a:rPr lang="en-US" sz="900" dirty="0">
                          <a:solidFill>
                            <a:srgbClr val="1A1A1A"/>
                          </a:solidFill>
                          <a:latin typeface="Calibri" pitchFamily="34" charset="0"/>
                          <a:ea typeface="Calibri" pitchFamily="34" charset="-122"/>
                          <a:cs typeface="Calibri" pitchFamily="34" charset="-120"/>
                        </a:rPr>
                        <a:t>Share of successful volume above $500</a:t>
                      </a:r>
                      <a:endParaRPr lang="en-US" sz="9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c>
                  <a:txBody>
                    <a:bodyPr/>
                    <a:lstStyle/>
                    <a:p>
                      <a:pPr algn="ctr" indent="0" marL="0">
                        <a:buNone/>
                      </a:pPr>
                      <a:r>
                        <a:rPr lang="en-US" sz="900" dirty="0">
                          <a:solidFill>
                            <a:srgbClr val="1A1A1A"/>
                          </a:solidFill>
                          <a:latin typeface="Calibri" pitchFamily="34" charset="0"/>
                          <a:ea typeface="Calibri" pitchFamily="34" charset="-122"/>
                          <a:cs typeface="Calibri" pitchFamily="34" charset="-120"/>
                        </a:rPr>
                        <a:t>Days 15–60</a:t>
                      </a:r>
                      <a:endParaRPr lang="en-US" sz="9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EDF1F5"/>
                    </a:solidFill>
                  </a:tcPr>
                </a:tc>
              </a:tr>
              <a:tr h="402336">
                <a:tc>
                  <a:txBody>
                    <a:bodyPr/>
                    <a:lstStyle/>
                    <a:p>
                      <a:pPr algn="ctr" indent="0" marL="0">
                        <a:buNone/>
                      </a:pPr>
                      <a:r>
                        <a:rPr lang="en-US" sz="900" b="1" dirty="0">
                          <a:solidFill>
                            <a:srgbClr val="0E7C7B"/>
                          </a:solidFill>
                          <a:latin typeface="Calibri" pitchFamily="34" charset="0"/>
                          <a:ea typeface="Calibri" pitchFamily="34" charset="-122"/>
                          <a:cs typeface="Calibri" pitchFamily="34" charset="-120"/>
                        </a:rPr>
                        <a:t>5</a:t>
                      </a:r>
                      <a:endParaRPr lang="en-US" sz="9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900" dirty="0">
                          <a:solidFill>
                            <a:srgbClr val="1A1A1A"/>
                          </a:solidFill>
                          <a:latin typeface="Calibri" pitchFamily="34" charset="0"/>
                          <a:ea typeface="Calibri" pitchFamily="34" charset="-122"/>
                          <a:cs typeface="Calibri" pitchFamily="34" charset="-120"/>
                        </a:rPr>
                        <a:t>Fix the wallet integration dropping merchant_id</a:t>
                      </a:r>
                      <a:endParaRPr lang="en-US" sz="9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900" dirty="0">
                          <a:solidFill>
                            <a:srgbClr val="1A1A1A"/>
                          </a:solidFill>
                          <a:latin typeface="Calibri" pitchFamily="34" charset="0"/>
                          <a:ea typeface="Calibri" pitchFamily="34" charset="-122"/>
                          <a:cs typeface="Calibri" pitchFamily="34" charset="-120"/>
                        </a:rPr>
                        <a:t>Data Head</a:t>
                      </a:r>
                      <a:endParaRPr lang="en-US" sz="9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900" dirty="0">
                          <a:solidFill>
                            <a:srgbClr val="1A1A1A"/>
                          </a:solidFill>
                          <a:latin typeface="Calibri" pitchFamily="34" charset="0"/>
                          <a:ea typeface="Calibri" pitchFamily="34" charset="-122"/>
                          <a:cs typeface="Calibri" pitchFamily="34" charset="-120"/>
                        </a:rPr>
                        <a:t>Engineering capacity; competing roadmap items</a:t>
                      </a:r>
                      <a:endParaRPr lang="en-US" sz="9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l" indent="0" marL="0">
                        <a:buNone/>
                      </a:pPr>
                      <a:r>
                        <a:rPr lang="en-US" sz="900" dirty="0">
                          <a:solidFill>
                            <a:srgbClr val="1A1A1A"/>
                          </a:solidFill>
                          <a:latin typeface="Calibri" pitchFamily="34" charset="0"/>
                          <a:ea typeface="Calibri" pitchFamily="34" charset="-122"/>
                          <a:cs typeface="Calibri" pitchFamily="34" charset="-120"/>
                        </a:rPr>
                        <a:t>Missing merchant_id rate by channel</a:t>
                      </a:r>
                      <a:endParaRPr lang="en-US" sz="9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c>
                  <a:txBody>
                    <a:bodyPr/>
                    <a:lstStyle/>
                    <a:p>
                      <a:pPr algn="ctr" indent="0" marL="0">
                        <a:buNone/>
                      </a:pPr>
                      <a:r>
                        <a:rPr lang="en-US" sz="900" dirty="0">
                          <a:solidFill>
                            <a:srgbClr val="1A1A1A"/>
                          </a:solidFill>
                          <a:latin typeface="Calibri" pitchFamily="34" charset="0"/>
                          <a:ea typeface="Calibri" pitchFamily="34" charset="-122"/>
                          <a:cs typeface="Calibri" pitchFamily="34" charset="-120"/>
                        </a:rPr>
                        <a:t>Days 20–45</a:t>
                      </a:r>
                      <a:endParaRPr lang="en-US" sz="900" dirty="0">
                        <a:latin typeface="Calibri" charset="0"/>
                        <a:ea typeface="Calibri" charset="0"/>
                        <a:cs typeface="Calibri" charset="0"/>
                      </a:endParaRPr>
                    </a:p>
                  </a:txBody>
                  <a:tcPr marL="64008" marR="64008" marT="64008" marB="64008" anchor="ctr">
                    <a:lnL w="12700" cap="flat" cmpd="sng" algn="ctr">
                      <a:solidFill>
                        <a:srgbClr val="DCE3EA"/>
                      </a:solidFill>
                      <a:prstDash val="solid"/>
                      <a:round/>
                      <a:headEnd type="none" w="med" len="med"/>
                      <a:tailEnd type="none" w="med" len="med"/>
                    </a:lnL>
                    <a:lnR w="12700" cap="flat" cmpd="sng" algn="ctr">
                      <a:solidFill>
                        <a:srgbClr val="DCE3EA"/>
                      </a:solidFill>
                      <a:prstDash val="solid"/>
                      <a:round/>
                      <a:headEnd type="none" w="med" len="med"/>
                      <a:tailEnd type="none" w="med" len="med"/>
                    </a:lnR>
                    <a:lnT w="12700" cap="flat" cmpd="sng" algn="ctr">
                      <a:solidFill>
                        <a:srgbClr val="DCE3EA"/>
                      </a:solidFill>
                      <a:prstDash val="solid"/>
                      <a:round/>
                      <a:headEnd type="none" w="med" len="med"/>
                      <a:tailEnd type="none" w="med" len="med"/>
                    </a:lnT>
                    <a:lnB w="12700" cap="flat" cmpd="sng" algn="ctr">
                      <a:solidFill>
                        <a:srgbClr val="DCE3EA"/>
                      </a:solidFill>
                      <a:prstDash val="solid"/>
                      <a:round/>
                      <a:headEnd type="none" w="med" len="med"/>
                      <a:tailEnd type="none" w="med" len="med"/>
                    </a:lnB>
                    <a:solidFill>
                      <a:srgbClr val="FFFFFF"/>
                    </a:solidFill>
                  </a:tcPr>
                </a:tc>
              </a:tr>
            </a:tbl>
          </a:graphicData>
        </a:graphic>
      </p:graphicFrame>
      <p:sp>
        <p:nvSpPr>
          <p:cNvPr id="18" name="Shape 15"/>
          <p:cNvSpPr/>
          <p:nvPr/>
        </p:nvSpPr>
        <p:spPr>
          <a:xfrm>
            <a:off x="548640" y="6071616"/>
            <a:ext cx="11064240" cy="585216"/>
          </a:xfrm>
          <a:prstGeom prst="roundRect">
            <a:avLst>
              <a:gd name="adj" fmla="val 7813"/>
            </a:avLst>
          </a:prstGeom>
          <a:solidFill>
            <a:srgbClr val="FDF3E7"/>
          </a:solidFill>
          <a:ln w="12700">
            <a:solidFill>
              <a:srgbClr val="F2D9BB"/>
            </a:solidFill>
            <a:prstDash val="solid"/>
          </a:ln>
        </p:spPr>
      </p:sp>
      <p:sp>
        <p:nvSpPr>
          <p:cNvPr id="19" name="Text 16"/>
          <p:cNvSpPr txBox="1"/>
          <p:nvPr/>
        </p:nvSpPr>
        <p:spPr>
          <a:xfrm>
            <a:off x="777240" y="6126480"/>
            <a:ext cx="10607040" cy="475488"/>
          </a:xfrm>
          <a:prstGeom prst="rect">
            <a:avLst/>
          </a:prstGeom>
          <a:noFill/>
          <a:ln/>
        </p:spPr>
        <p:txBody>
          <a:bodyPr wrap="square" lIns="0" tIns="0" rIns="0" bIns="0" rtlCol="0" anchor="ctr"/>
          <a:lstStyle/>
          <a:p>
            <a:pPr indent="0" marL="0">
              <a:lnSpc>
                <a:spcPts val="1200"/>
              </a:lnSpc>
              <a:buNone/>
            </a:pPr>
            <a:r>
              <a:rPr lang="en-US" sz="950" dirty="0">
                <a:solidFill>
                  <a:srgbClr val="7A4B14"/>
                </a:solidFill>
                <a:latin typeface="Calibri" pitchFamily="34" charset="0"/>
                <a:ea typeface="Calibri" pitchFamily="34" charset="-122"/>
                <a:cs typeface="Calibri" pitchFamily="34" charset="-120"/>
              </a:rPr>
              <a:t>Day-60 test: contribution per successful transaction stops falling and recovers toward $1.30, with the under-$25 cohort back above zero. If it has not moved, actions 1 and 2 were not the binding constraint and the pricing-plan analysis is re-opened. Not recommended: a fraud-model rollback, a chargeback programme, or a pricing renegotiation — all three were tested and none moves this KPI.</a:t>
            </a:r>
            <a:endParaRPr lang="en-US" sz="9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2233C"/>
        </a:solidFill>
      </p:bgPr>
    </p:bg>
    <p:spTree>
      <p:nvGrpSpPr>
        <p:cNvPr id="1" name=""/>
        <p:cNvGrpSpPr/>
        <p:nvPr/>
      </p:nvGrpSpPr>
      <p:grpSpPr>
        <a:xfrm>
          <a:off x="0" y="0"/>
          <a:ext cx="0" cy="0"/>
          <a:chOff x="0" y="0"/>
          <a:chExt cx="0" cy="0"/>
        </a:xfrm>
      </p:grpSpPr>
      <p:sp>
        <p:nvSpPr>
          <p:cNvPr id="2" name="Text 0"/>
          <p:cNvSpPr txBox="1"/>
          <p:nvPr/>
        </p:nvSpPr>
        <p:spPr>
          <a:xfrm>
            <a:off x="594360" y="457200"/>
            <a:ext cx="7315200" cy="237744"/>
          </a:xfrm>
          <a:prstGeom prst="rect">
            <a:avLst/>
          </a:prstGeom>
          <a:noFill/>
          <a:ln/>
        </p:spPr>
        <p:txBody>
          <a:bodyPr wrap="square" lIns="0" tIns="0" rIns="0" bIns="0" rtlCol="0" anchor="ctr"/>
          <a:lstStyle/>
          <a:p>
            <a:pPr indent="0" marL="0">
              <a:buNone/>
            </a:pPr>
            <a:r>
              <a:rPr lang="en-US" sz="1100" b="1" spc="200" kern="0" dirty="0">
                <a:solidFill>
                  <a:srgbClr val="F2B366"/>
                </a:solidFill>
                <a:latin typeface="Calibri" pitchFamily="34" charset="0"/>
                <a:ea typeface="Calibri" pitchFamily="34" charset="-122"/>
                <a:cs typeface="Calibri" pitchFamily="34" charset="-120"/>
              </a:rPr>
              <a:t>CONCLUSION</a:t>
            </a:r>
            <a:endParaRPr lang="en-US" sz="1100" dirty="0"/>
          </a:p>
        </p:txBody>
      </p:sp>
      <p:sp>
        <p:nvSpPr>
          <p:cNvPr id="3" name="Text 1"/>
          <p:cNvSpPr txBox="1"/>
          <p:nvPr/>
        </p:nvSpPr>
        <p:spPr>
          <a:xfrm>
            <a:off x="594360" y="749808"/>
            <a:ext cx="1097280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Dilution of a high-value book, not deterioration of it</a:t>
            </a:r>
            <a:endParaRPr lang="en-US" sz="3000" dirty="0"/>
          </a:p>
        </p:txBody>
      </p:sp>
      <p:sp>
        <p:nvSpPr>
          <p:cNvPr id="4" name="Text 2"/>
          <p:cNvSpPr txBox="1"/>
          <p:nvPr/>
        </p:nvSpPr>
        <p:spPr>
          <a:xfrm>
            <a:off x="594360" y="1572768"/>
            <a:ext cx="1371600" cy="603504"/>
          </a:xfrm>
          <a:prstGeom prst="rect">
            <a:avLst/>
          </a:prstGeom>
          <a:noFill/>
          <a:ln/>
        </p:spPr>
        <p:txBody>
          <a:bodyPr wrap="square" lIns="0" tIns="0" rIns="0" bIns="0" rtlCol="0" anchor="ctr"/>
          <a:lstStyle/>
          <a:p>
            <a:pPr indent="0" marL="0">
              <a:buNone/>
            </a:pPr>
            <a:r>
              <a:rPr lang="en-US" sz="1200" b="1" dirty="0">
                <a:solidFill>
                  <a:srgbClr val="F2B366"/>
                </a:solidFill>
                <a:latin typeface="Calibri" pitchFamily="34" charset="0"/>
                <a:ea typeface="Calibri" pitchFamily="34" charset="-122"/>
                <a:cs typeface="Calibri" pitchFamily="34" charset="-120"/>
              </a:rPr>
              <a:t>Situation</a:t>
            </a:r>
            <a:endParaRPr lang="en-US" sz="1200" dirty="0"/>
          </a:p>
        </p:txBody>
      </p:sp>
      <p:sp>
        <p:nvSpPr>
          <p:cNvPr id="5" name="Text 3"/>
          <p:cNvSpPr txBox="1"/>
          <p:nvPr/>
        </p:nvSpPr>
        <p:spPr>
          <a:xfrm>
            <a:off x="2103120" y="1572768"/>
            <a:ext cx="5669280" cy="603504"/>
          </a:xfrm>
          <a:prstGeom prst="rect">
            <a:avLst/>
          </a:prstGeom>
          <a:noFill/>
          <a:ln/>
        </p:spPr>
        <p:txBody>
          <a:bodyPr wrap="square" lIns="0" tIns="0" rIns="0" bIns="0" rtlCol="0" anchor="ctr"/>
          <a:lstStyle/>
          <a:p>
            <a:pPr indent="0" marL="0">
              <a:lnSpc>
                <a:spcPts val="1400"/>
              </a:lnSpc>
              <a:buNone/>
            </a:pPr>
            <a:r>
              <a:rPr lang="en-US" sz="1050" dirty="0">
                <a:solidFill>
                  <a:srgbClr val="CBD7E6"/>
                </a:solidFill>
                <a:latin typeface="Calibri" pitchFamily="34" charset="0"/>
                <a:ea typeface="Calibri" pitchFamily="34" charset="-122"/>
                <a:cs typeface="Calibri" pitchFamily="34" charset="-120"/>
              </a:rPr>
              <a:t>Volume grew 70% across 2025, from 16,400 attempts in January to 27,903 in December, and total contribution profit grew 14%. On those two numbers the year was a success.</a:t>
            </a:r>
            <a:endParaRPr lang="en-US" sz="1050" dirty="0"/>
          </a:p>
        </p:txBody>
      </p:sp>
      <p:sp>
        <p:nvSpPr>
          <p:cNvPr id="6" name="Text 4"/>
          <p:cNvSpPr txBox="1"/>
          <p:nvPr/>
        </p:nvSpPr>
        <p:spPr>
          <a:xfrm>
            <a:off x="594360" y="2231136"/>
            <a:ext cx="1371600" cy="603504"/>
          </a:xfrm>
          <a:prstGeom prst="rect">
            <a:avLst/>
          </a:prstGeom>
          <a:noFill/>
          <a:ln/>
        </p:spPr>
        <p:txBody>
          <a:bodyPr wrap="square" lIns="0" tIns="0" rIns="0" bIns="0" rtlCol="0" anchor="ctr"/>
          <a:lstStyle/>
          <a:p>
            <a:pPr indent="0" marL="0">
              <a:buNone/>
            </a:pPr>
            <a:r>
              <a:rPr lang="en-US" sz="1200" b="1" dirty="0">
                <a:solidFill>
                  <a:srgbClr val="F2B366"/>
                </a:solidFill>
                <a:latin typeface="Calibri" pitchFamily="34" charset="0"/>
                <a:ea typeface="Calibri" pitchFamily="34" charset="-122"/>
                <a:cs typeface="Calibri" pitchFamily="34" charset="-120"/>
              </a:rPr>
              <a:t>Complication</a:t>
            </a:r>
            <a:endParaRPr lang="en-US" sz="1200" dirty="0"/>
          </a:p>
        </p:txBody>
      </p:sp>
      <p:sp>
        <p:nvSpPr>
          <p:cNvPr id="7" name="Text 5"/>
          <p:cNvSpPr txBox="1"/>
          <p:nvPr/>
        </p:nvSpPr>
        <p:spPr>
          <a:xfrm>
            <a:off x="2103120" y="2231136"/>
            <a:ext cx="5669280" cy="603504"/>
          </a:xfrm>
          <a:prstGeom prst="rect">
            <a:avLst/>
          </a:prstGeom>
          <a:noFill/>
          <a:ln/>
        </p:spPr>
        <p:txBody>
          <a:bodyPr wrap="square" lIns="0" tIns="0" rIns="0" bIns="0" rtlCol="0" anchor="ctr"/>
          <a:lstStyle/>
          <a:p>
            <a:pPr indent="0" marL="0">
              <a:lnSpc>
                <a:spcPts val="1400"/>
              </a:lnSpc>
              <a:buNone/>
            </a:pPr>
            <a:r>
              <a:rPr lang="en-US" sz="1050" dirty="0">
                <a:solidFill>
                  <a:srgbClr val="CBD7E6"/>
                </a:solidFill>
                <a:latin typeface="Calibri" pitchFamily="34" charset="0"/>
                <a:ea typeface="Calibri" pitchFamily="34" charset="-122"/>
                <a:cs typeface="Calibri" pitchFamily="34" charset="-120"/>
              </a:rPr>
              <a:t>Contribution per successful transaction fell 33%, $1.620 → $1.089. Every additional transaction is worth a third less — and four stakeholders each had a different explanation, three of which were wrong.</a:t>
            </a:r>
            <a:endParaRPr lang="en-US" sz="1050" dirty="0"/>
          </a:p>
        </p:txBody>
      </p:sp>
      <p:sp>
        <p:nvSpPr>
          <p:cNvPr id="8" name="Text 6"/>
          <p:cNvSpPr txBox="1"/>
          <p:nvPr/>
        </p:nvSpPr>
        <p:spPr>
          <a:xfrm>
            <a:off x="594360" y="2889504"/>
            <a:ext cx="1371600" cy="603504"/>
          </a:xfrm>
          <a:prstGeom prst="rect">
            <a:avLst/>
          </a:prstGeom>
          <a:noFill/>
          <a:ln/>
        </p:spPr>
        <p:txBody>
          <a:bodyPr wrap="square" lIns="0" tIns="0" rIns="0" bIns="0" rtlCol="0" anchor="ctr"/>
          <a:lstStyle/>
          <a:p>
            <a:pPr indent="0" marL="0">
              <a:buNone/>
            </a:pPr>
            <a:r>
              <a:rPr lang="en-US" sz="1200" b="1" dirty="0">
                <a:solidFill>
                  <a:srgbClr val="F2B366"/>
                </a:solidFill>
                <a:latin typeface="Calibri" pitchFamily="34" charset="0"/>
                <a:ea typeface="Calibri" pitchFamily="34" charset="-122"/>
                <a:cs typeface="Calibri" pitchFamily="34" charset="-120"/>
              </a:rPr>
              <a:t>Question</a:t>
            </a:r>
            <a:endParaRPr lang="en-US" sz="1200" dirty="0"/>
          </a:p>
        </p:txBody>
      </p:sp>
      <p:sp>
        <p:nvSpPr>
          <p:cNvPr id="9" name="Text 7"/>
          <p:cNvSpPr txBox="1"/>
          <p:nvPr/>
        </p:nvSpPr>
        <p:spPr>
          <a:xfrm>
            <a:off x="2103120" y="2889504"/>
            <a:ext cx="5669280" cy="603504"/>
          </a:xfrm>
          <a:prstGeom prst="rect">
            <a:avLst/>
          </a:prstGeom>
          <a:noFill/>
          <a:ln/>
        </p:spPr>
        <p:txBody>
          <a:bodyPr wrap="square" lIns="0" tIns="0" rIns="0" bIns="0" rtlCol="0" anchor="ctr"/>
          <a:lstStyle/>
          <a:p>
            <a:pPr indent="0" marL="0">
              <a:lnSpc>
                <a:spcPts val="1400"/>
              </a:lnSpc>
              <a:buNone/>
            </a:pPr>
            <a:r>
              <a:rPr lang="en-US" sz="1050" dirty="0">
                <a:solidFill>
                  <a:srgbClr val="CBD7E6"/>
                </a:solidFill>
                <a:latin typeface="Calibri" pitchFamily="34" charset="0"/>
                <a:ea typeface="Calibri" pitchFamily="34" charset="-122"/>
                <a:cs typeface="Calibri" pitchFamily="34" charset="-120"/>
              </a:rPr>
              <a:t>Is this a performance problem or a composition problem, and what should change in the next 60 days?</a:t>
            </a:r>
            <a:endParaRPr lang="en-US" sz="1050" dirty="0"/>
          </a:p>
        </p:txBody>
      </p:sp>
      <p:sp>
        <p:nvSpPr>
          <p:cNvPr id="10" name="Text 8"/>
          <p:cNvSpPr txBox="1"/>
          <p:nvPr/>
        </p:nvSpPr>
        <p:spPr>
          <a:xfrm>
            <a:off x="594360" y="3584448"/>
            <a:ext cx="1371600" cy="1371600"/>
          </a:xfrm>
          <a:prstGeom prst="rect">
            <a:avLst/>
          </a:prstGeom>
          <a:noFill/>
          <a:ln/>
        </p:spPr>
        <p:txBody>
          <a:bodyPr wrap="square" lIns="0" tIns="0" rIns="0" bIns="0" rtlCol="0" anchor="ctr"/>
          <a:lstStyle/>
          <a:p>
            <a:pPr indent="0" marL="0">
              <a:buNone/>
            </a:pPr>
            <a:r>
              <a:rPr lang="en-US" sz="1200" b="1" dirty="0">
                <a:solidFill>
                  <a:srgbClr val="7FD4D2"/>
                </a:solidFill>
                <a:latin typeface="Calibri" pitchFamily="34" charset="0"/>
                <a:ea typeface="Calibri" pitchFamily="34" charset="-122"/>
                <a:cs typeface="Calibri" pitchFamily="34" charset="-120"/>
              </a:rPr>
              <a:t>Answer</a:t>
            </a:r>
            <a:endParaRPr lang="en-US" sz="1200" dirty="0"/>
          </a:p>
        </p:txBody>
      </p:sp>
      <p:sp>
        <p:nvSpPr>
          <p:cNvPr id="11" name="Text 9"/>
          <p:cNvSpPr txBox="1"/>
          <p:nvPr/>
        </p:nvSpPr>
        <p:spPr>
          <a:xfrm>
            <a:off x="2103120" y="3584448"/>
            <a:ext cx="5669280" cy="1371600"/>
          </a:xfrm>
          <a:prstGeom prst="rect">
            <a:avLst/>
          </a:prstGeom>
          <a:noFill/>
          <a:ln/>
        </p:spPr>
        <p:txBody>
          <a:bodyPr wrap="square" lIns="0" tIns="0" rIns="0" bIns="0" rtlCol="0" anchor="ctr"/>
          <a:lstStyle/>
          <a:p>
            <a:pPr indent="0" marL="0">
              <a:lnSpc>
                <a:spcPts val="1400"/>
              </a:lnSpc>
              <a:buNone/>
            </a:pPr>
            <a:r>
              <a:rPr lang="en-US" sz="1050" dirty="0">
                <a:solidFill>
                  <a:srgbClr val="FFFFFF"/>
                </a:solidFill>
                <a:latin typeface="Calibri" pitchFamily="34" charset="0"/>
                <a:ea typeface="Calibri" pitchFamily="34" charset="-122"/>
                <a:cs typeface="Calibri" pitchFamily="34" charset="-120"/>
              </a:rPr>
              <a:t>Composition. 88.6% of the decline is ticket-size mix shifting, not any segment performing worse — three of seven cohorts improved. A $14-median digital-goods cohort went 8.1% → 33.9% of the book while TRAVEL, ELECTRONICS and GROCERY lost share. We then routed it down a pipe priced for large tickets and let its fixed fee rise 50.6% mid-year. The fix is a fee floor, a routing rule keyed on ticket size rather than country, and a defence of large-ticket volume.</a:t>
            </a:r>
            <a:endParaRPr lang="en-US" sz="1050" dirty="0"/>
          </a:p>
        </p:txBody>
      </p:sp>
      <p:sp>
        <p:nvSpPr>
          <p:cNvPr id="12" name="Text 10"/>
          <p:cNvSpPr txBox="1"/>
          <p:nvPr/>
        </p:nvSpPr>
        <p:spPr>
          <a:xfrm>
            <a:off x="8046720" y="1572768"/>
            <a:ext cx="3566160" cy="256032"/>
          </a:xfrm>
          <a:prstGeom prst="rect">
            <a:avLst/>
          </a:prstGeom>
          <a:noFill/>
          <a:ln/>
        </p:spPr>
        <p:txBody>
          <a:bodyPr wrap="square" lIns="0" tIns="0" rIns="0" bIns="0" rtlCol="0" anchor="ctr"/>
          <a:lstStyle/>
          <a:p>
            <a:pPr indent="0" marL="0">
              <a:buNone/>
            </a:pPr>
            <a:r>
              <a:rPr lang="en-US" sz="1250" b="1" dirty="0">
                <a:solidFill>
                  <a:srgbClr val="F2B366"/>
                </a:solidFill>
                <a:latin typeface="Calibri" pitchFamily="34" charset="0"/>
                <a:ea typeface="Calibri" pitchFamily="34" charset="-122"/>
                <a:cs typeface="Calibri" pitchFamily="34" charset="-120"/>
              </a:rPr>
              <a:t>What could make this wrong</a:t>
            </a:r>
            <a:endParaRPr lang="en-US" sz="1250" dirty="0"/>
          </a:p>
        </p:txBody>
      </p:sp>
      <p:sp>
        <p:nvSpPr>
          <p:cNvPr id="13" name="Shape 11"/>
          <p:cNvSpPr/>
          <p:nvPr/>
        </p:nvSpPr>
        <p:spPr>
          <a:xfrm>
            <a:off x="8046720" y="1901952"/>
            <a:ext cx="3566160" cy="932688"/>
          </a:xfrm>
          <a:prstGeom prst="roundRect">
            <a:avLst>
              <a:gd name="adj" fmla="val 5882"/>
            </a:avLst>
          </a:prstGeom>
          <a:solidFill>
            <a:srgbClr val="1B3A5F"/>
          </a:solidFill>
          <a:ln w="12700">
            <a:solidFill>
              <a:srgbClr val="2E5580"/>
            </a:solidFill>
            <a:prstDash val="solid"/>
          </a:ln>
        </p:spPr>
      </p:sp>
      <p:sp>
        <p:nvSpPr>
          <p:cNvPr id="14" name="Text 12"/>
          <p:cNvSpPr txBox="1"/>
          <p:nvPr/>
        </p:nvSpPr>
        <p:spPr>
          <a:xfrm>
            <a:off x="8229600" y="1984248"/>
            <a:ext cx="3200400" cy="219456"/>
          </a:xfrm>
          <a:prstGeom prst="rect">
            <a:avLst/>
          </a:prstGeom>
          <a:noFill/>
          <a:ln/>
        </p:spPr>
        <p:txBody>
          <a:bodyPr wrap="square" lIns="0" tIns="0" rIns="0" bIns="0" rtlCol="0" anchor="ctr"/>
          <a:lstStyle/>
          <a:p>
            <a:pPr indent="0" marL="0">
              <a:buNone/>
            </a:pPr>
            <a:r>
              <a:rPr lang="en-US" sz="1050" b="1" dirty="0">
                <a:solidFill>
                  <a:srgbClr val="F2B366"/>
                </a:solidFill>
                <a:latin typeface="Calibri" pitchFamily="34" charset="0"/>
                <a:ea typeface="Calibri" pitchFamily="34" charset="-122"/>
                <a:cs typeface="Calibri" pitchFamily="34" charset="-120"/>
              </a:rPr>
              <a:t>Elasticity is unmeasured</a:t>
            </a:r>
            <a:endParaRPr lang="en-US" sz="1050" dirty="0"/>
          </a:p>
        </p:txBody>
      </p:sp>
      <p:sp>
        <p:nvSpPr>
          <p:cNvPr id="15" name="Text 13"/>
          <p:cNvSpPr txBox="1"/>
          <p:nvPr/>
        </p:nvSpPr>
        <p:spPr>
          <a:xfrm>
            <a:off x="8229600" y="2203704"/>
            <a:ext cx="3200400" cy="566928"/>
          </a:xfrm>
          <a:prstGeom prst="rect">
            <a:avLst/>
          </a:prstGeom>
          <a:noFill/>
          <a:ln/>
        </p:spPr>
        <p:txBody>
          <a:bodyPr wrap="square" lIns="0" tIns="0" rIns="0" bIns="0" rtlCol="0" anchor="ctr"/>
          <a:lstStyle/>
          <a:p>
            <a:pPr indent="0" marL="0">
              <a:lnSpc>
                <a:spcPts val="1050"/>
              </a:lnSpc>
              <a:buNone/>
            </a:pPr>
            <a:r>
              <a:rPr lang="en-US" sz="850" dirty="0">
                <a:solidFill>
                  <a:srgbClr val="CBD7E6"/>
                </a:solidFill>
                <a:latin typeface="Calibri" pitchFamily="34" charset="0"/>
                <a:ea typeface="Calibri" pitchFamily="34" charset="-122"/>
                <a:cs typeface="Calibri" pitchFamily="34" charset="-120"/>
              </a:rPr>
              <a:t>No historical price change exists to estimate churn from. Launch the fee floor on the top 50 merchants and track churn weekly first.</a:t>
            </a:r>
            <a:endParaRPr lang="en-US" sz="850" dirty="0"/>
          </a:p>
        </p:txBody>
      </p:sp>
      <p:sp>
        <p:nvSpPr>
          <p:cNvPr id="16" name="Shape 14"/>
          <p:cNvSpPr/>
          <p:nvPr/>
        </p:nvSpPr>
        <p:spPr>
          <a:xfrm>
            <a:off x="8046720" y="2926080"/>
            <a:ext cx="3566160" cy="932688"/>
          </a:xfrm>
          <a:prstGeom prst="roundRect">
            <a:avLst>
              <a:gd name="adj" fmla="val 5882"/>
            </a:avLst>
          </a:prstGeom>
          <a:solidFill>
            <a:srgbClr val="1B3A5F"/>
          </a:solidFill>
          <a:ln w="12700">
            <a:solidFill>
              <a:srgbClr val="2E5580"/>
            </a:solidFill>
            <a:prstDash val="solid"/>
          </a:ln>
        </p:spPr>
      </p:sp>
      <p:sp>
        <p:nvSpPr>
          <p:cNvPr id="17" name="Text 15"/>
          <p:cNvSpPr txBox="1"/>
          <p:nvPr/>
        </p:nvSpPr>
        <p:spPr>
          <a:xfrm>
            <a:off x="8229600" y="3008376"/>
            <a:ext cx="3200400" cy="219456"/>
          </a:xfrm>
          <a:prstGeom prst="rect">
            <a:avLst/>
          </a:prstGeom>
          <a:noFill/>
          <a:ln/>
        </p:spPr>
        <p:txBody>
          <a:bodyPr wrap="square" lIns="0" tIns="0" rIns="0" bIns="0" rtlCol="0" anchor="ctr"/>
          <a:lstStyle/>
          <a:p>
            <a:pPr indent="0" marL="0">
              <a:buNone/>
            </a:pPr>
            <a:r>
              <a:rPr lang="en-US" sz="1050" b="1" dirty="0">
                <a:solidFill>
                  <a:srgbClr val="F2B366"/>
                </a:solidFill>
                <a:latin typeface="Calibri" pitchFamily="34" charset="0"/>
                <a:ea typeface="Calibri" pitchFamily="34" charset="-122"/>
                <a:cs typeface="Calibri" pitchFamily="34" charset="-120"/>
              </a:rPr>
              <a:t>Capacity at PROV_NORTH</a:t>
            </a:r>
            <a:endParaRPr lang="en-US" sz="1050" dirty="0"/>
          </a:p>
        </p:txBody>
      </p:sp>
      <p:sp>
        <p:nvSpPr>
          <p:cNvPr id="18" name="Text 16"/>
          <p:cNvSpPr txBox="1"/>
          <p:nvPr/>
        </p:nvSpPr>
        <p:spPr>
          <a:xfrm>
            <a:off x="8229600" y="3227832"/>
            <a:ext cx="3200400" cy="566928"/>
          </a:xfrm>
          <a:prstGeom prst="rect">
            <a:avLst/>
          </a:prstGeom>
          <a:noFill/>
          <a:ln/>
        </p:spPr>
        <p:txBody>
          <a:bodyPr wrap="square" lIns="0" tIns="0" rIns="0" bIns="0" rtlCol="0" anchor="ctr"/>
          <a:lstStyle/>
          <a:p>
            <a:pPr indent="0" marL="0">
              <a:lnSpc>
                <a:spcPts val="1050"/>
              </a:lnSpc>
              <a:buNone/>
            </a:pPr>
            <a:r>
              <a:rPr lang="en-US" sz="850" dirty="0">
                <a:solidFill>
                  <a:srgbClr val="CBD7E6"/>
                </a:solidFill>
                <a:latin typeface="Calibri" pitchFamily="34" charset="0"/>
                <a:ea typeface="Calibri" pitchFamily="34" charset="-122"/>
                <a:cs typeface="Calibri" pitchFamily="34" charset="-120"/>
              </a:rPr>
              <a:t>The routing shift assumes NORTH absorbs ~34% more volume at the quoted rate. Confirm a volume commitment and re-quote before moving traffic.</a:t>
            </a:r>
            <a:endParaRPr lang="en-US" sz="850" dirty="0"/>
          </a:p>
        </p:txBody>
      </p:sp>
      <p:sp>
        <p:nvSpPr>
          <p:cNvPr id="19" name="Shape 17"/>
          <p:cNvSpPr/>
          <p:nvPr/>
        </p:nvSpPr>
        <p:spPr>
          <a:xfrm>
            <a:off x="8046720" y="3950208"/>
            <a:ext cx="3566160" cy="932688"/>
          </a:xfrm>
          <a:prstGeom prst="roundRect">
            <a:avLst>
              <a:gd name="adj" fmla="val 5882"/>
            </a:avLst>
          </a:prstGeom>
          <a:solidFill>
            <a:srgbClr val="1B3A5F"/>
          </a:solidFill>
          <a:ln w="12700">
            <a:solidFill>
              <a:srgbClr val="2E5580"/>
            </a:solidFill>
            <a:prstDash val="solid"/>
          </a:ln>
        </p:spPr>
      </p:sp>
      <p:sp>
        <p:nvSpPr>
          <p:cNvPr id="20" name="Text 18"/>
          <p:cNvSpPr txBox="1"/>
          <p:nvPr/>
        </p:nvSpPr>
        <p:spPr>
          <a:xfrm>
            <a:off x="8229600" y="4032504"/>
            <a:ext cx="3200400" cy="219456"/>
          </a:xfrm>
          <a:prstGeom prst="rect">
            <a:avLst/>
          </a:prstGeom>
          <a:noFill/>
          <a:ln/>
        </p:spPr>
        <p:txBody>
          <a:bodyPr wrap="square" lIns="0" tIns="0" rIns="0" bIns="0" rtlCol="0" anchor="ctr"/>
          <a:lstStyle/>
          <a:p>
            <a:pPr indent="0" marL="0">
              <a:buNone/>
            </a:pPr>
            <a:r>
              <a:rPr lang="en-US" sz="1050" b="1" dirty="0">
                <a:solidFill>
                  <a:srgbClr val="F2B366"/>
                </a:solidFill>
                <a:latin typeface="Calibri" pitchFamily="34" charset="0"/>
                <a:ea typeface="Calibri" pitchFamily="34" charset="-122"/>
                <a:cs typeface="Calibri" pitchFamily="34" charset="-120"/>
              </a:rPr>
              <a:t>A blind spot in the data</a:t>
            </a:r>
            <a:endParaRPr lang="en-US" sz="1050" dirty="0"/>
          </a:p>
        </p:txBody>
      </p:sp>
      <p:sp>
        <p:nvSpPr>
          <p:cNvPr id="21" name="Text 19"/>
          <p:cNvSpPr txBox="1"/>
          <p:nvPr/>
        </p:nvSpPr>
        <p:spPr>
          <a:xfrm>
            <a:off x="8229600" y="4251960"/>
            <a:ext cx="3200400" cy="566928"/>
          </a:xfrm>
          <a:prstGeom prst="rect">
            <a:avLst/>
          </a:prstGeom>
          <a:noFill/>
          <a:ln/>
        </p:spPr>
        <p:txBody>
          <a:bodyPr wrap="square" lIns="0" tIns="0" rIns="0" bIns="0" rtlCol="0" anchor="ctr"/>
          <a:lstStyle/>
          <a:p>
            <a:pPr indent="0" marL="0">
              <a:lnSpc>
                <a:spcPts val="1050"/>
              </a:lnSpc>
              <a:buNone/>
            </a:pPr>
            <a:r>
              <a:rPr lang="en-US" sz="850" dirty="0">
                <a:solidFill>
                  <a:srgbClr val="CBD7E6"/>
                </a:solidFill>
                <a:latin typeface="Calibri" pitchFamily="34" charset="0"/>
                <a:ea typeface="Calibri" pitchFamily="34" charset="-122"/>
                <a:cs typeface="Calibri" pitchFamily="34" charset="-120"/>
              </a:rPr>
              <a:t>2.1% of wallet transactions carry no merchant, so cohort figures are computed on the remainder. Action 5 restores attribution; the decomposition is re-run when it lands.</a:t>
            </a:r>
            <a:endParaRPr lang="en-US" sz="850" dirty="0"/>
          </a:p>
        </p:txBody>
      </p:sp>
      <p:sp>
        <p:nvSpPr>
          <p:cNvPr id="22" name="Shape 20"/>
          <p:cNvSpPr/>
          <p:nvPr/>
        </p:nvSpPr>
        <p:spPr>
          <a:xfrm>
            <a:off x="8046720" y="4974336"/>
            <a:ext cx="3566160" cy="932688"/>
          </a:xfrm>
          <a:prstGeom prst="roundRect">
            <a:avLst>
              <a:gd name="adj" fmla="val 5882"/>
            </a:avLst>
          </a:prstGeom>
          <a:solidFill>
            <a:srgbClr val="1B3A5F"/>
          </a:solidFill>
          <a:ln w="12700">
            <a:solidFill>
              <a:srgbClr val="2E5580"/>
            </a:solidFill>
            <a:prstDash val="solid"/>
          </a:ln>
        </p:spPr>
      </p:sp>
      <p:sp>
        <p:nvSpPr>
          <p:cNvPr id="23" name="Text 21"/>
          <p:cNvSpPr txBox="1"/>
          <p:nvPr/>
        </p:nvSpPr>
        <p:spPr>
          <a:xfrm>
            <a:off x="8229600" y="5056632"/>
            <a:ext cx="3200400" cy="219456"/>
          </a:xfrm>
          <a:prstGeom prst="rect">
            <a:avLst/>
          </a:prstGeom>
          <a:noFill/>
          <a:ln/>
        </p:spPr>
        <p:txBody>
          <a:bodyPr wrap="square" lIns="0" tIns="0" rIns="0" bIns="0" rtlCol="0" anchor="ctr"/>
          <a:lstStyle/>
          <a:p>
            <a:pPr indent="0" marL="0">
              <a:buNone/>
            </a:pPr>
            <a:r>
              <a:rPr lang="en-US" sz="1050" b="1" dirty="0">
                <a:solidFill>
                  <a:srgbClr val="F2B366"/>
                </a:solidFill>
                <a:latin typeface="Calibri" pitchFamily="34" charset="0"/>
                <a:ea typeface="Calibri" pitchFamily="34" charset="-122"/>
                <a:cs typeface="Calibri" pitchFamily="34" charset="-120"/>
              </a:rPr>
              <a:t>Causality is inferred, not tested</a:t>
            </a:r>
            <a:endParaRPr lang="en-US" sz="1050" dirty="0"/>
          </a:p>
        </p:txBody>
      </p:sp>
      <p:sp>
        <p:nvSpPr>
          <p:cNvPr id="24" name="Text 22"/>
          <p:cNvSpPr txBox="1"/>
          <p:nvPr/>
        </p:nvSpPr>
        <p:spPr>
          <a:xfrm>
            <a:off x="8229600" y="5276088"/>
            <a:ext cx="3200400" cy="566928"/>
          </a:xfrm>
          <a:prstGeom prst="rect">
            <a:avLst/>
          </a:prstGeom>
          <a:noFill/>
          <a:ln/>
        </p:spPr>
        <p:txBody>
          <a:bodyPr wrap="square" lIns="0" tIns="0" rIns="0" bIns="0" rtlCol="0" anchor="ctr"/>
          <a:lstStyle/>
          <a:p>
            <a:pPr indent="0" marL="0">
              <a:lnSpc>
                <a:spcPts val="1050"/>
              </a:lnSpc>
              <a:buNone/>
            </a:pPr>
            <a:r>
              <a:rPr lang="en-US" sz="850" dirty="0">
                <a:solidFill>
                  <a:srgbClr val="CBD7E6"/>
                </a:solidFill>
                <a:latin typeface="Calibri" pitchFamily="34" charset="0"/>
                <a:ea typeface="Calibri" pitchFamily="34" charset="-122"/>
                <a:cs typeface="Calibri" pitchFamily="34" charset="-120"/>
              </a:rPr>
              <a:t>The decomposition is exact arithmetic on what happened, not an experiment. Actions 1 and 2 launch on a subset so the effect is measured, not assumed.</a:t>
            </a:r>
            <a:endParaRPr lang="en-US" sz="850" dirty="0"/>
          </a:p>
        </p:txBody>
      </p:sp>
      <p:sp>
        <p:nvSpPr>
          <p:cNvPr id="25" name="Text 23"/>
          <p:cNvSpPr txBox="1"/>
          <p:nvPr/>
        </p:nvSpPr>
        <p:spPr>
          <a:xfrm>
            <a:off x="594360" y="5806440"/>
            <a:ext cx="7223760" cy="457200"/>
          </a:xfrm>
          <a:prstGeom prst="rect">
            <a:avLst/>
          </a:prstGeom>
          <a:noFill/>
          <a:ln/>
        </p:spPr>
        <p:txBody>
          <a:bodyPr wrap="square" lIns="0" tIns="0" rIns="0" bIns="0" rtlCol="0" anchor="ctr"/>
          <a:lstStyle/>
          <a:p>
            <a:pPr indent="0" marL="0">
              <a:lnSpc>
                <a:spcPts val="1600"/>
              </a:lnSpc>
              <a:buNone/>
            </a:pPr>
            <a:r>
              <a:rPr lang="en-US" sz="1250" i="1" dirty="0">
                <a:solidFill>
                  <a:srgbClr val="8FA6C4"/>
                </a:solidFill>
                <a:latin typeface="Calibri" pitchFamily="34" charset="0"/>
                <a:ea typeface="Calibri" pitchFamily="34" charset="-122"/>
                <a:cs typeface="Calibri" pitchFamily="34" charset="-120"/>
              </a:rPr>
              <a:t>Volume growth is not the same thing as value growth. This year AstraPay bought a lot of the first and sold some of the second.</a:t>
            </a:r>
            <a:endParaRPr lang="en-US" sz="1250" dirty="0"/>
          </a:p>
        </p:txBody>
      </p:sp>
      <p:sp>
        <p:nvSpPr>
          <p:cNvPr id="26" name="Text 24"/>
          <p:cNvSpPr txBox="1"/>
          <p:nvPr/>
        </p:nvSpPr>
        <p:spPr>
          <a:xfrm>
            <a:off x="594360" y="6355080"/>
            <a:ext cx="10972800" cy="274320"/>
          </a:xfrm>
          <a:prstGeom prst="rect">
            <a:avLst/>
          </a:prstGeom>
          <a:noFill/>
          <a:ln/>
        </p:spPr>
        <p:txBody>
          <a:bodyPr wrap="square" lIns="0" tIns="0" rIns="0" bIns="0" rtlCol="0" anchor="ctr"/>
          <a:lstStyle/>
          <a:p>
            <a:pPr indent="0" marL="0">
              <a:buNone/>
            </a:pPr>
            <a:r>
              <a:rPr lang="en-US" sz="950" dirty="0">
                <a:solidFill>
                  <a:srgbClr val="6E86A6"/>
                </a:solidFill>
                <a:latin typeface="Calibri" pitchFamily="34" charset="0"/>
                <a:ea typeface="Calibri" pitchFamily="34" charset="-122"/>
                <a:cs typeface="Calibri" pitchFamily="34" charset="-120"/>
              </a:rPr>
              <a:t>Every figure is reproducible from the notebooks: 03 data quality · 04 model · 05 root cause · 06 diagnosis. Deterministic on seed 42.</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AstraPay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AstraPay - Payment Profitability, Data Trust &amp; Executive Decision</dc:title>
  <dc:subject>PptxGenJS Presentation</dc:subject>
  <dc:creator>Junaid Mustafa</dc:creator>
  <cp:lastModifiedBy>Junaid Mustafa</cp:lastModifiedBy>
  <cp:revision>1</cp:revision>
  <dcterms:created xsi:type="dcterms:W3CDTF">2026-09-16T04:48:58Z</dcterms:created>
  <dcterms:modified xsi:type="dcterms:W3CDTF">2026-09-16T04:48:58Z</dcterms:modified>
</cp:coreProperties>
</file>