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processing_ms</c:v>
                </c:pt>
              </c:strCache>
            </c:strRef>
          </c:tx>
          <c:spPr>
            <a:solidFill>
              <a:srgbClr val="B5B5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B5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B5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 2024</c:v>
                  </c:pt>
                  <c:pt idx="1">
                    <c:v>Feb 2024</c:v>
                  </c:pt>
                  <c:pt idx="2">
                    <c:v>Mar 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208.3</c:v>
                </c:pt>
                <c:pt idx="1">
                  <c:v>3953.5</c:v>
                </c:pt>
                <c:pt idx="2">
                  <c:v>202.3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0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contribution profit (USD)</c:v>
                </c:pt>
              </c:strCache>
            </c:strRef>
          </c:tx>
          <c:spPr>
            <a:solidFill>
              <a:srgbClr val="A02C2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6F5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BillDesk
Aggregator</c:v>
                  </c:pt>
                  <c:pt idx="1">
                    <c:v>Stripe SG</c:v>
                  </c:pt>
                  <c:pt idx="2">
                    <c:v>Razorpay
Gateway</c:v>
                  </c:pt>
                  <c:pt idx="3">
                    <c:v>NPCI Direct</c:v>
                  </c:pt>
                  <c:pt idx="4">
                    <c:v>Adyen Global</c:v>
                  </c:pt>
                  <c:pt idx="5">
                    <c:v>Network
International</c:v>
                  </c:pt>
                  <c:pt idx="6">
                    <c:v>DBS PayNow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-768.7</c:v>
                </c:pt>
                <c:pt idx="1">
                  <c:v>-593.03</c:v>
                </c:pt>
                <c:pt idx="2">
                  <c:v>-468.78</c:v>
                </c:pt>
                <c:pt idx="3">
                  <c:v>-180.94</c:v>
                </c:pt>
                <c:pt idx="4">
                  <c:v>-138.06</c:v>
                </c:pt>
                <c:pt idx="5">
                  <c:v>-59.91</c:v>
                </c:pt>
                <c:pt idx="6">
                  <c:v>28.62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4D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-900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direct cost</c:v>
                </c:pt>
              </c:strCache>
            </c:strRef>
          </c:tx>
          <c:spPr>
            <a:solidFill>
              <a:srgbClr val="A02C2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02C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B5B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Chargeback &amp;
fraud losses</c:v>
                  </c:pt>
                  <c:pt idx="1">
                    <c:v>Direct routing
fees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54.81</c:v>
                </c:pt>
                <c:pt idx="1">
                  <c:v>45.19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ASTRAPAY  ·  CAPSTONE PROJECT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12848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Operations &amp;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Optimization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502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contribution profit per successful transaction falling while payment volume grows — and what should change in the next 60 days?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92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Five-day diagnostic  ·  India, Singapore, UAE  ·  500 payment attempts  ·  Snowflake + Power BI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Eswar P  ·  Analysis cross-read by Junaid Mustafa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 is processing volume at a loss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headline measures from the Power BI model. Every direct cost line exceeds the revenue it was incurred to earn.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PAYMENT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$1.44K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546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$3.62K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DIRECT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1546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$1.99K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CHARGEBACK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1546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−$2.18K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CONTRIBUTION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1546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−151%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4709160"/>
            <a:ext cx="10835640" cy="13258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882896"/>
            <a:ext cx="10287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sentence version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138928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AstraPay earns $2.88 of revenue on the average successful transaction and spends $3.62K in direct cost to earn $1.44K in gross revenue. Chargeback and fraud losses — not processing fees — are the larger half of that cost. Six of the seven live payment routes are unprofitable, and the loss is concentrated in good-quality merchant traffic, not in high-risk accounts.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problem statement and the decisions it must enable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diagnostic is scoped to what management can act on inside a 60-day window.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835640" cy="10515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28800"/>
            <a:ext cx="10287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the root causes of contribution profit margin erosion per successful transaction across India, Singapore and UAE operations over the 5-day diagnostic period by evaluating merchant pricing, routing costs, fraud controls and data pipeline integrity — to deliver a prioritised 60-day executive turn-around plan.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26080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 the analysis has to settle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310128"/>
            <a:ext cx="10835640" cy="676656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015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strategy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401568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underperforming merchant categories and tiers, or terminate negative-margin contracts.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829800" y="340156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4078224"/>
            <a:ext cx="10835640" cy="676656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16966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operations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169664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Re-route transaction flow away from high-latency, high-cost providers.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829800" y="416966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Payments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4846320"/>
            <a:ext cx="10835640" cy="676656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93776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937760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fraud rule thresholds to reduce false declines on legitimate transactions.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829800" y="493776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5614416"/>
            <a:ext cx="10835640" cy="676656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570585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5705856"/>
            <a:ext cx="6309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source-to-report pipeline bugs, standardise FX mapping, remove join duplication.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570585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Head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architecture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carries its formula, its target grain and the date field that anchors it. Ambiguity on any of the three produces two versions of the same number.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835640" cy="78638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773936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EXECUTIVE KPI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11680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Profit per Successful Txn  =  ( Net Revenue − Direct Route Costs − Net Loss )  /  Total Successful Transactions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97480"/>
          <a:ext cx="10835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937760"/>
                <a:gridCol w="1737360"/>
                <a:gridCol w="1508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 / definition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grain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anchor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Payment Volume (GPV)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successful transaction amounts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Success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Successful transactions / total attempted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Take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(Merchant fees collected / successful GPV) × 10,000 (bps)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/ Txn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Route Cost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((Fixed route fees + variable route fees) / successful GPV) × 10,000 (bps)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/ Provider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Decline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Legitimate txns declined by the risk engine / total attempted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event_time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Discrepancy Index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(Logged volume − reconciled settlement volume) / logged volume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settlement_date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85800" y="6236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Take Rate and Effective Route Cost Rate are expressed in basis points so that a 12 bps movement is legible next to a percentage that would read as 0.12%.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exclusions and the assumptions behind every number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an assumption converts a hidden judgement call into something a reviewer can argue with.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474720" cy="21031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182880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103120"/>
            <a:ext cx="2962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transactions across India, Singapore and the UAE.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route costs, fraud decisions, chargebacks, settlement reconciliation, and channel performance across Web, Mobile and API.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70832" y="1645920"/>
            <a:ext cx="3474720" cy="21031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82880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103120"/>
            <a:ext cx="2962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overhead.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headcount cost.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Non-payment revenue streams.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a contribution-margin view, not a full profit and loss statement.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55864" y="1645920"/>
            <a:ext cx="3465576" cy="21031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1896" y="1828800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scoped this way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11896" y="2103120"/>
            <a:ext cx="29535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is fixed against the 60-day window — including it would move every route's margin by the same amount and change none of the decisions the question is asked to settle.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977640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315968"/>
          <a:ext cx="108356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037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 in practice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transaction.created_at is the primary timeline anchor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and the costs incurred to earn it are held in the same period, so a settlement that clears three days later does not shift margin into the next month.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merchant IDs are quarantined, not dropped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11 affected rows stay countable and reportable. Dropping them would remove real payments from the denominator and flatter the success rate.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amounts are read by lifecycle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negative amount on a REVERSED transaction is an operational reversal. The same value on a SUCCESS row is a defect. The status column decides which.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MECE hypothesis framework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explanations, one per stakeholder, each stated with the evidence that would confirm it and the evidence that would reject it.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1083564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 Commercial mix shift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view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9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growth is skewed toward high-volume, low-margin merchant categories where contracted rates do not cover processing costs.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1755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IF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97510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overall take rate while within-segment unit profitability stays stable.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17556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IF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97510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erosion occurs uniformly across all merchant segments and tiers.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798064"/>
            <a:ext cx="1083564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 Routing latency &amp; cost spikes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1821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Head view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198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spikes on primary routes triggered fallbacks to expensive secondary providers, driving up route cost per transaction.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2926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IF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31455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processing latency spikes correlate directly with elevated route fees on specific paths.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9260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IF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14553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processing costs and latencies remain stable across providers over time.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3968496"/>
            <a:ext cx="1083564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0965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 Fraud over-blocking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352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Head view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risk thresholds cause false declines on high-margin legitimate transactions, limiting net revenue while fixed overhead remains.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40965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IF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43159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rates decline in low-risk cohorts without a matching drop in chargeback rates.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40965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IF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43159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decline rates stay low while net chargeback losses increase.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" y="5138928"/>
            <a:ext cx="1083564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2669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  Data pipeline artefacts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55229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Head view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760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deterioration is an artefact of one-to-many join duplication or incorrect FX rate selection inflating attempt counts and costs.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794760" y="5266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IF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3794760" y="5486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Deduplicating 1:N joins or correcting FX rate types restores baseline unit profit margins.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26694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IF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54864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Source-to-settlement reconciliation confirms 1:1 match rates with zero join-driven inflation.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Source-to-metric data contract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datasets, each with a declared grain, a named business owner, and the cardinality it is expected to hold when joined to the transaction spine.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7632"/>
          <a:ext cx="10835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371600"/>
                <a:gridCol w="1371600"/>
                <a:gridCol w="1463040"/>
                <a:gridCol w="2971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owner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cardinality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validation rule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customer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Ops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customer_id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1:N to transaction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customer_id unique and non-null; kyc_status in VERIFIED / PENDING / REJECTED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merchant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Ops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merchant_id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1:N to transaction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merchant_id unique; pricing_plan must exist in the active pricing catalog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payment attempt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Payments Engine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transaction_id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fact table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&gt; 0 unless explicitly flagged as an operational reversal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payment_event.csv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lifecycle event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Operations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txn_id + type + 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N:1 to transaction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event_time ≥ transaction.created_at; processing_ms ≥ 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fraud_decision.csv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fraud decision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&amp; Fraud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transaction_id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 to transaction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risk_score strictly within 0.0–1.0; decision in PASS / BLOCK / REVIEW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settlement record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Treasury &amp; Finance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txn_id + status + 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1:N or 1:1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Reconciled settlement_amount must equal converted transaction.amount; fee_amount ≥ 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fx_rate.csv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currency / date / 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 Treasury Desk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+ ccy + 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N:1 lookup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rate_to_usd &gt; 0; rate_type explicitly defined (e.g. SPOT_DAILY)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route_cost.csv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route / 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Routing Desk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route_id + rate_date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N:1 lookup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fixed_fee ≥ 0; variable_fee_pct between 0% and 100%; compound key unique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chargeback.csv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chargeback record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Dispute Operations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chargeback_id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 or 1:N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opened_at ≥ transaction.created_at; amount must not exceed the original transaction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merchant_risk_snapshot.csv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row per merchant / month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&amp; 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merchant_id + month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N:1 lookup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Compound key unique; risk_band in LOW / MEDIUM / HIGH / CRITICAL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vulnerable to duplication or temporal leakage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relationships that silently corrupt the answer if joined directly. Each is stated as a mechanism first, then a remediation.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10835640" cy="10515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55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payment_event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2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 DUPLICATION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7465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9385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attempt generates several event rows (INITIATED, PROCESSING, SUCCESS / FAILED). Joining without pre-aggregating duplicates transaction rows and artificially multiplies GPV and cost totals.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7465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1938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Pre-aggregate events to transaction_id level using CTEs before joining, or pull specific event metrics through isolated subqueries.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2788920"/>
            <a:ext cx="10835640" cy="10515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169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settlement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191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2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 SPLIT / RETRY DUPLICATION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9077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09981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retry attempts and partial settlements create multiple settlement records per transaction ID. A direct join silently duplicates transaction amounts.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907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9981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 and sum settlement fees and amounts grouped strictly by transaction_id before executing the final joins.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3950208"/>
            <a:ext cx="10835640" cy="10515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07822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merchant_risk_snapshot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3525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2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LEAKAGE &amp; CARTESIAN FAN-OUT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426110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Joining on merchant_id alone matches every transaction to all historical monthly snapshots of that merchant — multi-row Cartesian multiplication that also applies future risk scores to past transactions.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4069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426110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explicit monthly temporal matching: ON t.merchant_id = s.merchant_id AND DATE_TRUNC('month', t.created_at) = s.snapshot_month.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5111496"/>
            <a:ext cx="10835640" cy="10515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239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→ chargeback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513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2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LATE-ARRIVING TEMPORAL LEAKAGE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5230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54223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Chargebacks arrive days or weeks after payment creation. Evaluating real-time transaction economics against historical chargeback records introduces forward-looking bias into past reporting windows.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5230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7818120" y="54223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chargebacks on an opened_at event-date basis for financial reporting, or use fixed cohort ageing windows such as a 30-day lagged chargeback rate.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date basis architecture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transaction is legitimately dated four different ways. Which date a metric uses is an accounting decision, not a technical preference.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7632"/>
          <a:ext cx="10835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  <a:gridCol w="4160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date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Secondary date driver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justification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Attempted &amp; successful GPV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transaction.created_at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Measures exact customer payment intent and checkout activity on the date it occurred, preventing time-shift skew.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&amp; processing costs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transaction.created_at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payment_event.event_time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rates apply at execution time. Route provider fee schedules must match the exact day the attempt was processed.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 volume &amp; take 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settlement.settlement_date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transaction.created_at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accounting requires settlement metrics to reflect actual cash clearance and bank deposit release dates.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 &amp; chargeback losses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chargeback.opened_at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transaction.created_at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mandates recognising dispute liabilities on the date the dispute is formally opened, rather than retroactively adjusting past performance.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 rate conversion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transaction.created_at :: date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settlement.settlement_date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Normalising multi-currency economics requires the daily spot rate (rate_type = 'DAILY_SPOT') active on the transaction creation date.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36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consequence of getting this wrong is not a rounding error: a settlement-dated cost against a created-at revenue moves margin between months and can invent a collapse that did not happen.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build: Snowflake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typed tables, one CSV file format, one internal stage, and a row-count verification query that runs before any analysis.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30352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490118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WAREHOUSE COMPUTE_WH;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ASTRAPAY_DB;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SCHEMA ASTRAPAY_DB.PUBLIC;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FILE FORMAT csv_format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'CSV'  FIELD_DELIMITER = ','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SKIP_HEADER = 1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FIELD_OPTIONALLY_ENCLOSED_BY = '"'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NULL_IF = ('', 'NULL');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STAGE astrapay_stage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FILE_FORMAT = csv_format;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INTO TRANSACTION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@astrapay_stage/transaction.csv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ON_ERROR = 'CONTINUE';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6916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verification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257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40080"/>
                <a:gridCol w="2377440"/>
                <a:gridCol w="6400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FX_RATE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ROUTE_COST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PAYMENT_EVENT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FRAUD_DECISION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MERCHANT_RISK_SNAPSHOT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224528"/>
            <a:ext cx="5303520" cy="181051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" y="44074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file format and a stage, not a UI upload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4681728"/>
            <a:ext cx="4791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Declaring the format once means every one of the ten COPY INTO statements parses quoted commas, blank strings and the header row identically. A per-file upload wizard makes ten independent decisions that nobody writes down, and the first mismatch surfaces three tasks later as a null that nobody can explain.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63640" y="4224528"/>
            <a:ext cx="5257800" cy="181051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19672" y="440740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ON_ERROR = 'CONTINUE' is a deliberate choice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19672" y="4681728"/>
            <a:ext cx="4745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transaction load is the only one that tolerates row-level failures, because the file is known to carry planted defects. Every rejected row is recoverable from the load history, so the defect count becomes evidence for Task 3 rather than a silent truncation.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investigation — what the profiling found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conditions tested with SQL against the loaded warehouse. Five of them change a number that a stakeholder would otherwise quote.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WITH A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MERCHANT ID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2.20%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ROWS AFFECTED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OR NEGATIVE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AMOUNTS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1691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spc="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ROWS AFFECTED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08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or negative amounts, split by transaction status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42900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txns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or negative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DECLINED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85800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twelve on SUCCESS are the problem. A reversal carrying a negative amount is a legitimate lifecycle event; a captured payment that settled for zero or less is an impossible state and must be quarantined before it enters any margin calculation.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1089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Out-of-bounds fraud risk scores</a:t>
            </a:r>
            <a:endParaRPr lang="en-US" sz="11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429000"/>
          <a:ext cx="5257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1005840"/>
                <a:gridCol w="105156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rule_id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risk_score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model_version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RULE_HIGH_VAL_NEW_DEVICE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v2.0.0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RULE_HIGH_VAL_NEW_DEVICE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v1.2.0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RULE_HIGH_VAL_NEW_DEVICE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v1.3.1_beta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RULE_VELOCITY_HIGH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v2.0.0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RULE_BIN_RISK_CHECK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v2.0.0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263640" y="49834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says risk_score must sit strictly within 0.0–1.0. Three model versions are writing to one column on three different scales, and −99 is a sentinel value being read as a number. Any threshold comparison across versions is meaningless until this is normalised.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investigation — timing, duplication and FX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four conditions are structural. Each one inflates or shifts a figure rather than looking obviously wrong.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642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by month — payment_event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993392"/>
          <a:ext cx="53035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85800" y="40416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average processing time is 19× January and March, peaking at 12,039 ms against a 746 ms January maximum. This is a bounded incident, not a trend — it must be flagged and excluded from any trend fit rather than averaged into the year.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664208"/>
            <a:ext cx="525780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7922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merchant risk snapshots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02996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rows per merchant-month, across at least 16 merchant-months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267712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the declared compound key and doubles every merchant-level measure that joins to it.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63640" y="2834640"/>
            <a:ext cx="525780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296265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Late-arriving lifecycle events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20040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events ingested more than one day after they occurred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438144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KPIs move after close if ingestion_time is used in place of event_time.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3640" y="4005072"/>
            <a:ext cx="525780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413308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cardinality breaks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437083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transactions carry 2 settlement records each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4608576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double-counts on exactly those transactions unless fees are summed to transaction grain first.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63640" y="5175504"/>
            <a:ext cx="5257800" cy="1060704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530352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rate type multiplicity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554126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distinct rate_types for the same date and currency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5779008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date-currency pairs confirmed. Picking a rate implicitly is how two analysts get two GPVs from one table.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transaction-level profitability model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FACT_TRANSACTION_ECONOMIC_MODEL — five CTEs collapse every hazardous source to transaction grain before a single join is written.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943600" cy="310896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792224"/>
            <a:ext cx="55412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TABLE FACT_TRANSACTION_ECONOMIC_MODEL AS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cte_settlement_agg AS (        -- 1:N collapsed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transaction_id,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SUM(fee_amount)      AS total_settlement_fee,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MAX(settlement_status) AS final_settlement_status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SETTLEMENT GROUP BY transaction_id ),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cte_chargeback_agg AS (            -- disputes to txn grain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transaction_id, COUNT(chargeback_id) AS total_disputes,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SUM(amount) AS total_chargeback_amount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CHARGEBACK GROUP BY transaction_id ),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cte_fx_settlement AS (             -- ONE rate type, explicitly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rate_date, currency, rate_to_usd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FX_RATE WHERE rate_type = 'SETTLEMENT' ),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cte_fraud_clean AS (               -- defect flagged, not dropped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..., CASE WHEN risk_score &lt; 0.0 OR risk_score &gt; 1.0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THEN TRUE ELSE FALSE END AS is_invalid_risk_score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FRAUD_DECISION ),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cte_event_latency AS (             -- events pivoted to one row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transaction_id, MAX(processing_ms) AS max_processing_ms</a:t>
            </a:r>
            <a:endParaRPr lang="en-US" sz="8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PAYMENT_EVENT GROUP BY transaction_id )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6916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fact table carries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2011680"/>
            <a:ext cx="46177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14032" y="21031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&amp; temporal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2295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transaction_id, merchant_id (COALESCE to UNKNOWN_MERCHANT), customer_id, route_id, created_at, transaction_date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03720" y="2724912"/>
            <a:ext cx="46177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14032" y="28163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flags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30083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is_missing_merchant_flag, is_zero_or_negative_amt_flag, is_invalid_risk_score — carried, never used to delete a row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03720" y="3438144"/>
            <a:ext cx="46177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14032" y="35295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conversion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3721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attempted_gpv_usd and successful_gpv_usd, converted at the dated settlement rate with USD short-circuited to 1.0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03720" y="4151376"/>
            <a:ext cx="4617720" cy="6400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42428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4434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route_processing_cost_usd, settlement_fee_usd, chargeback_loss_usd, gross_revenue_usd, total_direct_cost_usd, contribution_profit_usd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4892040"/>
            <a:ext cx="4617720" cy="11430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4032" y="50292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TEST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4032" y="5230368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16459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amount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2,738,825.83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 MODEL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2,738,825.83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85800" y="6236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reconciliation is the whole point of the model: same record count, same native amount, on both sides. Without it, the five CTEs are an assertion; with it, they are a proof.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Provider-level profitability: every gateway is losing money except one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contribution profit by provider across the period. Total revenue is consistently lower than the direct operating cost incurred to earn it.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691640"/>
          <a:ext cx="67665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691640"/>
            <a:ext cx="3794760" cy="14173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82712" y="187452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failure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82712" y="2148840"/>
            <a:ext cx="3282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providers, total revenue generated is consistently lower than total direct operating cost, leaving negative contribution profit in most provider-month buckets.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26680" y="3246120"/>
            <a:ext cx="3794760" cy="14173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82712" y="342900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absolute loss driver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982712" y="3703320"/>
            <a:ext cx="3282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BillDesk Aggregator, January 2024: gross revenue $66.53 against direct costs of $771.09, driven by concentrated dispute losses. Razorpay Gateway and Stripe SG generate processing fees consistently out of proportion to the revenue earned.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26680" y="4800600"/>
            <a:ext cx="3794760" cy="12344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82712" y="498348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resilient route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982712" y="5257800"/>
            <a:ext cx="3282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 PayNow is the only provider holding a positive contribution margin — net profit of +$27.48 in February 2024 — on materially lower processing overhead.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driver analysis: route fees against chargeback losses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total direct cost has two entirely different compositions depending on the route — and therefore two entirely different fixes.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64208"/>
          <a:ext cx="108356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48840"/>
                <a:gridCol w="1234440"/>
                <a:gridCol w="1554480"/>
                <a:gridCol w="1554480"/>
                <a:gridCol w="137160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fees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Chargeback losses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direct 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from chargebacks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from route fees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RT_IN_CARDS_01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Razorpay Gateway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$602.90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$247.26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$850.17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70.92%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RT_SG_CARDS_01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 SG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$348.15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$401.62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$749.77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53.57%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46.43%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RT_IN_NB_01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BillDesk Aggregator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$208.25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$736.00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$944.25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77.95%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RT_AE_CARDS_01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International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$207.98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$207.98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RT_GLOBAL_USD_01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Adyen Global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$200.61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$200.61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RT_SG_PAYNOW_01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DBS PayNow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$44.69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$50.98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$95.67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53.29%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46.71%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RT_IN_UPI_01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NPCI Direct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$549.34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$573.50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95.79%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343400"/>
            <a:ext cx="5303520" cy="16916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832" y="452628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vulnerability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4800600"/>
            <a:ext cx="47914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banking (RT_IN_NB_01) and UPI (RT_IN_UPI_01) suffer severe margin erosion driven almost exclusively by fraud chargebacks rather than transaction processing costs. On the UPI route, 95.79% of all direct cost is dispute loss — a fraud control problem wearing the costume of a cost problem.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4343400"/>
            <a:ext cx="5257800" cy="16916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9672" y="4526280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fee overheads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4800600"/>
            <a:ext cx="47457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payment gateways (RT_IN_CARDS_01, RT_AE_CARDS_01, RT_GLOBAL_USD_01) suffer primarily from high base routing fee structures that exceed the fee revenue collected. Two of them carry zero chargeback loss — their entire problem is the contracted rate, which is a commercial negotiation, not a risk intervention.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tiers and conversion degradation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deduplicated to one row each, then bucketed by maximum observed processing time.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920240"/>
                <a:gridCol w="1920240"/>
                <a:gridCol w="2148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tier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attempts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Successful txns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Attempted GPV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latency (&lt;1s)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68.66%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$66,385.41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latency (&gt;3s)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$27,464.07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latency (1–3s)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$746.19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383280"/>
            <a:ext cx="530352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832" y="356616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distribution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3840480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500 attempts, 335 run under one second and 157 experience severe technical latency spikes above three seconds. Nearly a third of the book is being processed on degraded infrastructure.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3383280"/>
            <a:ext cx="525780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9672" y="3566160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exposure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3840480"/>
            <a:ext cx="4745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high-latency tier accounts for $27,464.07 of attempted GPV. Unstable performance in this tier increases authorisation timeouts and checkout friction, jeopardising conversion on a quarter of the portfolio's value.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85800" y="4937760"/>
            <a:ext cx="10835640" cy="109728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102352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this one carefully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535838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high-latency tier converts at 70.06% against 68.66% for the normal tier — marginally better, not worse. On this sample, latency is a genuine infrastructure problem and a real risk to GPV, but it is not yet a demonstrated cause of the margin collapse. Stating that distinction is what stops the 60-day plan spending its first three weeks on the wrong fix.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hypothesis verification: where the cost actually sits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queries settle the Risk Head's claim. Direct routing fees are not the larger cost line — disputes are.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737360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4160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$1,985.21 of chargeback and fraud loss against $1,636.75 of direct routing fees.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7373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decision against transaction outcome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84832"/>
          <a:ext cx="52578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371600"/>
                <a:gridCol w="960120"/>
                <a:gridCol w="1143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 decision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attempts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DECLINED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DECLINED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63640" y="3977640"/>
            <a:ext cx="5257800" cy="20574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19672" y="4160520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does to the Risk Head's hypothesis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519672" y="4434840"/>
            <a:ext cx="47457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34 transactions in 500 were stopped by the risk engine — 28 blocked and 6 sent to review, 6.8% of all attempts. Meanwhile 107 transactions failed after the fraud engine had already allowed them. Fraud controls are not over-blocking; they are under-catching. The engine is passing the traffic that later becomes a dispute, and the $1,985.21 of chargeback loss is the bill for it.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85800" y="4663440"/>
            <a:ext cx="5303520" cy="13716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41832" y="484632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941832" y="5120640"/>
            <a:ext cx="4791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consequential finding in Task 6: the cost problem and the fraud problem are the same problem. Repricing routes addresses 45% of direct cost. Fixing pre-authorisation fraud controls addresses 55%.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Route-level diagnosis: six of seven routes are commercially mismatched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profit recomputed per route, with a diagnosis flag applied where the route loses money on every transaction it carries.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64208"/>
          <a:ext cx="10835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005840"/>
                <a:gridCol w="1600200"/>
                <a:gridCol w="1463040"/>
                <a:gridCol w="1371600"/>
                <a:gridCol w="118872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Attempts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BillDesk Aggregator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RT_IN_NB_01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$175.55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$208.25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−$768.70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Stripe SG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RT_SG_CARDS_01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$156.74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$348.15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−$593.03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Razorpay Gateway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RT_IN_CARDS_01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$381.38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$602.90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−$468.78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NPCI Direct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RT_IN_UPI_01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$392.56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−$180.94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Adyen Global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RT_GLOBAL_USD_01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$62.55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$200.61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−$138.06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International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RT_AE_CARDS_01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$148.07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$207.98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−$59.91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DBS PayNow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RT_SG_PAYNOW_01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$124.28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$44.69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6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+$28.62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6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498848"/>
            <a:ext cx="3474720" cy="153619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832" y="468172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NPCI line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4956048"/>
            <a:ext cx="2962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NPCI Direct carries 131 attempts, earns the second-highest gross revenue on the board and pays only $24.17 in route fees — and still loses $180.94. Its entire loss is chargebacks.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70832" y="4498848"/>
            <a:ext cx="3474720" cy="153619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26864" y="468172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Razorpay line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626864" y="4956048"/>
            <a:ext cx="2962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Gateway carries the most volume at 134 attempts and the highest route cost at $602.90. Volume is being directed to the most expensive card rail on the board.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55864" y="4498848"/>
            <a:ext cx="3465576" cy="153619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11896" y="4681728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separates DBS PayNow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11896" y="4956048"/>
            <a:ext cx="2953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route cost of any provider at $44.69, moderate dispute exposure, and 57 attempts. It is the template — the question for Payments is what share of volume can legitimately be moved onto rails that look like it.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and commercial diagnosis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named drivers, plus the empirical disproof of the assumption that was in the room before the analysis started.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642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DRIVERS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303520" cy="12070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" y="210312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gateway authorisation efficiency — route 0281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37744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transaction authorisation generated high fixed processing and settlement costs against a low count of successful transactions.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3218688"/>
            <a:ext cx="5303520" cy="12070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340156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Unchecked failover smart-routing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3675888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Deactivation of legacy negative-margin routes automatically rerouted volume into high-fee, low-converting routes (0281 and 1334) without any pre-route margin check.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6420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&amp; RISK DRIVERS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1920240"/>
            <a:ext cx="5257800" cy="12070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2103120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Retail chargeback surge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377440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Retail merchants experienced an estimated $1,548.63 chargeback surge, causing a −$1,744.25 segment net margin drop — the single largest localised loss in the portfolio.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3218688"/>
            <a:ext cx="5257800" cy="12070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340156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Unfiltered card-not-present fraud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675888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routes lacking mandatory 3DS authentication allowed localised fraud spikes to pass through, driving extreme chargeback losses relative to GPV.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526280"/>
            <a:ext cx="10835640" cy="15087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681728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DISPROOF OF THE STAKEHOLDER ASSUMPTION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937760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Claim:  high-risk merchant onboarding caused the margin decline.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212080"/>
            <a:ext cx="10287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 the risk-tier breakdown shows Low Risk (43.93%) and Medium Risk (97.92%) tiers accounting for over 140% of the net loss share, offsetting gains in the High Risk tier. The deterioration was caused by routing and fraud-control failures on good merchant traffic — not by bad merchant underwriting. Tightening onboarding would have cost acquisition and moved none of this.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 — Power BI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KPI cards over five visuals. Every ratio is written as a division of two additive measures so it recomputes correctly at any filter level.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 ROW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" y="20299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23042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96312" y="19202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20299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transactions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23042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06824" y="19202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20299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%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3042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28346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" y="29443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 revenue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" y="32186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$1.44K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496312" y="28346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24328" y="29443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per txn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624328" y="32186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06824" y="28346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34840" y="29443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direct cost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32186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$3.62K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37490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" y="38587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chargeback loss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" y="41330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$1.99K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496312" y="37490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24328" y="38587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contribution profit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2624328" y="41330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−$2.18K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306824" y="3749040"/>
            <a:ext cx="1691640" cy="804672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34840" y="385876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%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434840" y="413308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−1.51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16459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ON THE PAGE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1920240"/>
            <a:ext cx="52578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73952" y="20208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% by month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22311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Line. Rises from −2.0 in January toward −1.0 in March — improving, still negative throughout.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2779776"/>
            <a:ext cx="52578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28803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contribution profit by month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30906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Line. −$1,000 in January to roughly −$600 in March. The loss is narrowing, not reversing.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63640" y="3639312"/>
            <a:ext cx="52578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73952" y="37398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% by month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473952" y="39502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Line. Peaks in February at just over 0.70, falls back to 0.68 in March.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4498848"/>
            <a:ext cx="52578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73952" y="45994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direct cost by channel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73952" y="48097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across Cards, E-Wallet, UPI, BNPL and NetBanking — cost is spread evenly, so no single channel is the culprit.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5358384"/>
            <a:ext cx="5257800" cy="7498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73952" y="54589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loss by fraud decision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73952" y="56692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Donut. $1.99K, 100% of it under the ALLOW decision — every dispute came from a transaction the engine passed.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2362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donut is the slide to hold on. 100% of chargeback loss sits under ALLOW — which is the dashboard restating Task 6's finding without anyone having to run a query.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CROSS-READ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executive question, run against a larger sample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parallel twelve-month AstraPay dataset of 260,287 attempts was analysed independently. Where the two analyses agree, the finding is structural rather than an artefact of sample size.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64208"/>
          <a:ext cx="10835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069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analysis (Eswar)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analysis (Junaid)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attempts, 3 months, 7 routes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260,287 attempts, 12 months, 3 providers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Contribution per successful txn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throughout; −$2.18K in 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but falling: $1.620 → $1.089, −32.8%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cost 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Chargeback and fraud loss, 54.81% of direct cost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revenue per txn, −$0.744 of a −$0.533 move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 verdict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Under-catching — 100% of disputes came from ALLOW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driver — the apparent spike was a score-scale artefact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 verdict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Six of seven routes commercially mismatched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 drift onto the highest fixed-fee rail, −$0.10 per txn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used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in Snowflake; CTE pre-aggregation; reconciliation test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mix / within decomposition, residual zero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526280"/>
            <a:ext cx="5303520" cy="148132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832" y="470916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agree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498348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is a confirmed driver in both. Both analyses disprove the stakeholder assumption that was loudest in the room — high-risk merchant onboarding here, merchant repricing there. In neither case is the headline theory the cause.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63640" y="4526280"/>
            <a:ext cx="5257800" cy="148132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9672" y="4709160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diverge, and why that matters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4983480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the dominant cost here and a non-factor there; the difference is 3DS coverage and route mix, not analytical disagreement. A finding that holds on 500 rows and on 260,287 rows is worth acting on. One that appears in only one of them needs the other sample before it drives spend.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NARRATIVE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Situation, complication, question, answer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three-minute version, for a room that will not read the preceding twenty slides.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835640" cy="9601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8562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37944"/>
            <a:ext cx="8549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AstraPay maintained a baseline profitability level with a net contribution profit of −$3,768.25 across its payment processing portfolio while continuing to expand overall Gross Merchandise Value.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10835640" cy="9601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9077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889504"/>
            <a:ext cx="8549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profit then suffered a sharp −$1,568.23 collapse, deepening the total net loss to −$5,336.48. The drop occurred while gross transaction volume remained stable — indicating a structural margin breakdown rather than a fall in top-line sales.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794760"/>
            <a:ext cx="10835640" cy="9601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959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941064"/>
            <a:ext cx="8549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operational and commercial failures drove this −$1,568.23 margin collapse, and what specific interventions will reverse the loss?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846320"/>
            <a:ext cx="10835640" cy="141732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0109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992624"/>
            <a:ext cx="85496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analysis reveals a localised −$1,744.25 profit drop in UAE Retail, driven by an unmonitored +$1,548.63 chargeback surge combined with automated routing rules directing traffic into low-converting, high-fee routes (0281 and 1334). To recover margin, enforce mandatory 3DS pre-authorisation fraud checks on UAE Retail and reconfigure failover routing rules to bypass broken gateways.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60-day turn-around plan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interventions, ordered by speed to a measurable effect rather than by size. Each one names an owner and the metric that proves it worked.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64208"/>
          <a:ext cx="108356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017520"/>
                <a:gridCol w="1371600"/>
                <a:gridCol w="2834640"/>
                <a:gridCol w="2240280"/>
                <a:gridCol w="96012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Intervention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addresses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metric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 mandatory 3DS pre-authorisation on UAE Retail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Head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+$1,548.63 chargeback surge behind the largest localised loss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Chargeback loss as % of direct cost, UAE Retail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1–20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Reconfigure failover routing to bypass routes 0281 and 1334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of Payments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Unchecked smart-routing pushing volume into high-fee, low-converting rails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 per route; share of volume on mismatched routes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1–25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Renegotiate or exit the three highest base-fee card routes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 / Commercial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 gateways where 100% of direct cost is contracted route fee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route cost rate in bps by provider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10–60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Normalise risk_score across model versions and re-baseline thresholds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Head /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score scales in one column; −99 sentinels read as values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fraud rows outside the declared 0.0–1.0 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5–30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0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Quarantine pipeline: missing merchant IDs, duplicate settlements, FX rate 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Head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missing merchants, 5 duplicate settlements, 3 rate types per date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Discrepancy Index; reconciliation residual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15–45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349240"/>
            <a:ext cx="10835640" cy="77724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5486400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Day-60 test:  chargeback loss falls below 40% of total direct cost, and at least three of the six mismatched routes return a positive contribution profit. If neither has moved, the margin problem is not where this analysis placed it and the commercial pricing hypothesis is re-opened.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21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and what is still open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 submitted through a reviewed merge request. The open items below are stated so that nobody discovers them in week three.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63276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5303520" cy="19659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184708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and review trail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121408"/>
            <a:ext cx="47914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artefacts merged into main through a GitLab merge request with a named assignee and a named reviewer.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tested: file integrity, local directory paths, and format validity across all spreadsheet, PDF and CSV files. Confirmed that no secret keys, environment variables or private credentials exist in the committed files.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verify: check out the branch, confirm all files are present in the root folder, review the .sql and open the .pbix to confirm report functionality.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664208"/>
            <a:ext cx="5257800" cy="196596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84708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 worth closing before sign-off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121408"/>
            <a:ext cx="47457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0299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counts disagree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0299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verification reports 166 rows for TRANSACTION; Tasks 3, 5 and 6 compute against 500 attempts. One of the two is stale.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labels disagree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560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warehouse data is dated Jan–Mar 2024; the executive narrative is dated Jan–Feb 2026. Align before this reaches a CFO.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090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0281 / 1334 are unlabelled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0906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in the diagnosis but not mapped to any route_id in the route table — a reader cannot trace them.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840480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deliberately does not conclude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187952"/>
            <a:ext cx="3465576" cy="18288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352544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as a cause of margin loss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791456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High-latency transactions convert at 70.06% against 68.66% for normal latency. Latency is a real infrastructure risk to GPV; it is not a demonstrated margin driver on this sample.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70832" y="4187952"/>
            <a:ext cx="3465576" cy="18288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99432" y="4352544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elasticity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4791456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historical price change in the data, so the merchant response to a repricing cannot be estimated — only measured after the fact, on a subset.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55864" y="4187952"/>
            <a:ext cx="3465576" cy="1828800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4352544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Merchant-level profitability net of servicing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4791456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and support cost is outside the contribution-margin scope, so no merchant can be declared unprofitable overall on this evidence alone.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CLOSING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problem and the fraud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are the same problem.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Fifty-five per cent of every dollar of direct cost is a chargeback, and every one of those disputes came from a transaction the fraud engine allowed through. Six of seven routes lose money. The one that does not — DBS PayNow — carries the lowest route cost on the board.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interventions cover both halves: mandatory 3DS pre-authorisation on the exposed segment, and a routing table that checks margin before it fails over. Neither requires new data. Both are measurable inside sixty days.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AstraPay  ·  Payment Operations &amp; Margin Optimization  ·  Capstone Project 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AstraPay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Operations &amp; Margin Optimization</dc:title>
  <dc:subject>PptxGenJS Presentation</dc:subject>
  <dc:creator>Eswar P</dc:creator>
  <cp:lastModifiedBy>Eswar P</cp:lastModifiedBy>
  <cp:revision>1</cp:revision>
  <dcterms:created xsi:type="dcterms:W3CDTF">2026-09-16T05:18:04Z</dcterms:created>
  <dcterms:modified xsi:type="dcterms:W3CDTF">2026-09-16T05:18:04Z</dcterms:modified>
</cp:coreProperties>
</file>