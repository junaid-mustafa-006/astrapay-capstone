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4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43B"/>
                </a:solidFill>
                <a:latin typeface="Calibri"/>
              </a:rPr>
              <a:t>Avg processing time by month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processing_ms</c:v>
                </c:pt>
              </c:strCache>
            </c:strRef>
          </c:tx>
          <c:spPr>
            <a:solidFill>
              <a:srgbClr val="C857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4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 2024</c:v>
                  </c:pt>
                  <c:pt idx="1">
                    <c:v>Feb 2024</c:v>
                  </c:pt>
                  <c:pt idx="2">
                    <c:v>Mar 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208.3</c:v>
                </c:pt>
                <c:pt idx="1">
                  <c:v>3953.5</c:v>
                </c:pt>
                <c:pt idx="2">
                  <c:v>202.3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4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B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contribution profit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$#,##0;−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4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BillDesk Aggregator</c:v>
                  </c:pt>
                  <c:pt idx="1">
                    <c:v>Stripe SG</c:v>
                  </c:pt>
                  <c:pt idx="2">
                    <c:v>Razorpay Gateway</c:v>
                  </c:pt>
                  <c:pt idx="3">
                    <c:v>NPCI Direct</c:v>
                  </c:pt>
                  <c:pt idx="4">
                    <c:v>Adyen Global</c:v>
                  </c:pt>
                  <c:pt idx="5">
                    <c:v>Network International</c:v>
                  </c:pt>
                  <c:pt idx="6">
                    <c:v>DBS PayNow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-768.7</c:v>
                </c:pt>
                <c:pt idx="1">
                  <c:v>-593.03</c:v>
                </c:pt>
                <c:pt idx="2">
                  <c:v>-468.78</c:v>
                </c:pt>
                <c:pt idx="3">
                  <c:v>-180.94</c:v>
                </c:pt>
                <c:pt idx="4">
                  <c:v>-138.06</c:v>
                </c:pt>
                <c:pt idx="5">
                  <c:v>-59.91</c:v>
                </c:pt>
                <c:pt idx="6">
                  <c:v>28.62</c:v>
                </c:pt>
              </c:numCache>
            </c:numRef>
          </c:val>
        </c:ser>
        <c:dLbls>
          <c:numFmt formatCode="$#,##0;−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4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B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 fees</c:v>
                </c:pt>
              </c:strCache>
            </c:strRef>
          </c:tx>
          <c:spPr>
            <a:solidFill>
              <a:srgbClr val="1F5F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43B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NB · BillDesk</c:v>
                  </c:pt>
                  <c:pt idx="1">
                    <c:v>Cards · Razorpay</c:v>
                  </c:pt>
                  <c:pt idx="2">
                    <c:v>Cards · Stripe SG</c:v>
                  </c:pt>
                  <c:pt idx="3">
                    <c:v>UPI · NPCI</c:v>
                  </c:pt>
                  <c:pt idx="4">
                    <c:v>Cards · Network Intl</c:v>
                  </c:pt>
                  <c:pt idx="5">
                    <c:v>USD · Adyen</c:v>
                  </c:pt>
                  <c:pt idx="6">
                    <c:v>PayNow · DBS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208.25</c:v>
                </c:pt>
                <c:pt idx="1">
                  <c:v>602.9</c:v>
                </c:pt>
                <c:pt idx="2">
                  <c:v>348.15</c:v>
                </c:pt>
                <c:pt idx="3">
                  <c:v>24.17</c:v>
                </c:pt>
                <c:pt idx="4">
                  <c:v>207.98</c:v>
                </c:pt>
                <c:pt idx="5">
                  <c:v>200.61</c:v>
                </c:pt>
                <c:pt idx="6">
                  <c:v>44.69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Chargeback losses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43B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NB · BillDesk</c:v>
                  </c:pt>
                  <c:pt idx="1">
                    <c:v>Cards · Razorpay</c:v>
                  </c:pt>
                  <c:pt idx="2">
                    <c:v>Cards · Stripe SG</c:v>
                  </c:pt>
                  <c:pt idx="3">
                    <c:v>UPI · NPCI</c:v>
                  </c:pt>
                  <c:pt idx="4">
                    <c:v>Cards · Network Intl</c:v>
                  </c:pt>
                  <c:pt idx="5">
                    <c:v>USD · Adyen</c:v>
                  </c:pt>
                  <c:pt idx="6">
                    <c:v>PayNow · DBS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736</c:v>
                </c:pt>
                <c:pt idx="1">
                  <c:v>247.26</c:v>
                </c:pt>
                <c:pt idx="2">
                  <c:v>401.62</c:v>
                </c:pt>
                <c:pt idx="3">
                  <c:v>549.34</c:v>
                </c:pt>
                <c:pt idx="4">
                  <c:v>0</c:v>
                </c:pt>
                <c:pt idx="5">
                  <c:v>0</c:v>
                </c:pt>
                <c:pt idx="6">
                  <c:v>50.98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43B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B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B2F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Attempts</c:v>
                </c:pt>
              </c:strCache>
            </c:strRef>
          </c:tx>
          <c:spPr>
            <a:solidFill>
              <a:srgbClr val="5B4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4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Normal (&lt;1s)</c:v>
                  </c:pt>
                  <c:pt idx="1">
                    <c:v>Moderate (1–3s)</c:v>
                  </c:pt>
                  <c:pt idx="2">
                    <c:v>High (&gt;3s)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335</c:v>
                </c:pt>
                <c:pt idx="1">
                  <c:v>8</c:v>
                </c:pt>
                <c:pt idx="2">
                  <c:v>157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Successful</c:v>
                </c:pt>
              </c:strCache>
            </c:strRef>
          </c:tx>
          <c:spPr>
            <a:solidFill>
              <a:srgbClr val="1F5F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4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Normal (&lt;1s)</c:v>
                  </c:pt>
                  <c:pt idx="1">
                    <c:v>Moderate (1–3s)</c:v>
                  </c:pt>
                  <c:pt idx="2">
                    <c:v>High (&gt;3s)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230</c:v>
                </c:pt>
                <c:pt idx="1">
                  <c:v>5</c:v>
                </c:pt>
                <c:pt idx="2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4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B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2B2F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23A48"/>
              </a:solidFill>
              <a:effectLst/>
            </c:spPr>
          </c:dPt>
          <c:dPt>
            <c:idx val="1"/>
            <c:bubble3D val="0"/>
            <c:spPr>
              <a:solidFill>
                <a:srgbClr val="1F5F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Chargeback &amp; fraud</c:v>
                </c:pt>
                <c:pt idx="1">
                  <c:v>Routing fees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54.81</c:v>
                </c:pt>
                <c:pt idx="1">
                  <c:v>45.19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F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Chargeback loss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23A48"/>
              </a:solidFill>
              <a:effectLst/>
            </c:spPr>
          </c:dPt>
          <c:dPt>
            <c:idx val="1"/>
            <c:bubble3D val="0"/>
            <c:spPr>
              <a:solidFill>
                <a:srgbClr val="1F5F99"/>
              </a:solidFill>
              <a:effectLst/>
            </c:spPr>
          </c:dPt>
          <c:dPt>
            <c:idx val="2"/>
            <c:bubble3D val="0"/>
            <c:spPr>
              <a:solidFill>
                <a:srgbClr val="B7791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BLOCK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5-image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image" Target="../media/image-1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7-image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image" Target="../media/image-1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2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6.xml"/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·  ASTRAPAY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Operations &amp;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Optimization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contribution profit per successful transaction falling while payment volume grows?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34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Five-day diagnostic and 60-day turn-around plan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507492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9050">
            <a:solidFill>
              <a:srgbClr val="1F5F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5074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SINGAPORE · UAE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5074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5074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PAYMENT ATTEMPTS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5074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5074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POWER BI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Eswar P   ·   Analysis cross-read by Junaid Mustafa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framing to a board-ready 60-day 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2404872"/>
            <a:ext cx="438912" cy="4389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problem, KPIs, MECE hypotheses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55848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84448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240487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84448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584448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contract, join hazards, Snowflake build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63056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391656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240487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91656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91656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data-quality conditions tested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970264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9198864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2" y="2404872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198864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198864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transaction-grain fact table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77724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448" y="4416552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77240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cost driver &amp; latency analysis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55848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3584448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6" y="4416552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584448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3584448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hypotheses put on trial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163056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6391656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5864" y="4416552"/>
            <a:ext cx="438912" cy="43891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391656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6391656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8970264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5" name="Text 36"/>
          <p:cNvSpPr txBox="1"/>
          <p:nvPr/>
        </p:nvSpPr>
        <p:spPr>
          <a:xfrm>
            <a:off x="9198864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3072" y="4416552"/>
            <a:ext cx="438912" cy="43891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198864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9198864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plan, governance, open items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is processing volume at a loss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headline measures from the Power BI model — every direct cost line exceeds the revenue it earns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ATTEMPTS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1031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6324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TXNS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1031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9496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$1.44K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34747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06324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$2.88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TXN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4747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39496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$3.62K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DIRECT COST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4983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$1.99K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623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LOSS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8463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063240" y="4983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−$2.18K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3063240" y="5623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48463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394960" y="4983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−151%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5623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210312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0010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VERSION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26974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spends </a:t>
            </a:r>
            <a:pPr indent="0" marL="0">
              <a:buNone/>
            </a:pPr>
            <a:r>
              <a:rPr lang="en-US" sz="15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$3.62K</a:t>
            </a:r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earn </a:t>
            </a:r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$1.44K</a:t>
            </a:r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Chargebacks and fraud — not processing fees — are the bigger half of that cost.
</a:t>
            </a:r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routes lose money, and the loss sits in good-quality merchant traffic, not high-risk accounts.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EARNED…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SPENDS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$2.51</a:t>
            </a:r>
            <a:endParaRPr lang="en-US" sz="9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DIRECT COST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5840" y="443484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$3.62K direct cost ÷ $1.44K gross revenue = 2.51×.  </a:t>
            </a:r>
            <a:pPr indent="0" marL="0">
              <a:buNone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open and 55¢ of every cost dollar is a chargeback — every one from a transaction the fraud engine allowed. Growth isn't the cure here; each extra transaction on today's economics deepens the hole.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executive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contribution profit per successful transaction falling while payment volume grows — and what should AstraPay change in the next 60 days?”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PROBLEM STATEMENT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of contribution-profit erosion per successful txn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78892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per successful transaction (primary KPI)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02920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 merchant pricing, routing, fraud controls, pipeline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26948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Singapore &amp; UAE operations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976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50976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diagnostic → prioritised 60-day turn-around plan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this analysis must unlock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what management can act on inside a 60-day window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7004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0116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strategy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285232" y="24414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85232" y="24414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28803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underperforming merchant categories and tiers — or terminate negative-margin contracts.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21488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24688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670048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6352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operations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9838944" y="2441448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838944" y="24414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PAYMENTS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803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 transaction flow away from high-latency, high-cost providers.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16052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" y="4480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681728"/>
            <a:ext cx="512064" cy="5120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01168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4791456" y="445312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791456" y="445312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HEAD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011680" y="48920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fraud rule thresholds to reduce false declines on legitimate transactions.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172200" y="416052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46520" y="4480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681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63524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900" dirty="0"/>
          </a:p>
        </p:txBody>
      </p:sp>
      <p:sp>
        <p:nvSpPr>
          <p:cNvPr id="34" name="Shape 28"/>
          <p:cNvSpPr/>
          <p:nvPr/>
        </p:nvSpPr>
        <p:spPr>
          <a:xfrm>
            <a:off x="10415016" y="445312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0415016" y="445312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635240" y="48920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source-to-report pipeline bugs, standardise FX mapping, remove join duplication.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architecture: formula, grain, date anchor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on any one of the three produces two versions of the same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NORTH-STAR KPI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95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per Successful Txn  =  </a:t>
            </a:r>
            <a:pPr indent="0" marL="0">
              <a:buNone/>
            </a:pPr>
            <a:r>
              <a:rPr lang="en-US" sz="1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Net Revenue − Direct Route Costs − Net Loss )</a:t>
            </a:r>
            <a:pPr indent="0" marL="0">
              <a:buNone/>
            </a:pPr>
            <a:r>
              <a:rPr lang="en-US" sz="1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÷ 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Successful Transactions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Payment Volume (GPV)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successful transaction amounts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Success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txns ÷ total attempted txns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Take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(Merchant fees collected ÷ successful GPV) × 10,000 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/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Route Cost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((Fixed + variable route fees) ÷ successful GPV) × 10,000 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/ 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Decline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 txns declined by risk engine ÷ total attempted txns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Discrepancy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(Logged − reconciled settlement volume) ÷ logged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in basis points so a 12 bps move is legible — not a vanishing 0.12%.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exclusions &amp; the assumptions behind every number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 assumption turns a hidden judgement call into something a reviewer can argue with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249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txns across India, Singapore &amp; UAE. Route costs, fraud decisions, chargebacks, settlement reconciliation, and Web / Mobile / API channels.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519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016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709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overhead · fixed headcount · non-payment revenue.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overhead is fixed across the 60-day window — it shifts every route's margin equally and changes no decision.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2057400"/>
          <a:ext cx="7223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is the primary timeline anchor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and the cost of earning it sit in the same period — a settlement clearing 3 days later doesn't shift margin into next month.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merchant IDs are quarantined, not dropped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11 affected rows stay countable. Dropping them would shrink the denominator and flatter the success rate.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amounts are read by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on REVERSED = operational reversal. Negative on SUCCESS = defect. The status column decides.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hypothesis framework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hypotheses — each with the evidence that would convict or acquit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mix shift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VIEW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4871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skews toward high-volume, low-margin categories where contracted rates don't cover processing costs.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639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9728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overall take rate while within-segment unit profit stays stable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0215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0" y="3474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is uniform across all segments and tiers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7220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35508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726948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latency &amp; cost spikes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VIEW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24871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on primary routes trigger fallbacks to expensive secondary providers.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36392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72084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correlate with elevated route fees on specific paths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50215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20840" y="3474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costs and latencies stay stable across providers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73152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164592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over-blocking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461772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VIEW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645920" y="45902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thresholds cause false declines on high-margin legitimate transactions.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39512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7280" y="5212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falls in low-risk cohorts with no matching chargeback drop</a:t>
            </a:r>
            <a:endParaRPr lang="en-US" sz="11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05272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97280" y="5577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declines stay low while chargeback losses rise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17220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635508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726948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artefacts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102412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7269480" y="45902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decline is an artefact of 1:N join duplication or wrong FX rate type.</a:t>
            </a:r>
            <a:endParaRPr lang="en-US" sz="11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239512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720840" y="5212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Deduping joins / fixing FX restores baseline unit margin</a:t>
            </a:r>
            <a:endParaRPr lang="en-US" sz="115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5605272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720840" y="5577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Source-to-settlement reconciles 1:1 with no inflation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Source-to-metric data contract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datasets — each with a declared grain, a named owner and an expected cardinality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371600"/>
                <a:gridCol w="1828800"/>
                <a:gridCol w="118872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validation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attempt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&gt; 0 unless flagged as reversal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non-null; kyc_status ∈ VERIFIED/PENDING/REJECTED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Unique; pricing_plan exists in active 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 + type +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event_time ≥ created_at; processing_ms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fraud_decision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Fraud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risk_score within 0.0–1.0; PASS/BLOCK/REVIEW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 + status +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or 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= converted txn amount; fee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Ccy / date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+ ccy +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rate_to_usd &gt; 0; rate_type explicit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 + rate_date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fixed_fee ≥ 0; variable fee 0–100%; key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 or 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opened_at ≥ created_at; amount ≤ original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merchant_risk_snapshot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merchant_id +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unique; LOW/MEDIUM/HIGH/CRITICAL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joins that silently corrupt the answer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stated as a mechanism first, then the fix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payment_event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DUPLICATION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651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attempt produces INITIATED, PROCESSING, SUCCESS/FAILED rows — a raw join multiplies GPV and cost.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329184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B23A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2918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 events to transaction_id in a CTE before joining.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85800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settlement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555480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/ RETRY DUPLICATION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2651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retries and partial settlements create several records per txn — amounts double silently.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0" y="329184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37960" y="32918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fees and amounts by transaction_id first, then join.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344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risk_snapshot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931920" y="4315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 + FAN-OUT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" y="47548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on merchant_id alone matches every monthly snapshot — Cartesian blow-up plus future risk on past txns.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77240" y="539496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1F5F99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merchant_id AND DATE_TRUNC('month', created_at) = snapshot_month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17220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9768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85800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chargeback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9555480" y="4315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LEAKAGE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400800" y="47548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land days or weeks later — scoring past windows with them adds forward-looking bias.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400800" y="539496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53796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opened_at, or use fixed ageing cohorts (e.g. 30-day lagged rate).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transaction, four legitimate dates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date a metric uses is an accounting decision — not a technical preference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8288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Attempted &amp; successful GPV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5F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payment intent on the day it happened — no time-shift skew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&amp; processing costs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5F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schedules must match the exact day the attempt 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volume &amp; take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settlement_date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5F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 follows actual cash clearance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&amp; chargeback losses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5F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 recognised when the dispute opens — no retro edits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conversion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created_at::date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5F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settlement_date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spot rate active on the creation date, one rate_type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6811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5303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and it isn't a rounding error: settlement-dated cost against created-at revenue moves margin between months — and can invent a collapse that never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build on Snowflake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typed tables · one file format · one stage · row counts verified before any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577840" cy="4069080"/>
          </a:xfrm>
          <a:prstGeom prst="roundRect">
            <a:avLst>
              <a:gd name="adj" fmla="val 269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 astrapay_load.sql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68880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WAREHOUSE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COMPUTE_WH;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ASTRAPAY_DB;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FILE FORMAT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csv_format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</a:t>
            </a:r>
            <a:pPr indent="0" marL="0">
              <a:buNone/>
            </a:pPr>
            <a:r>
              <a:rPr lang="en-US" sz="120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'CSV'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SKIP_HEADER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FIELD_OPTIONALLY_ENCLOSED_BY = </a:t>
            </a:r>
            <a:pPr indent="0" marL="0">
              <a:buNone/>
            </a:pPr>
            <a:r>
              <a:rPr lang="en-US" sz="120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'"'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NULL_IF = (</a:t>
            </a:r>
            <a:pPr indent="0" marL="0">
              <a:buNone/>
            </a:pPr>
            <a:r>
              <a:rPr lang="en-US" sz="120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'', 'NULL'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STAGE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astrapay_stage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FILE_FORMAT = csv_format;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INTO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@astrapay_stage/transaction.csv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ON_ERROR = </a:t>
            </a:r>
            <a:pPr indent="0" marL="0">
              <a:buNone/>
            </a:pPr>
            <a:r>
              <a:rPr lang="en-US" sz="12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'CONTINUE'</a:t>
            </a:r>
            <a:pPr indent="0" marL="0">
              <a:buNone/>
            </a:pPr>
            <a:r>
              <a:rPr lang="en-US" sz="1200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3774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04" y="2502164"/>
            <a:ext cx="317480" cy="3174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0" y="2148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once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245059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COPY INTO parses quotes, blanks and headers identically — no ten undocumented wizard decisions.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347472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384048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04" y="3965204"/>
            <a:ext cx="317480" cy="3174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15200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ON_ERROR = CONTINUE, on purpose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0" y="391363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transaction file (known planted defects) tolerates row failures. Rejects stay in load history — evidence for Task 3, not silent truncation.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98348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1737360"/>
                <a:gridCol w="8686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FX_RATE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PROFILE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what the profiling caught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conditions tested in SQL — five of them change a number a stakeholder would otherwise quote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267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merchant IDs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2.20% of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5204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negative amounts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3.40% of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4892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0109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 SUCCESS rows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state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NEGATIVE AMOUNTS BY STATUS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2331720"/>
          <a:ext cx="3108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3840480" y="41148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REVERSED row is a lifecycle event. A SUCCESS row that settled for ≤ 0 must be quarantined before it touches margin.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OUT-OF-BOUNDS RISK SCORES (contract: 0.0–1.0)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331720"/>
          <a:ext cx="4389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HIGH_VAL_NEW_DEVICE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5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HIGH_VAL_NEW_DEVICE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HIGH_VAL_NEW_DEVICE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5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v1.3.1_beta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VELOCITY_HIGH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5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BIN_RISK_CHECK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7223760" y="452628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452360" y="46634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versions, 3 scales, 1 column.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 is a sentinel being read as a number. Every threshold comparison across versions is meaningless until scores are normalised.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PROFILE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timing, duplication and FX issues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don't look wrong — they inflate or shift a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731520" y="214884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77240" y="5074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19× spike in February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12,039 ms vs 746 ms January max. A bounded incident, not a trend — flag it and exclude it from any trend fit.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97880" y="2011680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1945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23152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20840" y="21214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2121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merchant-month in risk snapshots (≥16 merchant-months)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compound key; doubles every merchant-level measure.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897880" y="3044952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322783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1" y="3348533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3154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795528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ingested &gt; 1 day late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720840" y="35478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KPIs move after close if ingestion_time replaces event_time.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97880" y="4078224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426110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1" y="4381805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20840" y="41879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955280" y="4187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with 2 settlement records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720840" y="45811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double-counts unless fees are summed to txn grain first.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897880" y="5111496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035040" y="529437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741" y="5415077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720840" y="52212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7955280" y="5221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rate_types per date &amp; currency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720840" y="56144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pairs confirmed. Implicit rate choice = two analysts, two GPVs.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table: FACT_TRANSACTION_ECONOMIC_MODEL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CTEs collapse every hazardous source to transaction grain before a single join is written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665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cte_settlement_agg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settlements → SUM fees per txn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350008"/>
            <a:ext cx="548640" cy="1650492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816352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71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cte_chargeback_agg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→ count &amp; amount per txn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548640" cy="845820"/>
          </a:xfrm>
          <a:prstGeom prst="line">
            <a:avLst/>
          </a:prstGeom>
          <a:noFill/>
          <a:ln w="19050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621024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5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cte_fx_settlement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968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rate_type, chosen explicitly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59352"/>
            <a:ext cx="548640" cy="41148"/>
          </a:xfrm>
          <a:prstGeom prst="line">
            <a:avLst/>
          </a:prstGeom>
          <a:noFill/>
          <a:ln w="19050">
            <a:solidFill>
              <a:srgbClr val="1F5F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425696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cte_fraud_clean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73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risk scores flagged, not dropped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4389120" y="4000500"/>
            <a:ext cx="548640" cy="763524"/>
          </a:xfrm>
          <a:prstGeom prst="line">
            <a:avLst/>
          </a:prstGeom>
          <a:noFill/>
          <a:ln w="19050">
            <a:solidFill>
              <a:srgbClr val="C8570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5230368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285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4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cte_event_latency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577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MAX(processing_ms) per txn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4389120" y="4000500"/>
            <a:ext cx="548640" cy="1568196"/>
          </a:xfrm>
          <a:prstGeom prst="line">
            <a:avLst/>
          </a:prstGeom>
          <a:noFill/>
          <a:ln w="19050">
            <a:solidFill>
              <a:srgbClr val="5B4B9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306324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20040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029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FACT_TRANSACTION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_ECONOMIC_MODEL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0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payment attempt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TIME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001000" y="2240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transaction_id, merchant_id (→ UNKNOWN_MERCHANT), customer_id, route_id, created_at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00100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FLAGS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3017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merchant · zero/neg amount · invalid risk score — carried, never used to delete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00100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CONVERSION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001000" y="3794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&amp; successful GPV at dated settlement rate; USD = 1.0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00100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001000" y="4572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cost · settlement fee · chargeback loss · revenue · direct cost · contribution profit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001000" y="516636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8183880" y="523036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  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500 rows · 2,738,825.83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 500 rows · 2,738,825.83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reconciliation, five CTEs are an assertion. With it, they are a proof.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DIAGNOSE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profitability: only one gateway is profitable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profit by provider (USD) — revenue sits below direct cost almost everywhere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949440" cy="4069080"/>
          </a:xfrm>
          <a:prstGeom prst="roundRect">
            <a:avLst>
              <a:gd name="adj" fmla="val 269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4884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7726680" y="201168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17627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66760" y="2194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HIT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2560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BillDesk Aggregator, Jan 2024: $66.53 revenue vs $771.09 direct cost — driven by dispute losses.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26680" y="338328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5478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HEAVY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9095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 and Stripe SG generate processing fees out of all proportion to revenue.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726680" y="475488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491947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66760" y="4937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SURVIVOR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909560" y="5303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PayNow: the only positive margin (+$27.48 in Feb 2024) on materially lower processing overhead.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DIAGNOSE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drivers: route fees vs chargeback losses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by route, split into route fees vs chargeback losses (USD)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7223760" cy="4069080"/>
          </a:xfrm>
          <a:prstGeom prst="roundRect">
            <a:avLst>
              <a:gd name="adj" fmla="val 269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03120"/>
          <a:ext cx="69494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8001000" y="20116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8388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95.79%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UPI's direct cost is dispute loss. Net banking: 77.95%. A fraud-control problem wearing the costume of a cost problem.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41148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8388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Network Intl &amp; Adyen cost is contracted route fee — zero chargebacks. That's a commercial negotiation, not a risk fix.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DIAGNOSE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a real risk — but not the culprit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deduplicated to one row, bucketed by max observed processing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03120"/>
          <a:ext cx="5212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201168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55080" y="21031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68.66%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6517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tier success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1089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$66,385 attempted GPV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65008" y="201168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156448" y="21031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62.50%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156448" y="26517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tier success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156448" y="31089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$746 attempted GPV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66376" y="201168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957816" y="21031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70.06%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9957816" y="26517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High-latency tier success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957816" y="31089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$27,464 attempted GPV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379476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922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ONE CAREFULLY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27939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of 500 attempts (nearly a third) run on degraded infrastructure — yet the high-latency tier converts slightly better (70.06% vs 68.66%). Latency threatens GPV, but it is not a demonstrated cause of the margin collapse. Saying so stops the plan burning three weeks on the wrong fix.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C8570F"/>
          </a:solidFill>
          <a:ln w="12700">
            <a:solidFill>
              <a:srgbClr val="C8570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· VERIFY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test: fraud controls are under-catching, not over-blocking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queries put the Risk Head's hypothesis (H3) on 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931920" cy="4069080"/>
          </a:xfrm>
          <a:prstGeom prst="roundRect">
            <a:avLst>
              <a:gd name="adj" fmla="val 279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031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31520" y="5166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$1,985.21</a:t>
            </a:r>
            <a:pPr algn="ctr"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chargebacks vs </a:t>
            </a:r>
            <a:pPr algn="ctr" indent="0" marL="0">
              <a:buNone/>
            </a:pPr>
            <a:r>
              <a:rPr lang="en-US" sz="13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$1,636.75</a:t>
            </a:r>
            <a:pPr algn="ctr"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 fees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011680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371600"/>
                <a:gridCol w="1874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709160" y="4160520"/>
            <a:ext cx="3337560" cy="1920240"/>
          </a:xfrm>
          <a:prstGeom prst="roundRect">
            <a:avLst>
              <a:gd name="adj" fmla="val 5714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892040" y="4251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attempts stopped (28 block + 6 review). Meanwhile 107 failed after being allowed. Controls are too loose, not too tight.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75320" y="4160520"/>
            <a:ext cx="3337560" cy="1920240"/>
          </a:xfrm>
          <a:prstGeom prst="roundRect">
            <a:avLst>
              <a:gd name="adj" fmla="val 5714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58200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45820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Repricing routes fixes 45% of direct cost. Fixing pre-authorisation fraud controls fixes 55%. The cost problem and the fraud problem are the same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C8570F"/>
          </a:solidFill>
          <a:ln w="12700">
            <a:solidFill>
              <a:srgbClr val="C8570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· VERIFY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scorecard: 6 of 7 commercially mismatched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recomputed per route, with a diagnosis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097280"/>
                <a:gridCol w="1554480"/>
                <a:gridCol w="1371600"/>
                <a:gridCol w="1371600"/>
                <a:gridCol w="14630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70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BillDesk Aggregator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RT_IN_NB_01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−$768.70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RT_SG_CARDS_01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$348.15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−$593.03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RT_IN_CARDS_01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$381.38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$602.90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−$468.78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NPCI 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RT_IN_UPI_01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$392.56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−$180.94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Adyen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RT_GLOBAL_USD_01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−$138.06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International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RT_AE_CARDS_01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$207.98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−$59.91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 PayNow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RT_SG_PAYNOW_01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+$28.62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8920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Direct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285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2nd-highest revenue, only $24.17 in route fees — still −$180.94. The entire loss is chargebacks.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48920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8056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5285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volume (134) on the most expensive card rail ($602.90). Traffic is flowing the wrong way.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8920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PayNow = template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5285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route cost, moderate disputes. How much volume can legitimately move to rails like it?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C8570F"/>
          </a:solidFill>
          <a:ln w="12700">
            <a:solidFill>
              <a:srgbClr val="C8570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· VERIFY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and commercial diagnosis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14243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020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authorisation efficiency — route 0281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fixed processing &amp; settlement cost against few successful transactions.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16916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20116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214243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32320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2020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failover smart-routing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legacy routes auto-pushed volume into high-fee, low-converting routes 0281 &amp; 1334 — no margin check.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30632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51403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RISK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508760" y="3392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Retail chargeback surge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150876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~$1,548.63 surge → −$1,744.25 segment margin drop: the largest localised loss.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72200" y="30632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55080" y="33832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3514039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32320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RISK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7132320" y="3392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card-not-present fraud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13232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without mandatory 3DS let local fraud spikes straight through.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77240" y="47548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777240" y="4754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2743200" y="4709160"/>
            <a:ext cx="8686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</a:t>
            </a:r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merchant onboarding caused the margin decline.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(43.93%) and Medium-risk (97.92%) tiers account for over 140% of the net loss share, offsetting gains in High-risk. The damage came from routing and fraud-control failures on good traffic — tightening onboarding would cost acquisition and fix nothing.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· VISUALISE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KPI cards over five visuals — every ratio is a division of two additive measures, so it recomputes at any filter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429000" cy="4069080"/>
          </a:xfrm>
          <a:prstGeom prst="roundRect">
            <a:avLst>
              <a:gd name="adj" fmla="val 3200"/>
            </a:avLst>
          </a:prstGeom>
          <a:solidFill>
            <a:srgbClr val="14243B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tmp/claude-0/-home-claude/6e9ab6b6-cbc3-50bc-924f-6c491406ecde/scratchpad/img-0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2103120"/>
            <a:ext cx="3209544" cy="3886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0" y="201168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70832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% by month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70832" y="2313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 in Jan → −1.0 in Mar. Improving, still negative throughout.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2770632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70832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by month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370832" y="30723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−$1,000 in Jan → about −$600 in Mar. The loss is narrowing, not reversing.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06240" y="352958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70832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% by month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370832" y="3831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just over 0.70 in Feb, falls back to 0.68 in March.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06240" y="4288536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70832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by channel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37083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E-Wallet, UPI, BNPL, NetBanking — cost evenly spread; no single channel is the culprit.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walkthrough as described in the report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366760" y="2011680"/>
            <a:ext cx="3246120" cy="4069080"/>
          </a:xfrm>
          <a:prstGeom prst="roundRect">
            <a:avLst>
              <a:gd name="adj" fmla="val 3380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25" name="Chart 0" descr=""/>
          <p:cNvGraphicFramePr/>
          <p:nvPr/>
        </p:nvGraphicFramePr>
        <p:xfrm>
          <a:off x="8549640" y="2103120"/>
          <a:ext cx="2880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85496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$1.99K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8549640" y="4251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UNDER ‘ALLOW’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8595360" y="4617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donut to hold on: every dispute came from a transaction the engine passed. The dashboard restates Task 6 without anyone running a query.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Cross-read: comparison with a larger parallel sample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12-month AstraPay analysis — where both agree, the finding is structural, not sample noise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analysis (Eswar)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analysis (Junaid)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attempts · 3 months · 7 routes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260,287 attempts · 12 months · 3 providers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/ successful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throughout; −$2.18K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but falling: $1.620 → $1.089 (−32.8%)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cost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 &amp; fraud loss — 54.81% of direct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revenue per txn: −$0.744 of a −$0.533 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Under-catching — 100% of disputes from 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driver — apparent spike was a score-scale artefact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of 7 routes commercially mismatched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onto highest fixed-fee rail: −$0.10 /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SQL · CTE pre-aggregation ·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mix / within decomposition, residual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89204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AGREE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a confirmed driver in both — and both disprove the loudest theory in the room.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489204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DIVERGE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dominates here, not there — 3DS coverage and route mix differ. Act on what holds in both; test the rest first.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88820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88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NARRATIVE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three-minute version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Complication → Question → Answer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held a baseline net contribution profit of −$3,768.25 while continuing to grow gross volume.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2724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55848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355848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then fell a further −$1,568.23 to −$5,336.48 — with volume stable. A structural margin break, not a sales drop.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34456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3056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163056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operational and commercial failures drove the collapse, and which interventions reverse it?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41664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70264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70264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−$1,744.25 hit in UAE Retail from a +$1,548.63 chargeback surge, plus routing rules pushing traffic into high-fee routes 0281 &amp; 1334. Fix: mandatory 3DS + margin-aware failover.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· 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60-day turn-around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speed to a measurable effect — each with an owner and a proof metric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480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623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766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909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052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469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0195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612880" y="2148840"/>
            <a:ext cx="0" cy="3063240"/>
          </a:xfrm>
          <a:prstGeom prst="line">
            <a:avLst/>
          </a:prstGeom>
          <a:noFill/>
          <a:ln w="9525">
            <a:solidFill>
              <a:srgbClr val="D5DBE5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11338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22402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3DS on UAE Retail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24963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Head · chargeback % of direct cost (UAE Retail)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31343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754880" y="2313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285292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routing bypasses 0281 &amp; 1334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108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Payments · net profit per route; volume on mismatched routes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2857500" cy="347472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754880" y="2926080"/>
            <a:ext cx="2857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46557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/ exit 3 highest-fee card routes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37216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Commercial · effective route cost rate (bps)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83580" y="3538728"/>
            <a:ext cx="5829300" cy="347472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783580" y="3538728"/>
            <a:ext cx="5829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10–60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C8570F"/>
          </a:solidFill>
          <a:ln w="12700">
            <a:solidFill>
              <a:srgbClr val="C8570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407822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risk_score, re-baseline thresholds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43342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 / Risk · % fraud rows outside 0.0–1.0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12080" y="4151376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C8570F"/>
          </a:solidFill>
          <a:ln w="12700">
            <a:solidFill>
              <a:srgbClr val="C8570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5212080" y="415137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5–30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46908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pipeline defects (IDs, settlements, FX)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51560" y="494690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 · Data Discrepancy Index; recon residual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55080" y="4764024"/>
            <a:ext cx="3543300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6355080" y="4764024"/>
            <a:ext cx="3543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15–45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13832"/>
            <a:ext cx="411480" cy="411480"/>
          </a:xfrm>
          <a:prstGeom prst="rect">
            <a:avLst/>
          </a:prstGeom>
        </p:spPr>
      </p:pic>
      <p:sp>
        <p:nvSpPr>
          <p:cNvPr id="55" name="Text 52"/>
          <p:cNvSpPr txBox="1"/>
          <p:nvPr/>
        </p:nvSpPr>
        <p:spPr>
          <a:xfrm>
            <a:off x="1371600" y="5394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DAY-60 TEST  </a:t>
            </a:r>
            <a:pPr indent="0" marL="0"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Chargebacks &lt; 40% of direct cost AND ≥ 3 of 6 mismatched routes back in profit. If neither moves, reopen the commercial-pricing hypothesis.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· 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and what's still open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through a reviewed merge request; open items named so nobody finds them in week three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EDF2F8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2176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5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MERGE REQUEST</a:t>
            </a:r>
            <a:endParaRPr lang="en-US" sz="1200" dirty="0"/>
          </a:p>
        </p:txBody>
      </p:sp>
      <p:pic>
        <p:nvPicPr>
          <p:cNvPr id="12" name="Image 1" descr="/tmp/claude-0/-home-claude/6e9ab6b6-cbc3-50bc-924f-6c491406ecde/scratchpad/img-0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3657600" cy="30449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5687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→ main · named assignee &amp; reviewer · no secrets committed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BEFORE SIGN-OFF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00600" y="237744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5146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9240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disagree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983480" y="2852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check shows 166 TRANSACTION rows; analysis uses 500.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611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749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labels disagree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4983480" y="4087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is Jan–Mar 2024; narrative cites Jan–Feb 2026.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800600" y="48463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9834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49240" y="4965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0281 / 1334 unmapped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4983480" y="5321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the diagnosis, absent from the route table.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3210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CONCLUDED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321040" y="237744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25146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869680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→ margin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8503920" y="2852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70.06% vs 68.66% conversion — a GPV risk, not a proven margin driver.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321040" y="3611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74904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6968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8503920" y="4087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price change in the data to estimate merchant response.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8321040" y="48463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4983480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869680" y="4965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merchant P&amp;L</a:t>
            </a:r>
            <a:endParaRPr lang="en-US" sz="1250" dirty="0"/>
          </a:p>
        </p:txBody>
      </p:sp>
      <p:sp>
        <p:nvSpPr>
          <p:cNvPr id="39" name="Text 29"/>
          <p:cNvSpPr txBox="1"/>
          <p:nvPr/>
        </p:nvSpPr>
        <p:spPr>
          <a:xfrm>
            <a:off x="8503920" y="5321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cost is out of scope — no merchant can be called unprofitable overall.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14243B"/>
          </a:solidFill>
          <a:ln w="12700">
            <a:solidFill>
              <a:srgbClr val="142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 |  Payment Operations &amp; Margin Optimization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8229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PROBLEM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FRAUD PROBLEM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SAME PROBLEM.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590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direct cost is chargebacks — all from ALLOWed txns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7490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590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lose money; DBS PayNow is the template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37490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F5F7FA">
              <a:alpha val="92000"/>
            </a:srgbClr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8388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590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cover both halves: mandatory 3DS + margin-aware failover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requires new data. Both are measurable inside 60 days.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AstraPay — Payment Operations &amp; Margin Optimization</dc:title>
  <dc:subject>PptxGenJS Presentation</dc:subject>
  <dc:creator>PptxGenJS</dc:creator>
  <cp:lastModifiedBy>PptxGenJS</cp:lastModifiedBy>
  <cp:revision>1</cp:revision>
  <dcterms:created xsi:type="dcterms:W3CDTF">2026-09-16T05:59:02Z</dcterms:created>
  <dcterms:modified xsi:type="dcterms:W3CDTF">2026-09-16T05:59:02Z</dcterms:modified>
</cp:coreProperties>
</file>