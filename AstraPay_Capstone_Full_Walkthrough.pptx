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3.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Contribution per successful txn (USD)</c:v>
                </c:pt>
              </c:strCache>
            </c:strRef>
          </c:tx>
          <c:spPr>
            <a:solidFill>
              <a:srgbClr val="D98324"/>
            </a:solidFill>
            <a:ln w="38100" cap="flat">
              <a:solidFill>
                <a:srgbClr val="D9832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8324"/>
              </a:solidFill>
              <a:ln w="9525" cap="flat">
                <a:solidFill>
                  <a:srgbClr val="D98324"/>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1.62</c:v>
                </c:pt>
                <c:pt idx="1">
                  <c:v>1.649</c:v>
                </c:pt>
                <c:pt idx="2">
                  <c:v>1.666</c:v>
                </c:pt>
                <c:pt idx="3">
                  <c:v>1.564</c:v>
                </c:pt>
                <c:pt idx="4">
                  <c:v>1.546</c:v>
                </c:pt>
                <c:pt idx="5">
                  <c:v>1.434</c:v>
                </c:pt>
                <c:pt idx="6">
                  <c:v>1.389</c:v>
                </c:pt>
                <c:pt idx="7">
                  <c:v>1.359</c:v>
                </c:pt>
                <c:pt idx="8">
                  <c:v>1.269</c:v>
                </c:pt>
                <c:pt idx="9">
                  <c:v>1.153</c:v>
                </c:pt>
                <c:pt idx="10">
                  <c:v>1.083</c:v>
                </c:pt>
                <c:pt idx="11">
                  <c:v>1.089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25F"/>
                </a:solidFill>
                <a:latin typeface="Calibri"/>
              </a:defRPr>
            </a:pPr>
            <a:endParaRPr lang="en-US"/>
          </a:p>
        </c:txPr>
        <c:crossAx val="2094734552"/>
        <c:crosses val="autoZero"/>
        <c:auto val="1"/>
        <c:lblAlgn val="ctr"/>
        <c:noMultiLvlLbl val="1"/>
      </c:catAx>
      <c:valAx>
        <c:axId val="2094734552"/>
        <c:scaling>
          <c:orientation val="minMax"/>
          <c:max val="1.75"/>
          <c:min val="1"/>
        </c:scaling>
        <c:delete val="0"/>
        <c:axPos val="l"/>
        <c:majorGridlines>
          <c:spPr>
            <a:ln w="12700" cap="flat">
              <a:solidFill>
                <a:srgbClr val="E6EAEE"/>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5A1"/>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successful txns — Jan</c:v>
                </c:pt>
              </c:strCache>
            </c:strRef>
          </c:tx>
          <c:spPr>
            <a:solidFill>
              <a:srgbClr val="9AB0C6"/>
            </a:solidFill>
            <a:effectLst/>
          </c:spPr>
          <c:invertIfNegative val="0"/>
          <c:dLbls>
            <c:numFmt formatCode="0.0&quot;%&quot;" sourceLinked="0"/>
            <c:txPr>
              <a:bodyPr/>
              <a:lstStyle/>
              <a:p>
                <a:pPr>
                  <a:defRPr b="0" i="0" strike="noStrike" sz="900" u="none">
                    <a:solidFill>
                      <a:srgbClr val="1A1A1A"/>
                    </a:solidFill>
                    <a:latin typeface="Calibri"/>
                  </a:defRPr>
                </a:pPr>
              </a:p>
            </c:txPr>
            <c:showLegendKey val="0"/>
            <c:showVal val="1"/>
            <c:showCatName val="0"/>
            <c:showSerName val="0"/>
            <c:showPercent val="0"/>
            <c:showBubbleSize val="0"/>
            <c:showLeaderLines val="0"/>
          </c:dLbls>
          <c:cat>
            <c:multiLvlStrRef>
              <c:f>Sheet1!$A$2:$A$7</c:f>
              <c:multiLvlStrCache>
                <c:ptCount val="6"/>
                <c:lvl>
                  <c:pt idx="0">
                    <c:v>DIGITAL SME
SG+AE</c:v>
                  </c:pt>
                  <c:pt idx="1">
                    <c:v>GROCERY</c:v>
                  </c:pt>
                  <c:pt idx="2">
                    <c:v>SERVICES</c:v>
                  </c:pt>
                  <c:pt idx="3">
                    <c:v>GAMING</c:v>
                  </c:pt>
                  <c:pt idx="4">
                    <c:v>TRAVEL</c:v>
                  </c:pt>
                  <c:pt idx="5">
                    <c:v>ELECTRONICS</c:v>
                  </c:pt>
                </c:lvl>
              </c:multiLvlStrCache>
            </c:multiLvlStrRef>
          </c:cat>
          <c:val>
            <c:numRef>
              <c:f>Sheet1!$B$2:$B$7</c:f>
              <c:numCache>
                <c:formatCode>General</c:formatCode>
                <c:ptCount val="6"/>
                <c:pt idx="0">
                  <c:v>8.1</c:v>
                </c:pt>
                <c:pt idx="1">
                  <c:v>30.2</c:v>
                </c:pt>
                <c:pt idx="2">
                  <c:v>18.9</c:v>
                </c:pt>
                <c:pt idx="3">
                  <c:v>15</c:v>
                </c:pt>
                <c:pt idx="4">
                  <c:v>12.4</c:v>
                </c:pt>
                <c:pt idx="5">
                  <c:v>7.1</c:v>
                </c:pt>
              </c:numCache>
            </c:numRef>
          </c:val>
        </c:ser>
        <c:ser>
          <c:idx val="1"/>
          <c:order val="1"/>
          <c:tx>
            <c:strRef>
              <c:f>Sheet1!$C$1</c:f>
              <c:strCache>
                <c:ptCount val="1"/>
                <c:pt idx="0">
                  <c:v>Share — Dec</c:v>
                </c:pt>
              </c:strCache>
            </c:strRef>
          </c:tx>
          <c:spPr>
            <a:solidFill>
              <a:srgbClr val="12233C"/>
            </a:solidFill>
            <a:effectLst/>
          </c:spPr>
          <c:invertIfNegative val="0"/>
          <c:dLbls>
            <c:numFmt formatCode="0.0&quot;%&quot;" sourceLinked="0"/>
            <c:txPr>
              <a:bodyPr/>
              <a:lstStyle/>
              <a:p>
                <a:pPr>
                  <a:defRPr b="0" i="0" strike="noStrike" sz="900" u="none">
                    <a:solidFill>
                      <a:srgbClr val="1A1A1A"/>
                    </a:solidFill>
                    <a:latin typeface="Calibri"/>
                  </a:defRPr>
                </a:pPr>
              </a:p>
            </c:txPr>
            <c:showLegendKey val="0"/>
            <c:showVal val="1"/>
            <c:showCatName val="0"/>
            <c:showSerName val="0"/>
            <c:showPercent val="0"/>
            <c:showBubbleSize val="0"/>
            <c:showLeaderLines val="0"/>
          </c:dLbls>
          <c:cat>
            <c:multiLvlStrRef>
              <c:f>Sheet1!$A$2:$A$7</c:f>
              <c:multiLvlStrCache>
                <c:ptCount val="6"/>
                <c:lvl>
                  <c:pt idx="0">
                    <c:v>DIGITAL SME
SG+AE</c:v>
                  </c:pt>
                  <c:pt idx="1">
                    <c:v>GROCERY</c:v>
                  </c:pt>
                  <c:pt idx="2">
                    <c:v>SERVICES</c:v>
                  </c:pt>
                  <c:pt idx="3">
                    <c:v>GAMING</c:v>
                  </c:pt>
                  <c:pt idx="4">
                    <c:v>TRAVEL</c:v>
                  </c:pt>
                  <c:pt idx="5">
                    <c:v>ELECTRONICS</c:v>
                  </c:pt>
                </c:lvl>
              </c:multiLvlStrCache>
            </c:multiLvlStrRef>
          </c:cat>
          <c:val>
            <c:numRef>
              <c:f>Sheet1!$C$2:$C$7</c:f>
              <c:numCache>
                <c:formatCode>General</c:formatCode>
                <c:ptCount val="6"/>
                <c:pt idx="0">
                  <c:v>33.9</c:v>
                </c:pt>
                <c:pt idx="1">
                  <c:v>21.6</c:v>
                </c:pt>
                <c:pt idx="2">
                  <c:v>13.2</c:v>
                </c:pt>
                <c:pt idx="3">
                  <c:v>11.2</c:v>
                </c:pt>
                <c:pt idx="4">
                  <c:v>9</c:v>
                </c:pt>
                <c:pt idx="5">
                  <c:v>5.2</c:v>
                </c:pt>
              </c:numCache>
            </c:numRef>
          </c:val>
        </c:ser>
        <c:dLbls>
          <c:numFmt formatCode="0.0&quot;%&quot;" sourceLinked="0"/>
          <c:txPr>
            <a:bodyPr/>
            <a:lstStyle/>
            <a:p>
              <a:pPr>
                <a:defRPr b="0" i="0" strike="noStrike" sz="900" u="none">
                  <a:solidFill>
                    <a:srgbClr val="1A1A1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44525F"/>
                </a:solidFill>
                <a:latin typeface="Calibri"/>
              </a:defRPr>
            </a:pPr>
            <a:endParaRPr lang="en-US"/>
          </a:p>
        </c:txPr>
        <c:crossAx val="2094734552"/>
        <c:crosses val="autoZero"/>
        <c:auto val="1"/>
        <c:lblAlgn val="ctr"/>
        <c:noMultiLvlLbl val="1"/>
      </c:catAx>
      <c:valAx>
        <c:axId val="2094734552"/>
        <c:scaling>
          <c:orientation val="minMax"/>
          <c:max val="40"/>
        </c:scaling>
        <c:delete val="0"/>
        <c:axPos val="b"/>
        <c:majorGridlines>
          <c:spPr>
            <a:ln w="12700" cap="flat">
              <a:solidFill>
                <a:srgbClr val="E6EAEE"/>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900" b="0" i="0" u="none" strike="noStrike">
                <a:solidFill>
                  <a:srgbClr val="8A95A1"/>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5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Effect on contribution per successful txn</c:v>
                </c:pt>
              </c:strCache>
            </c:strRef>
          </c:tx>
          <c:spPr>
            <a:solidFill>
              <a:srgbClr val="D98324"/>
            </a:solidFill>
            <a:effectLst/>
          </c:spPr>
          <c:invertIfNegative val="0"/>
          <c:dLbls>
            <c:numFmt formatCode="$0.000" sourceLinked="0"/>
            <c:txPr>
              <a:bodyPr/>
              <a:lstStyle/>
              <a:p>
                <a:pPr>
                  <a:defRPr b="0" i="0" strike="noStrike" sz="1100" u="none">
                    <a:solidFill>
                      <a:srgbClr val="1A1A1A"/>
                    </a:solidFill>
                    <a:latin typeface="Calibri"/>
                  </a:defRPr>
                </a:pPr>
              </a:p>
            </c:txPr>
            <c:showLegendKey val="0"/>
            <c:showVal val="1"/>
            <c:showCatName val="0"/>
            <c:showSerName val="0"/>
            <c:showPercent val="0"/>
            <c:showBubbleSize val="0"/>
            <c:showLeaderLines val="0"/>
          </c:dLbls>
          <c:dPt>
            <c:idx val="0"/>
            <c:invertIfNegative val="0"/>
            <c:bubble3D val="0"/>
            <c:spPr>
              <a:solidFill>
                <a:srgbClr val="D98324"/>
              </a:solidFill>
              <a:effectLst/>
            </c:spPr>
          </c:dPt>
          <c:dPt>
            <c:idx val="1"/>
            <c:invertIfNegative val="0"/>
            <c:bubble3D val="0"/>
            <c:spPr>
              <a:solidFill>
                <a:srgbClr val="0E7C7B"/>
              </a:solidFill>
              <a:effectLst/>
            </c:spPr>
          </c:dPt>
          <c:dPt>
            <c:idx val="2"/>
            <c:invertIfNegative val="0"/>
            <c:bubble3D val="0"/>
            <c:spPr>
              <a:solidFill>
                <a:srgbClr val="0E7C7B"/>
              </a:solidFill>
              <a:effectLst/>
            </c:spPr>
          </c:dPt>
          <c:dPt>
            <c:idx val="3"/>
            <c:invertIfNegative val="0"/>
            <c:bubble3D val="0"/>
            <c:spPr>
              <a:solidFill>
                <a:srgbClr val="12233C"/>
              </a:solidFill>
              <a:effectLst/>
            </c:spPr>
          </c:dPt>
          <c:cat>
            <c:multiLvlStrRef>
              <c:f>Sheet1!$A$2:$A$5</c:f>
              <c:multiLvlStrCache>
                <c:ptCount val="4"/>
                <c:lvl>
                  <c:pt idx="0">
                    <c:v>Merchant revenue</c:v>
                  </c:pt>
                  <c:pt idx="1">
                    <c:v>Processing cost</c:v>
                  </c:pt>
                  <c:pt idx="2">
                    <c:v>Chargeback cost</c:v>
                  </c:pt>
                  <c:pt idx="3">
                    <c:v>Net change</c:v>
                  </c:pt>
                </c:lvl>
              </c:multiLvlStrCache>
            </c:multiLvlStrRef>
          </c:cat>
          <c:val>
            <c:numRef>
              <c:f>Sheet1!$B$2:$B$5</c:f>
              <c:numCache>
                <c:formatCode>General</c:formatCode>
                <c:ptCount val="4"/>
                <c:pt idx="0">
                  <c:v>-0.744</c:v>
                </c:pt>
                <c:pt idx="1">
                  <c:v>0.109</c:v>
                </c:pt>
                <c:pt idx="2">
                  <c:v>0.102</c:v>
                </c:pt>
                <c:pt idx="3">
                  <c:v>-0.533</c:v>
                </c:pt>
              </c:numCache>
            </c:numRef>
          </c:val>
        </c:ser>
        <c:dLbls>
          <c:numFmt formatCode="$0.000" sourceLinked="0"/>
          <c:txPr>
            <a:bodyPr/>
            <a:lstStyle/>
            <a:p>
              <a:pPr>
                <a:defRPr b="0" i="0" strike="noStrike" sz="1100" u="none">
                  <a:solidFill>
                    <a:srgbClr val="1A1A1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525F"/>
                </a:solidFill>
                <a:latin typeface="Calibri"/>
              </a:defRPr>
            </a:pPr>
            <a:endParaRPr lang="en-US"/>
          </a:p>
        </c:txPr>
        <c:crossAx val="2094734552"/>
        <c:crosses val="autoZero"/>
        <c:auto val="1"/>
        <c:lblAlgn val="ctr"/>
        <c:noMultiLvlLbl val="1"/>
      </c:catAx>
      <c:valAx>
        <c:axId val="2094734552"/>
        <c:scaling>
          <c:orientation val="minMax"/>
          <c:max val="0.3"/>
          <c:min val="-0.9"/>
        </c:scaling>
        <c:delete val="0"/>
        <c:axPos val="l"/>
        <c:majorGridlines>
          <c:spPr>
            <a:ln w="12700" cap="flat">
              <a:solidFill>
                <a:srgbClr val="E6EAEE"/>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5A1"/>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walkthrough deck: case framing, data contract, quality investigation, model build, root cause, diagnosis, dashboard,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one-sentence version. Everything else in the deck exists to make this sentence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C"/>
        </a:solidFill>
      </p:bgPr>
    </p:bg>
    <p:spTree>
      <p:nvGrpSpPr>
        <p:cNvPr id="1" name=""/>
        <p:cNvGrpSpPr/>
        <p:nvPr/>
      </p:nvGrpSpPr>
      <p:grpSpPr>
        <a:xfrm>
          <a:off x="0" y="0"/>
          <a:ext cx="0" cy="0"/>
          <a:chOff x="0" y="0"/>
          <a:chExt cx="0" cy="0"/>
        </a:xfrm>
      </p:grpSpPr>
      <p:sp>
        <p:nvSpPr>
          <p:cNvPr id="2" name="Text 0"/>
          <p:cNvSpPr txBox="1"/>
          <p:nvPr/>
        </p:nvSpPr>
        <p:spPr>
          <a:xfrm>
            <a:off x="731520" y="1051560"/>
            <a:ext cx="10058400" cy="274320"/>
          </a:xfrm>
          <a:prstGeom prst="rect">
            <a:avLst/>
          </a:prstGeom>
          <a:noFill/>
          <a:ln/>
        </p:spPr>
        <p:txBody>
          <a:bodyPr wrap="square" lIns="0" tIns="0" rIns="0" bIns="0" rtlCol="0" anchor="ctr"/>
          <a:lstStyle/>
          <a:p>
            <a:pPr indent="0" marL="0">
              <a:buNone/>
            </a:pPr>
            <a:r>
              <a:rPr lang="en-US" sz="1200" spc="200" kern="0" dirty="0">
                <a:solidFill>
                  <a:srgbClr val="8FA6C4"/>
                </a:solidFill>
                <a:latin typeface="Calibri" pitchFamily="34" charset="0"/>
                <a:ea typeface="Calibri" pitchFamily="34" charset="-122"/>
                <a:cs typeface="Calibri" pitchFamily="34" charset="-120"/>
              </a:rPr>
              <a:t>CAPSTONE PROJECT 1  ·  STRAIVE DATA ANALYST PROGRAMME</a:t>
            </a:r>
            <a:endParaRPr lang="en-US" sz="1200" dirty="0"/>
          </a:p>
        </p:txBody>
      </p:sp>
      <p:sp>
        <p:nvSpPr>
          <p:cNvPr id="3" name="Text 1"/>
          <p:cNvSpPr txBox="1"/>
          <p:nvPr/>
        </p:nvSpPr>
        <p:spPr>
          <a:xfrm>
            <a:off x="731520" y="1508760"/>
            <a:ext cx="10515600" cy="164592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Payment Profitability,</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Data Trust &amp; Executive Decision</a:t>
            </a:r>
            <a:endParaRPr lang="en-US" sz="4000" dirty="0"/>
          </a:p>
        </p:txBody>
      </p:sp>
      <p:sp>
        <p:nvSpPr>
          <p:cNvPr id="4" name="Text 2"/>
          <p:cNvSpPr txBox="1"/>
          <p:nvPr/>
        </p:nvSpPr>
        <p:spPr>
          <a:xfrm>
            <a:off x="731520" y="3383280"/>
            <a:ext cx="8595360" cy="822960"/>
          </a:xfrm>
          <a:prstGeom prst="rect">
            <a:avLst/>
          </a:prstGeom>
          <a:noFill/>
          <a:ln/>
        </p:spPr>
        <p:txBody>
          <a:bodyPr wrap="square" lIns="0" tIns="0" rIns="0" bIns="0" rtlCol="0" anchor="ctr"/>
          <a:lstStyle/>
          <a:p>
            <a:pPr indent="0" marL="0">
              <a:lnSpc>
                <a:spcPts val="2200"/>
              </a:lnSpc>
              <a:buNone/>
            </a:pPr>
            <a:r>
              <a:rPr lang="en-US" sz="1500" i="1" dirty="0">
                <a:solidFill>
                  <a:srgbClr val="CBD7E6"/>
                </a:solidFill>
                <a:latin typeface="Calibri" pitchFamily="34" charset="0"/>
                <a:ea typeface="Calibri" pitchFamily="34" charset="-122"/>
                <a:cs typeface="Calibri" pitchFamily="34" charset="-120"/>
              </a:rPr>
              <a:t>Why is payment contribution profit per successful transaction falling even though payment volume is increasing, and what should AstraPay change in the next 60 days?</a:t>
            </a:r>
            <a:endParaRPr lang="en-US" sz="1500" dirty="0"/>
          </a:p>
        </p:txBody>
      </p:sp>
      <p:sp>
        <p:nvSpPr>
          <p:cNvPr id="5" name="Shape 3"/>
          <p:cNvSpPr/>
          <p:nvPr/>
        </p:nvSpPr>
        <p:spPr>
          <a:xfrm>
            <a:off x="731520" y="4434840"/>
            <a:ext cx="5120640" cy="1234440"/>
          </a:xfrm>
          <a:prstGeom prst="roundRect">
            <a:avLst>
              <a:gd name="adj" fmla="val 4444"/>
            </a:avLst>
          </a:prstGeom>
          <a:solidFill>
            <a:srgbClr val="1B3A5F"/>
          </a:solidFill>
          <a:ln w="12700">
            <a:solidFill>
              <a:srgbClr val="2E5580"/>
            </a:solidFill>
            <a:prstDash val="solid"/>
          </a:ln>
        </p:spPr>
      </p:sp>
      <p:sp>
        <p:nvSpPr>
          <p:cNvPr id="6" name="Text 4"/>
          <p:cNvSpPr txBox="1"/>
          <p:nvPr/>
        </p:nvSpPr>
        <p:spPr>
          <a:xfrm>
            <a:off x="960120" y="4572000"/>
            <a:ext cx="4663440" cy="256032"/>
          </a:xfrm>
          <a:prstGeom prst="rect">
            <a:avLst/>
          </a:prstGeom>
          <a:noFill/>
          <a:ln/>
        </p:spPr>
        <p:txBody>
          <a:bodyPr wrap="square" lIns="0" tIns="0" rIns="0" bIns="0" rtlCol="0" anchor="ctr"/>
          <a:lstStyle/>
          <a:p>
            <a:pPr indent="0" marL="0">
              <a:buNone/>
            </a:pPr>
            <a:r>
              <a:rPr lang="en-US" sz="1100" b="1" spc="150" kern="0" dirty="0">
                <a:solidFill>
                  <a:srgbClr val="F2B366"/>
                </a:solidFill>
                <a:latin typeface="Calibri" pitchFamily="34" charset="0"/>
                <a:ea typeface="Calibri" pitchFamily="34" charset="-122"/>
                <a:cs typeface="Calibri" pitchFamily="34" charset="-120"/>
              </a:rPr>
              <a:t>The answer, in one line</a:t>
            </a:r>
            <a:endParaRPr lang="en-US" sz="1100" dirty="0"/>
          </a:p>
        </p:txBody>
      </p:sp>
      <p:sp>
        <p:nvSpPr>
          <p:cNvPr id="7" name="Text 5"/>
          <p:cNvSpPr txBox="1"/>
          <p:nvPr/>
        </p:nvSpPr>
        <p:spPr>
          <a:xfrm>
            <a:off x="960120" y="4864608"/>
            <a:ext cx="4663440" cy="685800"/>
          </a:xfrm>
          <a:prstGeom prst="rect">
            <a:avLst/>
          </a:prstGeom>
          <a:noFill/>
          <a:ln/>
        </p:spPr>
        <p:txBody>
          <a:bodyPr wrap="square" lIns="0" tIns="0" rIns="0" bIns="0" rtlCol="0" anchor="ctr"/>
          <a:lstStyle/>
          <a:p>
            <a:pPr indent="0" marL="0">
              <a:lnSpc>
                <a:spcPts val="1800"/>
              </a:lnSpc>
              <a:buNone/>
            </a:pPr>
            <a:r>
              <a:rPr lang="en-US" sz="1350" dirty="0">
                <a:solidFill>
                  <a:srgbClr val="FFFFFF"/>
                </a:solidFill>
                <a:latin typeface="Calibri" pitchFamily="34" charset="0"/>
                <a:ea typeface="Calibri" pitchFamily="34" charset="-122"/>
                <a:cs typeface="Calibri" pitchFamily="34" charset="-120"/>
              </a:rPr>
              <a:t>Dilution, not deterioration. 88.6% of the fall is the mix of ticket sizes moving.</a:t>
            </a:r>
            <a:endParaRPr lang="en-US" sz="1350" dirty="0"/>
          </a:p>
        </p:txBody>
      </p:sp>
      <p:sp>
        <p:nvSpPr>
          <p:cNvPr id="8" name="Text 6"/>
          <p:cNvSpPr txBox="1"/>
          <p:nvPr/>
        </p:nvSpPr>
        <p:spPr>
          <a:xfrm>
            <a:off x="731520" y="6080760"/>
            <a:ext cx="10515600" cy="274320"/>
          </a:xfrm>
          <a:prstGeom prst="rect">
            <a:avLst/>
          </a:prstGeom>
          <a:noFill/>
          <a:ln/>
        </p:spPr>
        <p:txBody>
          <a:bodyPr wrap="square" lIns="0" tIns="0" rIns="0" bIns="0" rtlCol="0" anchor="ctr"/>
          <a:lstStyle/>
          <a:p>
            <a:pPr indent="0" marL="0">
              <a:buNone/>
            </a:pPr>
            <a:r>
              <a:rPr lang="en-US" sz="1100" dirty="0">
                <a:solidFill>
                  <a:srgbClr val="6E86A6"/>
                </a:solidFill>
                <a:latin typeface="Calibri" pitchFamily="34" charset="0"/>
                <a:ea typeface="Calibri" pitchFamily="34" charset="-122"/>
                <a:cs typeface="Calibri" pitchFamily="34" charset="-120"/>
              </a:rPr>
              <a:t>Junaid Mustafa  ·  Data Analyst Trainee  ·  Full technical and executive walkthrough  ·  Tasks 1–8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What is in this deck, and where to stop</a:t>
            </a:r>
            <a:endParaRPr lang="en-US" sz="2600" dirty="0"/>
          </a:p>
        </p:txBody>
      </p:sp>
      <p:sp>
        <p:nvSpPr>
          <p:cNvPr id="3" name="Text 1"/>
          <p:cNvSpPr txBox="1"/>
          <p:nvPr/>
        </p:nvSpPr>
        <p:spPr>
          <a:xfrm>
            <a:off x="548640" y="93268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Eight sections. A reader who only needs the decision can read sections 1 and 8 and skip the rest without losing the argument.</a:t>
            </a:r>
            <a:endParaRPr lang="en-US" sz="1300" dirty="0"/>
          </a:p>
        </p:txBody>
      </p:sp>
      <p:sp>
        <p:nvSpPr>
          <p:cNvPr id="4" name="Shape 2"/>
          <p:cNvSpPr/>
          <p:nvPr/>
        </p:nvSpPr>
        <p:spPr>
          <a:xfrm>
            <a:off x="548640" y="1572768"/>
            <a:ext cx="5394960" cy="987552"/>
          </a:xfrm>
          <a:prstGeom prst="roundRect">
            <a:avLst>
              <a:gd name="adj" fmla="val 5556"/>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5" name="Text 3"/>
          <p:cNvSpPr txBox="1"/>
          <p:nvPr/>
        </p:nvSpPr>
        <p:spPr>
          <a:xfrm>
            <a:off x="731520" y="1792224"/>
            <a:ext cx="640080" cy="457200"/>
          </a:xfrm>
          <a:prstGeom prst="rect">
            <a:avLst/>
          </a:prstGeom>
          <a:noFill/>
          <a:ln/>
        </p:spPr>
        <p:txBody>
          <a:bodyPr wrap="square" lIns="0" tIns="0" rIns="0" bIns="0" rtlCol="0" anchor="ctr"/>
          <a:lstStyle/>
          <a:p>
            <a:pPr indent="0" marL="0">
              <a:buNone/>
            </a:pPr>
            <a:r>
              <a:rPr lang="en-US" sz="2400" b="1" dirty="0">
                <a:solidFill>
                  <a:srgbClr val="B8C4D2"/>
                </a:solidFill>
                <a:latin typeface="Cambria" pitchFamily="34" charset="0"/>
                <a:ea typeface="Cambria" pitchFamily="34" charset="-122"/>
                <a:cs typeface="Cambria" pitchFamily="34" charset="-120"/>
              </a:rPr>
              <a:t>01</a:t>
            </a:r>
            <a:endParaRPr lang="en-US" sz="2400" dirty="0"/>
          </a:p>
        </p:txBody>
      </p:sp>
      <p:sp>
        <p:nvSpPr>
          <p:cNvPr id="6" name="Text 4"/>
          <p:cNvSpPr txBox="1"/>
          <p:nvPr/>
        </p:nvSpPr>
        <p:spPr>
          <a:xfrm>
            <a:off x="1417320" y="1700784"/>
            <a:ext cx="3108960" cy="274320"/>
          </a:xfrm>
          <a:prstGeom prst="rect">
            <a:avLst/>
          </a:prstGeom>
          <a:noFill/>
          <a:ln/>
        </p:spPr>
        <p:txBody>
          <a:bodyPr wrap="square" lIns="0" tIns="0" rIns="0" bIns="0" rtlCol="0" anchor="ctr"/>
          <a:lstStyle/>
          <a:p>
            <a:pPr indent="0" marL="0">
              <a:buNone/>
            </a:pPr>
            <a:r>
              <a:rPr lang="en-US" sz="1350" b="1" dirty="0">
                <a:solidFill>
                  <a:srgbClr val="12233C"/>
                </a:solidFill>
                <a:latin typeface="Calibri" pitchFamily="34" charset="0"/>
                <a:ea typeface="Calibri" pitchFamily="34" charset="-122"/>
                <a:cs typeface="Calibri" pitchFamily="34" charset="-120"/>
              </a:rPr>
              <a:t>The case and the framing</a:t>
            </a:r>
            <a:endParaRPr lang="en-US" sz="1350" dirty="0"/>
          </a:p>
        </p:txBody>
      </p:sp>
      <p:sp>
        <p:nvSpPr>
          <p:cNvPr id="7" name="Text 5"/>
          <p:cNvSpPr txBox="1"/>
          <p:nvPr/>
        </p:nvSpPr>
        <p:spPr>
          <a:xfrm>
            <a:off x="4572000" y="1709928"/>
            <a:ext cx="1188720" cy="237744"/>
          </a:xfrm>
          <a:prstGeom prst="rect">
            <a:avLst/>
          </a:prstGeom>
          <a:noFill/>
          <a:ln/>
        </p:spPr>
        <p:txBody>
          <a:bodyPr wrap="square" lIns="0" tIns="0" rIns="0" bIns="0" rtlCol="0" anchor="ctr"/>
          <a:lstStyle/>
          <a:p>
            <a:pPr algn="r" indent="0" marL="0">
              <a:buNone/>
            </a:pPr>
            <a:r>
              <a:rPr lang="en-US" sz="1050" b="1" dirty="0">
                <a:solidFill>
                  <a:srgbClr val="D98324"/>
                </a:solidFill>
                <a:latin typeface="Calibri" pitchFamily="34" charset="0"/>
                <a:ea typeface="Calibri" pitchFamily="34" charset="-122"/>
                <a:cs typeface="Calibri" pitchFamily="34" charset="-120"/>
              </a:rPr>
              <a:t>Task 1</a:t>
            </a:r>
            <a:endParaRPr lang="en-US" sz="1050" dirty="0"/>
          </a:p>
        </p:txBody>
      </p:sp>
      <p:sp>
        <p:nvSpPr>
          <p:cNvPr id="8" name="Text 6"/>
          <p:cNvSpPr txBox="1"/>
          <p:nvPr/>
        </p:nvSpPr>
        <p:spPr>
          <a:xfrm>
            <a:off x="1417320" y="1993392"/>
            <a:ext cx="4343400" cy="5029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The business, the four stakeholders, the MECE hypothesis tree, scope and assumptions</a:t>
            </a:r>
            <a:endParaRPr lang="en-US" sz="1050" dirty="0"/>
          </a:p>
        </p:txBody>
      </p:sp>
      <p:sp>
        <p:nvSpPr>
          <p:cNvPr id="9" name="Shape 7"/>
          <p:cNvSpPr/>
          <p:nvPr/>
        </p:nvSpPr>
        <p:spPr>
          <a:xfrm>
            <a:off x="6172200" y="1572768"/>
            <a:ext cx="5394960" cy="987552"/>
          </a:xfrm>
          <a:prstGeom prst="roundRect">
            <a:avLst>
              <a:gd name="adj" fmla="val 5556"/>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Text 8"/>
          <p:cNvSpPr txBox="1"/>
          <p:nvPr/>
        </p:nvSpPr>
        <p:spPr>
          <a:xfrm>
            <a:off x="6355080" y="1792224"/>
            <a:ext cx="640080" cy="457200"/>
          </a:xfrm>
          <a:prstGeom prst="rect">
            <a:avLst/>
          </a:prstGeom>
          <a:noFill/>
          <a:ln/>
        </p:spPr>
        <p:txBody>
          <a:bodyPr wrap="square" lIns="0" tIns="0" rIns="0" bIns="0" rtlCol="0" anchor="ctr"/>
          <a:lstStyle/>
          <a:p>
            <a:pPr indent="0" marL="0">
              <a:buNone/>
            </a:pPr>
            <a:r>
              <a:rPr lang="en-US" sz="2400" b="1" dirty="0">
                <a:solidFill>
                  <a:srgbClr val="B8C4D2"/>
                </a:solidFill>
                <a:latin typeface="Cambria" pitchFamily="34" charset="0"/>
                <a:ea typeface="Cambria" pitchFamily="34" charset="-122"/>
                <a:cs typeface="Cambria" pitchFamily="34" charset="-120"/>
              </a:rPr>
              <a:t>02</a:t>
            </a:r>
            <a:endParaRPr lang="en-US" sz="2400" dirty="0"/>
          </a:p>
        </p:txBody>
      </p:sp>
      <p:sp>
        <p:nvSpPr>
          <p:cNvPr id="11" name="Text 9"/>
          <p:cNvSpPr txBox="1"/>
          <p:nvPr/>
        </p:nvSpPr>
        <p:spPr>
          <a:xfrm>
            <a:off x="7040880" y="1700784"/>
            <a:ext cx="3108960" cy="274320"/>
          </a:xfrm>
          <a:prstGeom prst="rect">
            <a:avLst/>
          </a:prstGeom>
          <a:noFill/>
          <a:ln/>
        </p:spPr>
        <p:txBody>
          <a:bodyPr wrap="square" lIns="0" tIns="0" rIns="0" bIns="0" rtlCol="0" anchor="ctr"/>
          <a:lstStyle/>
          <a:p>
            <a:pPr indent="0" marL="0">
              <a:buNone/>
            </a:pPr>
            <a:r>
              <a:rPr lang="en-US" sz="1350" b="1" dirty="0">
                <a:solidFill>
                  <a:srgbClr val="12233C"/>
                </a:solidFill>
                <a:latin typeface="Calibri" pitchFamily="34" charset="0"/>
                <a:ea typeface="Calibri" pitchFamily="34" charset="-122"/>
                <a:cs typeface="Calibri" pitchFamily="34" charset="-120"/>
              </a:rPr>
              <a:t>The raw material</a:t>
            </a:r>
            <a:endParaRPr lang="en-US" sz="1350" dirty="0"/>
          </a:p>
        </p:txBody>
      </p:sp>
      <p:sp>
        <p:nvSpPr>
          <p:cNvPr id="12" name="Text 10"/>
          <p:cNvSpPr txBox="1"/>
          <p:nvPr/>
        </p:nvSpPr>
        <p:spPr>
          <a:xfrm>
            <a:off x="10195560" y="1709928"/>
            <a:ext cx="1188720" cy="237744"/>
          </a:xfrm>
          <a:prstGeom prst="rect">
            <a:avLst/>
          </a:prstGeom>
          <a:noFill/>
          <a:ln/>
        </p:spPr>
        <p:txBody>
          <a:bodyPr wrap="square" lIns="0" tIns="0" rIns="0" bIns="0" rtlCol="0" anchor="ctr"/>
          <a:lstStyle/>
          <a:p>
            <a:pPr algn="r" indent="0" marL="0">
              <a:buNone/>
            </a:pPr>
            <a:r>
              <a:rPr lang="en-US" sz="1050" b="1" dirty="0">
                <a:solidFill>
                  <a:srgbClr val="D98324"/>
                </a:solidFill>
                <a:latin typeface="Calibri" pitchFamily="34" charset="0"/>
                <a:ea typeface="Calibri" pitchFamily="34" charset="-122"/>
                <a:cs typeface="Calibri" pitchFamily="34" charset="-120"/>
              </a:rPr>
              <a:t>Task 2</a:t>
            </a:r>
            <a:endParaRPr lang="en-US" sz="1050" dirty="0"/>
          </a:p>
        </p:txBody>
      </p:sp>
      <p:sp>
        <p:nvSpPr>
          <p:cNvPr id="13" name="Text 11"/>
          <p:cNvSpPr txBox="1"/>
          <p:nvPr/>
        </p:nvSpPr>
        <p:spPr>
          <a:xfrm>
            <a:off x="7040880" y="1993392"/>
            <a:ext cx="4343400" cy="5029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11 source files, the ER diagram, the data contract and the join risk register</a:t>
            </a:r>
            <a:endParaRPr lang="en-US" sz="1050" dirty="0"/>
          </a:p>
        </p:txBody>
      </p:sp>
      <p:sp>
        <p:nvSpPr>
          <p:cNvPr id="14" name="Shape 12"/>
          <p:cNvSpPr/>
          <p:nvPr/>
        </p:nvSpPr>
        <p:spPr>
          <a:xfrm>
            <a:off x="548640" y="2688336"/>
            <a:ext cx="5394960" cy="987552"/>
          </a:xfrm>
          <a:prstGeom prst="roundRect">
            <a:avLst>
              <a:gd name="adj" fmla="val 5556"/>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5" name="Text 13"/>
          <p:cNvSpPr txBox="1"/>
          <p:nvPr/>
        </p:nvSpPr>
        <p:spPr>
          <a:xfrm>
            <a:off x="731520" y="2907792"/>
            <a:ext cx="640080" cy="457200"/>
          </a:xfrm>
          <a:prstGeom prst="rect">
            <a:avLst/>
          </a:prstGeom>
          <a:noFill/>
          <a:ln/>
        </p:spPr>
        <p:txBody>
          <a:bodyPr wrap="square" lIns="0" tIns="0" rIns="0" bIns="0" rtlCol="0" anchor="ctr"/>
          <a:lstStyle/>
          <a:p>
            <a:pPr indent="0" marL="0">
              <a:buNone/>
            </a:pPr>
            <a:r>
              <a:rPr lang="en-US" sz="2400" b="1" dirty="0">
                <a:solidFill>
                  <a:srgbClr val="B8C4D2"/>
                </a:solidFill>
                <a:latin typeface="Cambria" pitchFamily="34" charset="0"/>
                <a:ea typeface="Cambria" pitchFamily="34" charset="-122"/>
                <a:cs typeface="Cambria" pitchFamily="34" charset="-120"/>
              </a:rPr>
              <a:t>03</a:t>
            </a:r>
            <a:endParaRPr lang="en-US" sz="2400" dirty="0"/>
          </a:p>
        </p:txBody>
      </p:sp>
      <p:sp>
        <p:nvSpPr>
          <p:cNvPr id="16" name="Text 14"/>
          <p:cNvSpPr txBox="1"/>
          <p:nvPr/>
        </p:nvSpPr>
        <p:spPr>
          <a:xfrm>
            <a:off x="1417320" y="2816352"/>
            <a:ext cx="3108960" cy="274320"/>
          </a:xfrm>
          <a:prstGeom prst="rect">
            <a:avLst/>
          </a:prstGeom>
          <a:noFill/>
          <a:ln/>
        </p:spPr>
        <p:txBody>
          <a:bodyPr wrap="square" lIns="0" tIns="0" rIns="0" bIns="0" rtlCol="0" anchor="ctr"/>
          <a:lstStyle/>
          <a:p>
            <a:pPr indent="0" marL="0">
              <a:buNone/>
            </a:pPr>
            <a:r>
              <a:rPr lang="en-US" sz="1350" b="1" dirty="0">
                <a:solidFill>
                  <a:srgbClr val="12233C"/>
                </a:solidFill>
                <a:latin typeface="Calibri" pitchFamily="34" charset="0"/>
                <a:ea typeface="Calibri" pitchFamily="34" charset="-122"/>
                <a:cs typeface="Calibri" pitchFamily="34" charset="-120"/>
              </a:rPr>
              <a:t>Data quality investigation</a:t>
            </a:r>
            <a:endParaRPr lang="en-US" sz="1350" dirty="0"/>
          </a:p>
        </p:txBody>
      </p:sp>
      <p:sp>
        <p:nvSpPr>
          <p:cNvPr id="17" name="Text 15"/>
          <p:cNvSpPr txBox="1"/>
          <p:nvPr/>
        </p:nvSpPr>
        <p:spPr>
          <a:xfrm>
            <a:off x="4572000" y="2825496"/>
            <a:ext cx="1188720" cy="237744"/>
          </a:xfrm>
          <a:prstGeom prst="rect">
            <a:avLst/>
          </a:prstGeom>
          <a:noFill/>
          <a:ln/>
        </p:spPr>
        <p:txBody>
          <a:bodyPr wrap="square" lIns="0" tIns="0" rIns="0" bIns="0" rtlCol="0" anchor="ctr"/>
          <a:lstStyle/>
          <a:p>
            <a:pPr algn="r" indent="0" marL="0">
              <a:buNone/>
            </a:pPr>
            <a:r>
              <a:rPr lang="en-US" sz="1050" b="1" dirty="0">
                <a:solidFill>
                  <a:srgbClr val="D98324"/>
                </a:solidFill>
                <a:latin typeface="Calibri" pitchFamily="34" charset="0"/>
                <a:ea typeface="Calibri" pitchFamily="34" charset="-122"/>
                <a:cs typeface="Calibri" pitchFamily="34" charset="-120"/>
              </a:rPr>
              <a:t>Task 3</a:t>
            </a:r>
            <a:endParaRPr lang="en-US" sz="1050" dirty="0"/>
          </a:p>
        </p:txBody>
      </p:sp>
      <p:sp>
        <p:nvSpPr>
          <p:cNvPr id="18" name="Text 16"/>
          <p:cNvSpPr txBox="1"/>
          <p:nvPr/>
        </p:nvSpPr>
        <p:spPr>
          <a:xfrm>
            <a:off x="1417320" y="3108960"/>
            <a:ext cx="4343400" cy="5029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26 checks, what failed, and the fan-out proof that protects every number after it</a:t>
            </a:r>
            <a:endParaRPr lang="en-US" sz="1050" dirty="0"/>
          </a:p>
        </p:txBody>
      </p:sp>
      <p:sp>
        <p:nvSpPr>
          <p:cNvPr id="19" name="Shape 17"/>
          <p:cNvSpPr/>
          <p:nvPr/>
        </p:nvSpPr>
        <p:spPr>
          <a:xfrm>
            <a:off x="6172200" y="2688336"/>
            <a:ext cx="5394960" cy="987552"/>
          </a:xfrm>
          <a:prstGeom prst="roundRect">
            <a:avLst>
              <a:gd name="adj" fmla="val 5556"/>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0" name="Text 18"/>
          <p:cNvSpPr txBox="1"/>
          <p:nvPr/>
        </p:nvSpPr>
        <p:spPr>
          <a:xfrm>
            <a:off x="6355080" y="2907792"/>
            <a:ext cx="640080" cy="457200"/>
          </a:xfrm>
          <a:prstGeom prst="rect">
            <a:avLst/>
          </a:prstGeom>
          <a:noFill/>
          <a:ln/>
        </p:spPr>
        <p:txBody>
          <a:bodyPr wrap="square" lIns="0" tIns="0" rIns="0" bIns="0" rtlCol="0" anchor="ctr"/>
          <a:lstStyle/>
          <a:p>
            <a:pPr indent="0" marL="0">
              <a:buNone/>
            </a:pPr>
            <a:r>
              <a:rPr lang="en-US" sz="2400" b="1" dirty="0">
                <a:solidFill>
                  <a:srgbClr val="B8C4D2"/>
                </a:solidFill>
                <a:latin typeface="Cambria" pitchFamily="34" charset="0"/>
                <a:ea typeface="Cambria" pitchFamily="34" charset="-122"/>
                <a:cs typeface="Cambria" pitchFamily="34" charset="-120"/>
              </a:rPr>
              <a:t>04</a:t>
            </a:r>
            <a:endParaRPr lang="en-US" sz="2400" dirty="0"/>
          </a:p>
        </p:txBody>
      </p:sp>
      <p:sp>
        <p:nvSpPr>
          <p:cNvPr id="21" name="Text 19"/>
          <p:cNvSpPr txBox="1"/>
          <p:nvPr/>
        </p:nvSpPr>
        <p:spPr>
          <a:xfrm>
            <a:off x="7040880" y="2816352"/>
            <a:ext cx="3108960" cy="274320"/>
          </a:xfrm>
          <a:prstGeom prst="rect">
            <a:avLst/>
          </a:prstGeom>
          <a:noFill/>
          <a:ln/>
        </p:spPr>
        <p:txBody>
          <a:bodyPr wrap="square" lIns="0" tIns="0" rIns="0" bIns="0" rtlCol="0" anchor="ctr"/>
          <a:lstStyle/>
          <a:p>
            <a:pPr indent="0" marL="0">
              <a:buNone/>
            </a:pPr>
            <a:r>
              <a:rPr lang="en-US" sz="1350" b="1" dirty="0">
                <a:solidFill>
                  <a:srgbClr val="12233C"/>
                </a:solidFill>
                <a:latin typeface="Calibri" pitchFamily="34" charset="0"/>
                <a:ea typeface="Calibri" pitchFamily="34" charset="-122"/>
                <a:cs typeface="Calibri" pitchFamily="34" charset="-120"/>
              </a:rPr>
              <a:t>The profitability model</a:t>
            </a:r>
            <a:endParaRPr lang="en-US" sz="1350" dirty="0"/>
          </a:p>
        </p:txBody>
      </p:sp>
      <p:sp>
        <p:nvSpPr>
          <p:cNvPr id="22" name="Text 20"/>
          <p:cNvSpPr txBox="1"/>
          <p:nvPr/>
        </p:nvSpPr>
        <p:spPr>
          <a:xfrm>
            <a:off x="10195560" y="2825496"/>
            <a:ext cx="1188720" cy="237744"/>
          </a:xfrm>
          <a:prstGeom prst="rect">
            <a:avLst/>
          </a:prstGeom>
          <a:noFill/>
          <a:ln/>
        </p:spPr>
        <p:txBody>
          <a:bodyPr wrap="square" lIns="0" tIns="0" rIns="0" bIns="0" rtlCol="0" anchor="ctr"/>
          <a:lstStyle/>
          <a:p>
            <a:pPr algn="r" indent="0" marL="0">
              <a:buNone/>
            </a:pPr>
            <a:r>
              <a:rPr lang="en-US" sz="1050" b="1" dirty="0">
                <a:solidFill>
                  <a:srgbClr val="D98324"/>
                </a:solidFill>
                <a:latin typeface="Calibri" pitchFamily="34" charset="0"/>
                <a:ea typeface="Calibri" pitchFamily="34" charset="-122"/>
                <a:cs typeface="Calibri" pitchFamily="34" charset="-120"/>
              </a:rPr>
              <a:t>Task 4</a:t>
            </a:r>
            <a:endParaRPr lang="en-US" sz="1050" dirty="0"/>
          </a:p>
        </p:txBody>
      </p:sp>
      <p:sp>
        <p:nvSpPr>
          <p:cNvPr id="23" name="Text 21"/>
          <p:cNvSpPr txBox="1"/>
          <p:nvPr/>
        </p:nvSpPr>
        <p:spPr>
          <a:xfrm>
            <a:off x="7040880" y="3108960"/>
            <a:ext cx="4343400" cy="5029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Grain discipline, the star schema, the contribution formula, the double-count proof</a:t>
            </a:r>
            <a:endParaRPr lang="en-US" sz="1050" dirty="0"/>
          </a:p>
        </p:txBody>
      </p:sp>
      <p:sp>
        <p:nvSpPr>
          <p:cNvPr id="24" name="Shape 22"/>
          <p:cNvSpPr/>
          <p:nvPr/>
        </p:nvSpPr>
        <p:spPr>
          <a:xfrm>
            <a:off x="548640" y="3803904"/>
            <a:ext cx="5394960" cy="987552"/>
          </a:xfrm>
          <a:prstGeom prst="roundRect">
            <a:avLst>
              <a:gd name="adj" fmla="val 5556"/>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5" name="Text 23"/>
          <p:cNvSpPr txBox="1"/>
          <p:nvPr/>
        </p:nvSpPr>
        <p:spPr>
          <a:xfrm>
            <a:off x="731520" y="4023360"/>
            <a:ext cx="640080" cy="457200"/>
          </a:xfrm>
          <a:prstGeom prst="rect">
            <a:avLst/>
          </a:prstGeom>
          <a:noFill/>
          <a:ln/>
        </p:spPr>
        <p:txBody>
          <a:bodyPr wrap="square" lIns="0" tIns="0" rIns="0" bIns="0" rtlCol="0" anchor="ctr"/>
          <a:lstStyle/>
          <a:p>
            <a:pPr indent="0" marL="0">
              <a:buNone/>
            </a:pPr>
            <a:r>
              <a:rPr lang="en-US" sz="2400" b="1" dirty="0">
                <a:solidFill>
                  <a:srgbClr val="B8C4D2"/>
                </a:solidFill>
                <a:latin typeface="Cambria" pitchFamily="34" charset="0"/>
                <a:ea typeface="Cambria" pitchFamily="34" charset="-122"/>
                <a:cs typeface="Cambria" pitchFamily="34" charset="-120"/>
              </a:rPr>
              <a:t>05</a:t>
            </a:r>
            <a:endParaRPr lang="en-US" sz="2400" dirty="0"/>
          </a:p>
        </p:txBody>
      </p:sp>
      <p:sp>
        <p:nvSpPr>
          <p:cNvPr id="26" name="Text 24"/>
          <p:cNvSpPr txBox="1"/>
          <p:nvPr/>
        </p:nvSpPr>
        <p:spPr>
          <a:xfrm>
            <a:off x="1417320" y="3931920"/>
            <a:ext cx="3108960" cy="274320"/>
          </a:xfrm>
          <a:prstGeom prst="rect">
            <a:avLst/>
          </a:prstGeom>
          <a:noFill/>
          <a:ln/>
        </p:spPr>
        <p:txBody>
          <a:bodyPr wrap="square" lIns="0" tIns="0" rIns="0" bIns="0" rtlCol="0" anchor="ctr"/>
          <a:lstStyle/>
          <a:p>
            <a:pPr indent="0" marL="0">
              <a:buNone/>
            </a:pPr>
            <a:r>
              <a:rPr lang="en-US" sz="1350" b="1" dirty="0">
                <a:solidFill>
                  <a:srgbClr val="12233C"/>
                </a:solidFill>
                <a:latin typeface="Calibri" pitchFamily="34" charset="0"/>
                <a:ea typeface="Calibri" pitchFamily="34" charset="-122"/>
                <a:cs typeface="Calibri" pitchFamily="34" charset="-120"/>
              </a:rPr>
              <a:t>Root cause analysis</a:t>
            </a:r>
            <a:endParaRPr lang="en-US" sz="1350" dirty="0"/>
          </a:p>
        </p:txBody>
      </p:sp>
      <p:sp>
        <p:nvSpPr>
          <p:cNvPr id="27" name="Text 25"/>
          <p:cNvSpPr txBox="1"/>
          <p:nvPr/>
        </p:nvSpPr>
        <p:spPr>
          <a:xfrm>
            <a:off x="4572000" y="3941064"/>
            <a:ext cx="1188720" cy="237744"/>
          </a:xfrm>
          <a:prstGeom prst="rect">
            <a:avLst/>
          </a:prstGeom>
          <a:noFill/>
          <a:ln/>
        </p:spPr>
        <p:txBody>
          <a:bodyPr wrap="square" lIns="0" tIns="0" rIns="0" bIns="0" rtlCol="0" anchor="ctr"/>
          <a:lstStyle/>
          <a:p>
            <a:pPr algn="r" indent="0" marL="0">
              <a:buNone/>
            </a:pPr>
            <a:r>
              <a:rPr lang="en-US" sz="1050" b="1" dirty="0">
                <a:solidFill>
                  <a:srgbClr val="D98324"/>
                </a:solidFill>
                <a:latin typeface="Calibri" pitchFamily="34" charset="0"/>
                <a:ea typeface="Calibri" pitchFamily="34" charset="-122"/>
                <a:cs typeface="Calibri" pitchFamily="34" charset="-120"/>
              </a:rPr>
              <a:t>Task 5</a:t>
            </a:r>
            <a:endParaRPr lang="en-US" sz="1050" dirty="0"/>
          </a:p>
        </p:txBody>
      </p:sp>
      <p:sp>
        <p:nvSpPr>
          <p:cNvPr id="28" name="Text 26"/>
          <p:cNvSpPr txBox="1"/>
          <p:nvPr/>
        </p:nvSpPr>
        <p:spPr>
          <a:xfrm>
            <a:off x="1417320" y="4224528"/>
            <a:ext cx="4343400" cy="5029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The exact mix / within decomposition and what it attributes the fall to</a:t>
            </a:r>
            <a:endParaRPr lang="en-US" sz="1050" dirty="0"/>
          </a:p>
        </p:txBody>
      </p:sp>
      <p:sp>
        <p:nvSpPr>
          <p:cNvPr id="29" name="Shape 27"/>
          <p:cNvSpPr/>
          <p:nvPr/>
        </p:nvSpPr>
        <p:spPr>
          <a:xfrm>
            <a:off x="6172200" y="3803904"/>
            <a:ext cx="5394960" cy="987552"/>
          </a:xfrm>
          <a:prstGeom prst="roundRect">
            <a:avLst>
              <a:gd name="adj" fmla="val 5556"/>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30" name="Text 28"/>
          <p:cNvSpPr txBox="1"/>
          <p:nvPr/>
        </p:nvSpPr>
        <p:spPr>
          <a:xfrm>
            <a:off x="6355080" y="4023360"/>
            <a:ext cx="640080" cy="457200"/>
          </a:xfrm>
          <a:prstGeom prst="rect">
            <a:avLst/>
          </a:prstGeom>
          <a:noFill/>
          <a:ln/>
        </p:spPr>
        <p:txBody>
          <a:bodyPr wrap="square" lIns="0" tIns="0" rIns="0" bIns="0" rtlCol="0" anchor="ctr"/>
          <a:lstStyle/>
          <a:p>
            <a:pPr indent="0" marL="0">
              <a:buNone/>
            </a:pPr>
            <a:r>
              <a:rPr lang="en-US" sz="2400" b="1" dirty="0">
                <a:solidFill>
                  <a:srgbClr val="B8C4D2"/>
                </a:solidFill>
                <a:latin typeface="Cambria" pitchFamily="34" charset="0"/>
                <a:ea typeface="Cambria" pitchFamily="34" charset="-122"/>
                <a:cs typeface="Cambria" pitchFamily="34" charset="-120"/>
              </a:rPr>
              <a:t>06</a:t>
            </a:r>
            <a:endParaRPr lang="en-US" sz="2400" dirty="0"/>
          </a:p>
        </p:txBody>
      </p:sp>
      <p:sp>
        <p:nvSpPr>
          <p:cNvPr id="31" name="Text 29"/>
          <p:cNvSpPr txBox="1"/>
          <p:nvPr/>
        </p:nvSpPr>
        <p:spPr>
          <a:xfrm>
            <a:off x="7040880" y="3931920"/>
            <a:ext cx="3108960" cy="274320"/>
          </a:xfrm>
          <a:prstGeom prst="rect">
            <a:avLst/>
          </a:prstGeom>
          <a:noFill/>
          <a:ln/>
        </p:spPr>
        <p:txBody>
          <a:bodyPr wrap="square" lIns="0" tIns="0" rIns="0" bIns="0" rtlCol="0" anchor="ctr"/>
          <a:lstStyle/>
          <a:p>
            <a:pPr indent="0" marL="0">
              <a:buNone/>
            </a:pPr>
            <a:r>
              <a:rPr lang="en-US" sz="1350" b="1" dirty="0">
                <a:solidFill>
                  <a:srgbClr val="12233C"/>
                </a:solidFill>
                <a:latin typeface="Calibri" pitchFamily="34" charset="0"/>
                <a:ea typeface="Calibri" pitchFamily="34" charset="-122"/>
                <a:cs typeface="Calibri" pitchFamily="34" charset="-120"/>
              </a:rPr>
              <a:t>Operational and commercial diagnosis</a:t>
            </a:r>
            <a:endParaRPr lang="en-US" sz="1350" dirty="0"/>
          </a:p>
        </p:txBody>
      </p:sp>
      <p:sp>
        <p:nvSpPr>
          <p:cNvPr id="32" name="Text 30"/>
          <p:cNvSpPr txBox="1"/>
          <p:nvPr/>
        </p:nvSpPr>
        <p:spPr>
          <a:xfrm>
            <a:off x="10195560" y="3941064"/>
            <a:ext cx="1188720" cy="237744"/>
          </a:xfrm>
          <a:prstGeom prst="rect">
            <a:avLst/>
          </a:prstGeom>
          <a:noFill/>
          <a:ln/>
        </p:spPr>
        <p:txBody>
          <a:bodyPr wrap="square" lIns="0" tIns="0" rIns="0" bIns="0" rtlCol="0" anchor="ctr"/>
          <a:lstStyle/>
          <a:p>
            <a:pPr algn="r" indent="0" marL="0">
              <a:buNone/>
            </a:pPr>
            <a:r>
              <a:rPr lang="en-US" sz="1050" b="1" dirty="0">
                <a:solidFill>
                  <a:srgbClr val="D98324"/>
                </a:solidFill>
                <a:latin typeface="Calibri" pitchFamily="34" charset="0"/>
                <a:ea typeface="Calibri" pitchFamily="34" charset="-122"/>
                <a:cs typeface="Calibri" pitchFamily="34" charset="-120"/>
              </a:rPr>
              <a:t>Task 6</a:t>
            </a:r>
            <a:endParaRPr lang="en-US" sz="1050" dirty="0"/>
          </a:p>
        </p:txBody>
      </p:sp>
      <p:sp>
        <p:nvSpPr>
          <p:cNvPr id="33" name="Text 31"/>
          <p:cNvSpPr txBox="1"/>
          <p:nvPr/>
        </p:nvSpPr>
        <p:spPr>
          <a:xfrm>
            <a:off x="7040880" y="4224528"/>
            <a:ext cx="4343400" cy="5029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Six hypotheses tested, three disproved, one real incident correctly parked</a:t>
            </a:r>
            <a:endParaRPr lang="en-US" sz="1050" dirty="0"/>
          </a:p>
        </p:txBody>
      </p:sp>
      <p:sp>
        <p:nvSpPr>
          <p:cNvPr id="34" name="Shape 32"/>
          <p:cNvSpPr/>
          <p:nvPr/>
        </p:nvSpPr>
        <p:spPr>
          <a:xfrm>
            <a:off x="548640" y="4919472"/>
            <a:ext cx="5394960" cy="987552"/>
          </a:xfrm>
          <a:prstGeom prst="roundRect">
            <a:avLst>
              <a:gd name="adj" fmla="val 5556"/>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35" name="Text 33"/>
          <p:cNvSpPr txBox="1"/>
          <p:nvPr/>
        </p:nvSpPr>
        <p:spPr>
          <a:xfrm>
            <a:off x="731520" y="5138928"/>
            <a:ext cx="640080" cy="457200"/>
          </a:xfrm>
          <a:prstGeom prst="rect">
            <a:avLst/>
          </a:prstGeom>
          <a:noFill/>
          <a:ln/>
        </p:spPr>
        <p:txBody>
          <a:bodyPr wrap="square" lIns="0" tIns="0" rIns="0" bIns="0" rtlCol="0" anchor="ctr"/>
          <a:lstStyle/>
          <a:p>
            <a:pPr indent="0" marL="0">
              <a:buNone/>
            </a:pPr>
            <a:r>
              <a:rPr lang="en-US" sz="2400" b="1" dirty="0">
                <a:solidFill>
                  <a:srgbClr val="B8C4D2"/>
                </a:solidFill>
                <a:latin typeface="Cambria" pitchFamily="34" charset="0"/>
                <a:ea typeface="Cambria" pitchFamily="34" charset="-122"/>
                <a:cs typeface="Cambria" pitchFamily="34" charset="-120"/>
              </a:rPr>
              <a:t>07</a:t>
            </a:r>
            <a:endParaRPr lang="en-US" sz="2400" dirty="0"/>
          </a:p>
        </p:txBody>
      </p:sp>
      <p:sp>
        <p:nvSpPr>
          <p:cNvPr id="36" name="Text 34"/>
          <p:cNvSpPr txBox="1"/>
          <p:nvPr/>
        </p:nvSpPr>
        <p:spPr>
          <a:xfrm>
            <a:off x="1417320" y="5047488"/>
            <a:ext cx="3108960" cy="274320"/>
          </a:xfrm>
          <a:prstGeom prst="rect">
            <a:avLst/>
          </a:prstGeom>
          <a:noFill/>
          <a:ln/>
        </p:spPr>
        <p:txBody>
          <a:bodyPr wrap="square" lIns="0" tIns="0" rIns="0" bIns="0" rtlCol="0" anchor="ctr"/>
          <a:lstStyle/>
          <a:p>
            <a:pPr indent="0" marL="0">
              <a:buNone/>
            </a:pPr>
            <a:r>
              <a:rPr lang="en-US" sz="1350" b="1" dirty="0">
                <a:solidFill>
                  <a:srgbClr val="12233C"/>
                </a:solidFill>
                <a:latin typeface="Calibri" pitchFamily="34" charset="0"/>
                <a:ea typeface="Calibri" pitchFamily="34" charset="-122"/>
                <a:cs typeface="Calibri" pitchFamily="34" charset="-120"/>
              </a:rPr>
              <a:t>The executive dashboard</a:t>
            </a:r>
            <a:endParaRPr lang="en-US" sz="1350" dirty="0"/>
          </a:p>
        </p:txBody>
      </p:sp>
      <p:sp>
        <p:nvSpPr>
          <p:cNvPr id="37" name="Text 35"/>
          <p:cNvSpPr txBox="1"/>
          <p:nvPr/>
        </p:nvSpPr>
        <p:spPr>
          <a:xfrm>
            <a:off x="4572000" y="5056632"/>
            <a:ext cx="1188720" cy="237744"/>
          </a:xfrm>
          <a:prstGeom prst="rect">
            <a:avLst/>
          </a:prstGeom>
          <a:noFill/>
          <a:ln/>
        </p:spPr>
        <p:txBody>
          <a:bodyPr wrap="square" lIns="0" tIns="0" rIns="0" bIns="0" rtlCol="0" anchor="ctr"/>
          <a:lstStyle/>
          <a:p>
            <a:pPr algn="r" indent="0" marL="0">
              <a:buNone/>
            </a:pPr>
            <a:r>
              <a:rPr lang="en-US" sz="1050" b="1" dirty="0">
                <a:solidFill>
                  <a:srgbClr val="D98324"/>
                </a:solidFill>
                <a:latin typeface="Calibri" pitchFamily="34" charset="0"/>
                <a:ea typeface="Calibri" pitchFamily="34" charset="-122"/>
                <a:cs typeface="Calibri" pitchFamily="34" charset="-120"/>
              </a:rPr>
              <a:t>Task 7</a:t>
            </a:r>
            <a:endParaRPr lang="en-US" sz="1050" dirty="0"/>
          </a:p>
        </p:txBody>
      </p:sp>
      <p:sp>
        <p:nvSpPr>
          <p:cNvPr id="38" name="Text 36"/>
          <p:cNvSpPr txBox="1"/>
          <p:nvPr/>
        </p:nvSpPr>
        <p:spPr>
          <a:xfrm>
            <a:off x="1417320" y="5340096"/>
            <a:ext cx="4343400" cy="5029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Power BI star model, DAX measures, the non-additive trap, three report pages</a:t>
            </a:r>
            <a:endParaRPr lang="en-US" sz="1050" dirty="0"/>
          </a:p>
        </p:txBody>
      </p:sp>
      <p:sp>
        <p:nvSpPr>
          <p:cNvPr id="39" name="Shape 37"/>
          <p:cNvSpPr/>
          <p:nvPr/>
        </p:nvSpPr>
        <p:spPr>
          <a:xfrm>
            <a:off x="6172200" y="4919472"/>
            <a:ext cx="5394960" cy="987552"/>
          </a:xfrm>
          <a:prstGeom prst="roundRect">
            <a:avLst>
              <a:gd name="adj" fmla="val 5556"/>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40" name="Text 38"/>
          <p:cNvSpPr txBox="1"/>
          <p:nvPr/>
        </p:nvSpPr>
        <p:spPr>
          <a:xfrm>
            <a:off x="6355080" y="5138928"/>
            <a:ext cx="640080" cy="457200"/>
          </a:xfrm>
          <a:prstGeom prst="rect">
            <a:avLst/>
          </a:prstGeom>
          <a:noFill/>
          <a:ln/>
        </p:spPr>
        <p:txBody>
          <a:bodyPr wrap="square" lIns="0" tIns="0" rIns="0" bIns="0" rtlCol="0" anchor="ctr"/>
          <a:lstStyle/>
          <a:p>
            <a:pPr indent="0" marL="0">
              <a:buNone/>
            </a:pPr>
            <a:r>
              <a:rPr lang="en-US" sz="2400" b="1" dirty="0">
                <a:solidFill>
                  <a:srgbClr val="B8C4D2"/>
                </a:solidFill>
                <a:latin typeface="Cambria" pitchFamily="34" charset="0"/>
                <a:ea typeface="Cambria" pitchFamily="34" charset="-122"/>
                <a:cs typeface="Cambria" pitchFamily="34" charset="-120"/>
              </a:rPr>
              <a:t>08</a:t>
            </a:r>
            <a:endParaRPr lang="en-US" sz="2400" dirty="0"/>
          </a:p>
        </p:txBody>
      </p:sp>
      <p:sp>
        <p:nvSpPr>
          <p:cNvPr id="41" name="Text 39"/>
          <p:cNvSpPr txBox="1"/>
          <p:nvPr/>
        </p:nvSpPr>
        <p:spPr>
          <a:xfrm>
            <a:off x="7040880" y="5047488"/>
            <a:ext cx="3108960" cy="274320"/>
          </a:xfrm>
          <a:prstGeom prst="rect">
            <a:avLst/>
          </a:prstGeom>
          <a:noFill/>
          <a:ln/>
        </p:spPr>
        <p:txBody>
          <a:bodyPr wrap="square" lIns="0" tIns="0" rIns="0" bIns="0" rtlCol="0" anchor="ctr"/>
          <a:lstStyle/>
          <a:p>
            <a:pPr indent="0" marL="0">
              <a:buNone/>
            </a:pPr>
            <a:r>
              <a:rPr lang="en-US" sz="1350" b="1" dirty="0">
                <a:solidFill>
                  <a:srgbClr val="12233C"/>
                </a:solidFill>
                <a:latin typeface="Calibri" pitchFamily="34" charset="0"/>
                <a:ea typeface="Calibri" pitchFamily="34" charset="-122"/>
                <a:cs typeface="Calibri" pitchFamily="34" charset="-120"/>
              </a:rPr>
              <a:t>Decision and conclusion</a:t>
            </a:r>
            <a:endParaRPr lang="en-US" sz="1350" dirty="0"/>
          </a:p>
        </p:txBody>
      </p:sp>
      <p:sp>
        <p:nvSpPr>
          <p:cNvPr id="42" name="Text 40"/>
          <p:cNvSpPr txBox="1"/>
          <p:nvPr/>
        </p:nvSpPr>
        <p:spPr>
          <a:xfrm>
            <a:off x="10195560" y="5056632"/>
            <a:ext cx="1188720" cy="237744"/>
          </a:xfrm>
          <a:prstGeom prst="rect">
            <a:avLst/>
          </a:prstGeom>
          <a:noFill/>
          <a:ln/>
        </p:spPr>
        <p:txBody>
          <a:bodyPr wrap="square" lIns="0" tIns="0" rIns="0" bIns="0" rtlCol="0" anchor="ctr"/>
          <a:lstStyle/>
          <a:p>
            <a:pPr algn="r" indent="0" marL="0">
              <a:buNone/>
            </a:pPr>
            <a:r>
              <a:rPr lang="en-US" sz="1050" b="1" dirty="0">
                <a:solidFill>
                  <a:srgbClr val="D98324"/>
                </a:solidFill>
                <a:latin typeface="Calibri" pitchFamily="34" charset="0"/>
                <a:ea typeface="Calibri" pitchFamily="34" charset="-122"/>
                <a:cs typeface="Calibri" pitchFamily="34" charset="-120"/>
              </a:rPr>
              <a:t>Task 8</a:t>
            </a:r>
            <a:endParaRPr lang="en-US" sz="1050" dirty="0"/>
          </a:p>
        </p:txBody>
      </p:sp>
      <p:sp>
        <p:nvSpPr>
          <p:cNvPr id="43" name="Text 41"/>
          <p:cNvSpPr txBox="1"/>
          <p:nvPr/>
        </p:nvSpPr>
        <p:spPr>
          <a:xfrm>
            <a:off x="7040880" y="5340096"/>
            <a:ext cx="4343400" cy="5029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The 60-day plan, the risks, the limits, and what would change the answer</a:t>
            </a:r>
            <a:endParaRPr lang="en-US" sz="1050" dirty="0"/>
          </a:p>
        </p:txBody>
      </p:sp>
      <p:sp>
        <p:nvSpPr>
          <p:cNvPr id="44" name="Text 42"/>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Every figure quoted in this deck is reproducible from the notebooks in the repository. Nothing here is estimated or rounded from memory.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33C"/>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37744"/>
          </a:xfrm>
          <a:prstGeom prst="rect">
            <a:avLst/>
          </a:prstGeom>
          <a:noFill/>
          <a:ln/>
        </p:spPr>
        <p:txBody>
          <a:bodyPr wrap="square" lIns="0" tIns="0" rIns="0" bIns="0" rtlCol="0" anchor="ctr"/>
          <a:lstStyle/>
          <a:p>
            <a:pPr indent="0" marL="0">
              <a:buNone/>
            </a:pPr>
            <a:r>
              <a:rPr lang="en-US" sz="1050" b="1" spc="200" kern="0" dirty="0">
                <a:solidFill>
                  <a:srgbClr val="F2B366"/>
                </a:solidFill>
                <a:latin typeface="Calibri" pitchFamily="34" charset="0"/>
                <a:ea typeface="Calibri" pitchFamily="34" charset="-122"/>
                <a:cs typeface="Calibri" pitchFamily="34" charset="-120"/>
              </a:rPr>
              <a:t>EXECUTIVE SUMMARY</a:t>
            </a:r>
            <a:endParaRPr lang="en-US" sz="1050" dirty="0"/>
          </a:p>
        </p:txBody>
      </p:sp>
      <p:sp>
        <p:nvSpPr>
          <p:cNvPr id="3" name="Text 1"/>
          <p:cNvSpPr txBox="1"/>
          <p:nvPr/>
        </p:nvSpPr>
        <p:spPr>
          <a:xfrm>
            <a:off x="594360" y="603504"/>
            <a:ext cx="1097280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Three true statements that look like a contradiction</a:t>
            </a:r>
            <a:endParaRPr lang="en-US" sz="2600" dirty="0"/>
          </a:p>
        </p:txBody>
      </p:sp>
      <p:sp>
        <p:nvSpPr>
          <p:cNvPr id="4" name="Text 2"/>
          <p:cNvSpPr txBox="1"/>
          <p:nvPr/>
        </p:nvSpPr>
        <p:spPr>
          <a:xfrm>
            <a:off x="594360" y="1115568"/>
            <a:ext cx="10972800" cy="310896"/>
          </a:xfrm>
          <a:prstGeom prst="rect">
            <a:avLst/>
          </a:prstGeom>
          <a:noFill/>
          <a:ln/>
        </p:spPr>
        <p:txBody>
          <a:bodyPr wrap="square" lIns="0" tIns="0" rIns="0" bIns="0" rtlCol="0" anchor="ctr"/>
          <a:lstStyle/>
          <a:p>
            <a:pPr indent="0" marL="0">
              <a:buNone/>
            </a:pPr>
            <a:r>
              <a:rPr lang="en-US" sz="1300" dirty="0">
                <a:solidFill>
                  <a:srgbClr val="CBD7E6"/>
                </a:solidFill>
                <a:latin typeface="Calibri" pitchFamily="34" charset="0"/>
                <a:ea typeface="Calibri" pitchFamily="34" charset="-122"/>
                <a:cs typeface="Calibri" pitchFamily="34" charset="-120"/>
              </a:rPr>
              <a:t>Every stakeholder in the room can cite a number and be right. That is what makes this a diagnosis problem rather than a reporting problem.</a:t>
            </a:r>
            <a:endParaRPr lang="en-US" sz="1300" dirty="0"/>
          </a:p>
        </p:txBody>
      </p:sp>
      <p:sp>
        <p:nvSpPr>
          <p:cNvPr id="5" name="Shape 3"/>
          <p:cNvSpPr/>
          <p:nvPr/>
        </p:nvSpPr>
        <p:spPr>
          <a:xfrm>
            <a:off x="594360" y="1737360"/>
            <a:ext cx="3438144" cy="1737360"/>
          </a:xfrm>
          <a:prstGeom prst="roundRect">
            <a:avLst>
              <a:gd name="adj" fmla="val 3158"/>
            </a:avLst>
          </a:prstGeom>
          <a:solidFill>
            <a:srgbClr val="1B3A5F"/>
          </a:solidFill>
          <a:ln w="12700">
            <a:solidFill>
              <a:srgbClr val="2E5580"/>
            </a:solidFill>
            <a:prstDash val="solid"/>
          </a:ln>
        </p:spPr>
      </p:sp>
      <p:sp>
        <p:nvSpPr>
          <p:cNvPr id="6" name="Text 4"/>
          <p:cNvSpPr txBox="1"/>
          <p:nvPr/>
        </p:nvSpPr>
        <p:spPr>
          <a:xfrm>
            <a:off x="822960" y="1901952"/>
            <a:ext cx="2980944" cy="274320"/>
          </a:xfrm>
          <a:prstGeom prst="rect">
            <a:avLst/>
          </a:prstGeom>
          <a:noFill/>
          <a:ln/>
        </p:spPr>
        <p:txBody>
          <a:bodyPr wrap="square" lIns="0" tIns="0" rIns="0" bIns="0" rtlCol="0" anchor="ctr"/>
          <a:lstStyle/>
          <a:p>
            <a:pPr indent="0" marL="0">
              <a:buNone/>
            </a:pPr>
            <a:r>
              <a:rPr lang="en-US" sz="1250" b="1" dirty="0">
                <a:solidFill>
                  <a:srgbClr val="CBD7E6"/>
                </a:solidFill>
                <a:latin typeface="Calibri" pitchFamily="34" charset="0"/>
                <a:ea typeface="Calibri" pitchFamily="34" charset="-122"/>
                <a:cs typeface="Calibri" pitchFamily="34" charset="-120"/>
              </a:rPr>
              <a:t>Volume is up</a:t>
            </a:r>
            <a:endParaRPr lang="en-US" sz="1250" dirty="0"/>
          </a:p>
        </p:txBody>
      </p:sp>
      <p:sp>
        <p:nvSpPr>
          <p:cNvPr id="7" name="Text 5"/>
          <p:cNvSpPr txBox="1"/>
          <p:nvPr/>
        </p:nvSpPr>
        <p:spPr>
          <a:xfrm>
            <a:off x="822960" y="2240280"/>
            <a:ext cx="2980944" cy="594360"/>
          </a:xfrm>
          <a:prstGeom prst="rect">
            <a:avLst/>
          </a:prstGeom>
          <a:noFill/>
          <a:ln/>
        </p:spPr>
        <p:txBody>
          <a:bodyPr wrap="square" lIns="0" tIns="0" rIns="0" bIns="0" rtlCol="0" anchor="ctr"/>
          <a:lstStyle/>
          <a:p>
            <a:pPr indent="0" marL="0">
              <a:buNone/>
            </a:pPr>
            <a:r>
              <a:rPr lang="en-US" sz="3200" b="1" dirty="0">
                <a:solidFill>
                  <a:srgbClr val="7FD4D2"/>
                </a:solidFill>
                <a:latin typeface="Cambria" pitchFamily="34" charset="0"/>
                <a:ea typeface="Cambria" pitchFamily="34" charset="-122"/>
                <a:cs typeface="Cambria" pitchFamily="34" charset="-120"/>
              </a:rPr>
              <a:t>+70.1%</a:t>
            </a:r>
            <a:endParaRPr lang="en-US" sz="3200" dirty="0"/>
          </a:p>
        </p:txBody>
      </p:sp>
      <p:sp>
        <p:nvSpPr>
          <p:cNvPr id="8" name="Text 6"/>
          <p:cNvSpPr txBox="1"/>
          <p:nvPr/>
        </p:nvSpPr>
        <p:spPr>
          <a:xfrm>
            <a:off x="822960" y="2907792"/>
            <a:ext cx="2980944" cy="457200"/>
          </a:xfrm>
          <a:prstGeom prst="rect">
            <a:avLst/>
          </a:prstGeom>
          <a:noFill/>
          <a:ln/>
        </p:spPr>
        <p:txBody>
          <a:bodyPr wrap="square" lIns="0" tIns="0" rIns="0" bIns="0" rtlCol="0" anchor="ctr"/>
          <a:lstStyle/>
          <a:p>
            <a:pPr indent="0" marL="0">
              <a:lnSpc>
                <a:spcPts val="1300"/>
              </a:lnSpc>
              <a:buNone/>
            </a:pPr>
            <a:r>
              <a:rPr lang="en-US" sz="1100" dirty="0">
                <a:solidFill>
                  <a:srgbClr val="8FA6C4"/>
                </a:solidFill>
                <a:latin typeface="Calibri" pitchFamily="34" charset="0"/>
                <a:ea typeface="Calibri" pitchFamily="34" charset="-122"/>
                <a:cs typeface="Calibri" pitchFamily="34" charset="-120"/>
              </a:rPr>
              <a:t>16,400 → 27,903 attempts per month</a:t>
            </a:r>
            <a:endParaRPr lang="en-US" sz="1100" dirty="0"/>
          </a:p>
        </p:txBody>
      </p:sp>
      <p:sp>
        <p:nvSpPr>
          <p:cNvPr id="9" name="Shape 7"/>
          <p:cNvSpPr/>
          <p:nvPr/>
        </p:nvSpPr>
        <p:spPr>
          <a:xfrm>
            <a:off x="4306824" y="1737360"/>
            <a:ext cx="3438144" cy="1737360"/>
          </a:xfrm>
          <a:prstGeom prst="roundRect">
            <a:avLst>
              <a:gd name="adj" fmla="val 3158"/>
            </a:avLst>
          </a:prstGeom>
          <a:solidFill>
            <a:srgbClr val="1B3A5F"/>
          </a:solidFill>
          <a:ln w="12700">
            <a:solidFill>
              <a:srgbClr val="2E5580"/>
            </a:solidFill>
            <a:prstDash val="solid"/>
          </a:ln>
        </p:spPr>
      </p:sp>
      <p:sp>
        <p:nvSpPr>
          <p:cNvPr id="10" name="Text 8"/>
          <p:cNvSpPr txBox="1"/>
          <p:nvPr/>
        </p:nvSpPr>
        <p:spPr>
          <a:xfrm>
            <a:off x="4535424" y="1901952"/>
            <a:ext cx="2980944" cy="274320"/>
          </a:xfrm>
          <a:prstGeom prst="rect">
            <a:avLst/>
          </a:prstGeom>
          <a:noFill/>
          <a:ln/>
        </p:spPr>
        <p:txBody>
          <a:bodyPr wrap="square" lIns="0" tIns="0" rIns="0" bIns="0" rtlCol="0" anchor="ctr"/>
          <a:lstStyle/>
          <a:p>
            <a:pPr indent="0" marL="0">
              <a:buNone/>
            </a:pPr>
            <a:r>
              <a:rPr lang="en-US" sz="1250" b="1" dirty="0">
                <a:solidFill>
                  <a:srgbClr val="CBD7E6"/>
                </a:solidFill>
                <a:latin typeface="Calibri" pitchFamily="34" charset="0"/>
                <a:ea typeface="Calibri" pitchFamily="34" charset="-122"/>
                <a:cs typeface="Calibri" pitchFamily="34" charset="-120"/>
              </a:rPr>
              <a:t>Total profit is up</a:t>
            </a:r>
            <a:endParaRPr lang="en-US" sz="1250" dirty="0"/>
          </a:p>
        </p:txBody>
      </p:sp>
      <p:sp>
        <p:nvSpPr>
          <p:cNvPr id="11" name="Text 9"/>
          <p:cNvSpPr txBox="1"/>
          <p:nvPr/>
        </p:nvSpPr>
        <p:spPr>
          <a:xfrm>
            <a:off x="4535424" y="2240280"/>
            <a:ext cx="2980944" cy="594360"/>
          </a:xfrm>
          <a:prstGeom prst="rect">
            <a:avLst/>
          </a:prstGeom>
          <a:noFill/>
          <a:ln/>
        </p:spPr>
        <p:txBody>
          <a:bodyPr wrap="square" lIns="0" tIns="0" rIns="0" bIns="0" rtlCol="0" anchor="ctr"/>
          <a:lstStyle/>
          <a:p>
            <a:pPr indent="0" marL="0">
              <a:buNone/>
            </a:pPr>
            <a:r>
              <a:rPr lang="en-US" sz="3200" b="1" dirty="0">
                <a:solidFill>
                  <a:srgbClr val="7FD4D2"/>
                </a:solidFill>
                <a:latin typeface="Cambria" pitchFamily="34" charset="0"/>
                <a:ea typeface="Cambria" pitchFamily="34" charset="-122"/>
                <a:cs typeface="Cambria" pitchFamily="34" charset="-120"/>
              </a:rPr>
              <a:t>+13.6%</a:t>
            </a:r>
            <a:endParaRPr lang="en-US" sz="3200" dirty="0"/>
          </a:p>
        </p:txBody>
      </p:sp>
      <p:sp>
        <p:nvSpPr>
          <p:cNvPr id="12" name="Text 10"/>
          <p:cNvSpPr txBox="1"/>
          <p:nvPr/>
        </p:nvSpPr>
        <p:spPr>
          <a:xfrm>
            <a:off x="4535424" y="2907792"/>
            <a:ext cx="2980944" cy="457200"/>
          </a:xfrm>
          <a:prstGeom prst="rect">
            <a:avLst/>
          </a:prstGeom>
          <a:noFill/>
          <a:ln/>
        </p:spPr>
        <p:txBody>
          <a:bodyPr wrap="square" lIns="0" tIns="0" rIns="0" bIns="0" rtlCol="0" anchor="ctr"/>
          <a:lstStyle/>
          <a:p>
            <a:pPr indent="0" marL="0">
              <a:lnSpc>
                <a:spcPts val="1300"/>
              </a:lnSpc>
              <a:buNone/>
            </a:pPr>
            <a:r>
              <a:rPr lang="en-US" sz="1100" dirty="0">
                <a:solidFill>
                  <a:srgbClr val="8FA6C4"/>
                </a:solidFill>
                <a:latin typeface="Calibri" pitchFamily="34" charset="0"/>
                <a:ea typeface="Calibri" pitchFamily="34" charset="-122"/>
                <a:cs typeface="Calibri" pitchFamily="34" charset="-120"/>
              </a:rPr>
              <a:t>$23,974 → $27,227 per month</a:t>
            </a:r>
            <a:endParaRPr lang="en-US" sz="1100" dirty="0"/>
          </a:p>
        </p:txBody>
      </p:sp>
      <p:sp>
        <p:nvSpPr>
          <p:cNvPr id="13" name="Shape 11"/>
          <p:cNvSpPr/>
          <p:nvPr/>
        </p:nvSpPr>
        <p:spPr>
          <a:xfrm>
            <a:off x="8019288" y="1737360"/>
            <a:ext cx="3438144" cy="1737360"/>
          </a:xfrm>
          <a:prstGeom prst="roundRect">
            <a:avLst>
              <a:gd name="adj" fmla="val 3158"/>
            </a:avLst>
          </a:prstGeom>
          <a:solidFill>
            <a:srgbClr val="1B3A5F"/>
          </a:solidFill>
          <a:ln w="12700">
            <a:solidFill>
              <a:srgbClr val="2E5580"/>
            </a:solidFill>
            <a:prstDash val="solid"/>
          </a:ln>
        </p:spPr>
      </p:sp>
      <p:sp>
        <p:nvSpPr>
          <p:cNvPr id="14" name="Text 12"/>
          <p:cNvSpPr txBox="1"/>
          <p:nvPr/>
        </p:nvSpPr>
        <p:spPr>
          <a:xfrm>
            <a:off x="8247888" y="1901952"/>
            <a:ext cx="2980944" cy="274320"/>
          </a:xfrm>
          <a:prstGeom prst="rect">
            <a:avLst/>
          </a:prstGeom>
          <a:noFill/>
          <a:ln/>
        </p:spPr>
        <p:txBody>
          <a:bodyPr wrap="square" lIns="0" tIns="0" rIns="0" bIns="0" rtlCol="0" anchor="ctr"/>
          <a:lstStyle/>
          <a:p>
            <a:pPr indent="0" marL="0">
              <a:buNone/>
            </a:pPr>
            <a:r>
              <a:rPr lang="en-US" sz="1250" b="1" dirty="0">
                <a:solidFill>
                  <a:srgbClr val="CBD7E6"/>
                </a:solidFill>
                <a:latin typeface="Calibri" pitchFamily="34" charset="0"/>
                <a:ea typeface="Calibri" pitchFamily="34" charset="-122"/>
                <a:cs typeface="Calibri" pitchFamily="34" charset="-120"/>
              </a:rPr>
              <a:t>Profit per transaction is down</a:t>
            </a:r>
            <a:endParaRPr lang="en-US" sz="1250" dirty="0"/>
          </a:p>
        </p:txBody>
      </p:sp>
      <p:sp>
        <p:nvSpPr>
          <p:cNvPr id="15" name="Text 13"/>
          <p:cNvSpPr txBox="1"/>
          <p:nvPr/>
        </p:nvSpPr>
        <p:spPr>
          <a:xfrm>
            <a:off x="8247888" y="2240280"/>
            <a:ext cx="2980944" cy="594360"/>
          </a:xfrm>
          <a:prstGeom prst="rect">
            <a:avLst/>
          </a:prstGeom>
          <a:noFill/>
          <a:ln/>
        </p:spPr>
        <p:txBody>
          <a:bodyPr wrap="square" lIns="0" tIns="0" rIns="0" bIns="0" rtlCol="0" anchor="ctr"/>
          <a:lstStyle/>
          <a:p>
            <a:pPr indent="0" marL="0">
              <a:buNone/>
            </a:pPr>
            <a:r>
              <a:rPr lang="en-US" sz="3200" b="1" dirty="0">
                <a:solidFill>
                  <a:srgbClr val="F2B366"/>
                </a:solidFill>
                <a:latin typeface="Cambria" pitchFamily="34" charset="0"/>
                <a:ea typeface="Cambria" pitchFamily="34" charset="-122"/>
                <a:cs typeface="Cambria" pitchFamily="34" charset="-120"/>
              </a:rPr>
              <a:t>−32.8%</a:t>
            </a:r>
            <a:endParaRPr lang="en-US" sz="3200" dirty="0"/>
          </a:p>
        </p:txBody>
      </p:sp>
      <p:sp>
        <p:nvSpPr>
          <p:cNvPr id="16" name="Text 14"/>
          <p:cNvSpPr txBox="1"/>
          <p:nvPr/>
        </p:nvSpPr>
        <p:spPr>
          <a:xfrm>
            <a:off x="8247888" y="2907792"/>
            <a:ext cx="2980944" cy="457200"/>
          </a:xfrm>
          <a:prstGeom prst="rect">
            <a:avLst/>
          </a:prstGeom>
          <a:noFill/>
          <a:ln/>
        </p:spPr>
        <p:txBody>
          <a:bodyPr wrap="square" lIns="0" tIns="0" rIns="0" bIns="0" rtlCol="0" anchor="ctr"/>
          <a:lstStyle/>
          <a:p>
            <a:pPr indent="0" marL="0">
              <a:lnSpc>
                <a:spcPts val="1300"/>
              </a:lnSpc>
              <a:buNone/>
            </a:pPr>
            <a:r>
              <a:rPr lang="en-US" sz="1100" dirty="0">
                <a:solidFill>
                  <a:srgbClr val="8FA6C4"/>
                </a:solidFill>
                <a:latin typeface="Calibri" pitchFamily="34" charset="0"/>
                <a:ea typeface="Calibri" pitchFamily="34" charset="-122"/>
                <a:cs typeface="Calibri" pitchFamily="34" charset="-120"/>
              </a:rPr>
              <a:t>$1.620 → $1.089 per successful txn</a:t>
            </a:r>
            <a:endParaRPr lang="en-US" sz="1100" dirty="0"/>
          </a:p>
        </p:txBody>
      </p:sp>
      <p:sp>
        <p:nvSpPr>
          <p:cNvPr id="17" name="Text 15"/>
          <p:cNvSpPr txBox="1"/>
          <p:nvPr/>
        </p:nvSpPr>
        <p:spPr>
          <a:xfrm>
            <a:off x="594360" y="3703320"/>
            <a:ext cx="5486400" cy="292608"/>
          </a:xfrm>
          <a:prstGeom prst="rect">
            <a:avLst/>
          </a:prstGeom>
          <a:noFill/>
          <a:ln/>
        </p:spPr>
        <p:txBody>
          <a:bodyPr wrap="square" lIns="0" tIns="0" rIns="0" bIns="0" rtlCol="0" anchor="ctr"/>
          <a:lstStyle/>
          <a:p>
            <a:pPr indent="0" marL="0">
              <a:buNone/>
            </a:pPr>
            <a:r>
              <a:rPr lang="en-US" sz="1300" b="1" spc="150" kern="0" dirty="0">
                <a:solidFill>
                  <a:srgbClr val="F2B366"/>
                </a:solidFill>
                <a:latin typeface="Calibri" pitchFamily="34" charset="0"/>
                <a:ea typeface="Calibri" pitchFamily="34" charset="-122"/>
                <a:cs typeface="Calibri" pitchFamily="34" charset="-120"/>
              </a:rPr>
              <a:t>The resolution</a:t>
            </a:r>
            <a:endParaRPr lang="en-US" sz="1300" dirty="0"/>
          </a:p>
        </p:txBody>
      </p:sp>
      <p:sp>
        <p:nvSpPr>
          <p:cNvPr id="18" name="Text 16"/>
          <p:cNvSpPr txBox="1"/>
          <p:nvPr/>
        </p:nvSpPr>
        <p:spPr>
          <a:xfrm>
            <a:off x="594360" y="4069080"/>
            <a:ext cx="320040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Dilution, not deterioration</a:t>
            </a:r>
            <a:endParaRPr lang="en-US" sz="1250" dirty="0"/>
          </a:p>
        </p:txBody>
      </p:sp>
      <p:sp>
        <p:nvSpPr>
          <p:cNvPr id="19" name="Text 17"/>
          <p:cNvSpPr txBox="1"/>
          <p:nvPr/>
        </p:nvSpPr>
        <p:spPr>
          <a:xfrm>
            <a:off x="3931920" y="4069080"/>
            <a:ext cx="7635240" cy="457200"/>
          </a:xfrm>
          <a:prstGeom prst="rect">
            <a:avLst/>
          </a:prstGeom>
          <a:noFill/>
          <a:ln/>
        </p:spPr>
        <p:txBody>
          <a:bodyPr wrap="square" lIns="0" tIns="0" rIns="0" bIns="0" rtlCol="0" anchor="ctr"/>
          <a:lstStyle/>
          <a:p>
            <a:pPr indent="0" marL="0">
              <a:lnSpc>
                <a:spcPts val="1400"/>
              </a:lnSpc>
              <a:buNone/>
            </a:pPr>
            <a:r>
              <a:rPr lang="en-US" sz="1150" dirty="0">
                <a:solidFill>
                  <a:srgbClr val="CBD7E6"/>
                </a:solidFill>
                <a:latin typeface="Calibri" pitchFamily="34" charset="0"/>
                <a:ea typeface="Calibri" pitchFamily="34" charset="-122"/>
                <a:cs typeface="Calibri" pitchFamily="34" charset="-120"/>
              </a:rPr>
              <a:t>88.6% of the fall is the mix of ticket sizes shifting. Almost every individual segment held its own economics or improved.</a:t>
            </a:r>
            <a:endParaRPr lang="en-US" sz="1150" dirty="0"/>
          </a:p>
        </p:txBody>
      </p:sp>
      <p:sp>
        <p:nvSpPr>
          <p:cNvPr id="20" name="Text 18"/>
          <p:cNvSpPr txBox="1"/>
          <p:nvPr/>
        </p:nvSpPr>
        <p:spPr>
          <a:xfrm>
            <a:off x="594360" y="4599432"/>
            <a:ext cx="320040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Growth landed in the wrong place</a:t>
            </a:r>
            <a:endParaRPr lang="en-US" sz="1250" dirty="0"/>
          </a:p>
        </p:txBody>
      </p:sp>
      <p:sp>
        <p:nvSpPr>
          <p:cNvPr id="21" name="Text 19"/>
          <p:cNvSpPr txBox="1"/>
          <p:nvPr/>
        </p:nvSpPr>
        <p:spPr>
          <a:xfrm>
            <a:off x="3931920" y="4599432"/>
            <a:ext cx="7635240" cy="457200"/>
          </a:xfrm>
          <a:prstGeom prst="rect">
            <a:avLst/>
          </a:prstGeom>
          <a:noFill/>
          <a:ln/>
        </p:spPr>
        <p:txBody>
          <a:bodyPr wrap="square" lIns="0" tIns="0" rIns="0" bIns="0" rtlCol="0" anchor="ctr"/>
          <a:lstStyle/>
          <a:p>
            <a:pPr indent="0" marL="0">
              <a:lnSpc>
                <a:spcPts val="1400"/>
              </a:lnSpc>
              <a:buNone/>
            </a:pPr>
            <a:r>
              <a:rPr lang="en-US" sz="1150" dirty="0">
                <a:solidFill>
                  <a:srgbClr val="CBD7E6"/>
                </a:solidFill>
                <a:latin typeface="Calibri" pitchFamily="34" charset="0"/>
                <a:ea typeface="Calibri" pitchFamily="34" charset="-122"/>
                <a:cs typeface="Calibri" pitchFamily="34" charset="-120"/>
              </a:rPr>
              <a:t>A $14-median digital-goods cohort went from 8.1% to 33.9% of successful transactions, while TRAVEL, ELECTRONICS and GROCERY all lost share.</a:t>
            </a:r>
            <a:endParaRPr lang="en-US" sz="1150" dirty="0"/>
          </a:p>
        </p:txBody>
      </p:sp>
      <p:sp>
        <p:nvSpPr>
          <p:cNvPr id="22" name="Text 20"/>
          <p:cNvSpPr txBox="1"/>
          <p:nvPr/>
        </p:nvSpPr>
        <p:spPr>
          <a:xfrm>
            <a:off x="594360" y="5129784"/>
            <a:ext cx="320040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And we routed and priced it as if it were large</a:t>
            </a:r>
            <a:endParaRPr lang="en-US" sz="1250" dirty="0"/>
          </a:p>
        </p:txBody>
      </p:sp>
      <p:sp>
        <p:nvSpPr>
          <p:cNvPr id="23" name="Text 21"/>
          <p:cNvSpPr txBox="1"/>
          <p:nvPr/>
        </p:nvSpPr>
        <p:spPr>
          <a:xfrm>
            <a:off x="3931920" y="5129784"/>
            <a:ext cx="7635240" cy="457200"/>
          </a:xfrm>
          <a:prstGeom prst="rect">
            <a:avLst/>
          </a:prstGeom>
          <a:noFill/>
          <a:ln/>
        </p:spPr>
        <p:txBody>
          <a:bodyPr wrap="square" lIns="0" tIns="0" rIns="0" bIns="0" rtlCol="0" anchor="ctr"/>
          <a:lstStyle/>
          <a:p>
            <a:pPr indent="0" marL="0">
              <a:lnSpc>
                <a:spcPts val="1400"/>
              </a:lnSpc>
              <a:buNone/>
            </a:pPr>
            <a:r>
              <a:rPr lang="en-US" sz="1150" dirty="0">
                <a:solidFill>
                  <a:srgbClr val="CBD7E6"/>
                </a:solidFill>
                <a:latin typeface="Calibri" pitchFamily="34" charset="0"/>
                <a:ea typeface="Calibri" pitchFamily="34" charset="-122"/>
                <a:cs typeface="Calibri" pitchFamily="34" charset="-120"/>
              </a:rPr>
              <a:t>Sub-$90 traffic drifted onto the provider whose fixed fee is built for $500 tickets — and that fee rose 50.6% mid-year.</a:t>
            </a:r>
            <a:endParaRPr lang="en-US" sz="1150" dirty="0"/>
          </a:p>
        </p:txBody>
      </p:sp>
      <p:sp>
        <p:nvSpPr>
          <p:cNvPr id="24" name="Text 22"/>
          <p:cNvSpPr txBox="1"/>
          <p:nvPr/>
        </p:nvSpPr>
        <p:spPr>
          <a:xfrm>
            <a:off x="594360" y="5660136"/>
            <a:ext cx="320040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Three of four stakeholder theories are wrong</a:t>
            </a:r>
            <a:endParaRPr lang="en-US" sz="1250" dirty="0"/>
          </a:p>
        </p:txBody>
      </p:sp>
      <p:sp>
        <p:nvSpPr>
          <p:cNvPr id="25" name="Text 23"/>
          <p:cNvSpPr txBox="1"/>
          <p:nvPr/>
        </p:nvSpPr>
        <p:spPr>
          <a:xfrm>
            <a:off x="3931920" y="5660136"/>
            <a:ext cx="7635240" cy="457200"/>
          </a:xfrm>
          <a:prstGeom prst="rect">
            <a:avLst/>
          </a:prstGeom>
          <a:noFill/>
          <a:ln/>
        </p:spPr>
        <p:txBody>
          <a:bodyPr wrap="square" lIns="0" tIns="0" rIns="0" bIns="0" rtlCol="0" anchor="ctr"/>
          <a:lstStyle/>
          <a:p>
            <a:pPr indent="0" marL="0">
              <a:lnSpc>
                <a:spcPts val="1400"/>
              </a:lnSpc>
              <a:buNone/>
            </a:pPr>
            <a:r>
              <a:rPr lang="en-US" sz="1150" dirty="0">
                <a:solidFill>
                  <a:srgbClr val="CBD7E6"/>
                </a:solidFill>
                <a:latin typeface="Calibri" pitchFamily="34" charset="0"/>
                <a:ea typeface="Calibri" pitchFamily="34" charset="-122"/>
                <a:cs typeface="Calibri" pitchFamily="34" charset="-120"/>
              </a:rPr>
              <a:t>Pricing, fraud and chargebacks were each tested and each disproved. One was disproved by a data-quality artefact, not a business fact.</a:t>
            </a:r>
            <a:endParaRPr lang="en-US" sz="1150" dirty="0"/>
          </a:p>
        </p:txBody>
      </p:sp>
      <p:sp>
        <p:nvSpPr>
          <p:cNvPr id="26" name="Text 24"/>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8FA6C4"/>
                </a:solidFill>
                <a:latin typeface="Calibri" pitchFamily="34" charset="0"/>
                <a:ea typeface="Calibri" pitchFamily="34" charset="-122"/>
                <a:cs typeface="Calibri" pitchFamily="34" charset="-120"/>
              </a:rPr>
              <a:t>The rest of this deck is how that conclusion was reached, and why the three disproved theories cannot be quietly resurrected.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33C"/>
        </a:solidFill>
      </p:bgPr>
    </p:bg>
    <p:spTree>
      <p:nvGrpSpPr>
        <p:cNvPr id="1" name=""/>
        <p:cNvGrpSpPr/>
        <p:nvPr/>
      </p:nvGrpSpPr>
      <p:grpSpPr>
        <a:xfrm>
          <a:off x="0" y="0"/>
          <a:ext cx="0" cy="0"/>
          <a:chOff x="0" y="0"/>
          <a:chExt cx="0" cy="0"/>
        </a:xfrm>
      </p:grpSpPr>
      <p:sp>
        <p:nvSpPr>
          <p:cNvPr id="2" name="Text 0"/>
          <p:cNvSpPr txBox="1"/>
          <p:nvPr/>
        </p:nvSpPr>
        <p:spPr>
          <a:xfrm>
            <a:off x="822960" y="1828800"/>
            <a:ext cx="2743200" cy="1737360"/>
          </a:xfrm>
          <a:prstGeom prst="rect">
            <a:avLst/>
          </a:prstGeom>
          <a:noFill/>
          <a:ln/>
        </p:spPr>
        <p:txBody>
          <a:bodyPr wrap="square" lIns="0" tIns="0" rIns="0" bIns="0" rtlCol="0" anchor="ctr"/>
          <a:lstStyle/>
          <a:p>
            <a:pPr indent="0" marL="0">
              <a:buNone/>
            </a:pPr>
            <a:r>
              <a:rPr lang="en-US" sz="9600" b="1" dirty="0">
                <a:solidFill>
                  <a:srgbClr val="24406A"/>
                </a:solidFill>
                <a:latin typeface="Cambria" pitchFamily="34" charset="0"/>
                <a:ea typeface="Cambria" pitchFamily="34" charset="-122"/>
                <a:cs typeface="Cambria" pitchFamily="34" charset="-120"/>
              </a:rPr>
              <a:t>01</a:t>
            </a:r>
            <a:endParaRPr lang="en-US" sz="9600" dirty="0"/>
          </a:p>
        </p:txBody>
      </p:sp>
      <p:sp>
        <p:nvSpPr>
          <p:cNvPr id="3" name="Text 1"/>
          <p:cNvSpPr txBox="1"/>
          <p:nvPr/>
        </p:nvSpPr>
        <p:spPr>
          <a:xfrm>
            <a:off x="3108960" y="2148840"/>
            <a:ext cx="841248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case and the framing</a:t>
            </a:r>
            <a:endParaRPr lang="en-US" sz="3400" dirty="0"/>
          </a:p>
        </p:txBody>
      </p:sp>
      <p:sp>
        <p:nvSpPr>
          <p:cNvPr id="4" name="Text 2"/>
          <p:cNvSpPr txBox="1"/>
          <p:nvPr/>
        </p:nvSpPr>
        <p:spPr>
          <a:xfrm>
            <a:off x="3154680" y="3017520"/>
            <a:ext cx="8229600" cy="457200"/>
          </a:xfrm>
          <a:prstGeom prst="rect">
            <a:avLst/>
          </a:prstGeom>
          <a:noFill/>
          <a:ln/>
        </p:spPr>
        <p:txBody>
          <a:bodyPr wrap="square" lIns="0" tIns="0" rIns="0" bIns="0" rtlCol="0" anchor="ctr"/>
          <a:lstStyle/>
          <a:p>
            <a:pPr indent="0" marL="0">
              <a:lnSpc>
                <a:spcPts val="2000"/>
              </a:lnSpc>
              <a:buNone/>
            </a:pPr>
            <a:r>
              <a:rPr lang="en-US" sz="1500" dirty="0">
                <a:solidFill>
                  <a:srgbClr val="8FA6C4"/>
                </a:solidFill>
                <a:latin typeface="Calibri" pitchFamily="34" charset="0"/>
                <a:ea typeface="Calibri" pitchFamily="34" charset="-122"/>
                <a:cs typeface="Calibri" pitchFamily="34" charset="-120"/>
              </a:rPr>
              <a:t>Task 1 — Executive problem framing</a:t>
            </a:r>
            <a:endParaRPr lang="en-US" sz="1500" dirty="0"/>
          </a:p>
        </p:txBody>
      </p:sp>
      <p:sp>
        <p:nvSpPr>
          <p:cNvPr id="5" name="Text 3"/>
          <p:cNvSpPr txBox="1"/>
          <p:nvPr/>
        </p:nvSpPr>
        <p:spPr>
          <a:xfrm>
            <a:off x="3154680" y="3611880"/>
            <a:ext cx="8229600" cy="1097280"/>
          </a:xfrm>
          <a:prstGeom prst="rect">
            <a:avLst/>
          </a:prstGeom>
          <a:noFill/>
          <a:ln/>
        </p:spPr>
        <p:txBody>
          <a:bodyPr wrap="square" lIns="0" tIns="0" rIns="0" bIns="0" rtlCol="0" anchor="ctr"/>
          <a:lstStyle/>
          <a:p>
            <a:pPr indent="0" marL="0">
              <a:lnSpc>
                <a:spcPts val="1900"/>
              </a:lnSpc>
              <a:buNone/>
            </a:pPr>
            <a:r>
              <a:rPr lang="en-US" sz="1300" dirty="0">
                <a:solidFill>
                  <a:srgbClr val="7FD4D2"/>
                </a:solidFill>
                <a:latin typeface="Calibri" pitchFamily="34" charset="0"/>
                <a:ea typeface="Calibri" pitchFamily="34" charset="-122"/>
                <a:cs typeface="Calibri" pitchFamily="34" charset="-120"/>
              </a:rPr>
              <a:t>What AstraPay is  ·  Who is asking  ·  SMART statement and the executive KPI  ·  The MECE hypothesis tree  ·  Scope, exclusions and the six assumptions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1 · CONTEXT</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AstraPay, and the four people who disagree about it</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A cross-border payments company operating in India, Singapore and the UAE. It earns a fee from merchants and pays a fee to providers.</a:t>
            </a:r>
            <a:endParaRPr lang="en-US" sz="1300" dirty="0"/>
          </a:p>
        </p:txBody>
      </p:sp>
      <p:sp>
        <p:nvSpPr>
          <p:cNvPr id="5" name="Shape 3"/>
          <p:cNvSpPr/>
          <p:nvPr/>
        </p:nvSpPr>
        <p:spPr>
          <a:xfrm>
            <a:off x="548640" y="1645920"/>
            <a:ext cx="5257800" cy="2148840"/>
          </a:xfrm>
          <a:prstGeom prst="roundRect">
            <a:avLst>
              <a:gd name="adj" fmla="val 2553"/>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6" name="Text 4"/>
          <p:cNvSpPr txBox="1"/>
          <p:nvPr/>
        </p:nvSpPr>
        <p:spPr>
          <a:xfrm>
            <a:off x="777240" y="1810512"/>
            <a:ext cx="4754880" cy="274320"/>
          </a:xfrm>
          <a:prstGeom prst="rect">
            <a:avLst/>
          </a:prstGeom>
          <a:noFill/>
          <a:ln/>
        </p:spPr>
        <p:txBody>
          <a:bodyPr wrap="square" lIns="0" tIns="0" rIns="0" bIns="0" rtlCol="0" anchor="ctr"/>
          <a:lstStyle/>
          <a:p>
            <a:pPr indent="0" marL="0">
              <a:buNone/>
            </a:pPr>
            <a:r>
              <a:rPr lang="en-US" sz="1350" b="1" dirty="0">
                <a:solidFill>
                  <a:srgbClr val="12233C"/>
                </a:solidFill>
                <a:latin typeface="Calibri" pitchFamily="34" charset="0"/>
                <a:ea typeface="Calibri" pitchFamily="34" charset="-122"/>
                <a:cs typeface="Calibri" pitchFamily="34" charset="-120"/>
              </a:rPr>
              <a:t>How AstraPay makes money</a:t>
            </a:r>
            <a:endParaRPr lang="en-US" sz="1350" dirty="0"/>
          </a:p>
        </p:txBody>
      </p:sp>
      <p:sp>
        <p:nvSpPr>
          <p:cNvPr id="7" name="Shape 5"/>
          <p:cNvSpPr/>
          <p:nvPr/>
        </p:nvSpPr>
        <p:spPr>
          <a:xfrm>
            <a:off x="777240" y="2176272"/>
            <a:ext cx="1371600" cy="420624"/>
          </a:xfrm>
          <a:prstGeom prst="roundRect">
            <a:avLst>
              <a:gd name="adj" fmla="val 10870"/>
            </a:avLst>
          </a:prstGeom>
          <a:solidFill>
            <a:srgbClr val="0E7C7B"/>
          </a:solidFill>
          <a:ln/>
        </p:spPr>
      </p:sp>
      <p:sp>
        <p:nvSpPr>
          <p:cNvPr id="8" name="Text 6"/>
          <p:cNvSpPr txBox="1"/>
          <p:nvPr/>
        </p:nvSpPr>
        <p:spPr>
          <a:xfrm>
            <a:off x="777240" y="2176272"/>
            <a:ext cx="1371600"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Merchant</a:t>
            </a:r>
            <a:endParaRPr lang="en-US" sz="1150" dirty="0"/>
          </a:p>
        </p:txBody>
      </p:sp>
      <p:sp>
        <p:nvSpPr>
          <p:cNvPr id="9" name="Text 7"/>
          <p:cNvSpPr txBox="1"/>
          <p:nvPr/>
        </p:nvSpPr>
        <p:spPr>
          <a:xfrm>
            <a:off x="2286000" y="2176272"/>
            <a:ext cx="2103120" cy="420624"/>
          </a:xfrm>
          <a:prstGeom prst="rect">
            <a:avLst/>
          </a:prstGeom>
          <a:noFill/>
          <a:ln/>
        </p:spPr>
        <p:txBody>
          <a:bodyPr wrap="square" lIns="0" tIns="0" rIns="0" bIns="0" rtlCol="0" anchor="ctr"/>
          <a:lstStyle/>
          <a:p>
            <a:pPr indent="0" marL="0">
              <a:buNone/>
            </a:pPr>
            <a:r>
              <a:rPr lang="en-US" sz="1050" dirty="0">
                <a:solidFill>
                  <a:srgbClr val="4A5663"/>
                </a:solidFill>
                <a:latin typeface="Calibri" pitchFamily="34" charset="0"/>
                <a:ea typeface="Calibri" pitchFamily="34" charset="-122"/>
                <a:cs typeface="Calibri" pitchFamily="34" charset="-120"/>
              </a:rPr>
              <a:t>the shop — AstraPay's customer</a:t>
            </a:r>
            <a:endParaRPr lang="en-US" sz="1050" dirty="0"/>
          </a:p>
        </p:txBody>
      </p:sp>
      <p:sp>
        <p:nvSpPr>
          <p:cNvPr id="10" name="Text 8"/>
          <p:cNvSpPr txBox="1"/>
          <p:nvPr/>
        </p:nvSpPr>
        <p:spPr>
          <a:xfrm>
            <a:off x="4434840" y="2176272"/>
            <a:ext cx="1234440" cy="420624"/>
          </a:xfrm>
          <a:prstGeom prst="rect">
            <a:avLst/>
          </a:prstGeom>
          <a:noFill/>
          <a:ln/>
        </p:spPr>
        <p:txBody>
          <a:bodyPr wrap="square" lIns="0" tIns="0" rIns="0" bIns="0" rtlCol="0" anchor="ctr"/>
          <a:lstStyle/>
          <a:p>
            <a:pPr algn="r" indent="0" marL="0">
              <a:buNone/>
            </a:pPr>
            <a:r>
              <a:rPr lang="en-US" sz="1050" b="1" dirty="0">
                <a:solidFill>
                  <a:srgbClr val="0E7C7B"/>
                </a:solidFill>
                <a:latin typeface="Calibri" pitchFamily="34" charset="0"/>
                <a:ea typeface="Calibri" pitchFamily="34" charset="-122"/>
                <a:cs typeface="Calibri" pitchFamily="34" charset="-120"/>
              </a:rPr>
              <a:t>pays us a fee</a:t>
            </a:r>
            <a:endParaRPr lang="en-US" sz="1050" dirty="0"/>
          </a:p>
        </p:txBody>
      </p:sp>
      <p:sp>
        <p:nvSpPr>
          <p:cNvPr id="11" name="Shape 9"/>
          <p:cNvSpPr/>
          <p:nvPr/>
        </p:nvSpPr>
        <p:spPr>
          <a:xfrm>
            <a:off x="777240" y="2688336"/>
            <a:ext cx="1371600" cy="420624"/>
          </a:xfrm>
          <a:prstGeom prst="roundRect">
            <a:avLst>
              <a:gd name="adj" fmla="val 10870"/>
            </a:avLst>
          </a:prstGeom>
          <a:solidFill>
            <a:srgbClr val="12233C"/>
          </a:solidFill>
          <a:ln/>
        </p:spPr>
      </p:sp>
      <p:sp>
        <p:nvSpPr>
          <p:cNvPr id="12" name="Text 10"/>
          <p:cNvSpPr txBox="1"/>
          <p:nvPr/>
        </p:nvSpPr>
        <p:spPr>
          <a:xfrm>
            <a:off x="777240" y="2688336"/>
            <a:ext cx="1371600"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AstraPay</a:t>
            </a:r>
            <a:endParaRPr lang="en-US" sz="1150" dirty="0"/>
          </a:p>
        </p:txBody>
      </p:sp>
      <p:sp>
        <p:nvSpPr>
          <p:cNvPr id="13" name="Text 11"/>
          <p:cNvSpPr txBox="1"/>
          <p:nvPr/>
        </p:nvSpPr>
        <p:spPr>
          <a:xfrm>
            <a:off x="2286000" y="2688336"/>
            <a:ext cx="2103120" cy="420624"/>
          </a:xfrm>
          <a:prstGeom prst="rect">
            <a:avLst/>
          </a:prstGeom>
          <a:noFill/>
          <a:ln/>
        </p:spPr>
        <p:txBody>
          <a:bodyPr wrap="square" lIns="0" tIns="0" rIns="0" bIns="0" rtlCol="0" anchor="ctr"/>
          <a:lstStyle/>
          <a:p>
            <a:pPr indent="0" marL="0">
              <a:buNone/>
            </a:pPr>
            <a:r>
              <a:rPr lang="en-US" sz="1050" dirty="0">
                <a:solidFill>
                  <a:srgbClr val="4A5663"/>
                </a:solidFill>
                <a:latin typeface="Calibri" pitchFamily="34" charset="0"/>
                <a:ea typeface="Calibri" pitchFamily="34" charset="-122"/>
                <a:cs typeface="Calibri" pitchFamily="34" charset="-120"/>
              </a:rPr>
              <a:t>the platform in the middle</a:t>
            </a:r>
            <a:endParaRPr lang="en-US" sz="1050" dirty="0"/>
          </a:p>
        </p:txBody>
      </p:sp>
      <p:sp>
        <p:nvSpPr>
          <p:cNvPr id="14" name="Text 12"/>
          <p:cNvSpPr txBox="1"/>
          <p:nvPr/>
        </p:nvSpPr>
        <p:spPr>
          <a:xfrm>
            <a:off x="4434840" y="2688336"/>
            <a:ext cx="1234440" cy="420624"/>
          </a:xfrm>
          <a:prstGeom prst="rect">
            <a:avLst/>
          </a:prstGeom>
          <a:noFill/>
          <a:ln/>
        </p:spPr>
        <p:txBody>
          <a:bodyPr wrap="square" lIns="0" tIns="0" rIns="0" bIns="0" rtlCol="0" anchor="ctr"/>
          <a:lstStyle/>
          <a:p>
            <a:pPr algn="r" indent="0" marL="0">
              <a:buNone/>
            </a:pPr>
            <a:r>
              <a:rPr lang="en-US" sz="1050" b="1" dirty="0">
                <a:solidFill>
                  <a:srgbClr val="12233C"/>
                </a:solidFill>
                <a:latin typeface="Calibri" pitchFamily="34" charset="0"/>
                <a:ea typeface="Calibri" pitchFamily="34" charset="-122"/>
                <a:cs typeface="Calibri" pitchFamily="34" charset="-120"/>
              </a:rPr>
              <a:t>keeps the difference</a:t>
            </a:r>
            <a:endParaRPr lang="en-US" sz="1050" dirty="0"/>
          </a:p>
        </p:txBody>
      </p:sp>
      <p:sp>
        <p:nvSpPr>
          <p:cNvPr id="15" name="Shape 13"/>
          <p:cNvSpPr/>
          <p:nvPr/>
        </p:nvSpPr>
        <p:spPr>
          <a:xfrm>
            <a:off x="777240" y="3200400"/>
            <a:ext cx="1371600" cy="420624"/>
          </a:xfrm>
          <a:prstGeom prst="roundRect">
            <a:avLst>
              <a:gd name="adj" fmla="val 10870"/>
            </a:avLst>
          </a:prstGeom>
          <a:solidFill>
            <a:srgbClr val="D98324"/>
          </a:solidFill>
          <a:ln/>
        </p:spPr>
      </p:sp>
      <p:sp>
        <p:nvSpPr>
          <p:cNvPr id="16" name="Text 14"/>
          <p:cNvSpPr txBox="1"/>
          <p:nvPr/>
        </p:nvSpPr>
        <p:spPr>
          <a:xfrm>
            <a:off x="777240" y="3200400"/>
            <a:ext cx="1371600"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Provider</a:t>
            </a:r>
            <a:endParaRPr lang="en-US" sz="1150" dirty="0"/>
          </a:p>
        </p:txBody>
      </p:sp>
      <p:sp>
        <p:nvSpPr>
          <p:cNvPr id="17" name="Text 15"/>
          <p:cNvSpPr txBox="1"/>
          <p:nvPr/>
        </p:nvSpPr>
        <p:spPr>
          <a:xfrm>
            <a:off x="2286000" y="3200400"/>
            <a:ext cx="2103120" cy="420624"/>
          </a:xfrm>
          <a:prstGeom prst="rect">
            <a:avLst/>
          </a:prstGeom>
          <a:noFill/>
          <a:ln/>
        </p:spPr>
        <p:txBody>
          <a:bodyPr wrap="square" lIns="0" tIns="0" rIns="0" bIns="0" rtlCol="0" anchor="ctr"/>
          <a:lstStyle/>
          <a:p>
            <a:pPr indent="0" marL="0">
              <a:buNone/>
            </a:pPr>
            <a:r>
              <a:rPr lang="en-US" sz="1050" dirty="0">
                <a:solidFill>
                  <a:srgbClr val="4A5663"/>
                </a:solidFill>
                <a:latin typeface="Calibri" pitchFamily="34" charset="0"/>
                <a:ea typeface="Calibri" pitchFamily="34" charset="-122"/>
                <a:cs typeface="Calibri" pitchFamily="34" charset="-120"/>
              </a:rPr>
              <a:t>the rails — AstraPay's supplier</a:t>
            </a:r>
            <a:endParaRPr lang="en-US" sz="1050" dirty="0"/>
          </a:p>
        </p:txBody>
      </p:sp>
      <p:sp>
        <p:nvSpPr>
          <p:cNvPr id="18" name="Text 16"/>
          <p:cNvSpPr txBox="1"/>
          <p:nvPr/>
        </p:nvSpPr>
        <p:spPr>
          <a:xfrm>
            <a:off x="4434840" y="3200400"/>
            <a:ext cx="1234440" cy="420624"/>
          </a:xfrm>
          <a:prstGeom prst="rect">
            <a:avLst/>
          </a:prstGeom>
          <a:noFill/>
          <a:ln/>
        </p:spPr>
        <p:txBody>
          <a:bodyPr wrap="square" lIns="0" tIns="0" rIns="0" bIns="0" rtlCol="0" anchor="ctr"/>
          <a:lstStyle/>
          <a:p>
            <a:pPr algn="r" indent="0" marL="0">
              <a:buNone/>
            </a:pPr>
            <a:r>
              <a:rPr lang="en-US" sz="1050" b="1" dirty="0">
                <a:solidFill>
                  <a:srgbClr val="D98324"/>
                </a:solidFill>
                <a:latin typeface="Calibri" pitchFamily="34" charset="0"/>
                <a:ea typeface="Calibri" pitchFamily="34" charset="-122"/>
                <a:cs typeface="Calibri" pitchFamily="34" charset="-120"/>
              </a:rPr>
              <a:t>we pay them a fee</a:t>
            </a:r>
            <a:endParaRPr lang="en-US" sz="1050" dirty="0"/>
          </a:p>
        </p:txBody>
      </p:sp>
      <p:sp>
        <p:nvSpPr>
          <p:cNvPr id="19" name="Shape 17"/>
          <p:cNvSpPr/>
          <p:nvPr/>
        </p:nvSpPr>
        <p:spPr>
          <a:xfrm>
            <a:off x="6035040" y="1645920"/>
            <a:ext cx="5577840" cy="2148840"/>
          </a:xfrm>
          <a:prstGeom prst="roundRect">
            <a:avLst>
              <a:gd name="adj" fmla="val 2553"/>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0" name="Text 18"/>
          <p:cNvSpPr txBox="1"/>
          <p:nvPr/>
        </p:nvSpPr>
        <p:spPr>
          <a:xfrm>
            <a:off x="6263640" y="1810512"/>
            <a:ext cx="5120640" cy="274320"/>
          </a:xfrm>
          <a:prstGeom prst="rect">
            <a:avLst/>
          </a:prstGeom>
          <a:noFill/>
          <a:ln/>
        </p:spPr>
        <p:txBody>
          <a:bodyPr wrap="square" lIns="0" tIns="0" rIns="0" bIns="0" rtlCol="0" anchor="ctr"/>
          <a:lstStyle/>
          <a:p>
            <a:pPr indent="0" marL="0">
              <a:buNone/>
            </a:pPr>
            <a:r>
              <a:rPr lang="en-US" sz="1350" b="1" dirty="0">
                <a:solidFill>
                  <a:srgbClr val="12233C"/>
                </a:solidFill>
                <a:latin typeface="Calibri" pitchFamily="34" charset="0"/>
                <a:ea typeface="Calibri" pitchFamily="34" charset="-122"/>
                <a:cs typeface="Calibri" pitchFamily="34" charset="-120"/>
              </a:rPr>
              <a:t>The executive KPI</a:t>
            </a:r>
            <a:endParaRPr lang="en-US" sz="1350" dirty="0"/>
          </a:p>
        </p:txBody>
      </p:sp>
      <p:sp>
        <p:nvSpPr>
          <p:cNvPr id="21" name="Shape 19"/>
          <p:cNvSpPr/>
          <p:nvPr/>
        </p:nvSpPr>
        <p:spPr>
          <a:xfrm>
            <a:off x="6263640" y="2139696"/>
            <a:ext cx="5120640" cy="1481328"/>
          </a:xfrm>
          <a:prstGeom prst="roundRect">
            <a:avLst>
              <a:gd name="adj" fmla="val 3086"/>
            </a:avLst>
          </a:prstGeom>
          <a:solidFill>
            <a:srgbClr val="16243A"/>
          </a:solidFill>
          <a:ln w="12700">
            <a:solidFill>
              <a:srgbClr val="2E5580"/>
            </a:solidFill>
            <a:prstDash val="solid"/>
          </a:ln>
        </p:spPr>
      </p:sp>
      <p:sp>
        <p:nvSpPr>
          <p:cNvPr id="22" name="Text 20"/>
          <p:cNvSpPr txBox="1"/>
          <p:nvPr/>
        </p:nvSpPr>
        <p:spPr>
          <a:xfrm>
            <a:off x="6446520" y="2286000"/>
            <a:ext cx="4754880" cy="1188720"/>
          </a:xfrm>
          <a:prstGeom prst="rect">
            <a:avLst/>
          </a:prstGeom>
          <a:noFill/>
          <a:ln/>
        </p:spPr>
        <p:txBody>
          <a:bodyPr wrap="square" lIns="0" tIns="0" rIns="0" bIns="0" rtlCol="0" anchor="ctr"/>
          <a:lstStyle/>
          <a:p>
            <a:pPr indent="0" marL="0">
              <a:lnSpc>
                <a:spcPts val="1300"/>
              </a:lnSpc>
              <a:buNone/>
            </a:pPr>
            <a:r>
              <a:rPr lang="en-US" sz="1050" b="1" dirty="0">
                <a:solidFill>
                  <a:srgbClr val="7FD4D2"/>
                </a:solidFill>
                <a:latin typeface="Courier New" pitchFamily="34" charset="0"/>
                <a:ea typeface="Courier New" pitchFamily="34" charset="-122"/>
                <a:cs typeface="Courier New" pitchFamily="34" charset="-120"/>
              </a:rPr>
              <a:t>contribution profit per successful transaction</a:t>
            </a:r>
            <a:endParaRPr lang="en-US" sz="1050" dirty="0"/>
          </a:p>
          <a:p>
            <a:pPr indent="0" marL="0">
              <a:lnSpc>
                <a:spcPts val="1300"/>
              </a:lnSpc>
              <a:buNone/>
            </a:pPr>
            <a:endParaRPr lang="en-US" sz="1050" dirty="0"/>
          </a:p>
          <a:p>
            <a:pPr indent="0" marL="0">
              <a:lnSpc>
                <a:spcPts val="1300"/>
              </a:lnSpc>
              <a:buNone/>
            </a:pPr>
            <a:r>
              <a:rPr lang="en-US" sz="1050" dirty="0">
                <a:solidFill>
                  <a:srgbClr val="D6E2F0"/>
                </a:solidFill>
                <a:latin typeface="Courier New" pitchFamily="34" charset="0"/>
                <a:ea typeface="Courier New" pitchFamily="34" charset="-122"/>
                <a:cs typeface="Courier New" pitchFamily="34" charset="-120"/>
              </a:rPr>
              <a:t>  = ( merchant revenue</a:t>
            </a:r>
            <a:endParaRPr lang="en-US" sz="1050" dirty="0"/>
          </a:p>
          <a:p>
            <a:pPr indent="0" marL="0">
              <a:lnSpc>
                <a:spcPts val="1300"/>
              </a:lnSpc>
              <a:buNone/>
            </a:pPr>
            <a:r>
              <a:rPr lang="en-US" sz="1050" dirty="0">
                <a:solidFill>
                  <a:srgbClr val="D6E2F0"/>
                </a:solidFill>
                <a:latin typeface="Courier New" pitchFamily="34" charset="0"/>
                <a:ea typeface="Courier New" pitchFamily="34" charset="-122"/>
                <a:cs typeface="Courier New" pitchFamily="34" charset="-120"/>
              </a:rPr>
              <a:t>    − processing cost</a:t>
            </a:r>
            <a:endParaRPr lang="en-US" sz="1050" dirty="0"/>
          </a:p>
          <a:p>
            <a:pPr indent="0" marL="0">
              <a:lnSpc>
                <a:spcPts val="1300"/>
              </a:lnSpc>
              <a:buNone/>
            </a:pPr>
            <a:r>
              <a:rPr lang="en-US" sz="1050" dirty="0">
                <a:solidFill>
                  <a:srgbClr val="D6E2F0"/>
                </a:solidFill>
                <a:latin typeface="Courier New" pitchFamily="34" charset="0"/>
                <a:ea typeface="Courier New" pitchFamily="34" charset="-122"/>
                <a:cs typeface="Courier New" pitchFamily="34" charset="-120"/>
              </a:rPr>
              <a:t>    − risk cost )  /  successful transactions</a:t>
            </a:r>
            <a:endParaRPr lang="en-US" sz="1050" dirty="0"/>
          </a:p>
          <a:p>
            <a:pPr indent="0" marL="0">
              <a:lnSpc>
                <a:spcPts val="1300"/>
              </a:lnSpc>
              <a:buNone/>
            </a:pPr>
            <a:endParaRPr lang="en-US" sz="1050" dirty="0"/>
          </a:p>
          <a:p>
            <a:pPr indent="0" marL="0">
              <a:lnSpc>
                <a:spcPts val="1300"/>
              </a:lnSpc>
              <a:buNone/>
            </a:pPr>
            <a:r>
              <a:rPr lang="en-US" sz="1050" i="1" dirty="0">
                <a:solidFill>
                  <a:srgbClr val="8FA6C4"/>
                </a:solidFill>
                <a:latin typeface="Courier New" pitchFamily="34" charset="0"/>
                <a:ea typeface="Courier New" pitchFamily="34" charset="-122"/>
                <a:cs typeface="Courier New" pitchFamily="34" charset="-120"/>
              </a:rPr>
              <a:t>  all in USD at the SETTLEMENT rate</a:t>
            </a:r>
            <a:endParaRPr lang="en-US" sz="1050" dirty="0"/>
          </a:p>
        </p:txBody>
      </p:sp>
      <p:sp>
        <p:nvSpPr>
          <p:cNvPr id="23" name="Text 21"/>
          <p:cNvSpPr txBox="1"/>
          <p:nvPr/>
        </p:nvSpPr>
        <p:spPr>
          <a:xfrm>
            <a:off x="548640" y="3977640"/>
            <a:ext cx="1106424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Four competing explanations, offered before anyone looked at the data</a:t>
            </a:r>
            <a:endParaRPr lang="en-US" sz="1300" dirty="0"/>
          </a:p>
        </p:txBody>
      </p:sp>
      <p:sp>
        <p:nvSpPr>
          <p:cNvPr id="24" name="Shape 22"/>
          <p:cNvSpPr/>
          <p:nvPr/>
        </p:nvSpPr>
        <p:spPr>
          <a:xfrm>
            <a:off x="548640" y="4343400"/>
            <a:ext cx="2606040" cy="1508760"/>
          </a:xfrm>
          <a:prstGeom prst="roundRect">
            <a:avLst>
              <a:gd name="adj" fmla="val 3636"/>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5" name="Text 23"/>
          <p:cNvSpPr txBox="1"/>
          <p:nvPr/>
        </p:nvSpPr>
        <p:spPr>
          <a:xfrm>
            <a:off x="749808" y="4498848"/>
            <a:ext cx="219456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CFO</a:t>
            </a:r>
            <a:endParaRPr lang="en-US" sz="1250" dirty="0"/>
          </a:p>
        </p:txBody>
      </p:sp>
      <p:sp>
        <p:nvSpPr>
          <p:cNvPr id="26" name="Text 24"/>
          <p:cNvSpPr txBox="1"/>
          <p:nvPr/>
        </p:nvSpPr>
        <p:spPr>
          <a:xfrm>
            <a:off x="749808" y="4791456"/>
            <a:ext cx="2194560" cy="731520"/>
          </a:xfrm>
          <a:prstGeom prst="rect">
            <a:avLst/>
          </a:prstGeom>
          <a:noFill/>
          <a:ln/>
        </p:spPr>
        <p:txBody>
          <a:bodyPr wrap="square" lIns="0" tIns="0" rIns="0" bIns="0" rtlCol="0" anchor="ctr"/>
          <a:lstStyle/>
          <a:p>
            <a:pPr indent="0" marL="0">
              <a:lnSpc>
                <a:spcPts val="1400"/>
              </a:lnSpc>
              <a:buNone/>
            </a:pPr>
            <a:r>
              <a:rPr lang="en-US" sz="1100" i="1" dirty="0">
                <a:solidFill>
                  <a:srgbClr val="4A5663"/>
                </a:solidFill>
                <a:latin typeface="Calibri" pitchFamily="34" charset="0"/>
                <a:ea typeface="Calibri" pitchFamily="34" charset="-122"/>
                <a:cs typeface="Calibri" pitchFamily="34" charset="-120"/>
              </a:rPr>
              <a:t>"Merchants negotiated us down on price."</a:t>
            </a:r>
            <a:endParaRPr lang="en-US" sz="1100" dirty="0"/>
          </a:p>
        </p:txBody>
      </p:sp>
      <p:sp>
        <p:nvSpPr>
          <p:cNvPr id="27" name="Text 25"/>
          <p:cNvSpPr txBox="1"/>
          <p:nvPr/>
        </p:nvSpPr>
        <p:spPr>
          <a:xfrm>
            <a:off x="749808" y="5532120"/>
            <a:ext cx="2194560" cy="256032"/>
          </a:xfrm>
          <a:prstGeom prst="rect">
            <a:avLst/>
          </a:prstGeom>
          <a:noFill/>
          <a:ln/>
        </p:spPr>
        <p:txBody>
          <a:bodyPr wrap="square" lIns="0" tIns="0" rIns="0" bIns="0" rtlCol="0" anchor="ctr"/>
          <a:lstStyle/>
          <a:p>
            <a:pPr indent="0" marL="0">
              <a:buNone/>
            </a:pPr>
            <a:r>
              <a:rPr lang="en-US" sz="1050" b="1" dirty="0">
                <a:solidFill>
                  <a:srgbClr val="D98324"/>
                </a:solidFill>
                <a:latin typeface="Calibri" pitchFamily="34" charset="0"/>
                <a:ea typeface="Calibri" pitchFamily="34" charset="-122"/>
                <a:cs typeface="Calibri" pitchFamily="34" charset="-120"/>
              </a:rPr>
              <a:t>H1b</a:t>
            </a:r>
            <a:endParaRPr lang="en-US" sz="1050" dirty="0"/>
          </a:p>
        </p:txBody>
      </p:sp>
      <p:sp>
        <p:nvSpPr>
          <p:cNvPr id="28" name="Shape 26"/>
          <p:cNvSpPr/>
          <p:nvPr/>
        </p:nvSpPr>
        <p:spPr>
          <a:xfrm>
            <a:off x="3355848" y="4343400"/>
            <a:ext cx="2606040" cy="1508760"/>
          </a:xfrm>
          <a:prstGeom prst="roundRect">
            <a:avLst>
              <a:gd name="adj" fmla="val 3636"/>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9" name="Text 27"/>
          <p:cNvSpPr txBox="1"/>
          <p:nvPr/>
        </p:nvSpPr>
        <p:spPr>
          <a:xfrm>
            <a:off x="3557016" y="4498848"/>
            <a:ext cx="219456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Head of Payments</a:t>
            </a:r>
            <a:endParaRPr lang="en-US" sz="1250" dirty="0"/>
          </a:p>
        </p:txBody>
      </p:sp>
      <p:sp>
        <p:nvSpPr>
          <p:cNvPr id="30" name="Text 28"/>
          <p:cNvSpPr txBox="1"/>
          <p:nvPr/>
        </p:nvSpPr>
        <p:spPr>
          <a:xfrm>
            <a:off x="3557016" y="4791456"/>
            <a:ext cx="2194560" cy="731520"/>
          </a:xfrm>
          <a:prstGeom prst="rect">
            <a:avLst/>
          </a:prstGeom>
          <a:noFill/>
          <a:ln/>
        </p:spPr>
        <p:txBody>
          <a:bodyPr wrap="square" lIns="0" tIns="0" rIns="0" bIns="0" rtlCol="0" anchor="ctr"/>
          <a:lstStyle/>
          <a:p>
            <a:pPr indent="0" marL="0">
              <a:lnSpc>
                <a:spcPts val="1400"/>
              </a:lnSpc>
              <a:buNone/>
            </a:pPr>
            <a:r>
              <a:rPr lang="en-US" sz="1100" i="1" dirty="0">
                <a:solidFill>
                  <a:srgbClr val="4A5663"/>
                </a:solidFill>
                <a:latin typeface="Calibri" pitchFamily="34" charset="0"/>
                <a:ea typeface="Calibri" pitchFamily="34" charset="-122"/>
                <a:cs typeface="Calibri" pitchFamily="34" charset="-120"/>
              </a:rPr>
              <a:t>"Provider latency is destroying conversion."</a:t>
            </a:r>
            <a:endParaRPr lang="en-US" sz="1100" dirty="0"/>
          </a:p>
        </p:txBody>
      </p:sp>
      <p:sp>
        <p:nvSpPr>
          <p:cNvPr id="31" name="Text 29"/>
          <p:cNvSpPr txBox="1"/>
          <p:nvPr/>
        </p:nvSpPr>
        <p:spPr>
          <a:xfrm>
            <a:off x="3557016" y="5532120"/>
            <a:ext cx="2194560" cy="256032"/>
          </a:xfrm>
          <a:prstGeom prst="rect">
            <a:avLst/>
          </a:prstGeom>
          <a:noFill/>
          <a:ln/>
        </p:spPr>
        <p:txBody>
          <a:bodyPr wrap="square" lIns="0" tIns="0" rIns="0" bIns="0" rtlCol="0" anchor="ctr"/>
          <a:lstStyle/>
          <a:p>
            <a:pPr indent="0" marL="0">
              <a:buNone/>
            </a:pPr>
            <a:r>
              <a:rPr lang="en-US" sz="1050" b="1" dirty="0">
                <a:solidFill>
                  <a:srgbClr val="D98324"/>
                </a:solidFill>
                <a:latin typeface="Calibri" pitchFamily="34" charset="0"/>
                <a:ea typeface="Calibri" pitchFamily="34" charset="-122"/>
                <a:cs typeface="Calibri" pitchFamily="34" charset="-120"/>
              </a:rPr>
              <a:t>H2 / volume</a:t>
            </a:r>
            <a:endParaRPr lang="en-US" sz="1050" dirty="0"/>
          </a:p>
        </p:txBody>
      </p:sp>
      <p:sp>
        <p:nvSpPr>
          <p:cNvPr id="32" name="Shape 30"/>
          <p:cNvSpPr/>
          <p:nvPr/>
        </p:nvSpPr>
        <p:spPr>
          <a:xfrm>
            <a:off x="6163056" y="4343400"/>
            <a:ext cx="2606040" cy="1508760"/>
          </a:xfrm>
          <a:prstGeom prst="roundRect">
            <a:avLst>
              <a:gd name="adj" fmla="val 3636"/>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33" name="Text 31"/>
          <p:cNvSpPr txBox="1"/>
          <p:nvPr/>
        </p:nvSpPr>
        <p:spPr>
          <a:xfrm>
            <a:off x="6364224" y="4498848"/>
            <a:ext cx="219456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Risk Head</a:t>
            </a:r>
            <a:endParaRPr lang="en-US" sz="1250" dirty="0"/>
          </a:p>
        </p:txBody>
      </p:sp>
      <p:sp>
        <p:nvSpPr>
          <p:cNvPr id="34" name="Text 32"/>
          <p:cNvSpPr txBox="1"/>
          <p:nvPr/>
        </p:nvSpPr>
        <p:spPr>
          <a:xfrm>
            <a:off x="6364224" y="4791456"/>
            <a:ext cx="2194560" cy="731520"/>
          </a:xfrm>
          <a:prstGeom prst="rect">
            <a:avLst/>
          </a:prstGeom>
          <a:noFill/>
          <a:ln/>
        </p:spPr>
        <p:txBody>
          <a:bodyPr wrap="square" lIns="0" tIns="0" rIns="0" bIns="0" rtlCol="0" anchor="ctr"/>
          <a:lstStyle/>
          <a:p>
            <a:pPr indent="0" marL="0">
              <a:lnSpc>
                <a:spcPts val="1400"/>
              </a:lnSpc>
              <a:buNone/>
            </a:pPr>
            <a:r>
              <a:rPr lang="en-US" sz="1100" i="1" dirty="0">
                <a:solidFill>
                  <a:srgbClr val="4A5663"/>
                </a:solidFill>
                <a:latin typeface="Calibri" pitchFamily="34" charset="0"/>
                <a:ea typeface="Calibri" pitchFamily="34" charset="-122"/>
                <a:cs typeface="Calibri" pitchFamily="34" charset="-120"/>
              </a:rPr>
              <a:t>"The new fraud model declines good payments."</a:t>
            </a:r>
            <a:endParaRPr lang="en-US" sz="1100" dirty="0"/>
          </a:p>
        </p:txBody>
      </p:sp>
      <p:sp>
        <p:nvSpPr>
          <p:cNvPr id="35" name="Text 33"/>
          <p:cNvSpPr txBox="1"/>
          <p:nvPr/>
        </p:nvSpPr>
        <p:spPr>
          <a:xfrm>
            <a:off x="6364224" y="5532120"/>
            <a:ext cx="2194560" cy="256032"/>
          </a:xfrm>
          <a:prstGeom prst="rect">
            <a:avLst/>
          </a:prstGeom>
          <a:noFill/>
          <a:ln/>
        </p:spPr>
        <p:txBody>
          <a:bodyPr wrap="square" lIns="0" tIns="0" rIns="0" bIns="0" rtlCol="0" anchor="ctr"/>
          <a:lstStyle/>
          <a:p>
            <a:pPr indent="0" marL="0">
              <a:buNone/>
            </a:pPr>
            <a:r>
              <a:rPr lang="en-US" sz="1050" b="1" dirty="0">
                <a:solidFill>
                  <a:srgbClr val="D98324"/>
                </a:solidFill>
                <a:latin typeface="Calibri" pitchFamily="34" charset="0"/>
                <a:ea typeface="Calibri" pitchFamily="34" charset="-122"/>
                <a:cs typeface="Calibri" pitchFamily="34" charset="-120"/>
              </a:rPr>
              <a:t>H3b</a:t>
            </a:r>
            <a:endParaRPr lang="en-US" sz="1050" dirty="0"/>
          </a:p>
        </p:txBody>
      </p:sp>
      <p:sp>
        <p:nvSpPr>
          <p:cNvPr id="36" name="Shape 34"/>
          <p:cNvSpPr/>
          <p:nvPr/>
        </p:nvSpPr>
        <p:spPr>
          <a:xfrm>
            <a:off x="8970264" y="4343400"/>
            <a:ext cx="2606040" cy="1508760"/>
          </a:xfrm>
          <a:prstGeom prst="roundRect">
            <a:avLst>
              <a:gd name="adj" fmla="val 3636"/>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37" name="Text 35"/>
          <p:cNvSpPr txBox="1"/>
          <p:nvPr/>
        </p:nvSpPr>
        <p:spPr>
          <a:xfrm>
            <a:off x="9171432" y="4498848"/>
            <a:ext cx="219456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Data Head</a:t>
            </a:r>
            <a:endParaRPr lang="en-US" sz="1250" dirty="0"/>
          </a:p>
        </p:txBody>
      </p:sp>
      <p:sp>
        <p:nvSpPr>
          <p:cNvPr id="38" name="Text 36"/>
          <p:cNvSpPr txBox="1"/>
          <p:nvPr/>
        </p:nvSpPr>
        <p:spPr>
          <a:xfrm>
            <a:off x="9171432" y="4791456"/>
            <a:ext cx="2194560" cy="731520"/>
          </a:xfrm>
          <a:prstGeom prst="rect">
            <a:avLst/>
          </a:prstGeom>
          <a:noFill/>
          <a:ln/>
        </p:spPr>
        <p:txBody>
          <a:bodyPr wrap="square" lIns="0" tIns="0" rIns="0" bIns="0" rtlCol="0" anchor="ctr"/>
          <a:lstStyle/>
          <a:p>
            <a:pPr indent="0" marL="0">
              <a:lnSpc>
                <a:spcPts val="1400"/>
              </a:lnSpc>
              <a:buNone/>
            </a:pPr>
            <a:r>
              <a:rPr lang="en-US" sz="1100" i="1" dirty="0">
                <a:solidFill>
                  <a:srgbClr val="4A5663"/>
                </a:solidFill>
                <a:latin typeface="Calibri" pitchFamily="34" charset="0"/>
                <a:ea typeface="Calibri" pitchFamily="34" charset="-122"/>
                <a:cs typeface="Calibri" pitchFamily="34" charset="-120"/>
              </a:rPr>
              <a:t>"None of the reporting can be trusted anyway."</a:t>
            </a:r>
            <a:endParaRPr lang="en-US" sz="1100" dirty="0"/>
          </a:p>
        </p:txBody>
      </p:sp>
      <p:sp>
        <p:nvSpPr>
          <p:cNvPr id="39" name="Text 37"/>
          <p:cNvSpPr txBox="1"/>
          <p:nvPr/>
        </p:nvSpPr>
        <p:spPr>
          <a:xfrm>
            <a:off x="9171432" y="5532120"/>
            <a:ext cx="2194560" cy="256032"/>
          </a:xfrm>
          <a:prstGeom prst="rect">
            <a:avLst/>
          </a:prstGeom>
          <a:noFill/>
          <a:ln/>
        </p:spPr>
        <p:txBody>
          <a:bodyPr wrap="square" lIns="0" tIns="0" rIns="0" bIns="0" rtlCol="0" anchor="ctr"/>
          <a:lstStyle/>
          <a:p>
            <a:pPr indent="0" marL="0">
              <a:buNone/>
            </a:pPr>
            <a:r>
              <a:rPr lang="en-US" sz="1050" b="1" dirty="0">
                <a:solidFill>
                  <a:srgbClr val="D98324"/>
                </a:solidFill>
                <a:latin typeface="Calibri" pitchFamily="34" charset="0"/>
                <a:ea typeface="Calibri" pitchFamily="34" charset="-122"/>
                <a:cs typeface="Calibri" pitchFamily="34" charset="-120"/>
              </a:rPr>
              <a:t>H0 — the gate</a:t>
            </a:r>
            <a:endParaRPr lang="en-US" sz="1050" dirty="0"/>
          </a:p>
        </p:txBody>
      </p:sp>
      <p:sp>
        <p:nvSpPr>
          <p:cNvPr id="40" name="Text 38"/>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The diagnostic does not set out to prove any of them right. It establishes what is reliable, locates where the economics deteriorate, sizes the credible drivers, and recommends what to do next.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1 · FRAMING</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SMART statement and the KPI definition everything else obeys</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A KPI that is not defined to the row will be defined differently by whoever builds the next chart.</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64240" cy="914400"/>
        </p:xfrm>
        <a:graphic>
          <a:graphicData uri="http://schemas.openxmlformats.org/drawingml/2006/table">
            <a:tbl>
              <a:tblPr/>
              <a:tblGrid>
                <a:gridCol w="1554480"/>
                <a:gridCol w="950976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Dimension</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Statement</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84048">
                <a:tc>
                  <a:txBody>
                    <a:bodyPr/>
                    <a:lstStyle/>
                    <a:p>
                      <a:pPr algn="l" indent="0" marL="0">
                        <a:buNone/>
                      </a:pPr>
                      <a:r>
                        <a:rPr lang="en-US" sz="1150" b="1" dirty="0">
                          <a:solidFill>
                            <a:srgbClr val="1A1A1A"/>
                          </a:solidFill>
                          <a:latin typeface="Calibri" pitchFamily="34" charset="0"/>
                          <a:ea typeface="Calibri" pitchFamily="34" charset="-122"/>
                          <a:cs typeface="Calibri" pitchFamily="34" charset="-120"/>
                        </a:rPr>
                        <a:t>Specific</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Identify and size the drivers of the decline in contribution profit per successful transaction across 2025, separating genuine business performance from data-quality artefacts.</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84048">
                <a:tc>
                  <a:txBody>
                    <a:bodyPr/>
                    <a:lstStyle/>
                    <a:p>
                      <a:pPr algn="l" indent="0" marL="0">
                        <a:buNone/>
                      </a:pPr>
                      <a:r>
                        <a:rPr lang="en-US" sz="1150" b="1" dirty="0">
                          <a:solidFill>
                            <a:srgbClr val="1A1A1A"/>
                          </a:solidFill>
                          <a:latin typeface="Calibri" pitchFamily="34" charset="0"/>
                          <a:ea typeface="Calibri" pitchFamily="34" charset="-122"/>
                          <a:cs typeface="Calibri" pitchFamily="34" charset="-120"/>
                        </a:rPr>
                        <a:t>Measurable</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Attribute at least 90% of the observed decline to named drivers, each quantified in USD per successful transaction, with the residual stated explicitly.</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84048">
                <a:tc>
                  <a:txBody>
                    <a:bodyPr/>
                    <a:lstStyle/>
                    <a:p>
                      <a:pPr algn="l" indent="0" marL="0">
                        <a:buNone/>
                      </a:pPr>
                      <a:r>
                        <a:rPr lang="en-US" sz="1150" b="1" dirty="0">
                          <a:solidFill>
                            <a:srgbClr val="1A1A1A"/>
                          </a:solidFill>
                          <a:latin typeface="Calibri" pitchFamily="34" charset="0"/>
                          <a:ea typeface="Calibri" pitchFamily="34" charset="-122"/>
                          <a:cs typeface="Calibri" pitchFamily="34" charset="-120"/>
                        </a:rPr>
                        <a:t>Achievable</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All required data is in eleven source files covering the full period. No external data and no new instrumentation.</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84048">
                <a:tc>
                  <a:txBody>
                    <a:bodyPr/>
                    <a:lstStyle/>
                    <a:p>
                      <a:pPr algn="l" indent="0" marL="0">
                        <a:buNone/>
                      </a:pPr>
                      <a:r>
                        <a:rPr lang="en-US" sz="1150" b="1" dirty="0">
                          <a:solidFill>
                            <a:srgbClr val="1A1A1A"/>
                          </a:solidFill>
                          <a:latin typeface="Calibri" pitchFamily="34" charset="0"/>
                          <a:ea typeface="Calibri" pitchFamily="34" charset="-122"/>
                          <a:cs typeface="Calibri" pitchFamily="34" charset="-120"/>
                        </a:rPr>
                        <a:t>Relevant</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Contribution per successful transaction is the unit economic that determines whether volume growth creates or destroys value.</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84048">
                <a:tc>
                  <a:txBody>
                    <a:bodyPr/>
                    <a:lstStyle/>
                    <a:p>
                      <a:pPr algn="l" indent="0" marL="0">
                        <a:buNone/>
                      </a:pPr>
                      <a:r>
                        <a:rPr lang="en-US" sz="1150" b="1" dirty="0">
                          <a:solidFill>
                            <a:srgbClr val="1A1A1A"/>
                          </a:solidFill>
                          <a:latin typeface="Calibri" pitchFamily="34" charset="0"/>
                          <a:ea typeface="Calibri" pitchFamily="34" charset="-122"/>
                          <a:cs typeface="Calibri" pitchFamily="34" charset="-120"/>
                        </a:rPr>
                        <a:t>Time-bound</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Five-day diagnostic. Recommendations scoped to actions that can be started and measured inside 60 days.</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4059936"/>
            <a:ext cx="1106424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Executive KPI — defined to the row</a:t>
            </a:r>
            <a:endParaRPr lang="en-US" sz="13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48640" y="4389120"/>
          <a:ext cx="11064240" cy="914400"/>
        </p:xfrm>
        <a:graphic>
          <a:graphicData uri="http://schemas.openxmlformats.org/drawingml/2006/table">
            <a:tbl>
              <a:tblPr/>
              <a:tblGrid>
                <a:gridCol w="1554480"/>
                <a:gridCol w="950976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Element</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Definition</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47472">
                <a:tc>
                  <a:txBody>
                    <a:bodyPr/>
                    <a:lstStyle/>
                    <a:p>
                      <a:pPr algn="l" indent="0" marL="0">
                        <a:buNone/>
                      </a:pPr>
                      <a:r>
                        <a:rPr lang="en-US" sz="1100" b="1" dirty="0">
                          <a:solidFill>
                            <a:srgbClr val="1A1A1A"/>
                          </a:solidFill>
                          <a:latin typeface="Calibri" pitchFamily="34" charset="0"/>
                          <a:ea typeface="Calibri" pitchFamily="34" charset="-122"/>
                          <a:cs typeface="Calibri" pitchFamily="34" charset="-120"/>
                        </a:rPr>
                        <a:t>Numerator</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Merchant revenue − processing cost − risk cost, in USD.</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A1A"/>
                          </a:solidFill>
                          <a:latin typeface="Calibri" pitchFamily="34" charset="0"/>
                          <a:ea typeface="Calibri" pitchFamily="34" charset="-122"/>
                          <a:cs typeface="Calibri" pitchFamily="34" charset="-120"/>
                        </a:rPr>
                        <a:t>Denominator</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Count of transactions with status CAPTURED.</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47472">
                <a:tc>
                  <a:txBody>
                    <a:bodyPr/>
                    <a:lstStyle/>
                    <a:p>
                      <a:pPr algn="l" indent="0" marL="0">
                        <a:buNone/>
                      </a:pPr>
                      <a:r>
                        <a:rPr lang="en-US" sz="1100" b="1" dirty="0">
                          <a:solidFill>
                            <a:srgbClr val="1A1A1A"/>
                          </a:solidFill>
                          <a:latin typeface="Calibri" pitchFamily="34" charset="0"/>
                          <a:ea typeface="Calibri" pitchFamily="34" charset="-122"/>
                          <a:cs typeface="Calibri" pitchFamily="34" charset="-120"/>
                        </a:rPr>
                        <a:t>Date basis</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transaction.created_at — the month the business transacted, not the month cash settled.</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A1A"/>
                          </a:solidFill>
                          <a:latin typeface="Calibri" pitchFamily="34" charset="0"/>
                          <a:ea typeface="Calibri" pitchFamily="34" charset="-122"/>
                          <a:cs typeface="Calibri" pitchFamily="34" charset="-120"/>
                        </a:rPr>
                        <a:t>Exclusions</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REVERSED excluded from both numerator and denominator. Negative amounts on CAPTURED with no reversal parent are quarantined. Declined and failed attempts leave the denominator but are retained for success-rate reporting.</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bl>
          </a:graphicData>
        </a:graphic>
      </p:graphicFrame>
      <p:sp>
        <p:nvSpPr>
          <p:cNvPr id="8" name="Text 4"/>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Non-additive by construction: it is a ratio, so it cannot be summed or averaged across segments without reweighting. That single property is what the whole of Task 5 turns 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1 · HYPOTHESIS STRUCTURE</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The hypothesis tree comes from the arithmetic, not from the room</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Deriving the tree from the KPI formula is what makes it mutually exclusive and collectively exhaustive.</a:t>
            </a:r>
            <a:endParaRPr lang="en-US" sz="1300" dirty="0"/>
          </a:p>
        </p:txBody>
      </p:sp>
      <p:pic>
        <p:nvPicPr>
          <p:cNvPr id="5" name="Image 0" descr="preencoded.png">    </p:cNvPr>
          <p:cNvPicPr>
            <a:picLocks noChangeAspect="1"/>
          </p:cNvPicPr>
          <p:nvPr/>
        </p:nvPicPr>
        <p:blipFill>
          <a:blip r:embed="rId1"/>
          <a:stretch>
            <a:fillRect/>
          </a:stretch>
        </p:blipFill>
        <p:spPr>
          <a:xfrm>
            <a:off x="716280" y="1600200"/>
            <a:ext cx="10728960" cy="45262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1 · HYPOTHESES</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Seven testable hypotheses, each with a falsification condition written first</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Stating what would reject a hypothesis before running the test is what stops the analysis becoming a search for confirmation.</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64240" cy="914400"/>
        </p:xfrm>
        <a:graphic>
          <a:graphicData uri="http://schemas.openxmlformats.org/drawingml/2006/table">
            <a:tbl>
              <a:tblPr/>
              <a:tblGrid>
                <a:gridCol w="566928"/>
                <a:gridCol w="3291840"/>
                <a:gridCol w="3602736"/>
                <a:gridCol w="3602736"/>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Hypothesis</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Confirms if</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Rejects if</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475488">
                <a:tc>
                  <a:txBody>
                    <a:bodyPr/>
                    <a:lstStyle/>
                    <a:p>
                      <a:pPr algn="ctr" indent="0" marL="0">
                        <a:buNone/>
                      </a:pPr>
                      <a:r>
                        <a:rPr lang="en-US" sz="1100" b="1" dirty="0">
                          <a:solidFill>
                            <a:srgbClr val="D98324"/>
                          </a:solidFill>
                          <a:latin typeface="Calibri" pitchFamily="34" charset="0"/>
                          <a:ea typeface="Calibri" pitchFamily="34" charset="-122"/>
                          <a:cs typeface="Calibri" pitchFamily="34" charset="-120"/>
                        </a:rPr>
                        <a:t>H0</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The deterioration is partly a data artefact</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Transaction and settlement totals fail to reconcile</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Reconciliation closes and the defect log explains the gap</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75488">
                <a:tc>
                  <a:txBody>
                    <a:bodyPr/>
                    <a:lstStyle/>
                    <a:p>
                      <a:pPr algn="ctr" indent="0" marL="0">
                        <a:buNone/>
                      </a:pPr>
                      <a:r>
                        <a:rPr lang="en-US" sz="1100" b="1" dirty="0">
                          <a:solidFill>
                            <a:srgbClr val="D98324"/>
                          </a:solidFill>
                          <a:latin typeface="Calibri" pitchFamily="34" charset="0"/>
                          <a:ea typeface="Calibri" pitchFamily="34" charset="-122"/>
                          <a:cs typeface="Calibri" pitchFamily="34" charset="-120"/>
                        </a:rPr>
                        <a:t>H1a</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Revenue per txn fell because the book shifted</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Segment weights shift materially across the period</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Weights are stable, or reweighting removes the fall</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75488">
                <a:tc>
                  <a:txBody>
                    <a:bodyPr/>
                    <a:lstStyle/>
                    <a:p>
                      <a:pPr algn="ctr" indent="0" marL="0">
                        <a:buNone/>
                      </a:pPr>
                      <a:r>
                        <a:rPr lang="en-US" sz="1100" b="1" dirty="0">
                          <a:solidFill>
                            <a:srgbClr val="D98324"/>
                          </a:solidFill>
                          <a:latin typeface="Calibri" pitchFamily="34" charset="0"/>
                          <a:ea typeface="Calibri" pitchFamily="34" charset="-122"/>
                          <a:cs typeface="Calibri" pitchFamily="34" charset="-120"/>
                        </a:rPr>
                        <a:t>H1b</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Merchants were repriced downward</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Take rate falls within a pricing plan</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Take rate within every plan is flat or rising</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75488">
                <a:tc>
                  <a:txBody>
                    <a:bodyPr/>
                    <a:lstStyle/>
                    <a:p>
                      <a:pPr algn="ctr" indent="0" marL="0">
                        <a:buNone/>
                      </a:pPr>
                      <a:r>
                        <a:rPr lang="en-US" sz="1100" b="1" dirty="0">
                          <a:solidFill>
                            <a:srgbClr val="D98324"/>
                          </a:solidFill>
                          <a:latin typeface="Calibri" pitchFamily="34" charset="0"/>
                          <a:ea typeface="Calibri" pitchFamily="34" charset="-122"/>
                          <a:cs typeface="Calibri" pitchFamily="34" charset="-120"/>
                        </a:rPr>
                        <a:t>H1c</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Currency translation eroded revenue</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Constant-FX contribution diverges from actual</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The two series track closely</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75488">
                <a:tc>
                  <a:txBody>
                    <a:bodyPr/>
                    <a:lstStyle/>
                    <a:p>
                      <a:pPr algn="ctr" indent="0" marL="0">
                        <a:buNone/>
                      </a:pPr>
                      <a:r>
                        <a:rPr lang="en-US" sz="1100" b="1" dirty="0">
                          <a:solidFill>
                            <a:srgbClr val="D98324"/>
                          </a:solidFill>
                          <a:latin typeface="Calibri" pitchFamily="34" charset="0"/>
                          <a:ea typeface="Calibri" pitchFamily="34" charset="-122"/>
                          <a:cs typeface="Calibri" pitchFamily="34" charset="-120"/>
                        </a:rPr>
                        <a:t>H2a</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Route mix moved to a costlier provider</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Route mix shifts and fixed-fee share rises</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Route mix is stable</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75488">
                <a:tc>
                  <a:txBody>
                    <a:bodyPr/>
                    <a:lstStyle/>
                    <a:p>
                      <a:pPr algn="ctr" indent="0" marL="0">
                        <a:buNone/>
                      </a:pPr>
                      <a:r>
                        <a:rPr lang="en-US" sz="1100" b="1" dirty="0">
                          <a:solidFill>
                            <a:srgbClr val="D98324"/>
                          </a:solidFill>
                          <a:latin typeface="Calibri" pitchFamily="34" charset="0"/>
                          <a:ea typeface="Calibri" pitchFamily="34" charset="-122"/>
                          <a:cs typeface="Calibri" pitchFamily="34" charset="-120"/>
                        </a:rPr>
                        <a:t>H2b</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A provider raised its own unit cost</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Holding route and ticket band fixed, cost per txn rises</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Within route and band, cost per txn is flat</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75488">
                <a:tc>
                  <a:txBody>
                    <a:bodyPr/>
                    <a:lstStyle/>
                    <a:p>
                      <a:pPr algn="ctr" indent="0" marL="0">
                        <a:buNone/>
                      </a:pPr>
                      <a:r>
                        <a:rPr lang="en-US" sz="1100" b="1" dirty="0">
                          <a:solidFill>
                            <a:srgbClr val="D98324"/>
                          </a:solidFill>
                          <a:latin typeface="Calibri" pitchFamily="34" charset="0"/>
                          <a:ea typeface="Calibri" pitchFamily="34" charset="-122"/>
                          <a:cs typeface="Calibri" pitchFamily="34" charset="-120"/>
                        </a:rPr>
                        <a:t>H3a</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Risk mix moved to higher-risk bands</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Risk-band weights shift upward</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Risk-band weights are stable</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75488">
                <a:tc>
                  <a:txBody>
                    <a:bodyPr/>
                    <a:lstStyle/>
                    <a:p>
                      <a:pPr algn="ctr" indent="0" marL="0">
                        <a:buNone/>
                      </a:pPr>
                      <a:r>
                        <a:rPr lang="en-US" sz="1100" b="1" dirty="0">
                          <a:solidFill>
                            <a:srgbClr val="D98324"/>
                          </a:solidFill>
                          <a:latin typeface="Calibri" pitchFamily="34" charset="0"/>
                          <a:ea typeface="Calibri" pitchFamily="34" charset="-122"/>
                          <a:cs typeface="Calibri" pitchFamily="34" charset="-120"/>
                        </a:rPr>
                        <a:t>H3b</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Fraud controls decline good payments</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At a comparable threshold, decline rates rise</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Decline rates at a comparable threshold are flat</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bl>
          </a:graphicData>
        </a:graphic>
      </p:graphicFrame>
      <p:sp>
        <p:nvSpPr>
          <p:cNvPr id="6" name="Text 3"/>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H3b carries a warning in the framing document: fraud scores in this dataset come from more than one model version, so any comparison of score distributions across the cutover is invalid until the scales are normalised. That warning turned out to be the whole answer to Task 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1 · SCOPE</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What is out of scope, and the six assumptions that could be argued with</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Each assumption is a decision with a defensible alternative. Naming them is what lets a reviewer disagree precisely instead of vaguely.</a:t>
            </a:r>
            <a:endParaRPr lang="en-US" sz="1300" dirty="0"/>
          </a:p>
        </p:txBody>
      </p:sp>
      <p:sp>
        <p:nvSpPr>
          <p:cNvPr id="5" name="Shape 3"/>
          <p:cNvSpPr/>
          <p:nvPr/>
        </p:nvSpPr>
        <p:spPr>
          <a:xfrm>
            <a:off x="548640" y="1627632"/>
            <a:ext cx="5257800" cy="2286000"/>
          </a:xfrm>
          <a:prstGeom prst="roundRect">
            <a:avLst>
              <a:gd name="adj" fmla="val 24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6" name="Text 4"/>
          <p:cNvSpPr txBox="1"/>
          <p:nvPr/>
        </p:nvSpPr>
        <p:spPr>
          <a:xfrm>
            <a:off x="777240" y="1783080"/>
            <a:ext cx="475488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Out of scope</a:t>
            </a:r>
            <a:endParaRPr lang="en-US" sz="1300" dirty="0"/>
          </a:p>
        </p:txBody>
      </p:sp>
      <p:sp>
        <p:nvSpPr>
          <p:cNvPr id="7" name="Text 5"/>
          <p:cNvSpPr txBox="1"/>
          <p:nvPr/>
        </p:nvSpPr>
        <p:spPr>
          <a:xfrm>
            <a:off x="822960" y="2121408"/>
            <a:ext cx="4709160" cy="1691640"/>
          </a:xfrm>
          <a:prstGeom prst="rect">
            <a:avLst/>
          </a:prstGeom>
          <a:noFill/>
          <a:ln/>
        </p:spPr>
        <p:txBody>
          <a:bodyPr wrap="square" lIns="0" tIns="0" rIns="0" bIns="0" rtlCol="0" anchor="ctr"/>
          <a:lstStyle/>
          <a:p>
            <a:pPr marL="342900" indent="-342900">
              <a:lnSpc>
                <a:spcPts val="1350"/>
              </a:lnSpc>
              <a:spcAft>
                <a:spcPts val="600"/>
              </a:spcAft>
              <a:buSzPct val="100000"/>
              <a:buChar char="•"/>
            </a:pPr>
            <a:r>
              <a:rPr lang="en-US" sz="1100" dirty="0">
                <a:solidFill>
                  <a:srgbClr val="4A5663"/>
                </a:solidFill>
                <a:latin typeface="Calibri" pitchFamily="34" charset="0"/>
                <a:ea typeface="Calibri" pitchFamily="34" charset="-122"/>
                <a:cs typeface="Calibri" pitchFamily="34" charset="-120"/>
              </a:rPr>
              <a:t>Fixed and overhead cost — this is contribution margin, not a full P&amp;L.</a:t>
            </a:r>
            <a:endParaRPr lang="en-US" sz="1100" dirty="0"/>
          </a:p>
          <a:p>
            <a:pPr marL="342900" indent="-342900">
              <a:lnSpc>
                <a:spcPts val="1350"/>
              </a:lnSpc>
              <a:spcAft>
                <a:spcPts val="600"/>
              </a:spcAft>
              <a:buSzPct val="100000"/>
              <a:buChar char="•"/>
            </a:pPr>
            <a:r>
              <a:rPr lang="en-US" sz="1100" dirty="0">
                <a:solidFill>
                  <a:srgbClr val="4A5663"/>
                </a:solidFill>
                <a:latin typeface="Calibri" pitchFamily="34" charset="0"/>
                <a:ea typeface="Calibri" pitchFamily="34" charset="-122"/>
                <a:cs typeface="Calibri" pitchFamily="34" charset="-120"/>
              </a:rPr>
              <a:t>Customer acquisition and merchant onboarding cost.</a:t>
            </a:r>
            <a:endParaRPr lang="en-US" sz="1100" dirty="0"/>
          </a:p>
          <a:p>
            <a:pPr marL="342900" indent="-342900">
              <a:lnSpc>
                <a:spcPts val="1350"/>
              </a:lnSpc>
              <a:spcAft>
                <a:spcPts val="600"/>
              </a:spcAft>
              <a:buSzPct val="100000"/>
              <a:buChar char="•"/>
            </a:pPr>
            <a:r>
              <a:rPr lang="en-US" sz="1100" dirty="0">
                <a:solidFill>
                  <a:srgbClr val="4A5663"/>
                </a:solidFill>
                <a:latin typeface="Calibri" pitchFamily="34" charset="0"/>
                <a:ea typeface="Calibri" pitchFamily="34" charset="-122"/>
                <a:cs typeface="Calibri" pitchFamily="34" charset="-120"/>
              </a:rPr>
              <a:t>Settlement records with no matching transaction — reported as a reconciliation break, not analysed.</a:t>
            </a:r>
            <a:endParaRPr lang="en-US" sz="1100" dirty="0"/>
          </a:p>
          <a:p>
            <a:pPr marL="342900" indent="-342900">
              <a:lnSpc>
                <a:spcPts val="1350"/>
              </a:lnSpc>
              <a:spcAft>
                <a:spcPts val="600"/>
              </a:spcAft>
              <a:buSzPct val="100000"/>
              <a:buChar char="•"/>
            </a:pPr>
            <a:r>
              <a:rPr lang="en-US" sz="1100" dirty="0">
                <a:solidFill>
                  <a:srgbClr val="4A5663"/>
                </a:solidFill>
                <a:latin typeface="Calibri" pitchFamily="34" charset="0"/>
                <a:ea typeface="Calibri" pitchFamily="34" charset="-122"/>
                <a:cs typeface="Calibri" pitchFamily="34" charset="-120"/>
              </a:rPr>
              <a:t>Any period outside 2025, including December settlements landing in January 2026.</a:t>
            </a:r>
            <a:endParaRPr lang="en-US" sz="1100" dirty="0"/>
          </a:p>
          <a:p>
            <a:pPr marL="342900" indent="-342900">
              <a:lnSpc>
                <a:spcPts val="1350"/>
              </a:lnSpc>
              <a:spcAft>
                <a:spcPts val="600"/>
              </a:spcAft>
              <a:buSzPct val="100000"/>
              <a:buChar char="•"/>
            </a:pPr>
            <a:r>
              <a:rPr lang="en-US" sz="1100" dirty="0">
                <a:solidFill>
                  <a:srgbClr val="4A5663"/>
                </a:solidFill>
                <a:latin typeface="Calibri" pitchFamily="34" charset="0"/>
                <a:ea typeface="Calibri" pitchFamily="34" charset="-122"/>
                <a:cs typeface="Calibri" pitchFamily="34" charset="-120"/>
              </a:rPr>
              <a:t>Causation between latency and merchant churn — no retention data exists.</a:t>
            </a:r>
            <a:endParaRPr lang="en-US" sz="1100" dirty="0"/>
          </a:p>
        </p:txBody>
      </p:sp>
      <p:sp>
        <p:nvSpPr>
          <p:cNvPr id="8" name="Shape 6"/>
          <p:cNvSpPr/>
          <p:nvPr/>
        </p:nvSpPr>
        <p:spPr>
          <a:xfrm>
            <a:off x="6035040" y="1627632"/>
            <a:ext cx="5577840" cy="2286000"/>
          </a:xfrm>
          <a:prstGeom prst="roundRect">
            <a:avLst>
              <a:gd name="adj" fmla="val 24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9" name="Text 7"/>
          <p:cNvSpPr txBox="1"/>
          <p:nvPr/>
        </p:nvSpPr>
        <p:spPr>
          <a:xfrm>
            <a:off x="6263640" y="1783080"/>
            <a:ext cx="512064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Stated up front so an absent finding is not read as a null result</a:t>
            </a:r>
            <a:endParaRPr lang="en-US" sz="1300" dirty="0"/>
          </a:p>
        </p:txBody>
      </p:sp>
      <p:sp>
        <p:nvSpPr>
          <p:cNvPr id="10" name="Text 8"/>
          <p:cNvSpPr txBox="1"/>
          <p:nvPr/>
        </p:nvSpPr>
        <p:spPr>
          <a:xfrm>
            <a:off x="6309360" y="2121408"/>
            <a:ext cx="5029200" cy="1691640"/>
          </a:xfrm>
          <a:prstGeom prst="rect">
            <a:avLst/>
          </a:prstGeom>
          <a:noFill/>
          <a:ln/>
        </p:spPr>
        <p:txBody>
          <a:bodyPr wrap="square" lIns="0" tIns="0" rIns="0" bIns="0" rtlCol="0" anchor="ctr"/>
          <a:lstStyle/>
          <a:p>
            <a:pPr marL="342900" indent="-342900">
              <a:lnSpc>
                <a:spcPts val="1350"/>
              </a:lnSpc>
              <a:spcAft>
                <a:spcPts val="600"/>
              </a:spcAft>
              <a:buSzPct val="100000"/>
              <a:buChar char="•"/>
            </a:pPr>
            <a:r>
              <a:rPr lang="en-US" sz="1100" dirty="0">
                <a:solidFill>
                  <a:srgbClr val="4A5663"/>
                </a:solidFill>
                <a:latin typeface="Calibri" pitchFamily="34" charset="0"/>
                <a:ea typeface="Calibri" pitchFamily="34" charset="-122"/>
                <a:cs typeface="Calibri" pitchFamily="34" charset="-120"/>
              </a:rPr>
              <a:t>Whether a declined payment was lost revenue or a customer who retried — retry linkage is not in the data.</a:t>
            </a:r>
            <a:endParaRPr lang="en-US" sz="1100" dirty="0"/>
          </a:p>
          <a:p>
            <a:pPr marL="342900" indent="-342900">
              <a:lnSpc>
                <a:spcPts val="1350"/>
              </a:lnSpc>
              <a:spcAft>
                <a:spcPts val="600"/>
              </a:spcAft>
              <a:buSzPct val="100000"/>
              <a:buChar char="•"/>
            </a:pPr>
            <a:r>
              <a:rPr lang="en-US" sz="1100" dirty="0">
                <a:solidFill>
                  <a:srgbClr val="4A5663"/>
                </a:solidFill>
                <a:latin typeface="Calibri" pitchFamily="34" charset="0"/>
                <a:ea typeface="Calibri" pitchFamily="34" charset="-122"/>
                <a:cs typeface="Calibri" pitchFamily="34" charset="-120"/>
              </a:rPr>
              <a:t>Merchant-level profitability net of relationship and support cost.</a:t>
            </a:r>
            <a:endParaRPr lang="en-US" sz="1100" dirty="0"/>
          </a:p>
          <a:p>
            <a:pPr marL="342900" indent="-342900">
              <a:lnSpc>
                <a:spcPts val="1350"/>
              </a:lnSpc>
              <a:spcAft>
                <a:spcPts val="600"/>
              </a:spcAft>
              <a:buSzPct val="100000"/>
              <a:buChar char="•"/>
            </a:pPr>
            <a:r>
              <a:rPr lang="en-US" sz="1100" dirty="0">
                <a:solidFill>
                  <a:srgbClr val="4A5663"/>
                </a:solidFill>
                <a:latin typeface="Calibri" pitchFamily="34" charset="0"/>
                <a:ea typeface="Calibri" pitchFamily="34" charset="-122"/>
                <a:cs typeface="Calibri" pitchFamily="34" charset="-120"/>
              </a:rPr>
              <a:t>Anything about periods after 31 December 2025.</a:t>
            </a:r>
            <a:endParaRPr lang="en-US" sz="1100" dirty="0"/>
          </a:p>
          <a:p>
            <a:pPr marL="342900" indent="-342900">
              <a:lnSpc>
                <a:spcPts val="1350"/>
              </a:lnSpc>
              <a:spcAft>
                <a:spcPts val="600"/>
              </a:spcAft>
              <a:buSzPct val="100000"/>
              <a:buChar char="•"/>
            </a:pPr>
            <a:r>
              <a:rPr lang="en-US" sz="1100" dirty="0">
                <a:solidFill>
                  <a:srgbClr val="4A5663"/>
                </a:solidFill>
                <a:latin typeface="Calibri" pitchFamily="34" charset="0"/>
                <a:ea typeface="Calibri" pitchFamily="34" charset="-122"/>
                <a:cs typeface="Calibri" pitchFamily="34" charset="-120"/>
              </a:rPr>
              <a:t>Price elasticity — there is no historical price change in the data to estimate it from.</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64240" cy="914400"/>
        </p:xfrm>
        <a:graphic>
          <a:graphicData uri="http://schemas.openxmlformats.org/drawingml/2006/table">
            <a:tbl>
              <a:tblPr/>
              <a:tblGrid>
                <a:gridCol w="502920"/>
                <a:gridCol w="3063240"/>
                <a:gridCol w="7498080"/>
              </a:tblGrid>
              <a:tr h="32461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Assumption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 and the alternative that was rejected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24612">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A1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FX uses the SETTLEMENT rate on the transaction date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MID is the quoted rate, not the realised one. Using MID overstates revenue — the spread widens from 0.35% to 0.60% in Q4, so the error grows over exactly the period under investigation.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24612">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A2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Settlement fees are attributed to the transaction month</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Keeps revenue and cost in the same period. Settlement-month attribution would smear the August incident across two months.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24612">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A3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Captured transactions with no settlement row are retained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4.77% of rows, weighted to December. Dropping them would delete the newest month's revenue and exaggerate the decline.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24612">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A4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Missing merchant_id rows stay in the executive KPI</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They are real payments. They are excluded only from merchant-level breakdowns, where they would bias the answer.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24612">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A5</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Negative amounts with status REVERSED are legitimate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 reversal is a business event, not a defect. Only negatives on CAPTURED with no parent are impossible.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24612">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A6</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Route costs are read as-of the transaction date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Provider fees are not constant — PROV_ORBIT reprices on 1 July. A single latest-rate join would erase the step change entirely.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33C"/>
        </a:solidFill>
      </p:bgPr>
    </p:bg>
    <p:spTree>
      <p:nvGrpSpPr>
        <p:cNvPr id="1" name=""/>
        <p:cNvGrpSpPr/>
        <p:nvPr/>
      </p:nvGrpSpPr>
      <p:grpSpPr>
        <a:xfrm>
          <a:off x="0" y="0"/>
          <a:ext cx="0" cy="0"/>
          <a:chOff x="0" y="0"/>
          <a:chExt cx="0" cy="0"/>
        </a:xfrm>
      </p:grpSpPr>
      <p:sp>
        <p:nvSpPr>
          <p:cNvPr id="2" name="Text 0"/>
          <p:cNvSpPr txBox="1"/>
          <p:nvPr/>
        </p:nvSpPr>
        <p:spPr>
          <a:xfrm>
            <a:off x="822960" y="1828800"/>
            <a:ext cx="2743200" cy="1737360"/>
          </a:xfrm>
          <a:prstGeom prst="rect">
            <a:avLst/>
          </a:prstGeom>
          <a:noFill/>
          <a:ln/>
        </p:spPr>
        <p:txBody>
          <a:bodyPr wrap="square" lIns="0" tIns="0" rIns="0" bIns="0" rtlCol="0" anchor="ctr"/>
          <a:lstStyle/>
          <a:p>
            <a:pPr indent="0" marL="0">
              <a:buNone/>
            </a:pPr>
            <a:r>
              <a:rPr lang="en-US" sz="9600" b="1" dirty="0">
                <a:solidFill>
                  <a:srgbClr val="24406A"/>
                </a:solidFill>
                <a:latin typeface="Cambria" pitchFamily="34" charset="0"/>
                <a:ea typeface="Cambria" pitchFamily="34" charset="-122"/>
                <a:cs typeface="Cambria" pitchFamily="34" charset="-120"/>
              </a:rPr>
              <a:t>02</a:t>
            </a:r>
            <a:endParaRPr lang="en-US" sz="9600" dirty="0"/>
          </a:p>
        </p:txBody>
      </p:sp>
      <p:sp>
        <p:nvSpPr>
          <p:cNvPr id="3" name="Text 1"/>
          <p:cNvSpPr txBox="1"/>
          <p:nvPr/>
        </p:nvSpPr>
        <p:spPr>
          <a:xfrm>
            <a:off x="3108960" y="2148840"/>
            <a:ext cx="841248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raw material</a:t>
            </a:r>
            <a:endParaRPr lang="en-US" sz="3400" dirty="0"/>
          </a:p>
        </p:txBody>
      </p:sp>
      <p:sp>
        <p:nvSpPr>
          <p:cNvPr id="4" name="Text 2"/>
          <p:cNvSpPr txBox="1"/>
          <p:nvPr/>
        </p:nvSpPr>
        <p:spPr>
          <a:xfrm>
            <a:off x="3154680" y="3017520"/>
            <a:ext cx="8229600" cy="457200"/>
          </a:xfrm>
          <a:prstGeom prst="rect">
            <a:avLst/>
          </a:prstGeom>
          <a:noFill/>
          <a:ln/>
        </p:spPr>
        <p:txBody>
          <a:bodyPr wrap="square" lIns="0" tIns="0" rIns="0" bIns="0" rtlCol="0" anchor="ctr"/>
          <a:lstStyle/>
          <a:p>
            <a:pPr indent="0" marL="0">
              <a:lnSpc>
                <a:spcPts val="2000"/>
              </a:lnSpc>
              <a:buNone/>
            </a:pPr>
            <a:r>
              <a:rPr lang="en-US" sz="1500" dirty="0">
                <a:solidFill>
                  <a:srgbClr val="8FA6C4"/>
                </a:solidFill>
                <a:latin typeface="Calibri" pitchFamily="34" charset="0"/>
                <a:ea typeface="Calibri" pitchFamily="34" charset="-122"/>
                <a:cs typeface="Calibri" pitchFamily="34" charset="-120"/>
              </a:rPr>
              <a:t>Task 2 — Data contract and join risk register</a:t>
            </a:r>
            <a:endParaRPr lang="en-US" sz="1500" dirty="0"/>
          </a:p>
        </p:txBody>
      </p:sp>
      <p:sp>
        <p:nvSpPr>
          <p:cNvPr id="5" name="Text 3"/>
          <p:cNvSpPr txBox="1"/>
          <p:nvPr/>
        </p:nvSpPr>
        <p:spPr>
          <a:xfrm>
            <a:off x="3154680" y="3611880"/>
            <a:ext cx="8229600" cy="1097280"/>
          </a:xfrm>
          <a:prstGeom prst="rect">
            <a:avLst/>
          </a:prstGeom>
          <a:noFill/>
          <a:ln/>
        </p:spPr>
        <p:txBody>
          <a:bodyPr wrap="square" lIns="0" tIns="0" rIns="0" bIns="0" rtlCol="0" anchor="ctr"/>
          <a:lstStyle/>
          <a:p>
            <a:pPr indent="0" marL="0">
              <a:lnSpc>
                <a:spcPts val="1900"/>
              </a:lnSpc>
              <a:buNone/>
            </a:pPr>
            <a:r>
              <a:rPr lang="en-US" sz="1300" dirty="0">
                <a:solidFill>
                  <a:srgbClr val="7FD4D2"/>
                </a:solidFill>
                <a:latin typeface="Calibri" pitchFamily="34" charset="0"/>
                <a:ea typeface="Calibri" pitchFamily="34" charset="-122"/>
                <a:cs typeface="Calibri" pitchFamily="34" charset="-120"/>
              </a:rPr>
              <a:t>Eleven source files  ·  The ER diagram  ·  Grain, keys and ownership  ·  Six joins and how each one can inflate the answer  ·  Thirteen defects planted in the data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2 · SOURCES</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Eleven files, and the grain of each one</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Grain is the first question, not a detail. Six of these eleven carry more than one row per transaction, and every one of those is a way to inflate the answer.</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64240" cy="914400"/>
        </p:xfrm>
        <a:graphic>
          <a:graphicData uri="http://schemas.openxmlformats.org/drawingml/2006/table">
            <a:tbl>
              <a:tblPr/>
              <a:tblGrid>
                <a:gridCol w="2148840"/>
                <a:gridCol w="914400"/>
                <a:gridCol w="1691640"/>
                <a:gridCol w="4160520"/>
                <a:gridCol w="2148840"/>
              </a:tblGrid>
              <a:tr h="3611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File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Rows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Grain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carries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Join hazard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transaction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260,287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per payment attempt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amount, currency, channel, status, route_id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 the spine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payment_event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~1.00M</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2–4 per transaction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lifecycle events, processing_ms, ingestion_time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b="1" dirty="0">
                          <a:solidFill>
                            <a:srgbClr val="A33D3D"/>
                          </a:solidFill>
                          <a:latin typeface="Calibri" pitchFamily="34" charset="0"/>
                          <a:ea typeface="Calibri" pitchFamily="34" charset="-122"/>
                          <a:cs typeface="Calibri" pitchFamily="34" charset="-120"/>
                        </a:rPr>
                        <a:t>FAN-OUT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fraud_decision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466k</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1–4 per transaction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risk_score, decision, model_version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A33D3D"/>
                          </a:solidFill>
                          <a:latin typeface="Calibri" pitchFamily="34" charset="0"/>
                          <a:ea typeface="Calibri" pitchFamily="34" charset="-122"/>
                          <a:cs typeface="Calibri" pitchFamily="34" charset="-120"/>
                        </a:rPr>
                        <a:t>FAN-OUT ×1.8</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settlement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224k</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1–2 per transaction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fee_amount = AstraPay's revenue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b="1" dirty="0">
                          <a:solidFill>
                            <a:srgbClr val="A33D3D"/>
                          </a:solidFill>
                          <a:latin typeface="Calibri" pitchFamily="34" charset="0"/>
                          <a:ea typeface="Calibri" pitchFamily="34" charset="-122"/>
                          <a:cs typeface="Calibri" pitchFamily="34" charset="-120"/>
                        </a:rPr>
                        <a:t>FAN-OUT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chargeback</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721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per dispute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disputed amount, reason, opened_at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one-to-many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merchant_risk_snapshot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7,200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12 per merchant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risk_score, risk_band by month</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b="1" dirty="0">
                          <a:solidFill>
                            <a:srgbClr val="A33D3D"/>
                          </a:solidFill>
                          <a:latin typeface="Calibri" pitchFamily="34" charset="0"/>
                          <a:ea typeface="Calibri" pitchFamily="34" charset="-122"/>
                          <a:cs typeface="Calibri" pitchFamily="34" charset="-120"/>
                        </a:rPr>
                        <a:t>FAN-OUT ×11.9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route_cost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dated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per route per rate_date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fixed_fee, variable_fee_pct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D98324"/>
                          </a:solidFill>
                          <a:latin typeface="Calibri" pitchFamily="34" charset="0"/>
                          <a:ea typeface="Calibri" pitchFamily="34" charset="-122"/>
                          <a:cs typeface="Calibri" pitchFamily="34" charset="-120"/>
                        </a:rPr>
                        <a:t>dated — as-of join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fx_rate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dated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per date × currency × rate_type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rate_to_usd, MID or SETTLEMENT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b="1" dirty="0">
                          <a:solidFill>
                            <a:srgbClr val="D98324"/>
                          </a:solidFill>
                          <a:latin typeface="Calibri" pitchFamily="34" charset="0"/>
                          <a:ea typeface="Calibri" pitchFamily="34" charset="-122"/>
                          <a:cs typeface="Calibri" pitchFamily="34" charset="-120"/>
                        </a:rPr>
                        <a:t>two rate types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merchant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600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per merchant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category, country, pricing_plan, risk_tier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safe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customer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15,000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per customer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segment, country, kyc_status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safe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pricing_plan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per plan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rate_pct, fixed_fee_usd, billing_basis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safe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settlement.fee_amount is the fee AstraPay charges the merchant — revenue. The fee AstraPay pays the provider is a different number and lives in route_cost. Reading fee_amount as cost makes contribution zero by construction.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2 · ER DIAGRAM</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How the eleven files actually relate</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Red headers are the tables that carry more than one row per key. Every one of them is pre-aggregated before it touches the fact table.</a:t>
            </a:r>
            <a:endParaRPr lang="en-US" sz="1300" dirty="0"/>
          </a:p>
        </p:txBody>
      </p:sp>
      <p:pic>
        <p:nvPicPr>
          <p:cNvPr id="5" name="Image 0" descr="preencoded.png">    </p:cNvPr>
          <p:cNvPicPr>
            <a:picLocks noChangeAspect="1"/>
          </p:cNvPicPr>
          <p:nvPr/>
        </p:nvPicPr>
        <p:blipFill>
          <a:blip r:embed="rId1"/>
          <a:stretch>
            <a:fillRect/>
          </a:stretch>
        </p:blipFill>
        <p:spPr>
          <a:xfrm>
            <a:off x="1177290" y="1572768"/>
            <a:ext cx="9806940" cy="45262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2 · JOIN RISK REGISTER</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Six joins, and what each one does if you get it wrong</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This register was written before any joining happened. It is the reason the fan-out defects were caught rather than shipped.</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64240" cy="914400"/>
        </p:xfrm>
        <a:graphic>
          <a:graphicData uri="http://schemas.openxmlformats.org/drawingml/2006/table">
            <a:tbl>
              <a:tblPr/>
              <a:tblGrid>
                <a:gridCol w="2971800"/>
                <a:gridCol w="1463040"/>
                <a:gridCol w="3977640"/>
                <a:gridCol w="2651760"/>
              </a:tblGrid>
              <a:tr h="65836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Join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Cardinality if naive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goes wrong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Control applied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65836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transaction → merchant_risk_snapshot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 12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Gross payment value inflates ×11.92. Every merchant-level figure is twelve times too big and looks plausible.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As-of join on snapshot_month ≤ transaction month, taking the latest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65836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transaction → fraud_decision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 1–4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GPV inflates ×1.79, and any transaction with multiple rule hits is counted repeatedly.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Pre-aggregate to one row per transaction: max normalised score, worst decision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65836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transaction → payment_event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 2–4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Lifecycle rows multiply the fact. Latency becomes uninterpretable.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Pivot the lifecycle to columns, keep total processing_ms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65836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transaction → settlement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 1–2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1,334 transactions carry a partial plus a CORRECTION row. Revenue double-counts on exactly those.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Sum fee_amount to transaction grain before joining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65836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transaction → chargeback</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 0–1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Safe in this dataset, but not guaranteed — a transaction can in principle be disputed twice.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Aggregate to transaction grain anyway; do not rely on the data staying clean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65836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transaction → route_cost / fx_rate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 many dates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Joining on key alone multiplies by every rate date and silently averages away the 1 July repricing.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Dated join on the transaction date; explicit rate_type filter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bl>
          </a:graphicData>
        </a:graphic>
      </p:graphicFrame>
      <p:sp>
        <p:nvSpPr>
          <p:cNvPr id="6" name="Text 3"/>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The first two are proved numerically in Task 3: run the naive join, print the inflated number, then print the correct one. A reviewer should never have to take the control on trust.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2 · THE MESS</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Thirteen defects, and why "drop the bad rows" is the wrong instinct</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Three remediation verbs, applied deliberately: quarantine, repair, or retain-with-flag. Deletion is the option that silently changes the answer.</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457200"/>
                <a:gridCol w="2743200"/>
                <a:gridCol w="3017520"/>
                <a:gridCol w="1051560"/>
                <a:gridCol w="3794760"/>
              </a:tblGrid>
              <a:tr h="31546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Defect</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Measured</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Severity</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Remediation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Missing merchant_id</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0.68% overall — but WALLET 2.10% vs 0.41% elsewhere</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D98324"/>
                          </a:solidFill>
                          <a:latin typeface="Calibri" pitchFamily="34" charset="0"/>
                          <a:ea typeface="Calibri" pitchFamily="34" charset="-122"/>
                          <a:cs typeface="Calibri" pitchFamily="34" charset="-120"/>
                        </a:rPr>
                        <a:t>WARNING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Retain with flag. Not uniform, so dropping biases channel analysis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2a</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Reversals: negative amount, status REVERSED</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1,952 rows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50" b="1" dirty="0">
                          <a:solidFill>
                            <a:srgbClr val="6B7785"/>
                          </a:solidFill>
                          <a:latin typeface="Calibri" pitchFamily="34" charset="0"/>
                          <a:ea typeface="Calibri" pitchFamily="34" charset="-122"/>
                          <a:cs typeface="Calibri" pitchFamily="34" charset="-120"/>
                        </a:rPr>
                        <a:t>INFO</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Legitimate business event — net them, do not drop</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2b</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Orphan negatives on CAPTURED, no parent</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390 rows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BLOCKING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Quarantine — an impossible state</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risk_score &gt; 1</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37.9% of fraud rows, all model_version v3.0</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50" b="1" dirty="0">
                          <a:solidFill>
                            <a:srgbClr val="D98324"/>
                          </a:solidFill>
                          <a:latin typeface="Calibri" pitchFamily="34" charset="0"/>
                          <a:ea typeface="Calibri" pitchFamily="34" charset="-122"/>
                          <a:cs typeface="Calibri" pitchFamily="34" charset="-120"/>
                        </a:rPr>
                        <a:t>WARNING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Normalise by version before any threshold comparison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Latency deterioration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PROV_MERIDIAN, 1 Aug – 24 Sep</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D98324"/>
                          </a:solidFill>
                          <a:latin typeface="Calibri" pitchFamily="34" charset="0"/>
                          <a:ea typeface="Calibri" pitchFamily="34" charset="-122"/>
                          <a:cs typeface="Calibri" pitchFamily="34" charset="-120"/>
                        </a:rPr>
                        <a:t>WARNING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Flag as an incident, exclude from trend fitting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Late-arriving events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4.44% ingested &gt;2 days late, max 9 days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50" b="1" dirty="0">
                          <a:solidFill>
                            <a:srgbClr val="D98324"/>
                          </a:solidFill>
                          <a:latin typeface="Calibri" pitchFamily="34" charset="0"/>
                          <a:ea typeface="Calibri" pitchFamily="34" charset="-122"/>
                          <a:cs typeface="Calibri" pitchFamily="34" charset="-120"/>
                        </a:rPr>
                        <a:t>WARNING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event_time drives KPIs; ingestion_time measures reporting lag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6a</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Captured transactions with no settlement row</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4.77%, weighted to December</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BLOCKING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Retain with flag; impute from the rate card, never treat as zero revenue</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6b</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Transactions with two settlement rows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1,334 (partial + CORRECTION)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BLOCKING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Sum to transaction grain before joining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6c</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Settlement rows with no matching transaction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447 rows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BLOCKING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Exclude and report to Finance Ops as a reconciliation break</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Two FX rate types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MID and SETTLEMENT for every date</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50" b="1" dirty="0">
                          <a:solidFill>
                            <a:srgbClr val="D98324"/>
                          </a:solidFill>
                          <a:latin typeface="Calibri" pitchFamily="34" charset="0"/>
                          <a:ea typeface="Calibri" pitchFamily="34" charset="-122"/>
                          <a:cs typeface="Calibri" pitchFamily="34" charset="-120"/>
                        </a:rPr>
                        <a:t>WARNING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Pick one, state why, sensitivity-test the other</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merchant_risk_snapshot fan-out</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12 rows per merchant — ×11.9 inflation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BLOCKING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As-of join on snapshot_month</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fraud_decision fan-out</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1–4 rows per txn — ×1.8 inflation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BLOCKING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Pre-aggregate to transaction grain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9b</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payment_event fan-out</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2–4 rows per transaction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BLOCKING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Pivot before joining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Note the asymmetry in defect 1: the missing merchant rate is five times higher on WALLET than anywhere else. A defect that is not uniformly distributed cannot be dropped without biasing whatever dimension it correlates with.</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33C"/>
        </a:solidFill>
      </p:bgPr>
    </p:bg>
    <p:spTree>
      <p:nvGrpSpPr>
        <p:cNvPr id="1" name=""/>
        <p:cNvGrpSpPr/>
        <p:nvPr/>
      </p:nvGrpSpPr>
      <p:grpSpPr>
        <a:xfrm>
          <a:off x="0" y="0"/>
          <a:ext cx="0" cy="0"/>
          <a:chOff x="0" y="0"/>
          <a:chExt cx="0" cy="0"/>
        </a:xfrm>
      </p:grpSpPr>
      <p:sp>
        <p:nvSpPr>
          <p:cNvPr id="2" name="Text 0"/>
          <p:cNvSpPr txBox="1"/>
          <p:nvPr/>
        </p:nvSpPr>
        <p:spPr>
          <a:xfrm>
            <a:off x="822960" y="1828800"/>
            <a:ext cx="2743200" cy="1737360"/>
          </a:xfrm>
          <a:prstGeom prst="rect">
            <a:avLst/>
          </a:prstGeom>
          <a:noFill/>
          <a:ln/>
        </p:spPr>
        <p:txBody>
          <a:bodyPr wrap="square" lIns="0" tIns="0" rIns="0" bIns="0" rtlCol="0" anchor="ctr"/>
          <a:lstStyle/>
          <a:p>
            <a:pPr indent="0" marL="0">
              <a:buNone/>
            </a:pPr>
            <a:r>
              <a:rPr lang="en-US" sz="9600" b="1" dirty="0">
                <a:solidFill>
                  <a:srgbClr val="24406A"/>
                </a:solidFill>
                <a:latin typeface="Cambria" pitchFamily="34" charset="0"/>
                <a:ea typeface="Cambria" pitchFamily="34" charset="-122"/>
                <a:cs typeface="Cambria" pitchFamily="34" charset="-120"/>
              </a:rPr>
              <a:t>03</a:t>
            </a:r>
            <a:endParaRPr lang="en-US" sz="9600" dirty="0"/>
          </a:p>
        </p:txBody>
      </p:sp>
      <p:sp>
        <p:nvSpPr>
          <p:cNvPr id="3" name="Text 1"/>
          <p:cNvSpPr txBox="1"/>
          <p:nvPr/>
        </p:nvSpPr>
        <p:spPr>
          <a:xfrm>
            <a:off x="3108960" y="2148840"/>
            <a:ext cx="841248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Data quality investigation</a:t>
            </a:r>
            <a:endParaRPr lang="en-US" sz="3400" dirty="0"/>
          </a:p>
        </p:txBody>
      </p:sp>
      <p:sp>
        <p:nvSpPr>
          <p:cNvPr id="4" name="Text 2"/>
          <p:cNvSpPr txBox="1"/>
          <p:nvPr/>
        </p:nvSpPr>
        <p:spPr>
          <a:xfrm>
            <a:off x="3154680" y="3017520"/>
            <a:ext cx="8229600" cy="457200"/>
          </a:xfrm>
          <a:prstGeom prst="rect">
            <a:avLst/>
          </a:prstGeom>
          <a:noFill/>
          <a:ln/>
        </p:spPr>
        <p:txBody>
          <a:bodyPr wrap="square" lIns="0" tIns="0" rIns="0" bIns="0" rtlCol="0" anchor="ctr"/>
          <a:lstStyle/>
          <a:p>
            <a:pPr indent="0" marL="0">
              <a:lnSpc>
                <a:spcPts val="2000"/>
              </a:lnSpc>
              <a:buNone/>
            </a:pPr>
            <a:r>
              <a:rPr lang="en-US" sz="1500" dirty="0">
                <a:solidFill>
                  <a:srgbClr val="8FA6C4"/>
                </a:solidFill>
                <a:latin typeface="Calibri" pitchFamily="34" charset="0"/>
                <a:ea typeface="Calibri" pitchFamily="34" charset="-122"/>
                <a:cs typeface="Calibri" pitchFamily="34" charset="-120"/>
              </a:rPr>
              <a:t>Task 3 — Profiling, scorecard and the fan-out proof</a:t>
            </a:r>
            <a:endParaRPr lang="en-US" sz="1500" dirty="0"/>
          </a:p>
        </p:txBody>
      </p:sp>
      <p:sp>
        <p:nvSpPr>
          <p:cNvPr id="5" name="Text 3"/>
          <p:cNvSpPr txBox="1"/>
          <p:nvPr/>
        </p:nvSpPr>
        <p:spPr>
          <a:xfrm>
            <a:off x="3154680" y="3611880"/>
            <a:ext cx="8229600" cy="1097280"/>
          </a:xfrm>
          <a:prstGeom prst="rect">
            <a:avLst/>
          </a:prstGeom>
          <a:noFill/>
          <a:ln/>
        </p:spPr>
        <p:txBody>
          <a:bodyPr wrap="square" lIns="0" tIns="0" rIns="0" bIns="0" rtlCol="0" anchor="ctr"/>
          <a:lstStyle/>
          <a:p>
            <a:pPr indent="0" marL="0">
              <a:lnSpc>
                <a:spcPts val="1900"/>
              </a:lnSpc>
              <a:buNone/>
            </a:pPr>
            <a:r>
              <a:rPr lang="en-US" sz="1300" dirty="0">
                <a:solidFill>
                  <a:srgbClr val="7FD4D2"/>
                </a:solidFill>
                <a:latin typeface="Calibri" pitchFamily="34" charset="0"/>
                <a:ea typeface="Calibri" pitchFamily="34" charset="-122"/>
                <a:cs typeface="Calibri" pitchFamily="34" charset="-120"/>
              </a:rPr>
              <a:t>Six quality dimensions  ·  26 automated checks  ·  What failed and what it costs  ·  Proving the joins do not inflate the answer  ·  Quarantine reconciliation to zero</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3 · METHOD</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Twenty-six checks, six dimensions, one scorecard</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The gate from Task 1: until H0 is closed, no other hypothesis is worth testing. This is how it was closed.</a:t>
            </a:r>
            <a:endParaRPr lang="en-US" sz="1300" dirty="0"/>
          </a:p>
        </p:txBody>
      </p:sp>
      <p:sp>
        <p:nvSpPr>
          <p:cNvPr id="5" name="Shape 3"/>
          <p:cNvSpPr/>
          <p:nvPr/>
        </p:nvSpPr>
        <p:spPr>
          <a:xfrm>
            <a:off x="548640" y="1627632"/>
            <a:ext cx="5394960" cy="969264"/>
          </a:xfrm>
          <a:prstGeom prst="roundRect">
            <a:avLst>
              <a:gd name="adj" fmla="val 566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6" name="Text 4"/>
          <p:cNvSpPr txBox="1"/>
          <p:nvPr/>
        </p:nvSpPr>
        <p:spPr>
          <a:xfrm>
            <a:off x="749808" y="1755648"/>
            <a:ext cx="274320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Completeness</a:t>
            </a:r>
            <a:endParaRPr lang="en-US" sz="1300" dirty="0"/>
          </a:p>
        </p:txBody>
      </p:sp>
      <p:sp>
        <p:nvSpPr>
          <p:cNvPr id="7" name="Text 5"/>
          <p:cNvSpPr txBox="1"/>
          <p:nvPr/>
        </p:nvSpPr>
        <p:spPr>
          <a:xfrm>
            <a:off x="3566160" y="1773936"/>
            <a:ext cx="2148840" cy="237744"/>
          </a:xfrm>
          <a:prstGeom prst="rect">
            <a:avLst/>
          </a:prstGeom>
          <a:noFill/>
          <a:ln/>
        </p:spPr>
        <p:txBody>
          <a:bodyPr wrap="square" lIns="0" tIns="0" rIns="0" bIns="0" rtlCol="0" anchor="ctr"/>
          <a:lstStyle/>
          <a:p>
            <a:pPr algn="r" indent="0" marL="0">
              <a:buNone/>
            </a:pPr>
            <a:r>
              <a:rPr lang="en-US" sz="1100" b="1" dirty="0">
                <a:solidFill>
                  <a:srgbClr val="D98324"/>
                </a:solidFill>
                <a:latin typeface="Calibri" pitchFamily="34" charset="0"/>
                <a:ea typeface="Calibri" pitchFamily="34" charset="-122"/>
                <a:cs typeface="Calibri" pitchFamily="34" charset="-120"/>
              </a:rPr>
              <a:t>4 checks</a:t>
            </a:r>
            <a:endParaRPr lang="en-US" sz="1100" dirty="0"/>
          </a:p>
        </p:txBody>
      </p:sp>
      <p:sp>
        <p:nvSpPr>
          <p:cNvPr id="8" name="Text 6"/>
          <p:cNvSpPr txBox="1"/>
          <p:nvPr/>
        </p:nvSpPr>
        <p:spPr>
          <a:xfrm>
            <a:off x="749808" y="2029968"/>
            <a:ext cx="4983480" cy="219456"/>
          </a:xfrm>
          <a:prstGeom prst="rect">
            <a:avLst/>
          </a:prstGeom>
          <a:noFill/>
          <a:ln/>
        </p:spPr>
        <p:txBody>
          <a:bodyPr wrap="square" lIns="0" tIns="0" rIns="0" bIns="0" rtlCol="0" anchor="ctr"/>
          <a:lstStyle/>
          <a:p>
            <a:pPr indent="0" marL="0">
              <a:buNone/>
            </a:pPr>
            <a:r>
              <a:rPr lang="en-US" sz="1100" i="1" dirty="0">
                <a:solidFill>
                  <a:srgbClr val="0E7C7B"/>
                </a:solidFill>
                <a:latin typeface="Calibri" pitchFamily="34" charset="0"/>
                <a:ea typeface="Calibri" pitchFamily="34" charset="-122"/>
                <a:cs typeface="Calibri" pitchFamily="34" charset="-120"/>
              </a:rPr>
              <a:t>Is the value there at all?</a:t>
            </a:r>
            <a:endParaRPr lang="en-US" sz="1100" dirty="0"/>
          </a:p>
        </p:txBody>
      </p:sp>
      <p:sp>
        <p:nvSpPr>
          <p:cNvPr id="9" name="Text 7"/>
          <p:cNvSpPr txBox="1"/>
          <p:nvPr/>
        </p:nvSpPr>
        <p:spPr>
          <a:xfrm>
            <a:off x="749808" y="2249424"/>
            <a:ext cx="4983480" cy="310896"/>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Nulls in merchant_id, customer_id, amount; open chargebacks</a:t>
            </a:r>
            <a:endParaRPr lang="en-US" sz="1000" dirty="0"/>
          </a:p>
        </p:txBody>
      </p:sp>
      <p:sp>
        <p:nvSpPr>
          <p:cNvPr id="10" name="Shape 8"/>
          <p:cNvSpPr/>
          <p:nvPr/>
        </p:nvSpPr>
        <p:spPr>
          <a:xfrm>
            <a:off x="6172200" y="1627632"/>
            <a:ext cx="5394960" cy="969264"/>
          </a:xfrm>
          <a:prstGeom prst="roundRect">
            <a:avLst>
              <a:gd name="adj" fmla="val 566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1" name="Text 9"/>
          <p:cNvSpPr txBox="1"/>
          <p:nvPr/>
        </p:nvSpPr>
        <p:spPr>
          <a:xfrm>
            <a:off x="6373368" y="1755648"/>
            <a:ext cx="274320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Validity</a:t>
            </a:r>
            <a:endParaRPr lang="en-US" sz="1300" dirty="0"/>
          </a:p>
        </p:txBody>
      </p:sp>
      <p:sp>
        <p:nvSpPr>
          <p:cNvPr id="12" name="Text 10"/>
          <p:cNvSpPr txBox="1"/>
          <p:nvPr/>
        </p:nvSpPr>
        <p:spPr>
          <a:xfrm>
            <a:off x="9189720" y="1773936"/>
            <a:ext cx="2148840" cy="237744"/>
          </a:xfrm>
          <a:prstGeom prst="rect">
            <a:avLst/>
          </a:prstGeom>
          <a:noFill/>
          <a:ln/>
        </p:spPr>
        <p:txBody>
          <a:bodyPr wrap="square" lIns="0" tIns="0" rIns="0" bIns="0" rtlCol="0" anchor="ctr"/>
          <a:lstStyle/>
          <a:p>
            <a:pPr algn="r" indent="0" marL="0">
              <a:buNone/>
            </a:pPr>
            <a:r>
              <a:rPr lang="en-US" sz="1100" b="1" dirty="0">
                <a:solidFill>
                  <a:srgbClr val="D98324"/>
                </a:solidFill>
                <a:latin typeface="Calibri" pitchFamily="34" charset="0"/>
                <a:ea typeface="Calibri" pitchFamily="34" charset="-122"/>
                <a:cs typeface="Calibri" pitchFamily="34" charset="-120"/>
              </a:rPr>
              <a:t>6 checks</a:t>
            </a:r>
            <a:endParaRPr lang="en-US" sz="1100" dirty="0"/>
          </a:p>
        </p:txBody>
      </p:sp>
      <p:sp>
        <p:nvSpPr>
          <p:cNvPr id="13" name="Text 11"/>
          <p:cNvSpPr txBox="1"/>
          <p:nvPr/>
        </p:nvSpPr>
        <p:spPr>
          <a:xfrm>
            <a:off x="6373368" y="2029968"/>
            <a:ext cx="4983480" cy="219456"/>
          </a:xfrm>
          <a:prstGeom prst="rect">
            <a:avLst/>
          </a:prstGeom>
          <a:noFill/>
          <a:ln/>
        </p:spPr>
        <p:txBody>
          <a:bodyPr wrap="square" lIns="0" tIns="0" rIns="0" bIns="0" rtlCol="0" anchor="ctr"/>
          <a:lstStyle/>
          <a:p>
            <a:pPr indent="0" marL="0">
              <a:buNone/>
            </a:pPr>
            <a:r>
              <a:rPr lang="en-US" sz="1100" i="1" dirty="0">
                <a:solidFill>
                  <a:srgbClr val="0E7C7B"/>
                </a:solidFill>
                <a:latin typeface="Calibri" pitchFamily="34" charset="0"/>
                <a:ea typeface="Calibri" pitchFamily="34" charset="-122"/>
                <a:cs typeface="Calibri" pitchFamily="34" charset="-120"/>
              </a:rPr>
              <a:t>Is the value possible?</a:t>
            </a:r>
            <a:endParaRPr lang="en-US" sz="1100" dirty="0"/>
          </a:p>
        </p:txBody>
      </p:sp>
      <p:sp>
        <p:nvSpPr>
          <p:cNvPr id="14" name="Text 12"/>
          <p:cNvSpPr txBox="1"/>
          <p:nvPr/>
        </p:nvSpPr>
        <p:spPr>
          <a:xfrm>
            <a:off x="6373368" y="2249424"/>
            <a:ext cx="4983480" cy="310896"/>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risk_score outside 0–1, negative amounts, zero amounts, unknown status, non-positive FX, absurd fee rates</a:t>
            </a:r>
            <a:endParaRPr lang="en-US" sz="1000" dirty="0"/>
          </a:p>
        </p:txBody>
      </p:sp>
      <p:sp>
        <p:nvSpPr>
          <p:cNvPr id="15" name="Shape 13"/>
          <p:cNvSpPr/>
          <p:nvPr/>
        </p:nvSpPr>
        <p:spPr>
          <a:xfrm>
            <a:off x="548640" y="2724912"/>
            <a:ext cx="5394960" cy="969264"/>
          </a:xfrm>
          <a:prstGeom prst="roundRect">
            <a:avLst>
              <a:gd name="adj" fmla="val 566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6" name="Text 14"/>
          <p:cNvSpPr txBox="1"/>
          <p:nvPr/>
        </p:nvSpPr>
        <p:spPr>
          <a:xfrm>
            <a:off x="749808" y="2852928"/>
            <a:ext cx="274320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Uniqueness</a:t>
            </a:r>
            <a:endParaRPr lang="en-US" sz="1300" dirty="0"/>
          </a:p>
        </p:txBody>
      </p:sp>
      <p:sp>
        <p:nvSpPr>
          <p:cNvPr id="17" name="Text 15"/>
          <p:cNvSpPr txBox="1"/>
          <p:nvPr/>
        </p:nvSpPr>
        <p:spPr>
          <a:xfrm>
            <a:off x="3566160" y="2871216"/>
            <a:ext cx="2148840" cy="237744"/>
          </a:xfrm>
          <a:prstGeom prst="rect">
            <a:avLst/>
          </a:prstGeom>
          <a:noFill/>
          <a:ln/>
        </p:spPr>
        <p:txBody>
          <a:bodyPr wrap="square" lIns="0" tIns="0" rIns="0" bIns="0" rtlCol="0" anchor="ctr"/>
          <a:lstStyle/>
          <a:p>
            <a:pPr algn="r" indent="0" marL="0">
              <a:buNone/>
            </a:pPr>
            <a:r>
              <a:rPr lang="en-US" sz="1100" b="1" dirty="0">
                <a:solidFill>
                  <a:srgbClr val="D98324"/>
                </a:solidFill>
                <a:latin typeface="Calibri" pitchFamily="34" charset="0"/>
                <a:ea typeface="Calibri" pitchFamily="34" charset="-122"/>
                <a:cs typeface="Calibri" pitchFamily="34" charset="-120"/>
              </a:rPr>
              <a:t>4 checks</a:t>
            </a:r>
            <a:endParaRPr lang="en-US" sz="1100" dirty="0"/>
          </a:p>
        </p:txBody>
      </p:sp>
      <p:sp>
        <p:nvSpPr>
          <p:cNvPr id="18" name="Text 16"/>
          <p:cNvSpPr txBox="1"/>
          <p:nvPr/>
        </p:nvSpPr>
        <p:spPr>
          <a:xfrm>
            <a:off x="749808" y="3127248"/>
            <a:ext cx="4983480" cy="219456"/>
          </a:xfrm>
          <a:prstGeom prst="rect">
            <a:avLst/>
          </a:prstGeom>
          <a:noFill/>
          <a:ln/>
        </p:spPr>
        <p:txBody>
          <a:bodyPr wrap="square" lIns="0" tIns="0" rIns="0" bIns="0" rtlCol="0" anchor="ctr"/>
          <a:lstStyle/>
          <a:p>
            <a:pPr indent="0" marL="0">
              <a:buNone/>
            </a:pPr>
            <a:r>
              <a:rPr lang="en-US" sz="1100" i="1" dirty="0">
                <a:solidFill>
                  <a:srgbClr val="0E7C7B"/>
                </a:solidFill>
                <a:latin typeface="Calibri" pitchFamily="34" charset="0"/>
                <a:ea typeface="Calibri" pitchFamily="34" charset="-122"/>
                <a:cs typeface="Calibri" pitchFamily="34" charset="-120"/>
              </a:rPr>
              <a:t>Does the declared key hold?</a:t>
            </a:r>
            <a:endParaRPr lang="en-US" sz="1100" dirty="0"/>
          </a:p>
        </p:txBody>
      </p:sp>
      <p:sp>
        <p:nvSpPr>
          <p:cNvPr id="19" name="Text 17"/>
          <p:cNvSpPr txBox="1"/>
          <p:nvPr/>
        </p:nvSpPr>
        <p:spPr>
          <a:xfrm>
            <a:off x="749808" y="3346704"/>
            <a:ext cx="4983480" cy="310896"/>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Duplicate transaction_id, two settlements per txn, composite keys on snapshots and FX</a:t>
            </a:r>
            <a:endParaRPr lang="en-US" sz="1000" dirty="0"/>
          </a:p>
        </p:txBody>
      </p:sp>
      <p:sp>
        <p:nvSpPr>
          <p:cNvPr id="20" name="Shape 18"/>
          <p:cNvSpPr/>
          <p:nvPr/>
        </p:nvSpPr>
        <p:spPr>
          <a:xfrm>
            <a:off x="6172200" y="2724912"/>
            <a:ext cx="5394960" cy="969264"/>
          </a:xfrm>
          <a:prstGeom prst="roundRect">
            <a:avLst>
              <a:gd name="adj" fmla="val 566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1" name="Text 19"/>
          <p:cNvSpPr txBox="1"/>
          <p:nvPr/>
        </p:nvSpPr>
        <p:spPr>
          <a:xfrm>
            <a:off x="6373368" y="2852928"/>
            <a:ext cx="274320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Consistency</a:t>
            </a:r>
            <a:endParaRPr lang="en-US" sz="1300" dirty="0"/>
          </a:p>
        </p:txBody>
      </p:sp>
      <p:sp>
        <p:nvSpPr>
          <p:cNvPr id="22" name="Text 20"/>
          <p:cNvSpPr txBox="1"/>
          <p:nvPr/>
        </p:nvSpPr>
        <p:spPr>
          <a:xfrm>
            <a:off x="9189720" y="2871216"/>
            <a:ext cx="2148840" cy="237744"/>
          </a:xfrm>
          <a:prstGeom prst="rect">
            <a:avLst/>
          </a:prstGeom>
          <a:noFill/>
          <a:ln/>
        </p:spPr>
        <p:txBody>
          <a:bodyPr wrap="square" lIns="0" tIns="0" rIns="0" bIns="0" rtlCol="0" anchor="ctr"/>
          <a:lstStyle/>
          <a:p>
            <a:pPr algn="r" indent="0" marL="0">
              <a:buNone/>
            </a:pPr>
            <a:r>
              <a:rPr lang="en-US" sz="1100" b="1" dirty="0">
                <a:solidFill>
                  <a:srgbClr val="D98324"/>
                </a:solidFill>
                <a:latin typeface="Calibri" pitchFamily="34" charset="0"/>
                <a:ea typeface="Calibri" pitchFamily="34" charset="-122"/>
                <a:cs typeface="Calibri" pitchFamily="34" charset="-120"/>
              </a:rPr>
              <a:t>5 checks</a:t>
            </a:r>
            <a:endParaRPr lang="en-US" sz="1100" dirty="0"/>
          </a:p>
        </p:txBody>
      </p:sp>
      <p:sp>
        <p:nvSpPr>
          <p:cNvPr id="23" name="Text 21"/>
          <p:cNvSpPr txBox="1"/>
          <p:nvPr/>
        </p:nvSpPr>
        <p:spPr>
          <a:xfrm>
            <a:off x="6373368" y="3127248"/>
            <a:ext cx="4983480" cy="219456"/>
          </a:xfrm>
          <a:prstGeom prst="rect">
            <a:avLst/>
          </a:prstGeom>
          <a:noFill/>
          <a:ln/>
        </p:spPr>
        <p:txBody>
          <a:bodyPr wrap="square" lIns="0" tIns="0" rIns="0" bIns="0" rtlCol="0" anchor="ctr"/>
          <a:lstStyle/>
          <a:p>
            <a:pPr indent="0" marL="0">
              <a:buNone/>
            </a:pPr>
            <a:r>
              <a:rPr lang="en-US" sz="1100" i="1" dirty="0">
                <a:solidFill>
                  <a:srgbClr val="0E7C7B"/>
                </a:solidFill>
                <a:latin typeface="Calibri" pitchFamily="34" charset="0"/>
                <a:ea typeface="Calibri" pitchFamily="34" charset="-122"/>
                <a:cs typeface="Calibri" pitchFamily="34" charset="-120"/>
              </a:rPr>
              <a:t>Do the tables agree?</a:t>
            </a:r>
            <a:endParaRPr lang="en-US" sz="1100" dirty="0"/>
          </a:p>
        </p:txBody>
      </p:sp>
      <p:sp>
        <p:nvSpPr>
          <p:cNvPr id="24" name="Text 22"/>
          <p:cNvSpPr txBox="1"/>
          <p:nvPr/>
        </p:nvSpPr>
        <p:spPr>
          <a:xfrm>
            <a:off x="6373368" y="3346704"/>
            <a:ext cx="4983480" cy="310896"/>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Orphan merchant and transaction references, chargebacks on non-captured payments, missing lifecycle events</a:t>
            </a:r>
            <a:endParaRPr lang="en-US" sz="1000" dirty="0"/>
          </a:p>
        </p:txBody>
      </p:sp>
      <p:sp>
        <p:nvSpPr>
          <p:cNvPr id="25" name="Shape 23"/>
          <p:cNvSpPr/>
          <p:nvPr/>
        </p:nvSpPr>
        <p:spPr>
          <a:xfrm>
            <a:off x="548640" y="3822192"/>
            <a:ext cx="5394960" cy="969264"/>
          </a:xfrm>
          <a:prstGeom prst="roundRect">
            <a:avLst>
              <a:gd name="adj" fmla="val 566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6" name="Text 24"/>
          <p:cNvSpPr txBox="1"/>
          <p:nvPr/>
        </p:nvSpPr>
        <p:spPr>
          <a:xfrm>
            <a:off x="749808" y="3950208"/>
            <a:ext cx="274320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Timeliness</a:t>
            </a:r>
            <a:endParaRPr lang="en-US" sz="1300" dirty="0"/>
          </a:p>
        </p:txBody>
      </p:sp>
      <p:sp>
        <p:nvSpPr>
          <p:cNvPr id="27" name="Text 25"/>
          <p:cNvSpPr txBox="1"/>
          <p:nvPr/>
        </p:nvSpPr>
        <p:spPr>
          <a:xfrm>
            <a:off x="3566160" y="3968496"/>
            <a:ext cx="2148840" cy="237744"/>
          </a:xfrm>
          <a:prstGeom prst="rect">
            <a:avLst/>
          </a:prstGeom>
          <a:noFill/>
          <a:ln/>
        </p:spPr>
        <p:txBody>
          <a:bodyPr wrap="square" lIns="0" tIns="0" rIns="0" bIns="0" rtlCol="0" anchor="ctr"/>
          <a:lstStyle/>
          <a:p>
            <a:pPr algn="r" indent="0" marL="0">
              <a:buNone/>
            </a:pPr>
            <a:r>
              <a:rPr lang="en-US" sz="1100" b="1" dirty="0">
                <a:solidFill>
                  <a:srgbClr val="D98324"/>
                </a:solidFill>
                <a:latin typeface="Calibri" pitchFamily="34" charset="0"/>
                <a:ea typeface="Calibri" pitchFamily="34" charset="-122"/>
                <a:cs typeface="Calibri" pitchFamily="34" charset="-120"/>
              </a:rPr>
              <a:t>4 checks</a:t>
            </a:r>
            <a:endParaRPr lang="en-US" sz="1100" dirty="0"/>
          </a:p>
        </p:txBody>
      </p:sp>
      <p:sp>
        <p:nvSpPr>
          <p:cNvPr id="28" name="Text 26"/>
          <p:cNvSpPr txBox="1"/>
          <p:nvPr/>
        </p:nvSpPr>
        <p:spPr>
          <a:xfrm>
            <a:off x="749808" y="4224528"/>
            <a:ext cx="4983480" cy="219456"/>
          </a:xfrm>
          <a:prstGeom prst="rect">
            <a:avLst/>
          </a:prstGeom>
          <a:noFill/>
          <a:ln/>
        </p:spPr>
        <p:txBody>
          <a:bodyPr wrap="square" lIns="0" tIns="0" rIns="0" bIns="0" rtlCol="0" anchor="ctr"/>
          <a:lstStyle/>
          <a:p>
            <a:pPr indent="0" marL="0">
              <a:buNone/>
            </a:pPr>
            <a:r>
              <a:rPr lang="en-US" sz="1100" i="1" dirty="0">
                <a:solidFill>
                  <a:srgbClr val="0E7C7B"/>
                </a:solidFill>
                <a:latin typeface="Calibri" pitchFamily="34" charset="0"/>
                <a:ea typeface="Calibri" pitchFamily="34" charset="-122"/>
                <a:cs typeface="Calibri" pitchFamily="34" charset="-120"/>
              </a:rPr>
              <a:t>Did it arrive when it should?</a:t>
            </a:r>
            <a:endParaRPr lang="en-US" sz="1100" dirty="0"/>
          </a:p>
        </p:txBody>
      </p:sp>
      <p:sp>
        <p:nvSpPr>
          <p:cNvPr id="29" name="Text 27"/>
          <p:cNvSpPr txBox="1"/>
          <p:nvPr/>
        </p:nvSpPr>
        <p:spPr>
          <a:xfrm>
            <a:off x="749808" y="4443984"/>
            <a:ext cx="4983480" cy="310896"/>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Ingestion lag over 2 days, events preceding their transaction, chargebacks and settlements dated before the payment</a:t>
            </a:r>
            <a:endParaRPr lang="en-US" sz="1000" dirty="0"/>
          </a:p>
        </p:txBody>
      </p:sp>
      <p:sp>
        <p:nvSpPr>
          <p:cNvPr id="30" name="Shape 28"/>
          <p:cNvSpPr/>
          <p:nvPr/>
        </p:nvSpPr>
        <p:spPr>
          <a:xfrm>
            <a:off x="6172200" y="3822192"/>
            <a:ext cx="5394960" cy="969264"/>
          </a:xfrm>
          <a:prstGeom prst="roundRect">
            <a:avLst>
              <a:gd name="adj" fmla="val 566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31" name="Text 29"/>
          <p:cNvSpPr txBox="1"/>
          <p:nvPr/>
        </p:nvSpPr>
        <p:spPr>
          <a:xfrm>
            <a:off x="6373368" y="3950208"/>
            <a:ext cx="274320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Reconciliation</a:t>
            </a:r>
            <a:endParaRPr lang="en-US" sz="1300" dirty="0"/>
          </a:p>
        </p:txBody>
      </p:sp>
      <p:sp>
        <p:nvSpPr>
          <p:cNvPr id="32" name="Text 30"/>
          <p:cNvSpPr txBox="1"/>
          <p:nvPr/>
        </p:nvSpPr>
        <p:spPr>
          <a:xfrm>
            <a:off x="9189720" y="3968496"/>
            <a:ext cx="2148840" cy="237744"/>
          </a:xfrm>
          <a:prstGeom prst="rect">
            <a:avLst/>
          </a:prstGeom>
          <a:noFill/>
          <a:ln/>
        </p:spPr>
        <p:txBody>
          <a:bodyPr wrap="square" lIns="0" tIns="0" rIns="0" bIns="0" rtlCol="0" anchor="ctr"/>
          <a:lstStyle/>
          <a:p>
            <a:pPr algn="r" indent="0" marL="0">
              <a:buNone/>
            </a:pPr>
            <a:r>
              <a:rPr lang="en-US" sz="1100" b="1" dirty="0">
                <a:solidFill>
                  <a:srgbClr val="D98324"/>
                </a:solidFill>
                <a:latin typeface="Calibri" pitchFamily="34" charset="0"/>
                <a:ea typeface="Calibri" pitchFamily="34" charset="-122"/>
                <a:cs typeface="Calibri" pitchFamily="34" charset="-120"/>
              </a:rPr>
              <a:t>3 checks</a:t>
            </a:r>
            <a:endParaRPr lang="en-US" sz="1100" dirty="0"/>
          </a:p>
        </p:txBody>
      </p:sp>
      <p:sp>
        <p:nvSpPr>
          <p:cNvPr id="33" name="Text 31"/>
          <p:cNvSpPr txBox="1"/>
          <p:nvPr/>
        </p:nvSpPr>
        <p:spPr>
          <a:xfrm>
            <a:off x="6373368" y="4224528"/>
            <a:ext cx="4983480" cy="219456"/>
          </a:xfrm>
          <a:prstGeom prst="rect">
            <a:avLst/>
          </a:prstGeom>
          <a:noFill/>
          <a:ln/>
        </p:spPr>
        <p:txBody>
          <a:bodyPr wrap="square" lIns="0" tIns="0" rIns="0" bIns="0" rtlCol="0" anchor="ctr"/>
          <a:lstStyle/>
          <a:p>
            <a:pPr indent="0" marL="0">
              <a:buNone/>
            </a:pPr>
            <a:r>
              <a:rPr lang="en-US" sz="1100" i="1" dirty="0">
                <a:solidFill>
                  <a:srgbClr val="0E7C7B"/>
                </a:solidFill>
                <a:latin typeface="Calibri" pitchFamily="34" charset="0"/>
                <a:ea typeface="Calibri" pitchFamily="34" charset="-122"/>
                <a:cs typeface="Calibri" pitchFamily="34" charset="-120"/>
              </a:rPr>
              <a:t>Do the totals close?</a:t>
            </a:r>
            <a:endParaRPr lang="en-US" sz="1100" dirty="0"/>
          </a:p>
        </p:txBody>
      </p:sp>
      <p:sp>
        <p:nvSpPr>
          <p:cNvPr id="34" name="Text 32"/>
          <p:cNvSpPr txBox="1"/>
          <p:nvPr/>
        </p:nvSpPr>
        <p:spPr>
          <a:xfrm>
            <a:off x="6373368" y="4443984"/>
            <a:ext cx="4983480" cy="310896"/>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Captured transactions with no settlement, settlement value vs transaction value in USD</a:t>
            </a:r>
            <a:endParaRPr lang="en-US" sz="1000" dirty="0"/>
          </a:p>
        </p:txBody>
      </p:sp>
      <p:sp>
        <p:nvSpPr>
          <p:cNvPr id="35" name="Text 33"/>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Each check emits the same seven fields — dimension, check name, table, failed rows, failed percent, severity, remediation — so the scorecard is a table, not a paragraph, and can be re-run every week without rewriting it.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3 · CODE</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How a check is written, and why they all look the same</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dq_core.py — every check appends one row to a list. Uniformity is what makes the scorecard machine-readable and the notebook short.</a:t>
            </a:r>
            <a:endParaRPr lang="en-US" sz="1300" dirty="0"/>
          </a:p>
        </p:txBody>
      </p:sp>
      <p:sp>
        <p:nvSpPr>
          <p:cNvPr id="5" name="Shape 3"/>
          <p:cNvSpPr/>
          <p:nvPr/>
        </p:nvSpPr>
        <p:spPr>
          <a:xfrm>
            <a:off x="548640" y="1627632"/>
            <a:ext cx="6675120" cy="2788920"/>
          </a:xfrm>
          <a:prstGeom prst="roundRect">
            <a:avLst>
              <a:gd name="adj" fmla="val 1639"/>
            </a:avLst>
          </a:prstGeom>
          <a:solidFill>
            <a:srgbClr val="16243A"/>
          </a:solidFill>
          <a:ln w="12700">
            <a:solidFill>
              <a:srgbClr val="2E5580"/>
            </a:solidFill>
            <a:prstDash val="solid"/>
          </a:ln>
        </p:spPr>
      </p:sp>
      <p:sp>
        <p:nvSpPr>
          <p:cNvPr id="6" name="Text 4"/>
          <p:cNvSpPr txBox="1"/>
          <p:nvPr/>
        </p:nvSpPr>
        <p:spPr>
          <a:xfrm>
            <a:off x="731520" y="1773936"/>
            <a:ext cx="6309360" cy="2496312"/>
          </a:xfrm>
          <a:prstGeom prst="rect">
            <a:avLst/>
          </a:prstGeom>
          <a:noFill/>
          <a:ln/>
        </p:spPr>
        <p:txBody>
          <a:bodyPr wrap="square" lIns="0" tIns="0" rIns="0" bIns="0" rtlCol="0" anchor="ctr"/>
          <a:lstStyle/>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rows = []</a:t>
            </a:r>
            <a:endParaRPr lang="en-US" sz="1000" dirty="0"/>
          </a:p>
          <a:p>
            <a:pPr indent="0" marL="0">
              <a:lnSpc>
                <a:spcPts val="1250"/>
              </a:lnSpc>
              <a:buNone/>
            </a:pPr>
            <a:r>
              <a:rPr lang="en-US" sz="1000" b="1" dirty="0">
                <a:solidFill>
                  <a:srgbClr val="7FD4D2"/>
                </a:solidFill>
                <a:latin typeface="Courier New" pitchFamily="34" charset="0"/>
                <a:ea typeface="Courier New" pitchFamily="34" charset="-122"/>
                <a:cs typeface="Courier New" pitchFamily="34" charset="-120"/>
              </a:rPr>
              <a:t>def add(dim, check, table, failed, total, sev, fix):</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    rows.append({</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        "dimension": dim, "check_name": check,</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        "table_name": table, "failed_rows": int(failed),</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        "total_rows": int(total),</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        "failed_pct": round(100 * failed / total, 4),</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        "severity": sev, "remediation": fix })</a:t>
            </a:r>
            <a:endParaRPr lang="en-US" sz="1000" dirty="0"/>
          </a:p>
          <a:p>
            <a:pPr indent="0" marL="0">
              <a:lnSpc>
                <a:spcPts val="1250"/>
              </a:lnSpc>
              <a:buNone/>
            </a:pPr>
            <a:endParaRPr lang="en-US" sz="1000" dirty="0"/>
          </a:p>
          <a:p>
            <a:pPr indent="0" marL="0">
              <a:lnSpc>
                <a:spcPts val="1250"/>
              </a:lnSpc>
              <a:buNone/>
            </a:pPr>
            <a:r>
              <a:rPr lang="en-US" sz="1000" i="1" dirty="0">
                <a:solidFill>
                  <a:srgbClr val="8FA6C4"/>
                </a:solidFill>
                <a:latin typeface="Courier New" pitchFamily="34" charset="0"/>
                <a:ea typeface="Courier New" pitchFamily="34" charset="-122"/>
                <a:cs typeface="Courier New" pitchFamily="34" charset="-120"/>
              </a:rPr>
              <a:t># one call per check — 26 of them</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add("Uniqueness",</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    "more than one settlement row per transaction",</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    "settlement",</a:t>
            </a:r>
            <a:endParaRPr lang="en-US" sz="1000" dirty="0"/>
          </a:p>
          <a:p>
            <a:pPr indent="0" marL="0">
              <a:lnSpc>
                <a:spcPts val="1250"/>
              </a:lnSpc>
              <a:buNone/>
            </a:pPr>
            <a:r>
              <a:rPr lang="en-US" sz="1000" dirty="0">
                <a:solidFill>
                  <a:srgbClr val="F2B366"/>
                </a:solidFill>
                <a:latin typeface="Courier New" pitchFamily="34" charset="0"/>
                <a:ea typeface="Courier New" pitchFamily="34" charset="-122"/>
                <a:cs typeface="Courier New" pitchFamily="34" charset="-120"/>
              </a:rPr>
              <a:t>    (s.groupby("transaction_id").size() &gt; 1).sum(),</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    s.transaction_id.nunique(), "Blocking",</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    "Sum fee_amount to transaction grain before joining")</a:t>
            </a:r>
            <a:endParaRPr lang="en-US" sz="1000" dirty="0"/>
          </a:p>
        </p:txBody>
      </p:sp>
      <p:sp>
        <p:nvSpPr>
          <p:cNvPr id="7" name="Text 5"/>
          <p:cNvSpPr txBox="1"/>
          <p:nvPr/>
        </p:nvSpPr>
        <p:spPr>
          <a:xfrm>
            <a:off x="7498080" y="1691640"/>
            <a:ext cx="411480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Three design choices worth defending</a:t>
            </a:r>
            <a:endParaRPr lang="en-US" sz="1300" dirty="0"/>
          </a:p>
        </p:txBody>
      </p:sp>
      <p:sp>
        <p:nvSpPr>
          <p:cNvPr id="8" name="Shape 6"/>
          <p:cNvSpPr/>
          <p:nvPr/>
        </p:nvSpPr>
        <p:spPr>
          <a:xfrm>
            <a:off x="7498080" y="2057400"/>
            <a:ext cx="4114800" cy="713232"/>
          </a:xfrm>
          <a:prstGeom prst="roundRect">
            <a:avLst>
              <a:gd name="adj" fmla="val 7692"/>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9" name="Text 7"/>
          <p:cNvSpPr txBox="1"/>
          <p:nvPr/>
        </p:nvSpPr>
        <p:spPr>
          <a:xfrm>
            <a:off x="7680960" y="2148840"/>
            <a:ext cx="3749040" cy="237744"/>
          </a:xfrm>
          <a:prstGeom prst="rect">
            <a:avLst/>
          </a:prstGeom>
          <a:noFill/>
          <a:ln/>
        </p:spPr>
        <p:txBody>
          <a:bodyPr wrap="square" lIns="0" tIns="0" rIns="0" bIns="0" rtlCol="0" anchor="ctr"/>
          <a:lstStyle/>
          <a:p>
            <a:pPr indent="0" marL="0">
              <a:buNone/>
            </a:pPr>
            <a:r>
              <a:rPr lang="en-US" sz="1150" b="1" dirty="0">
                <a:solidFill>
                  <a:srgbClr val="0E7C7B"/>
                </a:solidFill>
                <a:latin typeface="Calibri" pitchFamily="34" charset="0"/>
                <a:ea typeface="Calibri" pitchFamily="34" charset="-122"/>
                <a:cs typeface="Calibri" pitchFamily="34" charset="-120"/>
              </a:rPr>
              <a:t>The check states its own fix</a:t>
            </a:r>
            <a:endParaRPr lang="en-US" sz="1150" dirty="0"/>
          </a:p>
        </p:txBody>
      </p:sp>
      <p:sp>
        <p:nvSpPr>
          <p:cNvPr id="10" name="Text 8"/>
          <p:cNvSpPr txBox="1"/>
          <p:nvPr/>
        </p:nvSpPr>
        <p:spPr>
          <a:xfrm>
            <a:off x="7680960" y="2368296"/>
            <a:ext cx="3749040" cy="365760"/>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A scorecard that reports a problem without a remediation column produces a meeting, not a decision.</a:t>
            </a:r>
            <a:endParaRPr lang="en-US" sz="1000" dirty="0"/>
          </a:p>
        </p:txBody>
      </p:sp>
      <p:sp>
        <p:nvSpPr>
          <p:cNvPr id="11" name="Shape 9"/>
          <p:cNvSpPr/>
          <p:nvPr/>
        </p:nvSpPr>
        <p:spPr>
          <a:xfrm>
            <a:off x="7498080" y="2862072"/>
            <a:ext cx="4114800" cy="713232"/>
          </a:xfrm>
          <a:prstGeom prst="roundRect">
            <a:avLst>
              <a:gd name="adj" fmla="val 7692"/>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2" name="Text 10"/>
          <p:cNvSpPr txBox="1"/>
          <p:nvPr/>
        </p:nvSpPr>
        <p:spPr>
          <a:xfrm>
            <a:off x="7680960" y="2953512"/>
            <a:ext cx="3749040" cy="237744"/>
          </a:xfrm>
          <a:prstGeom prst="rect">
            <a:avLst/>
          </a:prstGeom>
          <a:noFill/>
          <a:ln/>
        </p:spPr>
        <p:txBody>
          <a:bodyPr wrap="square" lIns="0" tIns="0" rIns="0" bIns="0" rtlCol="0" anchor="ctr"/>
          <a:lstStyle/>
          <a:p>
            <a:pPr indent="0" marL="0">
              <a:buNone/>
            </a:pPr>
            <a:r>
              <a:rPr lang="en-US" sz="1150" b="1" dirty="0">
                <a:solidFill>
                  <a:srgbClr val="0E7C7B"/>
                </a:solidFill>
                <a:latin typeface="Calibri" pitchFamily="34" charset="0"/>
                <a:ea typeface="Calibri" pitchFamily="34" charset="-122"/>
                <a:cs typeface="Calibri" pitchFamily="34" charset="-120"/>
              </a:rPr>
              <a:t>Severity is assigned, not inferred</a:t>
            </a:r>
            <a:endParaRPr lang="en-US" sz="1150" dirty="0"/>
          </a:p>
        </p:txBody>
      </p:sp>
      <p:sp>
        <p:nvSpPr>
          <p:cNvPr id="13" name="Text 11"/>
          <p:cNvSpPr txBox="1"/>
          <p:nvPr/>
        </p:nvSpPr>
        <p:spPr>
          <a:xfrm>
            <a:off x="7680960" y="3172968"/>
            <a:ext cx="3749040" cy="365760"/>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Blocking, Warning, Informational. 1,952 reversals are a large number and a non-issue; 390 orphan negatives are a small number and a blocker.</a:t>
            </a:r>
            <a:endParaRPr lang="en-US" sz="1000" dirty="0"/>
          </a:p>
        </p:txBody>
      </p:sp>
      <p:sp>
        <p:nvSpPr>
          <p:cNvPr id="14" name="Shape 12"/>
          <p:cNvSpPr/>
          <p:nvPr/>
        </p:nvSpPr>
        <p:spPr>
          <a:xfrm>
            <a:off x="7498080" y="3666744"/>
            <a:ext cx="4114800" cy="713232"/>
          </a:xfrm>
          <a:prstGeom prst="roundRect">
            <a:avLst>
              <a:gd name="adj" fmla="val 7692"/>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5" name="Text 13"/>
          <p:cNvSpPr txBox="1"/>
          <p:nvPr/>
        </p:nvSpPr>
        <p:spPr>
          <a:xfrm>
            <a:off x="7680960" y="3758184"/>
            <a:ext cx="3749040" cy="237744"/>
          </a:xfrm>
          <a:prstGeom prst="rect">
            <a:avLst/>
          </a:prstGeom>
          <a:noFill/>
          <a:ln/>
        </p:spPr>
        <p:txBody>
          <a:bodyPr wrap="square" lIns="0" tIns="0" rIns="0" bIns="0" rtlCol="0" anchor="ctr"/>
          <a:lstStyle/>
          <a:p>
            <a:pPr indent="0" marL="0">
              <a:buNone/>
            </a:pPr>
            <a:r>
              <a:rPr lang="en-US" sz="1150" b="1" dirty="0">
                <a:solidFill>
                  <a:srgbClr val="0E7C7B"/>
                </a:solidFill>
                <a:latin typeface="Calibri" pitchFamily="34" charset="0"/>
                <a:ea typeface="Calibri" pitchFamily="34" charset="-122"/>
                <a:cs typeface="Calibri" pitchFamily="34" charset="-120"/>
              </a:rPr>
              <a:t>PASS rows are kept</a:t>
            </a:r>
            <a:endParaRPr lang="en-US" sz="1150" dirty="0"/>
          </a:p>
        </p:txBody>
      </p:sp>
      <p:sp>
        <p:nvSpPr>
          <p:cNvPr id="16" name="Text 14"/>
          <p:cNvSpPr txBox="1"/>
          <p:nvPr/>
        </p:nvSpPr>
        <p:spPr>
          <a:xfrm>
            <a:off x="7680960" y="3977640"/>
            <a:ext cx="3749040" cy="365760"/>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A check that passes is evidence. Reporting only failures makes it impossible to tell a clean table from an unchecked one.</a:t>
            </a:r>
            <a:endParaRPr lang="en-US" sz="1000" dirty="0"/>
          </a:p>
        </p:txBody>
      </p:sp>
      <p:sp>
        <p:nvSpPr>
          <p:cNvPr id="17" name="Shape 15"/>
          <p:cNvSpPr/>
          <p:nvPr/>
        </p:nvSpPr>
        <p:spPr>
          <a:xfrm>
            <a:off x="548640" y="4553712"/>
            <a:ext cx="11064240" cy="1463040"/>
          </a:xfrm>
          <a:prstGeom prst="roundRect">
            <a:avLst>
              <a:gd name="adj" fmla="val 3125"/>
            </a:avLst>
          </a:prstGeom>
          <a:solidFill>
            <a:srgbClr val="16243A"/>
          </a:solidFill>
          <a:ln w="12700">
            <a:solidFill>
              <a:srgbClr val="2E5580"/>
            </a:solidFill>
            <a:prstDash val="solid"/>
          </a:ln>
        </p:spPr>
      </p:sp>
      <p:sp>
        <p:nvSpPr>
          <p:cNvPr id="18" name="Text 16"/>
          <p:cNvSpPr txBox="1"/>
          <p:nvPr/>
        </p:nvSpPr>
        <p:spPr>
          <a:xfrm>
            <a:off x="731520" y="4700016"/>
            <a:ext cx="10698480" cy="1170432"/>
          </a:xfrm>
          <a:prstGeom prst="rect">
            <a:avLst/>
          </a:prstGeom>
          <a:noFill/>
          <a:ln/>
        </p:spPr>
        <p:txBody>
          <a:bodyPr wrap="square" lIns="0" tIns="0" rIns="0" bIns="0" rtlCol="0" anchor="ctr"/>
          <a:lstStyle/>
          <a:p>
            <a:pPr indent="0" marL="0">
              <a:lnSpc>
                <a:spcPts val="1300"/>
              </a:lnSpc>
              <a:buNone/>
            </a:pPr>
            <a:r>
              <a:rPr lang="en-US" sz="1050" i="1" dirty="0">
                <a:solidFill>
                  <a:srgbClr val="8FA6C4"/>
                </a:solidFill>
                <a:latin typeface="Courier New" pitchFamily="34" charset="0"/>
                <a:ea typeface="Courier New" pitchFamily="34" charset="-122"/>
                <a:cs typeface="Courier New" pitchFamily="34" charset="-120"/>
              </a:rPr>
              <a:t># the PASS / FAIL column is derived, not typed by hand</a:t>
            </a:r>
            <a:endParaRPr lang="en-US" sz="1050" dirty="0"/>
          </a:p>
          <a:p>
            <a:pPr indent="0" marL="0">
              <a:lnSpc>
                <a:spcPts val="1300"/>
              </a:lnSpc>
              <a:buNone/>
            </a:pPr>
            <a:r>
              <a:rPr lang="en-US" sz="1050" dirty="0">
                <a:solidFill>
                  <a:srgbClr val="7FD4D2"/>
                </a:solidFill>
                <a:latin typeface="Courier New" pitchFamily="34" charset="0"/>
                <a:ea typeface="Courier New" pitchFamily="34" charset="-122"/>
                <a:cs typeface="Courier New" pitchFamily="34" charset="-120"/>
              </a:rPr>
              <a:t>sc.insert(6, "result", np.where(sc.failed_rows &gt; 0, "FAIL", "PASS"))</a:t>
            </a:r>
            <a:endParaRPr lang="en-US" sz="1050" dirty="0"/>
          </a:p>
          <a:p>
            <a:pPr indent="0" marL="0">
              <a:lnSpc>
                <a:spcPts val="1300"/>
              </a:lnSpc>
              <a:buNone/>
            </a:pPr>
            <a:endParaRPr lang="en-US" sz="1050" dirty="0"/>
          </a:p>
          <a:p>
            <a:pPr indent="0" marL="0">
              <a:lnSpc>
                <a:spcPts val="1300"/>
              </a:lnSpc>
              <a:buNone/>
            </a:pPr>
            <a:r>
              <a:rPr lang="en-US" sz="1050" i="1" dirty="0">
                <a:solidFill>
                  <a:srgbClr val="8FA6C4"/>
                </a:solidFill>
                <a:latin typeface="Courier New" pitchFamily="34" charset="0"/>
                <a:ea typeface="Courier New" pitchFamily="34" charset="-122"/>
                <a:cs typeface="Courier New" pitchFamily="34" charset="-120"/>
              </a:rPr>
              <a:t># build_evidence() then pulls up to 10 offending rows per failing check into its own sheet,</a:t>
            </a:r>
            <a:endParaRPr lang="en-US" sz="1050" dirty="0"/>
          </a:p>
          <a:p>
            <a:pPr indent="0" marL="0">
              <a:lnSpc>
                <a:spcPts val="1300"/>
              </a:lnSpc>
              <a:buNone/>
            </a:pPr>
            <a:r>
              <a:rPr lang="en-US" sz="1050" i="1" dirty="0">
                <a:solidFill>
                  <a:srgbClr val="8FA6C4"/>
                </a:solidFill>
                <a:latin typeface="Courier New" pitchFamily="34" charset="0"/>
                <a:ea typeface="Courier New" pitchFamily="34" charset="-122"/>
                <a:cs typeface="Courier New" pitchFamily="34" charset="-120"/>
              </a:rPr>
              <a:t># so a reviewer can see the actual bad records rather than a count of them</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3 · OUTPUT</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The scorecard: 10 failed, 16 passed</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03_dq_report.xlsx — scorecard sheet, detail sheets, and an evidence sheet holding real offending rows for every failing check.</a:t>
            </a:r>
            <a:endParaRPr lang="en-US" sz="1300" dirty="0"/>
          </a:p>
        </p:txBody>
      </p:sp>
      <p:sp>
        <p:nvSpPr>
          <p:cNvPr id="5" name="Shape 3"/>
          <p:cNvSpPr/>
          <p:nvPr/>
        </p:nvSpPr>
        <p:spPr>
          <a:xfrm>
            <a:off x="548640" y="1627632"/>
            <a:ext cx="1719072" cy="1024128"/>
          </a:xfrm>
          <a:prstGeom prst="roundRect">
            <a:avLst>
              <a:gd name="adj" fmla="val 535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6" name="Text 4"/>
          <p:cNvSpPr txBox="1"/>
          <p:nvPr/>
        </p:nvSpPr>
        <p:spPr>
          <a:xfrm>
            <a:off x="749808" y="1773936"/>
            <a:ext cx="1316736" cy="457200"/>
          </a:xfrm>
          <a:prstGeom prst="rect">
            <a:avLst/>
          </a:prstGeom>
          <a:noFill/>
          <a:ln/>
        </p:spPr>
        <p:txBody>
          <a:bodyPr wrap="square" lIns="0" tIns="0" rIns="0" bIns="0" rtlCol="0" anchor="ctr"/>
          <a:lstStyle/>
          <a:p>
            <a:pPr indent="0" marL="0">
              <a:buNone/>
            </a:pPr>
            <a:r>
              <a:rPr lang="en-US" sz="2200" b="1" dirty="0">
                <a:solidFill>
                  <a:srgbClr val="12233C"/>
                </a:solidFill>
                <a:latin typeface="Cambria" pitchFamily="34" charset="0"/>
                <a:ea typeface="Cambria" pitchFamily="34" charset="-122"/>
                <a:cs typeface="Cambria" pitchFamily="34" charset="-120"/>
              </a:rPr>
              <a:t>26</a:t>
            </a:r>
            <a:endParaRPr lang="en-US" sz="2200" dirty="0"/>
          </a:p>
        </p:txBody>
      </p:sp>
      <p:sp>
        <p:nvSpPr>
          <p:cNvPr id="7" name="Text 5"/>
          <p:cNvSpPr txBox="1"/>
          <p:nvPr/>
        </p:nvSpPr>
        <p:spPr>
          <a:xfrm>
            <a:off x="749808" y="2249424"/>
            <a:ext cx="1316736" cy="2743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checks executed</a:t>
            </a:r>
            <a:endParaRPr lang="en-US" sz="1050" dirty="0"/>
          </a:p>
        </p:txBody>
      </p:sp>
      <p:sp>
        <p:nvSpPr>
          <p:cNvPr id="8" name="Shape 6"/>
          <p:cNvSpPr/>
          <p:nvPr/>
        </p:nvSpPr>
        <p:spPr>
          <a:xfrm>
            <a:off x="2432304" y="1627632"/>
            <a:ext cx="1719072" cy="1024128"/>
          </a:xfrm>
          <a:prstGeom prst="roundRect">
            <a:avLst>
              <a:gd name="adj" fmla="val 535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9" name="Text 7"/>
          <p:cNvSpPr txBox="1"/>
          <p:nvPr/>
        </p:nvSpPr>
        <p:spPr>
          <a:xfrm>
            <a:off x="2633472" y="1773936"/>
            <a:ext cx="1316736" cy="457200"/>
          </a:xfrm>
          <a:prstGeom prst="rect">
            <a:avLst/>
          </a:prstGeom>
          <a:noFill/>
          <a:ln/>
        </p:spPr>
        <p:txBody>
          <a:bodyPr wrap="square" lIns="0" tIns="0" rIns="0" bIns="0" rtlCol="0" anchor="ctr"/>
          <a:lstStyle/>
          <a:p>
            <a:pPr indent="0" marL="0">
              <a:buNone/>
            </a:pPr>
            <a:r>
              <a:rPr lang="en-US" sz="2200" b="1" dirty="0">
                <a:solidFill>
                  <a:srgbClr val="A33D3D"/>
                </a:solidFill>
                <a:latin typeface="Cambria" pitchFamily="34" charset="0"/>
                <a:ea typeface="Cambria" pitchFamily="34" charset="-122"/>
                <a:cs typeface="Cambria" pitchFamily="34" charset="-120"/>
              </a:rPr>
              <a:t>10</a:t>
            </a:r>
            <a:endParaRPr lang="en-US" sz="2200" dirty="0"/>
          </a:p>
        </p:txBody>
      </p:sp>
      <p:sp>
        <p:nvSpPr>
          <p:cNvPr id="10" name="Text 8"/>
          <p:cNvSpPr txBox="1"/>
          <p:nvPr/>
        </p:nvSpPr>
        <p:spPr>
          <a:xfrm>
            <a:off x="2633472" y="2249424"/>
            <a:ext cx="1316736" cy="2743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FAIL</a:t>
            </a:r>
            <a:endParaRPr lang="en-US" sz="1050" dirty="0"/>
          </a:p>
        </p:txBody>
      </p:sp>
      <p:sp>
        <p:nvSpPr>
          <p:cNvPr id="11" name="Shape 9"/>
          <p:cNvSpPr/>
          <p:nvPr/>
        </p:nvSpPr>
        <p:spPr>
          <a:xfrm>
            <a:off x="4315968" y="1627632"/>
            <a:ext cx="1719072" cy="1024128"/>
          </a:xfrm>
          <a:prstGeom prst="roundRect">
            <a:avLst>
              <a:gd name="adj" fmla="val 535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2" name="Text 10"/>
          <p:cNvSpPr txBox="1"/>
          <p:nvPr/>
        </p:nvSpPr>
        <p:spPr>
          <a:xfrm>
            <a:off x="4517136" y="1773936"/>
            <a:ext cx="1316736" cy="457200"/>
          </a:xfrm>
          <a:prstGeom prst="rect">
            <a:avLst/>
          </a:prstGeom>
          <a:noFill/>
          <a:ln/>
        </p:spPr>
        <p:txBody>
          <a:bodyPr wrap="square" lIns="0" tIns="0" rIns="0" bIns="0" rtlCol="0" anchor="ctr"/>
          <a:lstStyle/>
          <a:p>
            <a:pPr indent="0" marL="0">
              <a:buNone/>
            </a:pPr>
            <a:r>
              <a:rPr lang="en-US" sz="2200" b="1" dirty="0">
                <a:solidFill>
                  <a:srgbClr val="0E7C7B"/>
                </a:solidFill>
                <a:latin typeface="Cambria" pitchFamily="34" charset="0"/>
                <a:ea typeface="Cambria" pitchFamily="34" charset="-122"/>
                <a:cs typeface="Cambria" pitchFamily="34" charset="-120"/>
              </a:rPr>
              <a:t>16</a:t>
            </a:r>
            <a:endParaRPr lang="en-US" sz="2200" dirty="0"/>
          </a:p>
        </p:txBody>
      </p:sp>
      <p:sp>
        <p:nvSpPr>
          <p:cNvPr id="13" name="Text 11"/>
          <p:cNvSpPr txBox="1"/>
          <p:nvPr/>
        </p:nvSpPr>
        <p:spPr>
          <a:xfrm>
            <a:off x="4517136" y="2249424"/>
            <a:ext cx="1316736" cy="2743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PASS</a:t>
            </a:r>
            <a:endParaRPr lang="en-US" sz="1050" dirty="0"/>
          </a:p>
        </p:txBody>
      </p:sp>
      <p:sp>
        <p:nvSpPr>
          <p:cNvPr id="14" name="Shape 12"/>
          <p:cNvSpPr/>
          <p:nvPr/>
        </p:nvSpPr>
        <p:spPr>
          <a:xfrm>
            <a:off x="6199632" y="1627632"/>
            <a:ext cx="1719072" cy="1024128"/>
          </a:xfrm>
          <a:prstGeom prst="roundRect">
            <a:avLst>
              <a:gd name="adj" fmla="val 535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5" name="Text 13"/>
          <p:cNvSpPr txBox="1"/>
          <p:nvPr/>
        </p:nvSpPr>
        <p:spPr>
          <a:xfrm>
            <a:off x="6400800" y="1773936"/>
            <a:ext cx="1316736" cy="457200"/>
          </a:xfrm>
          <a:prstGeom prst="rect">
            <a:avLst/>
          </a:prstGeom>
          <a:noFill/>
          <a:ln/>
        </p:spPr>
        <p:txBody>
          <a:bodyPr wrap="square" lIns="0" tIns="0" rIns="0" bIns="0" rtlCol="0" anchor="ctr"/>
          <a:lstStyle/>
          <a:p>
            <a:pPr indent="0" marL="0">
              <a:buNone/>
            </a:pPr>
            <a:r>
              <a:rPr lang="en-US" sz="2200" b="1" dirty="0">
                <a:solidFill>
                  <a:srgbClr val="D98324"/>
                </a:solidFill>
                <a:latin typeface="Cambria" pitchFamily="34" charset="0"/>
                <a:ea typeface="Cambria" pitchFamily="34" charset="-122"/>
                <a:cs typeface="Cambria" pitchFamily="34" charset="-120"/>
              </a:rPr>
              <a:t>5</a:t>
            </a:r>
            <a:endParaRPr lang="en-US" sz="2200" dirty="0"/>
          </a:p>
        </p:txBody>
      </p:sp>
      <p:sp>
        <p:nvSpPr>
          <p:cNvPr id="16" name="Text 14"/>
          <p:cNvSpPr txBox="1"/>
          <p:nvPr/>
        </p:nvSpPr>
        <p:spPr>
          <a:xfrm>
            <a:off x="6400800" y="2249424"/>
            <a:ext cx="1316736" cy="2743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rated Blocking</a:t>
            </a:r>
            <a:endParaRPr lang="en-US" sz="1050" dirty="0"/>
          </a:p>
        </p:txBody>
      </p:sp>
      <p:sp>
        <p:nvSpPr>
          <p:cNvPr id="17" name="Shape 15"/>
          <p:cNvSpPr/>
          <p:nvPr/>
        </p:nvSpPr>
        <p:spPr>
          <a:xfrm>
            <a:off x="8083296" y="1627632"/>
            <a:ext cx="1719072" cy="1024128"/>
          </a:xfrm>
          <a:prstGeom prst="roundRect">
            <a:avLst>
              <a:gd name="adj" fmla="val 535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8" name="Text 16"/>
          <p:cNvSpPr txBox="1"/>
          <p:nvPr/>
        </p:nvSpPr>
        <p:spPr>
          <a:xfrm>
            <a:off x="8284464" y="1773936"/>
            <a:ext cx="1316736" cy="457200"/>
          </a:xfrm>
          <a:prstGeom prst="rect">
            <a:avLst/>
          </a:prstGeom>
          <a:noFill/>
          <a:ln/>
        </p:spPr>
        <p:txBody>
          <a:bodyPr wrap="square" lIns="0" tIns="0" rIns="0" bIns="0" rtlCol="0" anchor="ctr"/>
          <a:lstStyle/>
          <a:p>
            <a:pPr indent="0" marL="0">
              <a:buNone/>
            </a:pPr>
            <a:r>
              <a:rPr lang="en-US" sz="2200" b="1" dirty="0">
                <a:solidFill>
                  <a:srgbClr val="A33D3D"/>
                </a:solidFill>
                <a:latin typeface="Cambria" pitchFamily="34" charset="0"/>
                <a:ea typeface="Cambria" pitchFamily="34" charset="-122"/>
                <a:cs typeface="Cambria" pitchFamily="34" charset="-120"/>
              </a:rPr>
              <a:t>3,038</a:t>
            </a:r>
            <a:endParaRPr lang="en-US" sz="2200" dirty="0"/>
          </a:p>
        </p:txBody>
      </p:sp>
      <p:sp>
        <p:nvSpPr>
          <p:cNvPr id="19" name="Text 17"/>
          <p:cNvSpPr txBox="1"/>
          <p:nvPr/>
        </p:nvSpPr>
        <p:spPr>
          <a:xfrm>
            <a:off x="8284464" y="2249424"/>
            <a:ext cx="1316736" cy="2743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rows quarantined</a:t>
            </a:r>
            <a:endParaRPr lang="en-US" sz="1050" dirty="0"/>
          </a:p>
        </p:txBody>
      </p:sp>
      <p:sp>
        <p:nvSpPr>
          <p:cNvPr id="20" name="Shape 18"/>
          <p:cNvSpPr/>
          <p:nvPr/>
        </p:nvSpPr>
        <p:spPr>
          <a:xfrm>
            <a:off x="9966960" y="1627632"/>
            <a:ext cx="1719072" cy="1024128"/>
          </a:xfrm>
          <a:prstGeom prst="roundRect">
            <a:avLst>
              <a:gd name="adj" fmla="val 535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1" name="Text 19"/>
          <p:cNvSpPr txBox="1"/>
          <p:nvPr/>
        </p:nvSpPr>
        <p:spPr>
          <a:xfrm>
            <a:off x="10168128" y="1773936"/>
            <a:ext cx="1316736" cy="457200"/>
          </a:xfrm>
          <a:prstGeom prst="rect">
            <a:avLst/>
          </a:prstGeom>
          <a:noFill/>
          <a:ln/>
        </p:spPr>
        <p:txBody>
          <a:bodyPr wrap="square" lIns="0" tIns="0" rIns="0" bIns="0" rtlCol="0" anchor="ctr"/>
          <a:lstStyle/>
          <a:p>
            <a:pPr indent="0" marL="0">
              <a:buNone/>
            </a:pPr>
            <a:r>
              <a:rPr lang="en-US" sz="2200" b="1" dirty="0">
                <a:solidFill>
                  <a:srgbClr val="0E7C7B"/>
                </a:solidFill>
                <a:latin typeface="Cambria" pitchFamily="34" charset="0"/>
                <a:ea typeface="Cambria" pitchFamily="34" charset="-122"/>
                <a:cs typeface="Cambria" pitchFamily="34" charset="-120"/>
              </a:rPr>
              <a:t>0</a:t>
            </a:r>
            <a:endParaRPr lang="en-US" sz="2200" dirty="0"/>
          </a:p>
        </p:txBody>
      </p:sp>
      <p:sp>
        <p:nvSpPr>
          <p:cNvPr id="22" name="Text 20"/>
          <p:cNvSpPr txBox="1"/>
          <p:nvPr/>
        </p:nvSpPr>
        <p:spPr>
          <a:xfrm>
            <a:off x="10168128" y="2249424"/>
            <a:ext cx="1316736" cy="2743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unexplained residual</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852928"/>
          <a:ext cx="11064240" cy="914400"/>
        </p:xfrm>
        <a:graphic>
          <a:graphicData uri="http://schemas.openxmlformats.org/drawingml/2006/table">
            <a:tbl>
              <a:tblPr/>
              <a:tblGrid>
                <a:gridCol w="1371600"/>
                <a:gridCol w="4160520"/>
                <a:gridCol w="1005840"/>
                <a:gridCol w="1051560"/>
                <a:gridCol w="347472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Dimension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Check</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Failed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Severity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Consequence if ignored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6576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Uniqueness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more than one settlement row per transaction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1,334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33D3D"/>
                          </a:solidFill>
                          <a:latin typeface="Calibri" pitchFamily="34" charset="0"/>
                          <a:ea typeface="Calibri" pitchFamily="34" charset="-122"/>
                          <a:cs typeface="Calibri" pitchFamily="34" charset="-120"/>
                        </a:rPr>
                        <a:t>Blocking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Merchant revenue double-counts on those transactions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Uniqueness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merchant_risk_snapshot composite key not unique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12 per merchant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A33D3D"/>
                          </a:solidFill>
                          <a:latin typeface="Calibri" pitchFamily="34" charset="0"/>
                          <a:ea typeface="Calibri" pitchFamily="34" charset="-122"/>
                          <a:cs typeface="Calibri" pitchFamily="34" charset="-120"/>
                        </a:rPr>
                        <a:t>Blocking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×11.92 inflation on every merchant-level measure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6576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Validity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risk_score outside 0 to 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37.9%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33D3D"/>
                          </a:solidFill>
                          <a:latin typeface="Calibri" pitchFamily="34" charset="0"/>
                          <a:ea typeface="Calibri" pitchFamily="34" charset="-122"/>
                          <a:cs typeface="Calibri" pitchFamily="34" charset="-120"/>
                        </a:rPr>
                        <a:t>Blocking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The fraud hypothesis looks true when it is not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Validity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negative amount with status CAPTURED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390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A33D3D"/>
                          </a:solidFill>
                          <a:latin typeface="Calibri" pitchFamily="34" charset="0"/>
                          <a:ea typeface="Calibri" pitchFamily="34" charset="-122"/>
                          <a:cs typeface="Calibri" pitchFamily="34" charset="-120"/>
                        </a:rPr>
                        <a:t>Blocking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Contribution is understated by an impossible state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6576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Consistency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settlement.transaction_id not found in transaction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447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33D3D"/>
                          </a:solidFill>
                          <a:latin typeface="Calibri" pitchFamily="34" charset="0"/>
                          <a:ea typeface="Calibri" pitchFamily="34" charset="-122"/>
                          <a:cs typeface="Calibri" pitchFamily="34" charset="-120"/>
                        </a:rPr>
                        <a:t>Blocking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Revenue attributed to payments that do not exist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Completeness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transaction.merchant_id is null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0.68%</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Warning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Channel analysis biases if dropped — WALLET is 2.10%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6576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Timeliness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event ingested more than 2 days after it occurred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4.44%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Warning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Month-end KPIs move after close if ingestion_time is used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Reconciliation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captured transaction with no settlement row</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4.77%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Warning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December revenue disappears if treated as zero</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bl>
          </a:graphicData>
        </a:graphic>
      </p:graphicFrame>
      <p:sp>
        <p:nvSpPr>
          <p:cNvPr id="24" name="Text 21"/>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Verdict on H0: the reporting is not trustworthy as delivered, and it is repairable. The Data Head is right about the symptom and wrong about the conclusion — the gate opens once these ten are remediated, it does not stay shut.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3 · THE PROOF</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The fan-out proof: run the wrong join on purpose, then show the right one</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A control that is asserted can be wrong. A control that is demonstrated numerically cannot be waved away in a review.</a:t>
            </a:r>
            <a:endParaRPr lang="en-US" sz="1300" dirty="0"/>
          </a:p>
        </p:txBody>
      </p:sp>
      <p:sp>
        <p:nvSpPr>
          <p:cNvPr id="5" name="Shape 3"/>
          <p:cNvSpPr/>
          <p:nvPr/>
        </p:nvSpPr>
        <p:spPr>
          <a:xfrm>
            <a:off x="548640" y="1627632"/>
            <a:ext cx="6675120" cy="2286000"/>
          </a:xfrm>
          <a:prstGeom prst="roundRect">
            <a:avLst>
              <a:gd name="adj" fmla="val 2000"/>
            </a:avLst>
          </a:prstGeom>
          <a:solidFill>
            <a:srgbClr val="16243A"/>
          </a:solidFill>
          <a:ln w="12700">
            <a:solidFill>
              <a:srgbClr val="2E5580"/>
            </a:solidFill>
            <a:prstDash val="solid"/>
          </a:ln>
        </p:spPr>
      </p:sp>
      <p:sp>
        <p:nvSpPr>
          <p:cNvPr id="6" name="Text 4"/>
          <p:cNvSpPr txBox="1"/>
          <p:nvPr/>
        </p:nvSpPr>
        <p:spPr>
          <a:xfrm>
            <a:off x="731520" y="1773936"/>
            <a:ext cx="6309360" cy="1993392"/>
          </a:xfrm>
          <a:prstGeom prst="rect">
            <a:avLst/>
          </a:prstGeom>
          <a:noFill/>
          <a:ln/>
        </p:spPr>
        <p:txBody>
          <a:bodyPr wrap="square" lIns="0" tIns="0" rIns="0" bIns="0" rtlCol="0" anchor="ctr"/>
          <a:lstStyle/>
          <a:p>
            <a:pPr indent="0" marL="0">
              <a:lnSpc>
                <a:spcPts val="1250"/>
              </a:lnSpc>
              <a:buNone/>
            </a:pPr>
            <a:r>
              <a:rPr lang="en-US" sz="1000" i="1" dirty="0">
                <a:solidFill>
                  <a:srgbClr val="8FA6C4"/>
                </a:solidFill>
                <a:latin typeface="Courier New" pitchFamily="34" charset="0"/>
                <a:ea typeface="Courier New" pitchFamily="34" charset="-122"/>
                <a:cs typeface="Courier New" pitchFamily="34" charset="-120"/>
              </a:rPr>
              <a:t># deliberately naive — this is the join a hurried analyst writes</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naive = tx.merge(risk_snap, on="merchant_id", how="left")</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print(naive.amount_usd.sum() / tx.amount_usd.sum())</a:t>
            </a:r>
            <a:endParaRPr lang="en-US" sz="1000" dirty="0"/>
          </a:p>
          <a:p>
            <a:pPr indent="0" marL="0">
              <a:lnSpc>
                <a:spcPts val="1250"/>
              </a:lnSpc>
              <a:buNone/>
            </a:pPr>
            <a:r>
              <a:rPr lang="en-US" sz="1000" b="1" dirty="0">
                <a:solidFill>
                  <a:srgbClr val="F2B366"/>
                </a:solidFill>
                <a:latin typeface="Courier New" pitchFamily="34" charset="0"/>
                <a:ea typeface="Courier New" pitchFamily="34" charset="-122"/>
                <a:cs typeface="Courier New" pitchFamily="34" charset="-120"/>
              </a:rPr>
              <a:t>#  -&gt; 11.92        twelve snapshots per merchant</a:t>
            </a:r>
            <a:endParaRPr lang="en-US" sz="1000" dirty="0"/>
          </a:p>
          <a:p>
            <a:pPr indent="0" marL="0">
              <a:lnSpc>
                <a:spcPts val="1250"/>
              </a:lnSpc>
              <a:buNone/>
            </a:pPr>
            <a:endParaRPr lang="en-US" sz="1000" dirty="0"/>
          </a:p>
          <a:p>
            <a:pPr indent="0" marL="0">
              <a:lnSpc>
                <a:spcPts val="1250"/>
              </a:lnSpc>
              <a:buNone/>
            </a:pPr>
            <a:r>
              <a:rPr lang="en-US" sz="1000" i="1" dirty="0">
                <a:solidFill>
                  <a:srgbClr val="8FA6C4"/>
                </a:solidFill>
                <a:latin typeface="Courier New" pitchFamily="34" charset="0"/>
                <a:ea typeface="Courier New" pitchFamily="34" charset="-122"/>
                <a:cs typeface="Courier New" pitchFamily="34" charset="-120"/>
              </a:rPr>
              <a:t># correct: as-of join, latest snapshot at or before the txn month</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snap = (risk_snap[risk_snap.snapshot_month &lt;= tx_month]</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        .sort_values("snapshot_month")</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        .groupby("merchant_id").tail(1))</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print(fixed.amount_usd.sum() / tx.amount_usd.sum())</a:t>
            </a:r>
            <a:endParaRPr lang="en-US" sz="1000" dirty="0"/>
          </a:p>
          <a:p>
            <a:pPr indent="0" marL="0">
              <a:lnSpc>
                <a:spcPts val="1250"/>
              </a:lnSpc>
              <a:buNone/>
            </a:pPr>
            <a:r>
              <a:rPr lang="en-US" sz="1000" b="1" dirty="0">
                <a:solidFill>
                  <a:srgbClr val="7FD4D2"/>
                </a:solidFill>
                <a:latin typeface="Courier New" pitchFamily="34" charset="0"/>
                <a:ea typeface="Courier New" pitchFamily="34" charset="-122"/>
                <a:cs typeface="Courier New" pitchFamily="34" charset="-120"/>
              </a:rPr>
              <a:t>#  -&gt; 1.00        grain preserved</a:t>
            </a:r>
            <a:endParaRPr lang="en-US" sz="1000" dirty="0"/>
          </a:p>
        </p:txBody>
      </p:sp>
      <p:sp>
        <p:nvSpPr>
          <p:cNvPr id="7" name="Shape 5"/>
          <p:cNvSpPr/>
          <p:nvPr/>
        </p:nvSpPr>
        <p:spPr>
          <a:xfrm>
            <a:off x="7498080" y="1627632"/>
            <a:ext cx="1965960" cy="1051560"/>
          </a:xfrm>
          <a:prstGeom prst="roundRect">
            <a:avLst>
              <a:gd name="adj" fmla="val 521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8" name="Text 6"/>
          <p:cNvSpPr txBox="1"/>
          <p:nvPr/>
        </p:nvSpPr>
        <p:spPr>
          <a:xfrm>
            <a:off x="7699248" y="1773936"/>
            <a:ext cx="1563624" cy="457200"/>
          </a:xfrm>
          <a:prstGeom prst="rect">
            <a:avLst/>
          </a:prstGeom>
          <a:noFill/>
          <a:ln/>
        </p:spPr>
        <p:txBody>
          <a:bodyPr wrap="square" lIns="0" tIns="0" rIns="0" bIns="0" rtlCol="0" anchor="ctr"/>
          <a:lstStyle/>
          <a:p>
            <a:pPr indent="0" marL="0">
              <a:buNone/>
            </a:pPr>
            <a:r>
              <a:rPr lang="en-US" sz="2200" b="1" dirty="0">
                <a:solidFill>
                  <a:srgbClr val="A33D3D"/>
                </a:solidFill>
                <a:latin typeface="Cambria" pitchFamily="34" charset="0"/>
                <a:ea typeface="Cambria" pitchFamily="34" charset="-122"/>
                <a:cs typeface="Cambria" pitchFamily="34" charset="-120"/>
              </a:rPr>
              <a:t>×11.92</a:t>
            </a:r>
            <a:endParaRPr lang="en-US" sz="2200" dirty="0"/>
          </a:p>
        </p:txBody>
      </p:sp>
      <p:sp>
        <p:nvSpPr>
          <p:cNvPr id="9" name="Text 7"/>
          <p:cNvSpPr txBox="1"/>
          <p:nvPr/>
        </p:nvSpPr>
        <p:spPr>
          <a:xfrm>
            <a:off x="7699248" y="2249424"/>
            <a:ext cx="1563624" cy="301752"/>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GPV inflation, risk snapshot</a:t>
            </a:r>
            <a:endParaRPr lang="en-US" sz="1050" dirty="0"/>
          </a:p>
        </p:txBody>
      </p:sp>
      <p:sp>
        <p:nvSpPr>
          <p:cNvPr id="10" name="Shape 8"/>
          <p:cNvSpPr/>
          <p:nvPr/>
        </p:nvSpPr>
        <p:spPr>
          <a:xfrm>
            <a:off x="9646920" y="1627632"/>
            <a:ext cx="1965960" cy="1051560"/>
          </a:xfrm>
          <a:prstGeom prst="roundRect">
            <a:avLst>
              <a:gd name="adj" fmla="val 521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1" name="Text 9"/>
          <p:cNvSpPr txBox="1"/>
          <p:nvPr/>
        </p:nvSpPr>
        <p:spPr>
          <a:xfrm>
            <a:off x="9848088" y="1773936"/>
            <a:ext cx="1563624" cy="457200"/>
          </a:xfrm>
          <a:prstGeom prst="rect">
            <a:avLst/>
          </a:prstGeom>
          <a:noFill/>
          <a:ln/>
        </p:spPr>
        <p:txBody>
          <a:bodyPr wrap="square" lIns="0" tIns="0" rIns="0" bIns="0" rtlCol="0" anchor="ctr"/>
          <a:lstStyle/>
          <a:p>
            <a:pPr indent="0" marL="0">
              <a:buNone/>
            </a:pPr>
            <a:r>
              <a:rPr lang="en-US" sz="2200" b="1" dirty="0">
                <a:solidFill>
                  <a:srgbClr val="A33D3D"/>
                </a:solidFill>
                <a:latin typeface="Cambria" pitchFamily="34" charset="0"/>
                <a:ea typeface="Cambria" pitchFamily="34" charset="-122"/>
                <a:cs typeface="Cambria" pitchFamily="34" charset="-120"/>
              </a:rPr>
              <a:t>×1.79</a:t>
            </a:r>
            <a:endParaRPr lang="en-US" sz="2200" dirty="0"/>
          </a:p>
        </p:txBody>
      </p:sp>
      <p:sp>
        <p:nvSpPr>
          <p:cNvPr id="12" name="Text 10"/>
          <p:cNvSpPr txBox="1"/>
          <p:nvPr/>
        </p:nvSpPr>
        <p:spPr>
          <a:xfrm>
            <a:off x="9848088" y="2249424"/>
            <a:ext cx="1563624" cy="301752"/>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GPV inflation, fraud join</a:t>
            </a:r>
            <a:endParaRPr lang="en-US" sz="1050" dirty="0"/>
          </a:p>
        </p:txBody>
      </p:sp>
      <p:sp>
        <p:nvSpPr>
          <p:cNvPr id="13" name="Shape 11"/>
          <p:cNvSpPr/>
          <p:nvPr/>
        </p:nvSpPr>
        <p:spPr>
          <a:xfrm>
            <a:off x="7498080" y="2862072"/>
            <a:ext cx="4114800" cy="1051560"/>
          </a:xfrm>
          <a:prstGeom prst="roundRect">
            <a:avLst>
              <a:gd name="adj" fmla="val 521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Text 12"/>
          <p:cNvSpPr txBox="1"/>
          <p:nvPr/>
        </p:nvSpPr>
        <p:spPr>
          <a:xfrm>
            <a:off x="7680960" y="2980944"/>
            <a:ext cx="3749040" cy="237744"/>
          </a:xfrm>
          <a:prstGeom prst="rect">
            <a:avLst/>
          </a:prstGeom>
          <a:noFill/>
          <a:ln/>
        </p:spPr>
        <p:txBody>
          <a:bodyPr wrap="square" lIns="0" tIns="0" rIns="0" bIns="0" rtlCol="0" anchor="ctr"/>
          <a:lstStyle/>
          <a:p>
            <a:pPr indent="0" marL="0">
              <a:buNone/>
            </a:pPr>
            <a:r>
              <a:rPr lang="en-US" sz="1150" b="1" dirty="0">
                <a:solidFill>
                  <a:srgbClr val="12233C"/>
                </a:solidFill>
                <a:latin typeface="Calibri" pitchFamily="34" charset="0"/>
                <a:ea typeface="Calibri" pitchFamily="34" charset="-122"/>
                <a:cs typeface="Calibri" pitchFamily="34" charset="-120"/>
              </a:rPr>
              <a:t>Why this matters more than it looks</a:t>
            </a:r>
            <a:endParaRPr lang="en-US" sz="1150" dirty="0"/>
          </a:p>
        </p:txBody>
      </p:sp>
      <p:sp>
        <p:nvSpPr>
          <p:cNvPr id="15" name="Text 13"/>
          <p:cNvSpPr txBox="1"/>
          <p:nvPr/>
        </p:nvSpPr>
        <p:spPr>
          <a:xfrm>
            <a:off x="7680960" y="3200400"/>
            <a:ext cx="3749040" cy="658368"/>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An inflated total is obvious. An inflated total that is inflated evenly is not — ratios still look sane, trends still point the same way, and the error survives review. ×11.92 on gross value with the transaction count untouched is exactly that shape.</a:t>
            </a:r>
            <a:endParaRPr lang="en-US" sz="1000" dirty="0"/>
          </a:p>
        </p:txBody>
      </p:sp>
      <p:sp>
        <p:nvSpPr>
          <p:cNvPr id="16" name="Text 14"/>
          <p:cNvSpPr txBox="1"/>
          <p:nvPr/>
        </p:nvSpPr>
        <p:spPr>
          <a:xfrm>
            <a:off x="548640" y="4114800"/>
            <a:ext cx="1106424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Quarantine reconciliation — nothing disappears silently</a:t>
            </a:r>
            <a:endParaRPr lang="en-US" sz="1300" dirty="0"/>
          </a:p>
        </p:txBody>
      </p:sp>
      <p:sp>
        <p:nvSpPr>
          <p:cNvPr id="17" name="Shape 15"/>
          <p:cNvSpPr/>
          <p:nvPr/>
        </p:nvSpPr>
        <p:spPr>
          <a:xfrm>
            <a:off x="548640" y="4462272"/>
            <a:ext cx="2606040" cy="1005840"/>
          </a:xfrm>
          <a:prstGeom prst="roundRect">
            <a:avLst>
              <a:gd name="adj" fmla="val 545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8" name="Text 16"/>
          <p:cNvSpPr txBox="1"/>
          <p:nvPr/>
        </p:nvSpPr>
        <p:spPr>
          <a:xfrm>
            <a:off x="749808" y="4608576"/>
            <a:ext cx="2203704" cy="457200"/>
          </a:xfrm>
          <a:prstGeom prst="rect">
            <a:avLst/>
          </a:prstGeom>
          <a:noFill/>
          <a:ln/>
        </p:spPr>
        <p:txBody>
          <a:bodyPr wrap="square" lIns="0" tIns="0" rIns="0" bIns="0" rtlCol="0" anchor="ctr"/>
          <a:lstStyle/>
          <a:p>
            <a:pPr indent="0" marL="0">
              <a:buNone/>
            </a:pPr>
            <a:r>
              <a:rPr lang="en-US" sz="2200" b="1" dirty="0">
                <a:solidFill>
                  <a:srgbClr val="12233C"/>
                </a:solidFill>
                <a:latin typeface="Cambria" pitchFamily="34" charset="0"/>
                <a:ea typeface="Cambria" pitchFamily="34" charset="-122"/>
                <a:cs typeface="Cambria" pitchFamily="34" charset="-120"/>
              </a:rPr>
              <a:t>3,038</a:t>
            </a:r>
            <a:endParaRPr lang="en-US" sz="2200" dirty="0"/>
          </a:p>
        </p:txBody>
      </p:sp>
      <p:sp>
        <p:nvSpPr>
          <p:cNvPr id="19" name="Text 17"/>
          <p:cNvSpPr txBox="1"/>
          <p:nvPr/>
        </p:nvSpPr>
        <p:spPr>
          <a:xfrm>
            <a:off x="749808" y="5084064"/>
            <a:ext cx="2203704" cy="256032"/>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rows excluded from the KPI</a:t>
            </a:r>
            <a:endParaRPr lang="en-US" sz="1050" dirty="0"/>
          </a:p>
        </p:txBody>
      </p:sp>
      <p:sp>
        <p:nvSpPr>
          <p:cNvPr id="20" name="Text 18"/>
          <p:cNvSpPr txBox="1"/>
          <p:nvPr/>
        </p:nvSpPr>
        <p:spPr>
          <a:xfrm>
            <a:off x="3172968" y="4462272"/>
            <a:ext cx="164592" cy="1005840"/>
          </a:xfrm>
          <a:prstGeom prst="rect">
            <a:avLst/>
          </a:prstGeom>
          <a:noFill/>
          <a:ln/>
        </p:spPr>
        <p:txBody>
          <a:bodyPr wrap="square" lIns="0" tIns="0" rIns="0" bIns="0" rtlCol="0" anchor="ctr"/>
          <a:lstStyle/>
          <a:p>
            <a:pPr algn="ctr" indent="0" marL="0">
              <a:buNone/>
            </a:pPr>
            <a:r>
              <a:rPr lang="en-US" sz="1800" b="1" dirty="0">
                <a:solidFill>
                  <a:srgbClr val="6B7785"/>
                </a:solidFill>
                <a:latin typeface="Cambria" pitchFamily="34" charset="0"/>
                <a:ea typeface="Cambria" pitchFamily="34" charset="-122"/>
                <a:cs typeface="Cambria" pitchFamily="34" charset="-120"/>
              </a:rPr>
              <a:t>=</a:t>
            </a:r>
            <a:endParaRPr lang="en-US" sz="1800" dirty="0"/>
          </a:p>
        </p:txBody>
      </p:sp>
      <p:sp>
        <p:nvSpPr>
          <p:cNvPr id="21" name="Shape 19"/>
          <p:cNvSpPr/>
          <p:nvPr/>
        </p:nvSpPr>
        <p:spPr>
          <a:xfrm>
            <a:off x="3355848" y="4462272"/>
            <a:ext cx="2606040" cy="1005840"/>
          </a:xfrm>
          <a:prstGeom prst="roundRect">
            <a:avLst>
              <a:gd name="adj" fmla="val 545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2" name="Text 20"/>
          <p:cNvSpPr txBox="1"/>
          <p:nvPr/>
        </p:nvSpPr>
        <p:spPr>
          <a:xfrm>
            <a:off x="3557016" y="4608576"/>
            <a:ext cx="2203704" cy="457200"/>
          </a:xfrm>
          <a:prstGeom prst="rect">
            <a:avLst/>
          </a:prstGeom>
          <a:noFill/>
          <a:ln/>
        </p:spPr>
        <p:txBody>
          <a:bodyPr wrap="square" lIns="0" tIns="0" rIns="0" bIns="0" rtlCol="0" anchor="ctr"/>
          <a:lstStyle/>
          <a:p>
            <a:pPr indent="0" marL="0">
              <a:buNone/>
            </a:pPr>
            <a:r>
              <a:rPr lang="en-US" sz="2200" b="1" dirty="0">
                <a:solidFill>
                  <a:srgbClr val="D98324"/>
                </a:solidFill>
                <a:latin typeface="Cambria" pitchFamily="34" charset="0"/>
                <a:ea typeface="Cambria" pitchFamily="34" charset="-122"/>
                <a:cs typeface="Cambria" pitchFamily="34" charset="-120"/>
              </a:rPr>
              <a:t>2,668</a:t>
            </a:r>
            <a:endParaRPr lang="en-US" sz="2200" dirty="0"/>
          </a:p>
        </p:txBody>
      </p:sp>
      <p:sp>
        <p:nvSpPr>
          <p:cNvPr id="23" name="Text 21"/>
          <p:cNvSpPr txBox="1"/>
          <p:nvPr/>
        </p:nvSpPr>
        <p:spPr>
          <a:xfrm>
            <a:off x="3557016" y="5084064"/>
            <a:ext cx="2203704" cy="256032"/>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duplicate settlement rows</a:t>
            </a:r>
            <a:endParaRPr lang="en-US" sz="1050" dirty="0"/>
          </a:p>
        </p:txBody>
      </p:sp>
      <p:sp>
        <p:nvSpPr>
          <p:cNvPr id="24" name="Text 22"/>
          <p:cNvSpPr txBox="1"/>
          <p:nvPr/>
        </p:nvSpPr>
        <p:spPr>
          <a:xfrm>
            <a:off x="5980176" y="4462272"/>
            <a:ext cx="164592" cy="1005840"/>
          </a:xfrm>
          <a:prstGeom prst="rect">
            <a:avLst/>
          </a:prstGeom>
          <a:noFill/>
          <a:ln/>
        </p:spPr>
        <p:txBody>
          <a:bodyPr wrap="square" lIns="0" tIns="0" rIns="0" bIns="0" rtlCol="0" anchor="ctr"/>
          <a:lstStyle/>
          <a:p>
            <a:pPr algn="ctr" indent="0" marL="0">
              <a:buNone/>
            </a:pPr>
            <a:r>
              <a:rPr lang="en-US" sz="1800" b="1" dirty="0">
                <a:solidFill>
                  <a:srgbClr val="6B7785"/>
                </a:solidFill>
                <a:latin typeface="Cambria" pitchFamily="34" charset="0"/>
                <a:ea typeface="Cambria" pitchFamily="34" charset="-122"/>
                <a:cs typeface="Cambria" pitchFamily="34" charset="-120"/>
              </a:rPr>
              <a:t>+</a:t>
            </a:r>
            <a:endParaRPr lang="en-US" sz="1800" dirty="0"/>
          </a:p>
        </p:txBody>
      </p:sp>
      <p:sp>
        <p:nvSpPr>
          <p:cNvPr id="25" name="Shape 23"/>
          <p:cNvSpPr/>
          <p:nvPr/>
        </p:nvSpPr>
        <p:spPr>
          <a:xfrm>
            <a:off x="6163056" y="4462272"/>
            <a:ext cx="2606040" cy="1005840"/>
          </a:xfrm>
          <a:prstGeom prst="roundRect">
            <a:avLst>
              <a:gd name="adj" fmla="val 545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6" name="Text 24"/>
          <p:cNvSpPr txBox="1"/>
          <p:nvPr/>
        </p:nvSpPr>
        <p:spPr>
          <a:xfrm>
            <a:off x="6364224" y="4608576"/>
            <a:ext cx="2203704" cy="457200"/>
          </a:xfrm>
          <a:prstGeom prst="rect">
            <a:avLst/>
          </a:prstGeom>
          <a:noFill/>
          <a:ln/>
        </p:spPr>
        <p:txBody>
          <a:bodyPr wrap="square" lIns="0" tIns="0" rIns="0" bIns="0" rtlCol="0" anchor="ctr"/>
          <a:lstStyle/>
          <a:p>
            <a:pPr indent="0" marL="0">
              <a:buNone/>
            </a:pPr>
            <a:r>
              <a:rPr lang="en-US" sz="2200" b="1" dirty="0">
                <a:solidFill>
                  <a:srgbClr val="D98324"/>
                </a:solidFill>
                <a:latin typeface="Cambria" pitchFamily="34" charset="0"/>
                <a:ea typeface="Cambria" pitchFamily="34" charset="-122"/>
                <a:cs typeface="Cambria" pitchFamily="34" charset="-120"/>
              </a:rPr>
              <a:t>370</a:t>
            </a:r>
            <a:endParaRPr lang="en-US" sz="2200" dirty="0"/>
          </a:p>
        </p:txBody>
      </p:sp>
      <p:sp>
        <p:nvSpPr>
          <p:cNvPr id="27" name="Text 25"/>
          <p:cNvSpPr txBox="1"/>
          <p:nvPr/>
        </p:nvSpPr>
        <p:spPr>
          <a:xfrm>
            <a:off x="6364224" y="5084064"/>
            <a:ext cx="2203704" cy="256032"/>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impossible negative amounts</a:t>
            </a:r>
            <a:endParaRPr lang="en-US" sz="1050" dirty="0"/>
          </a:p>
        </p:txBody>
      </p:sp>
      <p:sp>
        <p:nvSpPr>
          <p:cNvPr id="28" name="Text 26"/>
          <p:cNvSpPr txBox="1"/>
          <p:nvPr/>
        </p:nvSpPr>
        <p:spPr>
          <a:xfrm>
            <a:off x="8787384" y="4462272"/>
            <a:ext cx="164592" cy="1005840"/>
          </a:xfrm>
          <a:prstGeom prst="rect">
            <a:avLst/>
          </a:prstGeom>
          <a:noFill/>
          <a:ln/>
        </p:spPr>
        <p:txBody>
          <a:bodyPr wrap="square" lIns="0" tIns="0" rIns="0" bIns="0" rtlCol="0" anchor="ctr"/>
          <a:lstStyle/>
          <a:p>
            <a:pPr algn="ctr" indent="0" marL="0">
              <a:buNone/>
            </a:pPr>
            <a:r>
              <a:rPr lang="en-US" sz="1800" b="1" dirty="0">
                <a:solidFill>
                  <a:srgbClr val="6B7785"/>
                </a:solidFill>
                <a:latin typeface="Cambria" pitchFamily="34" charset="0"/>
                <a:ea typeface="Cambria" pitchFamily="34" charset="-122"/>
                <a:cs typeface="Cambria" pitchFamily="34" charset="-120"/>
              </a:rPr>
              <a:t>+</a:t>
            </a:r>
            <a:endParaRPr lang="en-US" sz="1800" dirty="0"/>
          </a:p>
        </p:txBody>
      </p:sp>
      <p:sp>
        <p:nvSpPr>
          <p:cNvPr id="29" name="Shape 27"/>
          <p:cNvSpPr/>
          <p:nvPr/>
        </p:nvSpPr>
        <p:spPr>
          <a:xfrm>
            <a:off x="8970264" y="4462272"/>
            <a:ext cx="2606040" cy="1005840"/>
          </a:xfrm>
          <a:prstGeom prst="roundRect">
            <a:avLst>
              <a:gd name="adj" fmla="val 545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30" name="Text 28"/>
          <p:cNvSpPr txBox="1"/>
          <p:nvPr/>
        </p:nvSpPr>
        <p:spPr>
          <a:xfrm>
            <a:off x="9171432" y="4608576"/>
            <a:ext cx="2203704" cy="457200"/>
          </a:xfrm>
          <a:prstGeom prst="rect">
            <a:avLst/>
          </a:prstGeom>
          <a:noFill/>
          <a:ln/>
        </p:spPr>
        <p:txBody>
          <a:bodyPr wrap="square" lIns="0" tIns="0" rIns="0" bIns="0" rtlCol="0" anchor="ctr"/>
          <a:lstStyle/>
          <a:p>
            <a:pPr indent="0" marL="0">
              <a:buNone/>
            </a:pPr>
            <a:r>
              <a:rPr lang="en-US" sz="2200" b="1" dirty="0">
                <a:solidFill>
                  <a:srgbClr val="0E7C7B"/>
                </a:solidFill>
                <a:latin typeface="Cambria" pitchFamily="34" charset="0"/>
                <a:ea typeface="Cambria" pitchFamily="34" charset="-122"/>
                <a:cs typeface="Cambria" pitchFamily="34" charset="-120"/>
              </a:rPr>
              <a:t>0</a:t>
            </a:r>
            <a:endParaRPr lang="en-US" sz="2200" dirty="0"/>
          </a:p>
        </p:txBody>
      </p:sp>
      <p:sp>
        <p:nvSpPr>
          <p:cNvPr id="31" name="Text 29"/>
          <p:cNvSpPr txBox="1"/>
          <p:nvPr/>
        </p:nvSpPr>
        <p:spPr>
          <a:xfrm>
            <a:off x="9171432" y="5084064"/>
            <a:ext cx="2203704" cy="256032"/>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unexplained</a:t>
            </a:r>
            <a:endParaRPr lang="en-US" sz="1050" dirty="0"/>
          </a:p>
        </p:txBody>
      </p:sp>
      <p:sp>
        <p:nvSpPr>
          <p:cNvPr id="32" name="Text 30"/>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An earlier version of this check compared two populations that differed by the quarantined rows and produced a false residual. The fix was to compare the same population on both sides — a reminder that a reconciliation check can itself be mis-specified.</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233C"/>
        </a:solidFill>
      </p:bgPr>
    </p:bg>
    <p:spTree>
      <p:nvGrpSpPr>
        <p:cNvPr id="1" name=""/>
        <p:cNvGrpSpPr/>
        <p:nvPr/>
      </p:nvGrpSpPr>
      <p:grpSpPr>
        <a:xfrm>
          <a:off x="0" y="0"/>
          <a:ext cx="0" cy="0"/>
          <a:chOff x="0" y="0"/>
          <a:chExt cx="0" cy="0"/>
        </a:xfrm>
      </p:grpSpPr>
      <p:sp>
        <p:nvSpPr>
          <p:cNvPr id="2" name="Text 0"/>
          <p:cNvSpPr txBox="1"/>
          <p:nvPr/>
        </p:nvSpPr>
        <p:spPr>
          <a:xfrm>
            <a:off x="822960" y="1828800"/>
            <a:ext cx="2743200" cy="1737360"/>
          </a:xfrm>
          <a:prstGeom prst="rect">
            <a:avLst/>
          </a:prstGeom>
          <a:noFill/>
          <a:ln/>
        </p:spPr>
        <p:txBody>
          <a:bodyPr wrap="square" lIns="0" tIns="0" rIns="0" bIns="0" rtlCol="0" anchor="ctr"/>
          <a:lstStyle/>
          <a:p>
            <a:pPr indent="0" marL="0">
              <a:buNone/>
            </a:pPr>
            <a:r>
              <a:rPr lang="en-US" sz="9600" b="1" dirty="0">
                <a:solidFill>
                  <a:srgbClr val="24406A"/>
                </a:solidFill>
                <a:latin typeface="Cambria" pitchFamily="34" charset="0"/>
                <a:ea typeface="Cambria" pitchFamily="34" charset="-122"/>
                <a:cs typeface="Cambria" pitchFamily="34" charset="-120"/>
              </a:rPr>
              <a:t>04</a:t>
            </a:r>
            <a:endParaRPr lang="en-US" sz="9600" dirty="0"/>
          </a:p>
        </p:txBody>
      </p:sp>
      <p:sp>
        <p:nvSpPr>
          <p:cNvPr id="3" name="Text 1"/>
          <p:cNvSpPr txBox="1"/>
          <p:nvPr/>
        </p:nvSpPr>
        <p:spPr>
          <a:xfrm>
            <a:off x="3108960" y="2148840"/>
            <a:ext cx="841248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profitability model</a:t>
            </a:r>
            <a:endParaRPr lang="en-US" sz="3400" dirty="0"/>
          </a:p>
        </p:txBody>
      </p:sp>
      <p:sp>
        <p:nvSpPr>
          <p:cNvPr id="4" name="Text 2"/>
          <p:cNvSpPr txBox="1"/>
          <p:nvPr/>
        </p:nvSpPr>
        <p:spPr>
          <a:xfrm>
            <a:off x="3154680" y="3017520"/>
            <a:ext cx="8229600" cy="457200"/>
          </a:xfrm>
          <a:prstGeom prst="rect">
            <a:avLst/>
          </a:prstGeom>
          <a:noFill/>
          <a:ln/>
        </p:spPr>
        <p:txBody>
          <a:bodyPr wrap="square" lIns="0" tIns="0" rIns="0" bIns="0" rtlCol="0" anchor="ctr"/>
          <a:lstStyle/>
          <a:p>
            <a:pPr indent="0" marL="0">
              <a:lnSpc>
                <a:spcPts val="2000"/>
              </a:lnSpc>
              <a:buNone/>
            </a:pPr>
            <a:r>
              <a:rPr lang="en-US" sz="1500" dirty="0">
                <a:solidFill>
                  <a:srgbClr val="8FA6C4"/>
                </a:solidFill>
                <a:latin typeface="Calibri" pitchFamily="34" charset="0"/>
                <a:ea typeface="Calibri" pitchFamily="34" charset="-122"/>
                <a:cs typeface="Calibri" pitchFamily="34" charset="-120"/>
              </a:rPr>
              <a:t>Task 4 — A governed star schema at one grain</a:t>
            </a:r>
            <a:endParaRPr lang="en-US" sz="1500" dirty="0"/>
          </a:p>
        </p:txBody>
      </p:sp>
      <p:sp>
        <p:nvSpPr>
          <p:cNvPr id="5" name="Text 3"/>
          <p:cNvSpPr txBox="1"/>
          <p:nvPr/>
        </p:nvSpPr>
        <p:spPr>
          <a:xfrm>
            <a:off x="3154680" y="3611880"/>
            <a:ext cx="8229600" cy="1097280"/>
          </a:xfrm>
          <a:prstGeom prst="rect">
            <a:avLst/>
          </a:prstGeom>
          <a:noFill/>
          <a:ln/>
        </p:spPr>
        <p:txBody>
          <a:bodyPr wrap="square" lIns="0" tIns="0" rIns="0" bIns="0" rtlCol="0" anchor="ctr"/>
          <a:lstStyle/>
          <a:p>
            <a:pPr indent="0" marL="0">
              <a:lnSpc>
                <a:spcPts val="1900"/>
              </a:lnSpc>
              <a:buNone/>
            </a:pPr>
            <a:r>
              <a:rPr lang="en-US" sz="1300" dirty="0">
                <a:solidFill>
                  <a:srgbClr val="7FD4D2"/>
                </a:solidFill>
                <a:latin typeface="Calibri" pitchFamily="34" charset="0"/>
                <a:ea typeface="Calibri" pitchFamily="34" charset="-122"/>
                <a:cs typeface="Calibri" pitchFamily="34" charset="-120"/>
              </a:rPr>
              <a:t>The pipeline  ·  Pre-aggregation before joining  ·  The star schema  ·  The contribution formula  ·  The imputation fallback  ·  Proof that nothing double counts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4 · PIPELINE</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From eleven messy files to one governed fact table</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Each stage has one job, and the grain is declared in the docstring of every function that touches it.</a:t>
            </a:r>
            <a:endParaRPr lang="en-US" sz="1300" dirty="0"/>
          </a:p>
        </p:txBody>
      </p:sp>
      <p:pic>
        <p:nvPicPr>
          <p:cNvPr id="5" name="Image 0" descr="preencoded.png">    </p:cNvPr>
          <p:cNvPicPr>
            <a:picLocks noChangeAspect="1"/>
          </p:cNvPicPr>
          <p:nvPr/>
        </p:nvPicPr>
        <p:blipFill>
          <a:blip r:embed="rId1"/>
          <a:stretch>
            <a:fillRect/>
          </a:stretch>
        </p:blipFill>
        <p:spPr>
          <a:xfrm>
            <a:off x="548640" y="1791789"/>
            <a:ext cx="11064240" cy="2634343"/>
          </a:xfrm>
          <a:prstGeom prst="rect">
            <a:avLst/>
          </a:prstGeom>
        </p:spPr>
      </p:pic>
      <p:sp>
        <p:nvSpPr>
          <p:cNvPr id="6" name="Shape 3"/>
          <p:cNvSpPr/>
          <p:nvPr/>
        </p:nvSpPr>
        <p:spPr>
          <a:xfrm>
            <a:off x="548640" y="4663440"/>
            <a:ext cx="11064240" cy="1371600"/>
          </a:xfrm>
          <a:prstGeom prst="roundRect">
            <a:avLst>
              <a:gd name="adj" fmla="val 4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7" name="Text 4"/>
          <p:cNvSpPr txBox="1"/>
          <p:nvPr/>
        </p:nvSpPr>
        <p:spPr>
          <a:xfrm>
            <a:off x="777240" y="4791456"/>
            <a:ext cx="10607040" cy="256032"/>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The rule the whole pipeline is built around</a:t>
            </a:r>
            <a:endParaRPr lang="en-US" sz="1300" dirty="0"/>
          </a:p>
        </p:txBody>
      </p:sp>
      <p:sp>
        <p:nvSpPr>
          <p:cNvPr id="8" name="Text 5"/>
          <p:cNvSpPr txBox="1"/>
          <p:nvPr/>
        </p:nvSpPr>
        <p:spPr>
          <a:xfrm>
            <a:off x="777240" y="5065776"/>
            <a:ext cx="10607040" cy="868680"/>
          </a:xfrm>
          <a:prstGeom prst="rect">
            <a:avLst/>
          </a:prstGeom>
          <a:noFill/>
          <a:ln/>
        </p:spPr>
        <p:txBody>
          <a:bodyPr wrap="square" lIns="0" tIns="0" rIns="0" bIns="0" rtlCol="0" anchor="ctr"/>
          <a:lstStyle/>
          <a:p>
            <a:pPr indent="0" marL="0">
              <a:lnSpc>
                <a:spcPts val="1500"/>
              </a:lnSpc>
              <a:buNone/>
            </a:pPr>
            <a:r>
              <a:rPr lang="en-US" sz="1150" dirty="0">
                <a:solidFill>
                  <a:srgbClr val="4A5663"/>
                </a:solidFill>
                <a:latin typeface="Calibri" pitchFamily="34" charset="0"/>
                <a:ea typeface="Calibri" pitchFamily="34" charset="-122"/>
                <a:cs typeface="Calibri" pitchFamily="34" charset="-120"/>
              </a:rPr>
              <a:t>Every one-to-many source is collapsed to one row per transaction BEFORE it is joined to the spine. Not after, not with a DISTINCT, not with a window function at query time. Each staging function carries a GRAIN docstring, and that docstring is the contract: if a function claims one row per transaction_id, a single assertion proves it. This is the difference between a model that is correct and a model that happens to give the right answer on this month's data.</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4 · STAR SCHEMA</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One fact, six conformed dimensions, two disconnected analysis tables</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Everything downstream — the notebooks, the dashboard, this deck — reads from this model and nothing reads from the raw files.</a:t>
            </a:r>
            <a:endParaRPr lang="en-US" sz="1300" dirty="0"/>
          </a:p>
        </p:txBody>
      </p:sp>
      <p:pic>
        <p:nvPicPr>
          <p:cNvPr id="5" name="Image 0" descr="preencoded.png">    </p:cNvPr>
          <p:cNvPicPr>
            <a:picLocks noChangeAspect="1"/>
          </p:cNvPicPr>
          <p:nvPr/>
        </p:nvPicPr>
        <p:blipFill>
          <a:blip r:embed="rId1"/>
          <a:stretch>
            <a:fillRect/>
          </a:stretch>
        </p:blipFill>
        <p:spPr>
          <a:xfrm>
            <a:off x="960120" y="1572768"/>
            <a:ext cx="10241280" cy="448056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4 · CODE</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The staging functions, and the docstring that is really a contract</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t4_core.py — four staging functions, each collapsing one hazardous source to transaction grain.</a:t>
            </a:r>
            <a:endParaRPr lang="en-US" sz="1300" dirty="0"/>
          </a:p>
        </p:txBody>
      </p:sp>
      <p:sp>
        <p:nvSpPr>
          <p:cNvPr id="5" name="Shape 3"/>
          <p:cNvSpPr/>
          <p:nvPr/>
        </p:nvSpPr>
        <p:spPr>
          <a:xfrm>
            <a:off x="548640" y="1627632"/>
            <a:ext cx="5760720" cy="4023360"/>
          </a:xfrm>
          <a:prstGeom prst="roundRect">
            <a:avLst>
              <a:gd name="adj" fmla="val 1136"/>
            </a:avLst>
          </a:prstGeom>
          <a:solidFill>
            <a:srgbClr val="16243A"/>
          </a:solidFill>
          <a:ln w="12700">
            <a:solidFill>
              <a:srgbClr val="2E5580"/>
            </a:solidFill>
            <a:prstDash val="solid"/>
          </a:ln>
        </p:spPr>
      </p:sp>
      <p:sp>
        <p:nvSpPr>
          <p:cNvPr id="6" name="Text 4"/>
          <p:cNvSpPr txBox="1"/>
          <p:nvPr/>
        </p:nvSpPr>
        <p:spPr>
          <a:xfrm>
            <a:off x="731520" y="1773936"/>
            <a:ext cx="5394960" cy="3730752"/>
          </a:xfrm>
          <a:prstGeom prst="rect">
            <a:avLst/>
          </a:prstGeom>
          <a:noFill/>
          <a:ln/>
        </p:spPr>
        <p:txBody>
          <a:bodyPr wrap="square" lIns="0" tIns="0" rIns="0" bIns="0" rtlCol="0" anchor="ctr"/>
          <a:lstStyle/>
          <a:p>
            <a:pPr indent="0" marL="0">
              <a:lnSpc>
                <a:spcPts val="1280"/>
              </a:lnSpc>
              <a:buNone/>
            </a:pPr>
            <a:r>
              <a:rPr lang="en-US" sz="1000" b="1" dirty="0">
                <a:solidFill>
                  <a:srgbClr val="7FD4D2"/>
                </a:solidFill>
                <a:latin typeface="Courier New" pitchFamily="34" charset="0"/>
                <a:ea typeface="Courier New" pitchFamily="34" charset="-122"/>
                <a:cs typeface="Courier New" pitchFamily="34" charset="-120"/>
              </a:rPr>
              <a:t>def stg_settlement(s):</a:t>
            </a:r>
            <a:endParaRPr lang="en-US" sz="1000" dirty="0"/>
          </a:p>
          <a:p>
            <a:pPr indent="0" marL="0">
              <a:lnSpc>
                <a:spcPts val="1280"/>
              </a:lnSpc>
              <a:buNone/>
            </a:pPr>
            <a:r>
              <a:rPr lang="en-US" sz="1000" dirty="0">
                <a:solidFill>
                  <a:srgbClr val="F2B366"/>
                </a:solidFill>
                <a:latin typeface="Courier New" pitchFamily="34" charset="0"/>
                <a:ea typeface="Courier New" pitchFamily="34" charset="-122"/>
                <a:cs typeface="Courier New" pitchFamily="34" charset="-120"/>
              </a:rPr>
              <a:t>    """GRAIN: 1 row per transaction_id.</a:t>
            </a:r>
            <a:endParaRPr lang="en-US" sz="1000" dirty="0"/>
          </a:p>
          <a:p>
            <a:pPr indent="0" marL="0">
              <a:lnSpc>
                <a:spcPts val="1280"/>
              </a:lnSpc>
              <a:buNone/>
            </a:pPr>
            <a:r>
              <a:rPr lang="en-US" sz="1000" dirty="0">
                <a:solidFill>
                  <a:srgbClr val="F2B366"/>
                </a:solidFill>
                <a:latin typeface="Courier New" pitchFamily="34" charset="0"/>
                <a:ea typeface="Courier New" pitchFamily="34" charset="-122"/>
                <a:cs typeface="Courier New" pitchFamily="34" charset="-120"/>
              </a:rPr>
              <a:t>    Collapses partial + correction pairs."""</a:t>
            </a:r>
            <a:endParaRPr lang="en-US" sz="1000" dirty="0"/>
          </a:p>
          <a:p>
            <a:pPr indent="0" marL="0">
              <a:lnSpc>
                <a:spcPts val="1280"/>
              </a:lnSpc>
              <a:buNone/>
            </a:pPr>
            <a:r>
              <a:rPr lang="en-US" sz="1000" dirty="0">
                <a:solidFill>
                  <a:srgbClr val="D6E2F0"/>
                </a:solidFill>
                <a:latin typeface="Courier New" pitchFamily="34" charset="0"/>
                <a:ea typeface="Courier New" pitchFamily="34" charset="-122"/>
                <a:cs typeface="Courier New" pitchFamily="34" charset="-120"/>
              </a:rPr>
              <a:t>    return (s.groupby("transaction_id")</a:t>
            </a:r>
            <a:endParaRPr lang="en-US" sz="1000" dirty="0"/>
          </a:p>
          <a:p>
            <a:pPr indent="0" marL="0">
              <a:lnSpc>
                <a:spcPts val="1280"/>
              </a:lnSpc>
              <a:buNone/>
            </a:pPr>
            <a:r>
              <a:rPr lang="en-US" sz="1000" dirty="0">
                <a:solidFill>
                  <a:srgbClr val="D6E2F0"/>
                </a:solidFill>
                <a:latin typeface="Courier New" pitchFamily="34" charset="0"/>
                <a:ea typeface="Courier New" pitchFamily="34" charset="-122"/>
                <a:cs typeface="Courier New" pitchFamily="34" charset="-120"/>
              </a:rPr>
              <a:t>             .agg(merchant_fee_usd=("fee_amount", "sum"),</a:t>
            </a:r>
            <a:endParaRPr lang="en-US" sz="1000" dirty="0"/>
          </a:p>
          <a:p>
            <a:pPr indent="0" marL="0">
              <a:lnSpc>
                <a:spcPts val="1280"/>
              </a:lnSpc>
              <a:buNone/>
            </a:pPr>
            <a:r>
              <a:rPr lang="en-US" sz="1000" dirty="0">
                <a:solidFill>
                  <a:srgbClr val="D6E2F0"/>
                </a:solidFill>
                <a:latin typeface="Courier New" pitchFamily="34" charset="0"/>
                <a:ea typeface="Courier New" pitchFamily="34" charset="-122"/>
                <a:cs typeface="Courier New" pitchFamily="34" charset="-120"/>
              </a:rPr>
              <a:t>                  settlement_rows=("fee_amount", "size"))</a:t>
            </a:r>
            <a:endParaRPr lang="en-US" sz="1000" dirty="0"/>
          </a:p>
          <a:p>
            <a:pPr indent="0" marL="0">
              <a:lnSpc>
                <a:spcPts val="1280"/>
              </a:lnSpc>
              <a:buNone/>
            </a:pPr>
            <a:r>
              <a:rPr lang="en-US" sz="1000" dirty="0">
                <a:solidFill>
                  <a:srgbClr val="D6E2F0"/>
                </a:solidFill>
                <a:latin typeface="Courier New" pitchFamily="34" charset="0"/>
                <a:ea typeface="Courier New" pitchFamily="34" charset="-122"/>
                <a:cs typeface="Courier New" pitchFamily="34" charset="-120"/>
              </a:rPr>
              <a:t>             .reset_index())</a:t>
            </a:r>
            <a:endParaRPr lang="en-US" sz="1000" dirty="0"/>
          </a:p>
          <a:p>
            <a:pPr indent="0" marL="0">
              <a:lnSpc>
                <a:spcPts val="1280"/>
              </a:lnSpc>
              <a:buNone/>
            </a:pPr>
            <a:endParaRPr lang="en-US" sz="1000" dirty="0"/>
          </a:p>
          <a:p>
            <a:pPr indent="0" marL="0">
              <a:lnSpc>
                <a:spcPts val="1280"/>
              </a:lnSpc>
              <a:buNone/>
            </a:pPr>
            <a:r>
              <a:rPr lang="en-US" sz="1000" b="1" dirty="0">
                <a:solidFill>
                  <a:srgbClr val="7FD4D2"/>
                </a:solidFill>
                <a:latin typeface="Courier New" pitchFamily="34" charset="0"/>
                <a:ea typeface="Courier New" pitchFamily="34" charset="-122"/>
                <a:cs typeface="Courier New" pitchFamily="34" charset="-120"/>
              </a:rPr>
              <a:t>def stg_fraud(f):</a:t>
            </a:r>
            <a:endParaRPr lang="en-US" sz="1000" dirty="0"/>
          </a:p>
          <a:p>
            <a:pPr indent="0" marL="0">
              <a:lnSpc>
                <a:spcPts val="1280"/>
              </a:lnSpc>
              <a:buNone/>
            </a:pPr>
            <a:r>
              <a:rPr lang="en-US" sz="1000" dirty="0">
                <a:solidFill>
                  <a:srgbClr val="F2B366"/>
                </a:solidFill>
                <a:latin typeface="Courier New" pitchFamily="34" charset="0"/>
                <a:ea typeface="Courier New" pitchFamily="34" charset="-122"/>
                <a:cs typeface="Courier New" pitchFamily="34" charset="-120"/>
              </a:rPr>
              <a:t>    """GRAIN: 1 row per transaction_id.</a:t>
            </a:r>
            <a:endParaRPr lang="en-US" sz="1000" dirty="0"/>
          </a:p>
          <a:p>
            <a:pPr indent="0" marL="0">
              <a:lnSpc>
                <a:spcPts val="1280"/>
              </a:lnSpc>
              <a:buNone/>
            </a:pPr>
            <a:r>
              <a:rPr lang="en-US" sz="1000" dirty="0">
                <a:solidFill>
                  <a:srgbClr val="F2B366"/>
                </a:solidFill>
                <a:latin typeface="Courier New" pitchFamily="34" charset="0"/>
                <a:ea typeface="Courier New" pitchFamily="34" charset="-122"/>
                <a:cs typeface="Courier New" pitchFamily="34" charset="-120"/>
              </a:rPr>
              <a:t>    Normalises the two model score scales."""</a:t>
            </a:r>
            <a:endParaRPr lang="en-US" sz="1000" dirty="0"/>
          </a:p>
          <a:p>
            <a:pPr indent="0" marL="0">
              <a:lnSpc>
                <a:spcPts val="1280"/>
              </a:lnSpc>
              <a:buNone/>
            </a:pPr>
            <a:r>
              <a:rPr lang="en-US" sz="1000" dirty="0">
                <a:solidFill>
                  <a:srgbClr val="D6E2F0"/>
                </a:solidFill>
                <a:latin typeface="Courier New" pitchFamily="34" charset="0"/>
                <a:ea typeface="Courier New" pitchFamily="34" charset="-122"/>
                <a:cs typeface="Courier New" pitchFamily="34" charset="-120"/>
              </a:rPr>
              <a:t>    f = f.copy()</a:t>
            </a:r>
            <a:endParaRPr lang="en-US" sz="1000" dirty="0"/>
          </a:p>
          <a:p>
            <a:pPr indent="0" marL="0">
              <a:lnSpc>
                <a:spcPts val="1280"/>
              </a:lnSpc>
              <a:buNone/>
            </a:pPr>
            <a:r>
              <a:rPr lang="en-US" sz="1000" dirty="0">
                <a:solidFill>
                  <a:srgbClr val="D6E2F0"/>
                </a:solidFill>
                <a:latin typeface="Courier New" pitchFamily="34" charset="0"/>
                <a:ea typeface="Courier New" pitchFamily="34" charset="-122"/>
                <a:cs typeface="Courier New" pitchFamily="34" charset="-120"/>
              </a:rPr>
              <a:t>    f["score_norm"] = np.where(</a:t>
            </a:r>
            <a:endParaRPr lang="en-US" sz="1000" dirty="0"/>
          </a:p>
          <a:p>
            <a:pPr indent="0" marL="0">
              <a:lnSpc>
                <a:spcPts val="1280"/>
              </a:lnSpc>
              <a:buNone/>
            </a:pPr>
            <a:r>
              <a:rPr lang="en-US" sz="1000" dirty="0">
                <a:solidFill>
                  <a:srgbClr val="D6E2F0"/>
                </a:solidFill>
                <a:latin typeface="Courier New" pitchFamily="34" charset="0"/>
                <a:ea typeface="Courier New" pitchFamily="34" charset="-122"/>
                <a:cs typeface="Courier New" pitchFamily="34" charset="-120"/>
              </a:rPr>
              <a:t>        f.model_version.str.startswith("v3"),</a:t>
            </a:r>
            <a:endParaRPr lang="en-US" sz="1000" dirty="0"/>
          </a:p>
          <a:p>
            <a:pPr indent="0" marL="0">
              <a:lnSpc>
                <a:spcPts val="1280"/>
              </a:lnSpc>
              <a:buNone/>
            </a:pPr>
            <a:r>
              <a:rPr lang="en-US" sz="1000" dirty="0">
                <a:solidFill>
                  <a:srgbClr val="D6E2F0"/>
                </a:solidFill>
                <a:latin typeface="Courier New" pitchFamily="34" charset="0"/>
                <a:ea typeface="Courier New" pitchFamily="34" charset="-122"/>
                <a:cs typeface="Courier New" pitchFamily="34" charset="-120"/>
              </a:rPr>
              <a:t>        f.risk_score / 100.0, f.risk_score)</a:t>
            </a:r>
            <a:endParaRPr lang="en-US" sz="1000" dirty="0"/>
          </a:p>
          <a:p>
            <a:pPr indent="0" marL="0">
              <a:lnSpc>
                <a:spcPts val="1280"/>
              </a:lnSpc>
              <a:buNone/>
            </a:pPr>
            <a:r>
              <a:rPr lang="en-US" sz="1000" dirty="0">
                <a:solidFill>
                  <a:srgbClr val="D6E2F0"/>
                </a:solidFill>
                <a:latin typeface="Courier New" pitchFamily="34" charset="0"/>
                <a:ea typeface="Courier New" pitchFamily="34" charset="-122"/>
                <a:cs typeface="Courier New" pitchFamily="34" charset="-120"/>
              </a:rPr>
              <a:t>    return f.groupby("transaction_id").agg(...)</a:t>
            </a:r>
            <a:endParaRPr lang="en-US" sz="1000" dirty="0"/>
          </a:p>
          <a:p>
            <a:pPr indent="0" marL="0">
              <a:lnSpc>
                <a:spcPts val="1280"/>
              </a:lnSpc>
              <a:buNone/>
            </a:pPr>
            <a:endParaRPr lang="en-US" sz="1000" dirty="0"/>
          </a:p>
          <a:p>
            <a:pPr indent="0" marL="0">
              <a:lnSpc>
                <a:spcPts val="1280"/>
              </a:lnSpc>
              <a:buNone/>
            </a:pPr>
            <a:r>
              <a:rPr lang="en-US" sz="1000" dirty="0">
                <a:solidFill>
                  <a:srgbClr val="7FD4D2"/>
                </a:solidFill>
                <a:latin typeface="Courier New" pitchFamily="34" charset="0"/>
                <a:ea typeface="Courier New" pitchFamily="34" charset="-122"/>
                <a:cs typeface="Courier New" pitchFamily="34" charset="-120"/>
              </a:rPr>
              <a:t>def stg_event(e):   # pivots lifecycle, keeps latency</a:t>
            </a:r>
            <a:endParaRPr lang="en-US" sz="1000" dirty="0"/>
          </a:p>
          <a:p>
            <a:pPr indent="0" marL="0">
              <a:lnSpc>
                <a:spcPts val="1280"/>
              </a:lnSpc>
              <a:buNone/>
            </a:pPr>
            <a:r>
              <a:rPr lang="en-US" sz="1000" dirty="0">
                <a:solidFill>
                  <a:srgbClr val="7FD4D2"/>
                </a:solidFill>
                <a:latin typeface="Courier New" pitchFamily="34" charset="0"/>
                <a:ea typeface="Courier New" pitchFamily="34" charset="-122"/>
                <a:cs typeface="Courier New" pitchFamily="34" charset="-120"/>
              </a:rPr>
              <a:t>def stg_chargeback(c):  # sums disputes to txn grain</a:t>
            </a:r>
            <a:endParaRPr lang="en-US" sz="1000" dirty="0"/>
          </a:p>
        </p:txBody>
      </p:sp>
      <p:sp>
        <p:nvSpPr>
          <p:cNvPr id="7" name="Shape 5"/>
          <p:cNvSpPr/>
          <p:nvPr/>
        </p:nvSpPr>
        <p:spPr>
          <a:xfrm>
            <a:off x="6583680" y="1627632"/>
            <a:ext cx="502920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8" name="Text 6"/>
          <p:cNvSpPr txBox="1"/>
          <p:nvPr/>
        </p:nvSpPr>
        <p:spPr>
          <a:xfrm>
            <a:off x="6784848" y="1737360"/>
            <a:ext cx="4617720" cy="237744"/>
          </a:xfrm>
          <a:prstGeom prst="rect">
            <a:avLst/>
          </a:prstGeom>
          <a:noFill/>
          <a:ln/>
        </p:spPr>
        <p:txBody>
          <a:bodyPr wrap="square" lIns="0" tIns="0" rIns="0" bIns="0" rtlCol="0" anchor="ctr"/>
          <a:lstStyle/>
          <a:p>
            <a:pPr indent="0" marL="0">
              <a:buNone/>
            </a:pPr>
            <a:r>
              <a:rPr lang="en-US" sz="1150" b="1" dirty="0">
                <a:solidFill>
                  <a:srgbClr val="0E7C7B"/>
                </a:solidFill>
                <a:latin typeface="Calibri" pitchFamily="34" charset="0"/>
                <a:ea typeface="Calibri" pitchFamily="34" charset="-122"/>
                <a:cs typeface="Calibri" pitchFamily="34" charset="-120"/>
              </a:rPr>
              <a:t>Why sum and not first</a:t>
            </a:r>
            <a:endParaRPr lang="en-US" sz="1150" dirty="0"/>
          </a:p>
        </p:txBody>
      </p:sp>
      <p:sp>
        <p:nvSpPr>
          <p:cNvPr id="9" name="Text 7"/>
          <p:cNvSpPr txBox="1"/>
          <p:nvPr/>
        </p:nvSpPr>
        <p:spPr>
          <a:xfrm>
            <a:off x="6784848" y="1975104"/>
            <a:ext cx="4617720" cy="530352"/>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A partial settlement plus a CORRECTION row are two halves of one fee. Taking the first row loses the correction; taking the max loses the partial. Only the sum is the fee.</a:t>
            </a:r>
            <a:endParaRPr lang="en-US" sz="1000" dirty="0"/>
          </a:p>
        </p:txBody>
      </p:sp>
      <p:sp>
        <p:nvSpPr>
          <p:cNvPr id="10" name="Shape 8"/>
          <p:cNvSpPr/>
          <p:nvPr/>
        </p:nvSpPr>
        <p:spPr>
          <a:xfrm>
            <a:off x="6583680" y="2651760"/>
            <a:ext cx="502920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1" name="Text 9"/>
          <p:cNvSpPr txBox="1"/>
          <p:nvPr/>
        </p:nvSpPr>
        <p:spPr>
          <a:xfrm>
            <a:off x="6784848" y="2761488"/>
            <a:ext cx="4617720" cy="237744"/>
          </a:xfrm>
          <a:prstGeom prst="rect">
            <a:avLst/>
          </a:prstGeom>
          <a:noFill/>
          <a:ln/>
        </p:spPr>
        <p:txBody>
          <a:bodyPr wrap="square" lIns="0" tIns="0" rIns="0" bIns="0" rtlCol="0" anchor="ctr"/>
          <a:lstStyle/>
          <a:p>
            <a:pPr indent="0" marL="0">
              <a:buNone/>
            </a:pPr>
            <a:r>
              <a:rPr lang="en-US" sz="1150" b="1" dirty="0">
                <a:solidFill>
                  <a:srgbClr val="0E7C7B"/>
                </a:solidFill>
                <a:latin typeface="Calibri" pitchFamily="34" charset="0"/>
                <a:ea typeface="Calibri" pitchFamily="34" charset="-122"/>
                <a:cs typeface="Calibri" pitchFamily="34" charset="-120"/>
              </a:rPr>
              <a:t>Why normalise inside staging</a:t>
            </a:r>
            <a:endParaRPr lang="en-US" sz="1150" dirty="0"/>
          </a:p>
        </p:txBody>
      </p:sp>
      <p:sp>
        <p:nvSpPr>
          <p:cNvPr id="12" name="Text 10"/>
          <p:cNvSpPr txBox="1"/>
          <p:nvPr/>
        </p:nvSpPr>
        <p:spPr>
          <a:xfrm>
            <a:off x="6784848" y="2999232"/>
            <a:ext cx="4617720" cy="530352"/>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If the score scale is fixed downstream, someone will eventually query the raw column and get a different answer. Fix it once, at the boundary, and never expose the raw value again.</a:t>
            </a:r>
            <a:endParaRPr lang="en-US" sz="1000" dirty="0"/>
          </a:p>
        </p:txBody>
      </p:sp>
      <p:sp>
        <p:nvSpPr>
          <p:cNvPr id="13" name="Shape 11"/>
          <p:cNvSpPr/>
          <p:nvPr/>
        </p:nvSpPr>
        <p:spPr>
          <a:xfrm>
            <a:off x="6583680" y="3675888"/>
            <a:ext cx="502920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Text 12"/>
          <p:cNvSpPr txBox="1"/>
          <p:nvPr/>
        </p:nvSpPr>
        <p:spPr>
          <a:xfrm>
            <a:off x="6784848" y="3785616"/>
            <a:ext cx="4617720" cy="237744"/>
          </a:xfrm>
          <a:prstGeom prst="rect">
            <a:avLst/>
          </a:prstGeom>
          <a:noFill/>
          <a:ln/>
        </p:spPr>
        <p:txBody>
          <a:bodyPr wrap="square" lIns="0" tIns="0" rIns="0" bIns="0" rtlCol="0" anchor="ctr"/>
          <a:lstStyle/>
          <a:p>
            <a:pPr indent="0" marL="0">
              <a:buNone/>
            </a:pPr>
            <a:r>
              <a:rPr lang="en-US" sz="1150" b="1" dirty="0">
                <a:solidFill>
                  <a:srgbClr val="0E7C7B"/>
                </a:solidFill>
                <a:latin typeface="Calibri" pitchFamily="34" charset="0"/>
                <a:ea typeface="Calibri" pitchFamily="34" charset="-122"/>
                <a:cs typeface="Calibri" pitchFamily="34" charset="-120"/>
              </a:rPr>
              <a:t>Why settlement_rows is kept</a:t>
            </a:r>
            <a:endParaRPr lang="en-US" sz="1150" dirty="0"/>
          </a:p>
        </p:txBody>
      </p:sp>
      <p:sp>
        <p:nvSpPr>
          <p:cNvPr id="15" name="Text 13"/>
          <p:cNvSpPr txBox="1"/>
          <p:nvPr/>
        </p:nvSpPr>
        <p:spPr>
          <a:xfrm>
            <a:off x="6784848" y="4023360"/>
            <a:ext cx="4617720" cy="530352"/>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The count of settlement rows becomes a data-quality column on the fact table, so the 1,334 affected transactions stay visible after the defect is repaired.</a:t>
            </a:r>
            <a:endParaRPr lang="en-US" sz="1000" dirty="0"/>
          </a:p>
        </p:txBody>
      </p:sp>
      <p:sp>
        <p:nvSpPr>
          <p:cNvPr id="16" name="Shape 14"/>
          <p:cNvSpPr/>
          <p:nvPr/>
        </p:nvSpPr>
        <p:spPr>
          <a:xfrm>
            <a:off x="6583680" y="4700016"/>
            <a:ext cx="502920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7" name="Text 15"/>
          <p:cNvSpPr txBox="1"/>
          <p:nvPr/>
        </p:nvSpPr>
        <p:spPr>
          <a:xfrm>
            <a:off x="6784848" y="4809744"/>
            <a:ext cx="4617720" cy="237744"/>
          </a:xfrm>
          <a:prstGeom prst="rect">
            <a:avLst/>
          </a:prstGeom>
          <a:noFill/>
          <a:ln/>
        </p:spPr>
        <p:txBody>
          <a:bodyPr wrap="square" lIns="0" tIns="0" rIns="0" bIns="0" rtlCol="0" anchor="ctr"/>
          <a:lstStyle/>
          <a:p>
            <a:pPr indent="0" marL="0">
              <a:buNone/>
            </a:pPr>
            <a:r>
              <a:rPr lang="en-US" sz="1150" b="1" dirty="0">
                <a:solidFill>
                  <a:srgbClr val="0E7C7B"/>
                </a:solidFill>
                <a:latin typeface="Calibri" pitchFamily="34" charset="0"/>
                <a:ea typeface="Calibri" pitchFamily="34" charset="-122"/>
                <a:cs typeface="Calibri" pitchFamily="34" charset="-120"/>
              </a:rPr>
              <a:t>Why a docstring, not a comment</a:t>
            </a:r>
            <a:endParaRPr lang="en-US" sz="1150" dirty="0"/>
          </a:p>
        </p:txBody>
      </p:sp>
      <p:sp>
        <p:nvSpPr>
          <p:cNvPr id="18" name="Text 16"/>
          <p:cNvSpPr txBox="1"/>
          <p:nvPr/>
        </p:nvSpPr>
        <p:spPr>
          <a:xfrm>
            <a:off x="6784848" y="5047488"/>
            <a:ext cx="4617720" cy="530352"/>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It is the first thing a reviewer reads and the only place the grain is stated in words. A one-line assertion after each function proves the claim holds.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4 · CODE</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Building the fact: the formula, and the one row type that nearly broke it</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Contribution is three additive components. Every hard decision from Task 1 shows up here as a line of code.</a:t>
            </a:r>
            <a:endParaRPr lang="en-US" sz="1300" dirty="0"/>
          </a:p>
        </p:txBody>
      </p:sp>
      <p:sp>
        <p:nvSpPr>
          <p:cNvPr id="5" name="Shape 3"/>
          <p:cNvSpPr/>
          <p:nvPr/>
        </p:nvSpPr>
        <p:spPr>
          <a:xfrm>
            <a:off x="548640" y="1627632"/>
            <a:ext cx="6217920" cy="2148840"/>
          </a:xfrm>
          <a:prstGeom prst="roundRect">
            <a:avLst>
              <a:gd name="adj" fmla="val 2128"/>
            </a:avLst>
          </a:prstGeom>
          <a:solidFill>
            <a:srgbClr val="16243A"/>
          </a:solidFill>
          <a:ln w="12700">
            <a:solidFill>
              <a:srgbClr val="2E5580"/>
            </a:solidFill>
            <a:prstDash val="solid"/>
          </a:ln>
        </p:spPr>
      </p:sp>
      <p:sp>
        <p:nvSpPr>
          <p:cNvPr id="6" name="Text 4"/>
          <p:cNvSpPr txBox="1"/>
          <p:nvPr/>
        </p:nvSpPr>
        <p:spPr>
          <a:xfrm>
            <a:off x="731520" y="1773936"/>
            <a:ext cx="5852160" cy="1856232"/>
          </a:xfrm>
          <a:prstGeom prst="rect">
            <a:avLst/>
          </a:prstGeom>
          <a:noFill/>
          <a:ln/>
        </p:spPr>
        <p:txBody>
          <a:bodyPr wrap="square" lIns="0" tIns="0" rIns="0" bIns="0" rtlCol="0" anchor="ctr"/>
          <a:lstStyle/>
          <a:p>
            <a:pPr indent="0" marL="0">
              <a:lnSpc>
                <a:spcPts val="1280"/>
              </a:lnSpc>
              <a:buNone/>
            </a:pPr>
            <a:r>
              <a:rPr lang="en-US" sz="1000" i="1" dirty="0">
                <a:solidFill>
                  <a:srgbClr val="8FA6C4"/>
                </a:solidFill>
                <a:latin typeface="Courier New" pitchFamily="34" charset="0"/>
                <a:ea typeface="Courier New" pitchFamily="34" charset="-122"/>
                <a:cs typeface="Courier New" pitchFamily="34" charset="-120"/>
              </a:rPr>
              <a:t># FX: one rate per currency per day, one chosen rate type</a:t>
            </a:r>
            <a:endParaRPr lang="en-US" sz="1000" dirty="0"/>
          </a:p>
          <a:p>
            <a:pPr indent="0" marL="0">
              <a:lnSpc>
                <a:spcPts val="1280"/>
              </a:lnSpc>
              <a:buNone/>
            </a:pPr>
            <a:r>
              <a:rPr lang="en-US" sz="1000" dirty="0">
                <a:solidFill>
                  <a:srgbClr val="D6E2F0"/>
                </a:solidFill>
                <a:latin typeface="Courier New" pitchFamily="34" charset="0"/>
                <a:ea typeface="Courier New" pitchFamily="34" charset="-122"/>
                <a:cs typeface="Courier New" pitchFamily="34" charset="-120"/>
              </a:rPr>
              <a:t>fx_sel = fx[fx.rate_type == RATE_TYPE] \</a:t>
            </a:r>
            <a:endParaRPr lang="en-US" sz="1000" dirty="0"/>
          </a:p>
          <a:p>
            <a:pPr indent="0" marL="0">
              <a:lnSpc>
                <a:spcPts val="1280"/>
              </a:lnSpc>
              <a:buNone/>
            </a:pPr>
            <a:r>
              <a:rPr lang="en-US" sz="1000" dirty="0">
                <a:solidFill>
                  <a:srgbClr val="D6E2F0"/>
                </a:solidFill>
                <a:latin typeface="Courier New" pitchFamily="34" charset="0"/>
                <a:ea typeface="Courier New" pitchFamily="34" charset="-122"/>
                <a:cs typeface="Courier New" pitchFamily="34" charset="-120"/>
              </a:rPr>
              <a:t>           .set_index(["currency", "rate_date"]).rate_to_usd</a:t>
            </a:r>
            <a:endParaRPr lang="en-US" sz="1000" dirty="0"/>
          </a:p>
          <a:p>
            <a:pPr indent="0" marL="0">
              <a:lnSpc>
                <a:spcPts val="1280"/>
              </a:lnSpc>
              <a:buNone/>
            </a:pPr>
            <a:r>
              <a:rPr lang="en-US" sz="1000" dirty="0">
                <a:solidFill>
                  <a:srgbClr val="D6E2F0"/>
                </a:solidFill>
                <a:latin typeface="Courier New" pitchFamily="34" charset="0"/>
                <a:ea typeface="Courier New" pitchFamily="34" charset="-122"/>
                <a:cs typeface="Courier New" pitchFamily="34" charset="-120"/>
              </a:rPr>
              <a:t>t["gross_usd"] = t.amount * t.fx_rate_to_usd</a:t>
            </a:r>
            <a:endParaRPr lang="en-US" sz="1000" dirty="0"/>
          </a:p>
          <a:p>
            <a:pPr indent="0" marL="0">
              <a:lnSpc>
                <a:spcPts val="1280"/>
              </a:lnSpc>
              <a:buNone/>
            </a:pPr>
            <a:endParaRPr lang="en-US" sz="1000" dirty="0"/>
          </a:p>
          <a:p>
            <a:pPr indent="0" marL="0">
              <a:lnSpc>
                <a:spcPts val="1280"/>
              </a:lnSpc>
              <a:buNone/>
            </a:pPr>
            <a:r>
              <a:rPr lang="en-US" sz="1000" b="1" dirty="0">
                <a:solidFill>
                  <a:srgbClr val="7FD4D2"/>
                </a:solidFill>
                <a:latin typeface="Courier New" pitchFamily="34" charset="0"/>
                <a:ea typeface="Courier New" pitchFamily="34" charset="-122"/>
                <a:cs typeface="Courier New" pitchFamily="34" charset="-120"/>
              </a:rPr>
              <a:t>t["contribution_usd"] = ( t.merchant_revenue_usd</a:t>
            </a:r>
            <a:endParaRPr lang="en-US" sz="1000" dirty="0"/>
          </a:p>
          <a:p>
            <a:pPr indent="0" marL="0">
              <a:lnSpc>
                <a:spcPts val="1280"/>
              </a:lnSpc>
              <a:buNone/>
            </a:pPr>
            <a:r>
              <a:rPr lang="en-US" sz="1000" b="1" dirty="0">
                <a:solidFill>
                  <a:srgbClr val="7FD4D2"/>
                </a:solidFill>
                <a:latin typeface="Courier New" pitchFamily="34" charset="0"/>
                <a:ea typeface="Courier New" pitchFamily="34" charset="-122"/>
                <a:cs typeface="Courier New" pitchFamily="34" charset="-120"/>
              </a:rPr>
              <a:t>                        - t.processing_cost_usd</a:t>
            </a:r>
            <a:endParaRPr lang="en-US" sz="1000" dirty="0"/>
          </a:p>
          <a:p>
            <a:pPr indent="0" marL="0">
              <a:lnSpc>
                <a:spcPts val="1280"/>
              </a:lnSpc>
              <a:buNone/>
            </a:pPr>
            <a:r>
              <a:rPr lang="en-US" sz="1000" b="1" dirty="0">
                <a:solidFill>
                  <a:srgbClr val="7FD4D2"/>
                </a:solidFill>
                <a:latin typeface="Courier New" pitchFamily="34" charset="0"/>
                <a:ea typeface="Courier New" pitchFamily="34" charset="-122"/>
                <a:cs typeface="Courier New" pitchFamily="34" charset="-120"/>
              </a:rPr>
              <a:t>                        - t.chargeback_cost_usd )</a:t>
            </a:r>
            <a:endParaRPr lang="en-US" sz="1000" dirty="0"/>
          </a:p>
          <a:p>
            <a:pPr indent="0" marL="0">
              <a:lnSpc>
                <a:spcPts val="1280"/>
              </a:lnSpc>
              <a:buNone/>
            </a:pPr>
            <a:endParaRPr lang="en-US" sz="1000" dirty="0"/>
          </a:p>
          <a:p>
            <a:pPr indent="0" marL="0">
              <a:lnSpc>
                <a:spcPts val="1280"/>
              </a:lnSpc>
              <a:buNone/>
            </a:pPr>
            <a:r>
              <a:rPr lang="en-US" sz="1000" i="1" dirty="0">
                <a:solidFill>
                  <a:srgbClr val="8FA6C4"/>
                </a:solidFill>
                <a:latin typeface="Courier New" pitchFamily="34" charset="0"/>
                <a:ea typeface="Courier New" pitchFamily="34" charset="-122"/>
                <a:cs typeface="Courier New" pitchFamily="34" charset="-120"/>
              </a:rPr>
              <a:t># quarantined rows stay in the table, out of every measure</a:t>
            </a:r>
            <a:endParaRPr lang="en-US" sz="1000" dirty="0"/>
          </a:p>
          <a:p>
            <a:pPr indent="0" marL="0">
              <a:lnSpc>
                <a:spcPts val="1280"/>
              </a:lnSpc>
              <a:buNone/>
            </a:pPr>
            <a:r>
              <a:rPr lang="en-US" sz="1000" dirty="0">
                <a:solidFill>
                  <a:srgbClr val="D6E2F0"/>
                </a:solidFill>
                <a:latin typeface="Courier New" pitchFamily="34" charset="0"/>
                <a:ea typeface="Courier New" pitchFamily="34" charset="-122"/>
                <a:cs typeface="Courier New" pitchFamily="34" charset="-120"/>
              </a:rPr>
              <a:t>t["dq_quarantined"] = t.dq_impossible_negative</a:t>
            </a:r>
            <a:endParaRPr lang="en-US" sz="1000" dirty="0"/>
          </a:p>
        </p:txBody>
      </p:sp>
      <p:sp>
        <p:nvSpPr>
          <p:cNvPr id="7" name="Shape 5"/>
          <p:cNvSpPr/>
          <p:nvPr/>
        </p:nvSpPr>
        <p:spPr>
          <a:xfrm>
            <a:off x="548640" y="3886200"/>
            <a:ext cx="6217920" cy="2103120"/>
          </a:xfrm>
          <a:prstGeom prst="roundRect">
            <a:avLst>
              <a:gd name="adj" fmla="val 2174"/>
            </a:avLst>
          </a:prstGeom>
          <a:solidFill>
            <a:srgbClr val="16243A"/>
          </a:solidFill>
          <a:ln w="12700">
            <a:solidFill>
              <a:srgbClr val="2E5580"/>
            </a:solidFill>
            <a:prstDash val="solid"/>
          </a:ln>
        </p:spPr>
      </p:sp>
      <p:sp>
        <p:nvSpPr>
          <p:cNvPr id="8" name="Text 6"/>
          <p:cNvSpPr txBox="1"/>
          <p:nvPr/>
        </p:nvSpPr>
        <p:spPr>
          <a:xfrm>
            <a:off x="731520" y="4032504"/>
            <a:ext cx="5852160" cy="1810512"/>
          </a:xfrm>
          <a:prstGeom prst="rect">
            <a:avLst/>
          </a:prstGeom>
          <a:noFill/>
          <a:ln/>
        </p:spPr>
        <p:txBody>
          <a:bodyPr wrap="square" lIns="0" tIns="0" rIns="0" bIns="0" rtlCol="0" anchor="ctr"/>
          <a:lstStyle/>
          <a:p>
            <a:pPr indent="0" marL="0">
              <a:lnSpc>
                <a:spcPts val="1280"/>
              </a:lnSpc>
              <a:buNone/>
            </a:pPr>
            <a:r>
              <a:rPr lang="en-US" sz="1000" i="1" dirty="0">
                <a:solidFill>
                  <a:srgbClr val="8FA6C4"/>
                </a:solidFill>
                <a:latin typeface="Courier New" pitchFamily="34" charset="0"/>
                <a:ea typeface="Courier New" pitchFamily="34" charset="-122"/>
                <a:cs typeface="Courier New" pitchFamily="34" charset="-120"/>
              </a:rPr>
              <a:t># 4.77% of captured rows have no settlement row, and some</a:t>
            </a:r>
            <a:endParaRPr lang="en-US" sz="1000" dirty="0"/>
          </a:p>
          <a:p>
            <a:pPr indent="0" marL="0">
              <a:lnSpc>
                <a:spcPts val="1280"/>
              </a:lnSpc>
              <a:buNone/>
            </a:pPr>
            <a:r>
              <a:rPr lang="en-US" sz="1000" i="1" dirty="0">
                <a:solidFill>
                  <a:srgbClr val="8FA6C4"/>
                </a:solidFill>
                <a:latin typeface="Courier New" pitchFamily="34" charset="0"/>
                <a:ea typeface="Courier New" pitchFamily="34" charset="-122"/>
                <a:cs typeface="Courier New" pitchFamily="34" charset="-120"/>
              </a:rPr>
              <a:t># of those also have no merchant -&gt; no plan -&gt; no rate.</a:t>
            </a:r>
            <a:endParaRPr lang="en-US" sz="1000" dirty="0"/>
          </a:p>
          <a:p>
            <a:pPr indent="0" marL="0">
              <a:lnSpc>
                <a:spcPts val="1280"/>
              </a:lnSpc>
              <a:buNone/>
            </a:pPr>
            <a:r>
              <a:rPr lang="en-US" sz="1000" dirty="0">
                <a:solidFill>
                  <a:srgbClr val="D6E2F0"/>
                </a:solidFill>
                <a:latin typeface="Courier New" pitchFamily="34" charset="0"/>
                <a:ea typeface="Courier New" pitchFamily="34" charset="-122"/>
                <a:cs typeface="Courier New" pitchFamily="34" charset="-120"/>
              </a:rPr>
              <a:t>settled = t.merchant_fee_usd.notna() &amp; (t.gross_usd != 0)</a:t>
            </a:r>
            <a:endParaRPr lang="en-US" sz="1000" dirty="0"/>
          </a:p>
          <a:p>
            <a:pPr indent="0" marL="0">
              <a:lnSpc>
                <a:spcPts val="1280"/>
              </a:lnSpc>
              <a:buNone/>
            </a:pPr>
            <a:r>
              <a:rPr lang="en-US" sz="1000" dirty="0">
                <a:solidFill>
                  <a:srgbClr val="D6E2F0"/>
                </a:solidFill>
                <a:latin typeface="Courier New" pitchFamily="34" charset="0"/>
                <a:ea typeface="Courier New" pitchFamily="34" charset="-122"/>
                <a:cs typeface="Courier New" pitchFamily="34" charset="-120"/>
              </a:rPr>
              <a:t>portfolio_rate = (t.loc[settled, "merchant_fee_usd"].sum()</a:t>
            </a:r>
            <a:endParaRPr lang="en-US" sz="1000" dirty="0"/>
          </a:p>
          <a:p>
            <a:pPr indent="0" marL="0">
              <a:lnSpc>
                <a:spcPts val="1280"/>
              </a:lnSpc>
              <a:buNone/>
            </a:pPr>
            <a:r>
              <a:rPr lang="en-US" sz="1000" dirty="0">
                <a:solidFill>
                  <a:srgbClr val="D6E2F0"/>
                </a:solidFill>
                <a:latin typeface="Courier New" pitchFamily="34" charset="0"/>
                <a:ea typeface="Courier New" pitchFamily="34" charset="-122"/>
                <a:cs typeface="Courier New" pitchFamily="34" charset="-120"/>
              </a:rPr>
              <a:t>                  / t.loc[settled, "gross_usd"].sum())</a:t>
            </a:r>
            <a:endParaRPr lang="en-US" sz="1000" dirty="0"/>
          </a:p>
          <a:p>
            <a:pPr indent="0" marL="0">
              <a:lnSpc>
                <a:spcPts val="1280"/>
              </a:lnSpc>
              <a:buNone/>
            </a:pPr>
            <a:r>
              <a:rPr lang="en-US" sz="1000" dirty="0">
                <a:solidFill>
                  <a:srgbClr val="F2B366"/>
                </a:solidFill>
                <a:latin typeface="Courier New" pitchFamily="34" charset="0"/>
                <a:ea typeface="Courier New" pitchFamily="34" charset="-122"/>
                <a:cs typeface="Courier New" pitchFamily="34" charset="-120"/>
              </a:rPr>
              <a:t>imputed_rev = np.where(np.isnan(imputed_rev),</a:t>
            </a:r>
            <a:endParaRPr lang="en-US" sz="1000" dirty="0"/>
          </a:p>
          <a:p>
            <a:pPr indent="0" marL="0">
              <a:lnSpc>
                <a:spcPts val="1280"/>
              </a:lnSpc>
              <a:buNone/>
            </a:pPr>
            <a:r>
              <a:rPr lang="en-US" sz="1000" dirty="0">
                <a:solidFill>
                  <a:srgbClr val="F2B366"/>
                </a:solidFill>
                <a:latin typeface="Courier New" pitchFamily="34" charset="0"/>
                <a:ea typeface="Courier New" pitchFamily="34" charset="-122"/>
                <a:cs typeface="Courier New" pitchFamily="34" charset="-120"/>
              </a:rPr>
              <a:t>    t.gross_usd.to_numpy() * portfolio_rate, imputed_rev)</a:t>
            </a:r>
            <a:endParaRPr lang="en-US" sz="1000" dirty="0"/>
          </a:p>
          <a:p>
            <a:pPr indent="0" marL="0">
              <a:lnSpc>
                <a:spcPts val="1280"/>
              </a:lnSpc>
              <a:buNone/>
            </a:pPr>
            <a:r>
              <a:rPr lang="en-US" sz="1000" i="1" dirty="0">
                <a:solidFill>
                  <a:srgbClr val="8FA6C4"/>
                </a:solidFill>
                <a:latin typeface="Courier New" pitchFamily="34" charset="0"/>
                <a:ea typeface="Courier New" pitchFamily="34" charset="-122"/>
                <a:cs typeface="Courier New" pitchFamily="34" charset="-120"/>
              </a:rPr>
              <a:t>t["revenue_fallback_rate"] = ...   # flagged, always</a:t>
            </a:r>
            <a:endParaRPr lang="en-US" sz="1000" dirty="0"/>
          </a:p>
        </p:txBody>
      </p:sp>
      <p:sp>
        <p:nvSpPr>
          <p:cNvPr id="9" name="Text 7"/>
          <p:cNvSpPr txBox="1"/>
          <p:nvPr/>
        </p:nvSpPr>
        <p:spPr>
          <a:xfrm>
            <a:off x="7040880" y="1691640"/>
            <a:ext cx="457200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The three decisions encoded above</a:t>
            </a:r>
            <a:endParaRPr lang="en-US" sz="1300" dirty="0"/>
          </a:p>
        </p:txBody>
      </p:sp>
      <p:sp>
        <p:nvSpPr>
          <p:cNvPr id="10" name="Shape 8"/>
          <p:cNvSpPr/>
          <p:nvPr/>
        </p:nvSpPr>
        <p:spPr>
          <a:xfrm>
            <a:off x="7040880" y="2057400"/>
            <a:ext cx="457200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1" name="Text 9"/>
          <p:cNvSpPr txBox="1"/>
          <p:nvPr/>
        </p:nvSpPr>
        <p:spPr>
          <a:xfrm>
            <a:off x="7242048" y="2157984"/>
            <a:ext cx="4160520" cy="237744"/>
          </a:xfrm>
          <a:prstGeom prst="rect">
            <a:avLst/>
          </a:prstGeom>
          <a:noFill/>
          <a:ln/>
        </p:spPr>
        <p:txBody>
          <a:bodyPr wrap="square" lIns="0" tIns="0" rIns="0" bIns="0" rtlCol="0" anchor="ctr"/>
          <a:lstStyle/>
          <a:p>
            <a:pPr indent="0" marL="0">
              <a:buNone/>
            </a:pPr>
            <a:r>
              <a:rPr lang="en-US" sz="1150" b="1" dirty="0">
                <a:solidFill>
                  <a:srgbClr val="0E7C7B"/>
                </a:solidFill>
                <a:latin typeface="Calibri" pitchFamily="34" charset="0"/>
                <a:ea typeface="Calibri" pitchFamily="34" charset="-122"/>
                <a:cs typeface="Calibri" pitchFamily="34" charset="-120"/>
              </a:rPr>
              <a:t>A dated FX join, one rate type</a:t>
            </a:r>
            <a:endParaRPr lang="en-US" sz="1150" dirty="0"/>
          </a:p>
        </p:txBody>
      </p:sp>
      <p:sp>
        <p:nvSpPr>
          <p:cNvPr id="12" name="Text 10"/>
          <p:cNvSpPr txBox="1"/>
          <p:nvPr/>
        </p:nvSpPr>
        <p:spPr>
          <a:xfrm>
            <a:off x="7242048" y="2386584"/>
            <a:ext cx="4160520" cy="548640"/>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SETTLEMENT, on the transaction date. A single latest-rate join would erase the Q4 spread widening from 0.35% to 0.60%.</a:t>
            </a:r>
            <a:endParaRPr lang="en-US" sz="1000" dirty="0"/>
          </a:p>
        </p:txBody>
      </p:sp>
      <p:sp>
        <p:nvSpPr>
          <p:cNvPr id="13" name="Shape 11"/>
          <p:cNvSpPr/>
          <p:nvPr/>
        </p:nvSpPr>
        <p:spPr>
          <a:xfrm>
            <a:off x="7040880" y="3081528"/>
            <a:ext cx="457200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Text 12"/>
          <p:cNvSpPr txBox="1"/>
          <p:nvPr/>
        </p:nvSpPr>
        <p:spPr>
          <a:xfrm>
            <a:off x="7242048" y="3182112"/>
            <a:ext cx="4160520" cy="237744"/>
          </a:xfrm>
          <a:prstGeom prst="rect">
            <a:avLst/>
          </a:prstGeom>
          <a:noFill/>
          <a:ln/>
        </p:spPr>
        <p:txBody>
          <a:bodyPr wrap="square" lIns="0" tIns="0" rIns="0" bIns="0" rtlCol="0" anchor="ctr"/>
          <a:lstStyle/>
          <a:p>
            <a:pPr indent="0" marL="0">
              <a:buNone/>
            </a:pPr>
            <a:r>
              <a:rPr lang="en-US" sz="1150" b="1" dirty="0">
                <a:solidFill>
                  <a:srgbClr val="0E7C7B"/>
                </a:solidFill>
                <a:latin typeface="Calibri" pitchFamily="34" charset="0"/>
                <a:ea typeface="Calibri" pitchFamily="34" charset="-122"/>
                <a:cs typeface="Calibri" pitchFamily="34" charset="-120"/>
              </a:rPr>
              <a:t>A dated route-cost join</a:t>
            </a:r>
            <a:endParaRPr lang="en-US" sz="1150" dirty="0"/>
          </a:p>
        </p:txBody>
      </p:sp>
      <p:sp>
        <p:nvSpPr>
          <p:cNvPr id="15" name="Text 13"/>
          <p:cNvSpPr txBox="1"/>
          <p:nvPr/>
        </p:nvSpPr>
        <p:spPr>
          <a:xfrm>
            <a:off x="7242048" y="3410712"/>
            <a:ext cx="4160520" cy="548640"/>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The PROV_ORBIT fixed fee steps from $0.35 to $0.52 on 1 July. Join on route_id alone and that step averages away into nothing.</a:t>
            </a:r>
            <a:endParaRPr lang="en-US" sz="1000" dirty="0"/>
          </a:p>
        </p:txBody>
      </p:sp>
      <p:sp>
        <p:nvSpPr>
          <p:cNvPr id="16" name="Shape 14"/>
          <p:cNvSpPr/>
          <p:nvPr/>
        </p:nvSpPr>
        <p:spPr>
          <a:xfrm>
            <a:off x="7040880" y="4105656"/>
            <a:ext cx="457200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7" name="Text 15"/>
          <p:cNvSpPr txBox="1"/>
          <p:nvPr/>
        </p:nvSpPr>
        <p:spPr>
          <a:xfrm>
            <a:off x="7242048" y="4206240"/>
            <a:ext cx="4160520" cy="237744"/>
          </a:xfrm>
          <a:prstGeom prst="rect">
            <a:avLst/>
          </a:prstGeom>
          <a:noFill/>
          <a:ln/>
        </p:spPr>
        <p:txBody>
          <a:bodyPr wrap="square" lIns="0" tIns="0" rIns="0" bIns="0" rtlCol="0" anchor="ctr"/>
          <a:lstStyle/>
          <a:p>
            <a:pPr indent="0" marL="0">
              <a:buNone/>
            </a:pPr>
            <a:r>
              <a:rPr lang="en-US" sz="1150" b="1" dirty="0">
                <a:solidFill>
                  <a:srgbClr val="0E7C7B"/>
                </a:solidFill>
                <a:latin typeface="Calibri" pitchFamily="34" charset="0"/>
                <a:ea typeface="Calibri" pitchFamily="34" charset="-122"/>
                <a:cs typeface="Calibri" pitchFamily="34" charset="-120"/>
              </a:rPr>
              <a:t>Quarantine means flagged, not deleted</a:t>
            </a:r>
            <a:endParaRPr lang="en-US" sz="1150" dirty="0"/>
          </a:p>
        </p:txBody>
      </p:sp>
      <p:sp>
        <p:nvSpPr>
          <p:cNvPr id="18" name="Text 16"/>
          <p:cNvSpPr txBox="1"/>
          <p:nvPr/>
        </p:nvSpPr>
        <p:spPr>
          <a:xfrm>
            <a:off x="7242048" y="4434840"/>
            <a:ext cx="4160520" cy="548640"/>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The 390 impossible rows stay in the fact table with dq_quarantined = TRUE. Every measure filters them out, and the count is still reportable.</a:t>
            </a:r>
            <a:endParaRPr lang="en-US" sz="1000" dirty="0"/>
          </a:p>
        </p:txBody>
      </p:sp>
      <p:sp>
        <p:nvSpPr>
          <p:cNvPr id="19" name="Shape 17"/>
          <p:cNvSpPr/>
          <p:nvPr/>
        </p:nvSpPr>
        <p:spPr>
          <a:xfrm>
            <a:off x="7040880" y="5129784"/>
            <a:ext cx="457200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0" name="Text 18"/>
          <p:cNvSpPr txBox="1"/>
          <p:nvPr/>
        </p:nvSpPr>
        <p:spPr>
          <a:xfrm>
            <a:off x="7242048" y="5230368"/>
            <a:ext cx="4160520" cy="237744"/>
          </a:xfrm>
          <a:prstGeom prst="rect">
            <a:avLst/>
          </a:prstGeom>
          <a:noFill/>
          <a:ln/>
        </p:spPr>
        <p:txBody>
          <a:bodyPr wrap="square" lIns="0" tIns="0" rIns="0" bIns="0" rtlCol="0" anchor="ctr"/>
          <a:lstStyle/>
          <a:p>
            <a:pPr indent="0" marL="0">
              <a:buNone/>
            </a:pPr>
            <a:r>
              <a:rPr lang="en-US" sz="1150" b="1" dirty="0">
                <a:solidFill>
                  <a:srgbClr val="A33D3D"/>
                </a:solidFill>
                <a:latin typeface="Calibri" pitchFamily="34" charset="0"/>
                <a:ea typeface="Calibri" pitchFamily="34" charset="-122"/>
                <a:cs typeface="Calibri" pitchFamily="34" charset="-120"/>
              </a:rPr>
              <a:t>The NaN that broke the decomposition</a:t>
            </a:r>
            <a:endParaRPr lang="en-US" sz="1150" dirty="0"/>
          </a:p>
        </p:txBody>
      </p:sp>
      <p:sp>
        <p:nvSpPr>
          <p:cNvPr id="21" name="Text 19"/>
          <p:cNvSpPr txBox="1"/>
          <p:nvPr/>
        </p:nvSpPr>
        <p:spPr>
          <a:xfrm>
            <a:off x="7242048" y="5458968"/>
            <a:ext cx="4160520" cy="548640"/>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Rows with no merchant had no plan, so no revenue could be imputed, so contribution was NaN, so the decomposition residual was non-zero. The portfolio-rate fallback — flagged, never silent — took the residual to exactly 0.</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4 · OUTPUT</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Validation, and the monthly series the whole case rests on</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validation_checks() is the proof that the model does not double count. It runs every time the notebook runs.</a:t>
            </a:r>
            <a:endParaRPr lang="en-US" sz="1300" dirty="0"/>
          </a:p>
        </p:txBody>
      </p:sp>
      <p:sp>
        <p:nvSpPr>
          <p:cNvPr id="5" name="Shape 3"/>
          <p:cNvSpPr/>
          <p:nvPr/>
        </p:nvSpPr>
        <p:spPr>
          <a:xfrm>
            <a:off x="548640" y="1627632"/>
            <a:ext cx="6583680" cy="4224528"/>
          </a:xfrm>
          <a:prstGeom prst="roundRect">
            <a:avLst>
              <a:gd name="adj" fmla="val 1299"/>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graphicFrame>
        <p:nvGraphicFramePr>
          <p:cNvPr id="6" name="Chart 0" descr=""/>
          <p:cNvGraphicFramePr/>
          <p:nvPr/>
        </p:nvGraphicFramePr>
        <p:xfrm>
          <a:off x="713232" y="1783080"/>
          <a:ext cx="6263640" cy="35204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77240" y="5440680"/>
            <a:ext cx="6126480" cy="36576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A smooth twelve-month decline — not a step. There is no single break date to find, which is precisely why ranking segments fails and decomposition is required.</a:t>
            </a:r>
            <a:endParaRPr lang="en-US" sz="1050" dirty="0"/>
          </a:p>
        </p:txBody>
      </p:sp>
      <p:sp>
        <p:nvSpPr>
          <p:cNvPr id="8" name="Text 5"/>
          <p:cNvSpPr txBox="1"/>
          <p:nvPr/>
        </p:nvSpPr>
        <p:spPr>
          <a:xfrm>
            <a:off x="7406640" y="1691640"/>
            <a:ext cx="420624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Validation checks that must pass before any analysis</a:t>
            </a:r>
            <a:endParaRPr lang="en-US" sz="1300" dirty="0"/>
          </a:p>
        </p:txBody>
      </p:sp>
      <p:sp>
        <p:nvSpPr>
          <p:cNvPr id="9" name="Shape 6"/>
          <p:cNvSpPr/>
          <p:nvPr/>
        </p:nvSpPr>
        <p:spPr>
          <a:xfrm>
            <a:off x="7406640" y="2057400"/>
            <a:ext cx="4206240" cy="530352"/>
          </a:xfrm>
          <a:prstGeom prst="roundRect">
            <a:avLst>
              <a:gd name="adj" fmla="val 1034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Text 7"/>
          <p:cNvSpPr txBox="1"/>
          <p:nvPr/>
        </p:nvSpPr>
        <p:spPr>
          <a:xfrm>
            <a:off x="7589520" y="2112264"/>
            <a:ext cx="3017520" cy="219456"/>
          </a:xfrm>
          <a:prstGeom prst="rect">
            <a:avLst/>
          </a:prstGeom>
          <a:noFill/>
          <a:ln/>
        </p:spPr>
        <p:txBody>
          <a:bodyPr wrap="square" lIns="0" tIns="0" rIns="0" bIns="0" rtlCol="0" anchor="ctr"/>
          <a:lstStyle/>
          <a:p>
            <a:pPr indent="0" marL="0">
              <a:buNone/>
            </a:pPr>
            <a:r>
              <a:rPr lang="en-US" sz="1050" b="1" dirty="0">
                <a:solidFill>
                  <a:srgbClr val="12233C"/>
                </a:solidFill>
                <a:latin typeface="Calibri" pitchFamily="34" charset="0"/>
                <a:ea typeface="Calibri" pitchFamily="34" charset="-122"/>
                <a:cs typeface="Calibri" pitchFamily="34" charset="-120"/>
              </a:rPr>
              <a:t>Fact row count = transaction row count</a:t>
            </a:r>
            <a:endParaRPr lang="en-US" sz="1050" dirty="0"/>
          </a:p>
        </p:txBody>
      </p:sp>
      <p:sp>
        <p:nvSpPr>
          <p:cNvPr id="11" name="Text 8"/>
          <p:cNvSpPr txBox="1"/>
          <p:nvPr/>
        </p:nvSpPr>
        <p:spPr>
          <a:xfrm>
            <a:off x="7589520" y="2331720"/>
            <a:ext cx="3017520" cy="201168"/>
          </a:xfrm>
          <a:prstGeom prst="rect">
            <a:avLst/>
          </a:prstGeom>
          <a:noFill/>
          <a:ln/>
        </p:spPr>
        <p:txBody>
          <a:bodyPr wrap="square" lIns="0" tIns="0" rIns="0" bIns="0" rtlCol="0" anchor="ctr"/>
          <a:lstStyle/>
          <a:p>
            <a:pPr indent="0" marL="0">
              <a:buNone/>
            </a:pPr>
            <a:r>
              <a:rPr lang="en-US" sz="950" dirty="0">
                <a:solidFill>
                  <a:srgbClr val="4A5663"/>
                </a:solidFill>
                <a:latin typeface="Courier New" pitchFamily="34" charset="0"/>
                <a:ea typeface="Courier New" pitchFamily="34" charset="-122"/>
                <a:cs typeface="Courier New" pitchFamily="34" charset="-120"/>
              </a:rPr>
              <a:t>260,287 = 260,287</a:t>
            </a:r>
            <a:endParaRPr lang="en-US" sz="950" dirty="0"/>
          </a:p>
        </p:txBody>
      </p:sp>
      <p:sp>
        <p:nvSpPr>
          <p:cNvPr id="12" name="Text 9"/>
          <p:cNvSpPr txBox="1"/>
          <p:nvPr/>
        </p:nvSpPr>
        <p:spPr>
          <a:xfrm>
            <a:off x="10652760" y="2057400"/>
            <a:ext cx="822960" cy="530352"/>
          </a:xfrm>
          <a:prstGeom prst="rect">
            <a:avLst/>
          </a:prstGeom>
          <a:noFill/>
          <a:ln/>
        </p:spPr>
        <p:txBody>
          <a:bodyPr wrap="square" lIns="0" tIns="0" rIns="0" bIns="0" rtlCol="0" anchor="ctr"/>
          <a:lstStyle/>
          <a:p>
            <a:pPr algn="ctr" indent="0" marL="0">
              <a:buNone/>
            </a:pPr>
            <a:r>
              <a:rPr lang="en-US" sz="1100" b="1" dirty="0">
                <a:solidFill>
                  <a:srgbClr val="0E7C7B"/>
                </a:solidFill>
                <a:latin typeface="Calibri" pitchFamily="34" charset="0"/>
                <a:ea typeface="Calibri" pitchFamily="34" charset="-122"/>
                <a:cs typeface="Calibri" pitchFamily="34" charset="-120"/>
              </a:rPr>
              <a:t>PASS</a:t>
            </a:r>
            <a:endParaRPr lang="en-US" sz="1100" dirty="0"/>
          </a:p>
        </p:txBody>
      </p:sp>
      <p:sp>
        <p:nvSpPr>
          <p:cNvPr id="13" name="Shape 10"/>
          <p:cNvSpPr/>
          <p:nvPr/>
        </p:nvSpPr>
        <p:spPr>
          <a:xfrm>
            <a:off x="7406640" y="2660904"/>
            <a:ext cx="4206240" cy="530352"/>
          </a:xfrm>
          <a:prstGeom prst="roundRect">
            <a:avLst>
              <a:gd name="adj" fmla="val 1034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Text 11"/>
          <p:cNvSpPr txBox="1"/>
          <p:nvPr/>
        </p:nvSpPr>
        <p:spPr>
          <a:xfrm>
            <a:off x="7589520" y="2715768"/>
            <a:ext cx="3017520" cy="219456"/>
          </a:xfrm>
          <a:prstGeom prst="rect">
            <a:avLst/>
          </a:prstGeom>
          <a:noFill/>
          <a:ln/>
        </p:spPr>
        <p:txBody>
          <a:bodyPr wrap="square" lIns="0" tIns="0" rIns="0" bIns="0" rtlCol="0" anchor="ctr"/>
          <a:lstStyle/>
          <a:p>
            <a:pPr indent="0" marL="0">
              <a:buNone/>
            </a:pPr>
            <a:r>
              <a:rPr lang="en-US" sz="1050" b="1" dirty="0">
                <a:solidFill>
                  <a:srgbClr val="12233C"/>
                </a:solidFill>
                <a:latin typeface="Calibri" pitchFamily="34" charset="0"/>
                <a:ea typeface="Calibri" pitchFamily="34" charset="-122"/>
                <a:cs typeface="Calibri" pitchFamily="34" charset="-120"/>
              </a:rPr>
              <a:t>transaction_id unique in the fact</a:t>
            </a:r>
            <a:endParaRPr lang="en-US" sz="1050" dirty="0"/>
          </a:p>
        </p:txBody>
      </p:sp>
      <p:sp>
        <p:nvSpPr>
          <p:cNvPr id="15" name="Text 12"/>
          <p:cNvSpPr txBox="1"/>
          <p:nvPr/>
        </p:nvSpPr>
        <p:spPr>
          <a:xfrm>
            <a:off x="7589520" y="2935224"/>
            <a:ext cx="3017520" cy="201168"/>
          </a:xfrm>
          <a:prstGeom prst="rect">
            <a:avLst/>
          </a:prstGeom>
          <a:noFill/>
          <a:ln/>
        </p:spPr>
        <p:txBody>
          <a:bodyPr wrap="square" lIns="0" tIns="0" rIns="0" bIns="0" rtlCol="0" anchor="ctr"/>
          <a:lstStyle/>
          <a:p>
            <a:pPr indent="0" marL="0">
              <a:buNone/>
            </a:pPr>
            <a:r>
              <a:rPr lang="en-US" sz="950" dirty="0">
                <a:solidFill>
                  <a:srgbClr val="4A5663"/>
                </a:solidFill>
                <a:latin typeface="Courier New" pitchFamily="34" charset="0"/>
                <a:ea typeface="Courier New" pitchFamily="34" charset="-122"/>
                <a:cs typeface="Courier New" pitchFamily="34" charset="-120"/>
              </a:rPr>
              <a:t>0 duplicates</a:t>
            </a:r>
            <a:endParaRPr lang="en-US" sz="950" dirty="0"/>
          </a:p>
        </p:txBody>
      </p:sp>
      <p:sp>
        <p:nvSpPr>
          <p:cNvPr id="16" name="Text 13"/>
          <p:cNvSpPr txBox="1"/>
          <p:nvPr/>
        </p:nvSpPr>
        <p:spPr>
          <a:xfrm>
            <a:off x="10652760" y="2660904"/>
            <a:ext cx="822960" cy="530352"/>
          </a:xfrm>
          <a:prstGeom prst="rect">
            <a:avLst/>
          </a:prstGeom>
          <a:noFill/>
          <a:ln/>
        </p:spPr>
        <p:txBody>
          <a:bodyPr wrap="square" lIns="0" tIns="0" rIns="0" bIns="0" rtlCol="0" anchor="ctr"/>
          <a:lstStyle/>
          <a:p>
            <a:pPr algn="ctr" indent="0" marL="0">
              <a:buNone/>
            </a:pPr>
            <a:r>
              <a:rPr lang="en-US" sz="1100" b="1" dirty="0">
                <a:solidFill>
                  <a:srgbClr val="0E7C7B"/>
                </a:solidFill>
                <a:latin typeface="Calibri" pitchFamily="34" charset="0"/>
                <a:ea typeface="Calibri" pitchFamily="34" charset="-122"/>
                <a:cs typeface="Calibri" pitchFamily="34" charset="-120"/>
              </a:rPr>
              <a:t>PASS</a:t>
            </a:r>
            <a:endParaRPr lang="en-US" sz="1100" dirty="0"/>
          </a:p>
        </p:txBody>
      </p:sp>
      <p:sp>
        <p:nvSpPr>
          <p:cNvPr id="17" name="Shape 14"/>
          <p:cNvSpPr/>
          <p:nvPr/>
        </p:nvSpPr>
        <p:spPr>
          <a:xfrm>
            <a:off x="7406640" y="3264408"/>
            <a:ext cx="4206240" cy="530352"/>
          </a:xfrm>
          <a:prstGeom prst="roundRect">
            <a:avLst>
              <a:gd name="adj" fmla="val 1034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8" name="Text 15"/>
          <p:cNvSpPr txBox="1"/>
          <p:nvPr/>
        </p:nvSpPr>
        <p:spPr>
          <a:xfrm>
            <a:off x="7589520" y="3319272"/>
            <a:ext cx="3017520" cy="219456"/>
          </a:xfrm>
          <a:prstGeom prst="rect">
            <a:avLst/>
          </a:prstGeom>
          <a:noFill/>
          <a:ln/>
        </p:spPr>
        <p:txBody>
          <a:bodyPr wrap="square" lIns="0" tIns="0" rIns="0" bIns="0" rtlCol="0" anchor="ctr"/>
          <a:lstStyle/>
          <a:p>
            <a:pPr indent="0" marL="0">
              <a:buNone/>
            </a:pPr>
            <a:r>
              <a:rPr lang="en-US" sz="1050" b="1" dirty="0">
                <a:solidFill>
                  <a:srgbClr val="12233C"/>
                </a:solidFill>
                <a:latin typeface="Calibri" pitchFamily="34" charset="0"/>
                <a:ea typeface="Calibri" pitchFamily="34" charset="-122"/>
                <a:cs typeface="Calibri" pitchFamily="34" charset="-120"/>
              </a:rPr>
              <a:t>Gross USD equals the source total</a:t>
            </a:r>
            <a:endParaRPr lang="en-US" sz="1050" dirty="0"/>
          </a:p>
        </p:txBody>
      </p:sp>
      <p:sp>
        <p:nvSpPr>
          <p:cNvPr id="19" name="Text 16"/>
          <p:cNvSpPr txBox="1"/>
          <p:nvPr/>
        </p:nvSpPr>
        <p:spPr>
          <a:xfrm>
            <a:off x="7589520" y="3538728"/>
            <a:ext cx="3017520" cy="201168"/>
          </a:xfrm>
          <a:prstGeom prst="rect">
            <a:avLst/>
          </a:prstGeom>
          <a:noFill/>
          <a:ln/>
        </p:spPr>
        <p:txBody>
          <a:bodyPr wrap="square" lIns="0" tIns="0" rIns="0" bIns="0" rtlCol="0" anchor="ctr"/>
          <a:lstStyle/>
          <a:p>
            <a:pPr indent="0" marL="0">
              <a:buNone/>
            </a:pPr>
            <a:r>
              <a:rPr lang="en-US" sz="950" dirty="0">
                <a:solidFill>
                  <a:srgbClr val="4A5663"/>
                </a:solidFill>
                <a:latin typeface="Courier New" pitchFamily="34" charset="0"/>
                <a:ea typeface="Courier New" pitchFamily="34" charset="-122"/>
                <a:cs typeface="Courier New" pitchFamily="34" charset="-120"/>
              </a:rPr>
              <a:t>ratio 1.000</a:t>
            </a:r>
            <a:endParaRPr lang="en-US" sz="950" dirty="0"/>
          </a:p>
        </p:txBody>
      </p:sp>
      <p:sp>
        <p:nvSpPr>
          <p:cNvPr id="20" name="Text 17"/>
          <p:cNvSpPr txBox="1"/>
          <p:nvPr/>
        </p:nvSpPr>
        <p:spPr>
          <a:xfrm>
            <a:off x="10652760" y="3264408"/>
            <a:ext cx="822960" cy="530352"/>
          </a:xfrm>
          <a:prstGeom prst="rect">
            <a:avLst/>
          </a:prstGeom>
          <a:noFill/>
          <a:ln/>
        </p:spPr>
        <p:txBody>
          <a:bodyPr wrap="square" lIns="0" tIns="0" rIns="0" bIns="0" rtlCol="0" anchor="ctr"/>
          <a:lstStyle/>
          <a:p>
            <a:pPr algn="ctr" indent="0" marL="0">
              <a:buNone/>
            </a:pPr>
            <a:r>
              <a:rPr lang="en-US" sz="1100" b="1" dirty="0">
                <a:solidFill>
                  <a:srgbClr val="0E7C7B"/>
                </a:solidFill>
                <a:latin typeface="Calibri" pitchFamily="34" charset="0"/>
                <a:ea typeface="Calibri" pitchFamily="34" charset="-122"/>
                <a:cs typeface="Calibri" pitchFamily="34" charset="-120"/>
              </a:rPr>
              <a:t>PASS</a:t>
            </a:r>
            <a:endParaRPr lang="en-US" sz="1100" dirty="0"/>
          </a:p>
        </p:txBody>
      </p:sp>
      <p:sp>
        <p:nvSpPr>
          <p:cNvPr id="21" name="Shape 18"/>
          <p:cNvSpPr/>
          <p:nvPr/>
        </p:nvSpPr>
        <p:spPr>
          <a:xfrm>
            <a:off x="7406640" y="3867912"/>
            <a:ext cx="4206240" cy="530352"/>
          </a:xfrm>
          <a:prstGeom prst="roundRect">
            <a:avLst>
              <a:gd name="adj" fmla="val 1034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2" name="Text 19"/>
          <p:cNvSpPr txBox="1"/>
          <p:nvPr/>
        </p:nvSpPr>
        <p:spPr>
          <a:xfrm>
            <a:off x="7589520" y="3922776"/>
            <a:ext cx="3017520" cy="219456"/>
          </a:xfrm>
          <a:prstGeom prst="rect">
            <a:avLst/>
          </a:prstGeom>
          <a:noFill/>
          <a:ln/>
        </p:spPr>
        <p:txBody>
          <a:bodyPr wrap="square" lIns="0" tIns="0" rIns="0" bIns="0" rtlCol="0" anchor="ctr"/>
          <a:lstStyle/>
          <a:p>
            <a:pPr indent="0" marL="0">
              <a:buNone/>
            </a:pPr>
            <a:r>
              <a:rPr lang="en-US" sz="1050" b="1" dirty="0">
                <a:solidFill>
                  <a:srgbClr val="12233C"/>
                </a:solidFill>
                <a:latin typeface="Calibri" pitchFamily="34" charset="0"/>
                <a:ea typeface="Calibri" pitchFamily="34" charset="-122"/>
                <a:cs typeface="Calibri" pitchFamily="34" charset="-120"/>
              </a:rPr>
              <a:t>Every staged table is at txn grain</a:t>
            </a:r>
            <a:endParaRPr lang="en-US" sz="1050" dirty="0"/>
          </a:p>
        </p:txBody>
      </p:sp>
      <p:sp>
        <p:nvSpPr>
          <p:cNvPr id="23" name="Text 20"/>
          <p:cNvSpPr txBox="1"/>
          <p:nvPr/>
        </p:nvSpPr>
        <p:spPr>
          <a:xfrm>
            <a:off x="7589520" y="4142232"/>
            <a:ext cx="3017520" cy="201168"/>
          </a:xfrm>
          <a:prstGeom prst="rect">
            <a:avLst/>
          </a:prstGeom>
          <a:noFill/>
          <a:ln/>
        </p:spPr>
        <p:txBody>
          <a:bodyPr wrap="square" lIns="0" tIns="0" rIns="0" bIns="0" rtlCol="0" anchor="ctr"/>
          <a:lstStyle/>
          <a:p>
            <a:pPr indent="0" marL="0">
              <a:buNone/>
            </a:pPr>
            <a:r>
              <a:rPr lang="en-US" sz="950" dirty="0">
                <a:solidFill>
                  <a:srgbClr val="4A5663"/>
                </a:solidFill>
                <a:latin typeface="Courier New" pitchFamily="34" charset="0"/>
                <a:ea typeface="Courier New" pitchFamily="34" charset="-122"/>
                <a:cs typeface="Courier New" pitchFamily="34" charset="-120"/>
              </a:rPr>
              <a:t>4 of 4 assertions hold</a:t>
            </a:r>
            <a:endParaRPr lang="en-US" sz="950" dirty="0"/>
          </a:p>
        </p:txBody>
      </p:sp>
      <p:sp>
        <p:nvSpPr>
          <p:cNvPr id="24" name="Text 21"/>
          <p:cNvSpPr txBox="1"/>
          <p:nvPr/>
        </p:nvSpPr>
        <p:spPr>
          <a:xfrm>
            <a:off x="10652760" y="3867912"/>
            <a:ext cx="822960" cy="530352"/>
          </a:xfrm>
          <a:prstGeom prst="rect">
            <a:avLst/>
          </a:prstGeom>
          <a:noFill/>
          <a:ln/>
        </p:spPr>
        <p:txBody>
          <a:bodyPr wrap="square" lIns="0" tIns="0" rIns="0" bIns="0" rtlCol="0" anchor="ctr"/>
          <a:lstStyle/>
          <a:p>
            <a:pPr algn="ctr" indent="0" marL="0">
              <a:buNone/>
            </a:pPr>
            <a:r>
              <a:rPr lang="en-US" sz="1100" b="1" dirty="0">
                <a:solidFill>
                  <a:srgbClr val="0E7C7B"/>
                </a:solidFill>
                <a:latin typeface="Calibri" pitchFamily="34" charset="0"/>
                <a:ea typeface="Calibri" pitchFamily="34" charset="-122"/>
                <a:cs typeface="Calibri" pitchFamily="34" charset="-120"/>
              </a:rPr>
              <a:t>PASS</a:t>
            </a:r>
            <a:endParaRPr lang="en-US" sz="1100" dirty="0"/>
          </a:p>
        </p:txBody>
      </p:sp>
      <p:sp>
        <p:nvSpPr>
          <p:cNvPr id="25" name="Shape 22"/>
          <p:cNvSpPr/>
          <p:nvPr/>
        </p:nvSpPr>
        <p:spPr>
          <a:xfrm>
            <a:off x="7406640" y="4471416"/>
            <a:ext cx="4206240" cy="530352"/>
          </a:xfrm>
          <a:prstGeom prst="roundRect">
            <a:avLst>
              <a:gd name="adj" fmla="val 1034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6" name="Text 23"/>
          <p:cNvSpPr txBox="1"/>
          <p:nvPr/>
        </p:nvSpPr>
        <p:spPr>
          <a:xfrm>
            <a:off x="7589520" y="4526280"/>
            <a:ext cx="3017520" cy="219456"/>
          </a:xfrm>
          <a:prstGeom prst="rect">
            <a:avLst/>
          </a:prstGeom>
          <a:noFill/>
          <a:ln/>
        </p:spPr>
        <p:txBody>
          <a:bodyPr wrap="square" lIns="0" tIns="0" rIns="0" bIns="0" rtlCol="0" anchor="ctr"/>
          <a:lstStyle/>
          <a:p>
            <a:pPr indent="0" marL="0">
              <a:buNone/>
            </a:pPr>
            <a:r>
              <a:rPr lang="en-US" sz="1050" b="1" dirty="0">
                <a:solidFill>
                  <a:srgbClr val="12233C"/>
                </a:solidFill>
                <a:latin typeface="Calibri" pitchFamily="34" charset="0"/>
                <a:ea typeface="Calibri" pitchFamily="34" charset="-122"/>
                <a:cs typeface="Calibri" pitchFamily="34" charset="-120"/>
              </a:rPr>
              <a:t>Revenue − cost − risk = contribution</a:t>
            </a:r>
            <a:endParaRPr lang="en-US" sz="1050" dirty="0"/>
          </a:p>
        </p:txBody>
      </p:sp>
      <p:sp>
        <p:nvSpPr>
          <p:cNvPr id="27" name="Text 24"/>
          <p:cNvSpPr txBox="1"/>
          <p:nvPr/>
        </p:nvSpPr>
        <p:spPr>
          <a:xfrm>
            <a:off x="7589520" y="4745736"/>
            <a:ext cx="3017520" cy="201168"/>
          </a:xfrm>
          <a:prstGeom prst="rect">
            <a:avLst/>
          </a:prstGeom>
          <a:noFill/>
          <a:ln/>
        </p:spPr>
        <p:txBody>
          <a:bodyPr wrap="square" lIns="0" tIns="0" rIns="0" bIns="0" rtlCol="0" anchor="ctr"/>
          <a:lstStyle/>
          <a:p>
            <a:pPr indent="0" marL="0">
              <a:buNone/>
            </a:pPr>
            <a:r>
              <a:rPr lang="en-US" sz="950" dirty="0">
                <a:solidFill>
                  <a:srgbClr val="4A5663"/>
                </a:solidFill>
                <a:latin typeface="Courier New" pitchFamily="34" charset="0"/>
                <a:ea typeface="Courier New" pitchFamily="34" charset="-122"/>
                <a:cs typeface="Courier New" pitchFamily="34" charset="-120"/>
              </a:rPr>
              <a:t>residual 0.00</a:t>
            </a:r>
            <a:endParaRPr lang="en-US" sz="950" dirty="0"/>
          </a:p>
        </p:txBody>
      </p:sp>
      <p:sp>
        <p:nvSpPr>
          <p:cNvPr id="28" name="Text 25"/>
          <p:cNvSpPr txBox="1"/>
          <p:nvPr/>
        </p:nvSpPr>
        <p:spPr>
          <a:xfrm>
            <a:off x="10652760" y="4471416"/>
            <a:ext cx="822960" cy="530352"/>
          </a:xfrm>
          <a:prstGeom prst="rect">
            <a:avLst/>
          </a:prstGeom>
          <a:noFill/>
          <a:ln/>
        </p:spPr>
        <p:txBody>
          <a:bodyPr wrap="square" lIns="0" tIns="0" rIns="0" bIns="0" rtlCol="0" anchor="ctr"/>
          <a:lstStyle/>
          <a:p>
            <a:pPr algn="ctr" indent="0" marL="0">
              <a:buNone/>
            </a:pPr>
            <a:r>
              <a:rPr lang="en-US" sz="1100" b="1" dirty="0">
                <a:solidFill>
                  <a:srgbClr val="0E7C7B"/>
                </a:solidFill>
                <a:latin typeface="Calibri" pitchFamily="34" charset="0"/>
                <a:ea typeface="Calibri" pitchFamily="34" charset="-122"/>
                <a:cs typeface="Calibri" pitchFamily="34" charset="-120"/>
              </a:rPr>
              <a:t>PASS</a:t>
            </a:r>
            <a:endParaRPr lang="en-US" sz="1100" dirty="0"/>
          </a:p>
        </p:txBody>
      </p:sp>
      <p:sp>
        <p:nvSpPr>
          <p:cNvPr id="29" name="Text 26"/>
          <p:cNvSpPr txBox="1"/>
          <p:nvPr/>
        </p:nvSpPr>
        <p:spPr>
          <a:xfrm>
            <a:off x="7406640" y="5138928"/>
            <a:ext cx="4206240" cy="411480"/>
          </a:xfrm>
          <a:prstGeom prst="rect">
            <a:avLst/>
          </a:prstGeom>
          <a:noFill/>
          <a:ln/>
        </p:spPr>
        <p:txBody>
          <a:bodyPr wrap="square" lIns="0" tIns="0" rIns="0" bIns="0" rtlCol="0" anchor="ctr"/>
          <a:lstStyle/>
          <a:p>
            <a:pPr algn="ctr" indent="0" marL="0">
              <a:buNone/>
            </a:pPr>
            <a:r>
              <a:rPr lang="en-US" sz="1500" b="1" dirty="0">
                <a:solidFill>
                  <a:srgbClr val="A33D3D"/>
                </a:solidFill>
                <a:latin typeface="Cambria" pitchFamily="34" charset="0"/>
                <a:ea typeface="Cambria" pitchFamily="34" charset="-122"/>
                <a:cs typeface="Cambria" pitchFamily="34" charset="-120"/>
              </a:rPr>
              <a:t>Jan $1.620  →  Dec $1.089      −32.8%</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233C"/>
        </a:solidFill>
      </p:bgPr>
    </p:bg>
    <p:spTree>
      <p:nvGrpSpPr>
        <p:cNvPr id="1" name=""/>
        <p:cNvGrpSpPr/>
        <p:nvPr/>
      </p:nvGrpSpPr>
      <p:grpSpPr>
        <a:xfrm>
          <a:off x="0" y="0"/>
          <a:ext cx="0" cy="0"/>
          <a:chOff x="0" y="0"/>
          <a:chExt cx="0" cy="0"/>
        </a:xfrm>
      </p:grpSpPr>
      <p:sp>
        <p:nvSpPr>
          <p:cNvPr id="2" name="Text 0"/>
          <p:cNvSpPr txBox="1"/>
          <p:nvPr/>
        </p:nvSpPr>
        <p:spPr>
          <a:xfrm>
            <a:off x="822960" y="1828800"/>
            <a:ext cx="2743200" cy="1737360"/>
          </a:xfrm>
          <a:prstGeom prst="rect">
            <a:avLst/>
          </a:prstGeom>
          <a:noFill/>
          <a:ln/>
        </p:spPr>
        <p:txBody>
          <a:bodyPr wrap="square" lIns="0" tIns="0" rIns="0" bIns="0" rtlCol="0" anchor="ctr"/>
          <a:lstStyle/>
          <a:p>
            <a:pPr indent="0" marL="0">
              <a:buNone/>
            </a:pPr>
            <a:r>
              <a:rPr lang="en-US" sz="9600" b="1" dirty="0">
                <a:solidFill>
                  <a:srgbClr val="24406A"/>
                </a:solidFill>
                <a:latin typeface="Cambria" pitchFamily="34" charset="0"/>
                <a:ea typeface="Cambria" pitchFamily="34" charset="-122"/>
                <a:cs typeface="Cambria" pitchFamily="34" charset="-120"/>
              </a:rPr>
              <a:t>05</a:t>
            </a:r>
            <a:endParaRPr lang="en-US" sz="9600" dirty="0"/>
          </a:p>
        </p:txBody>
      </p:sp>
      <p:sp>
        <p:nvSpPr>
          <p:cNvPr id="3" name="Text 1"/>
          <p:cNvSpPr txBox="1"/>
          <p:nvPr/>
        </p:nvSpPr>
        <p:spPr>
          <a:xfrm>
            <a:off x="3108960" y="2148840"/>
            <a:ext cx="841248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Root cause analysis</a:t>
            </a:r>
            <a:endParaRPr lang="en-US" sz="3400" dirty="0"/>
          </a:p>
        </p:txBody>
      </p:sp>
      <p:sp>
        <p:nvSpPr>
          <p:cNvPr id="4" name="Text 2"/>
          <p:cNvSpPr txBox="1"/>
          <p:nvPr/>
        </p:nvSpPr>
        <p:spPr>
          <a:xfrm>
            <a:off x="3154680" y="3017520"/>
            <a:ext cx="8229600" cy="457200"/>
          </a:xfrm>
          <a:prstGeom prst="rect">
            <a:avLst/>
          </a:prstGeom>
          <a:noFill/>
          <a:ln/>
        </p:spPr>
        <p:txBody>
          <a:bodyPr wrap="square" lIns="0" tIns="0" rIns="0" bIns="0" rtlCol="0" anchor="ctr"/>
          <a:lstStyle/>
          <a:p>
            <a:pPr indent="0" marL="0">
              <a:lnSpc>
                <a:spcPts val="2000"/>
              </a:lnSpc>
              <a:buNone/>
            </a:pPr>
            <a:r>
              <a:rPr lang="en-US" sz="1500" dirty="0">
                <a:solidFill>
                  <a:srgbClr val="8FA6C4"/>
                </a:solidFill>
                <a:latin typeface="Calibri" pitchFamily="34" charset="0"/>
                <a:ea typeface="Calibri" pitchFamily="34" charset="-122"/>
                <a:cs typeface="Calibri" pitchFamily="34" charset="-120"/>
              </a:rPr>
              <a:t>Task 5 — Exact mix / within decomposition</a:t>
            </a:r>
            <a:endParaRPr lang="en-US" sz="1500" dirty="0"/>
          </a:p>
        </p:txBody>
      </p:sp>
      <p:sp>
        <p:nvSpPr>
          <p:cNvPr id="5" name="Text 3"/>
          <p:cNvSpPr txBox="1"/>
          <p:nvPr/>
        </p:nvSpPr>
        <p:spPr>
          <a:xfrm>
            <a:off x="3154680" y="3611880"/>
            <a:ext cx="8229600" cy="1097280"/>
          </a:xfrm>
          <a:prstGeom prst="rect">
            <a:avLst/>
          </a:prstGeom>
          <a:noFill/>
          <a:ln/>
        </p:spPr>
        <p:txBody>
          <a:bodyPr wrap="square" lIns="0" tIns="0" rIns="0" bIns="0" rtlCol="0" anchor="ctr"/>
          <a:lstStyle/>
          <a:p>
            <a:pPr indent="0" marL="0">
              <a:lnSpc>
                <a:spcPts val="1900"/>
              </a:lnSpc>
              <a:buNone/>
            </a:pPr>
            <a:r>
              <a:rPr lang="en-US" sz="1300" dirty="0">
                <a:solidFill>
                  <a:srgbClr val="7FD4D2"/>
                </a:solidFill>
                <a:latin typeface="Calibri" pitchFamily="34" charset="0"/>
                <a:ea typeface="Calibri" pitchFamily="34" charset="-122"/>
                <a:cs typeface="Calibri" pitchFamily="34" charset="-120"/>
              </a:rPr>
              <a:t>Why ranking segments cannot answer the question  ·  The decomposition identity  ·  The code  ·  Nine dimensions tested  ·  The bridge and the driver attribution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5 · METHOD</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Ranking segments cannot answer this question. Decomposition can.</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Two questions a ranked table never answers: how much of the total fall does a segment contribute, and is that because its weight moved or because its own economics moved?</a:t>
            </a:r>
            <a:endParaRPr lang="en-US" sz="1300" dirty="0"/>
          </a:p>
        </p:txBody>
      </p:sp>
      <p:sp>
        <p:nvSpPr>
          <p:cNvPr id="5" name="Shape 3"/>
          <p:cNvSpPr/>
          <p:nvPr/>
        </p:nvSpPr>
        <p:spPr>
          <a:xfrm>
            <a:off x="548640" y="1627632"/>
            <a:ext cx="5669280" cy="2286000"/>
          </a:xfrm>
          <a:prstGeom prst="roundRect">
            <a:avLst>
              <a:gd name="adj" fmla="val 24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6" name="Text 4"/>
          <p:cNvSpPr txBox="1"/>
          <p:nvPr/>
        </p:nvSpPr>
        <p:spPr>
          <a:xfrm>
            <a:off x="777240" y="1773936"/>
            <a:ext cx="521208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The identity</a:t>
            </a:r>
            <a:endParaRPr lang="en-US" sz="1300" dirty="0"/>
          </a:p>
        </p:txBody>
      </p:sp>
      <p:sp>
        <p:nvSpPr>
          <p:cNvPr id="7" name="Shape 5"/>
          <p:cNvSpPr/>
          <p:nvPr/>
        </p:nvSpPr>
        <p:spPr>
          <a:xfrm>
            <a:off x="777240" y="2103120"/>
            <a:ext cx="5212080" cy="1691640"/>
          </a:xfrm>
          <a:prstGeom prst="roundRect">
            <a:avLst>
              <a:gd name="adj" fmla="val 2703"/>
            </a:avLst>
          </a:prstGeom>
          <a:solidFill>
            <a:srgbClr val="16243A"/>
          </a:solidFill>
          <a:ln w="12700">
            <a:solidFill>
              <a:srgbClr val="2E5580"/>
            </a:solidFill>
            <a:prstDash val="solid"/>
          </a:ln>
        </p:spPr>
      </p:sp>
      <p:sp>
        <p:nvSpPr>
          <p:cNvPr id="8" name="Text 6"/>
          <p:cNvSpPr txBox="1"/>
          <p:nvPr/>
        </p:nvSpPr>
        <p:spPr>
          <a:xfrm>
            <a:off x="960120" y="2249424"/>
            <a:ext cx="4846320" cy="1399032"/>
          </a:xfrm>
          <a:prstGeom prst="rect">
            <a:avLst/>
          </a:prstGeom>
          <a:noFill/>
          <a:ln/>
        </p:spPr>
        <p:txBody>
          <a:bodyPr wrap="square" lIns="0" tIns="0" rIns="0" bIns="0" rtlCol="0" anchor="ctr"/>
          <a:lstStyle/>
          <a:p>
            <a:pPr indent="0" marL="0">
              <a:lnSpc>
                <a:spcPts val="1300"/>
              </a:lnSpc>
              <a:buNone/>
            </a:pPr>
            <a:r>
              <a:rPr lang="en-US" sz="1050" b="1" dirty="0">
                <a:solidFill>
                  <a:srgbClr val="F2B366"/>
                </a:solidFill>
                <a:latin typeface="Courier New" pitchFamily="34" charset="0"/>
                <a:ea typeface="Courier New" pitchFamily="34" charset="-122"/>
                <a:cs typeface="Courier New" pitchFamily="34" charset="-120"/>
              </a:rPr>
              <a:t>Δc  =  Σ (w₁ − w₀) · c₀      &lt;-- MIX</a:t>
            </a:r>
            <a:endParaRPr lang="en-US" sz="1050" dirty="0"/>
          </a:p>
          <a:p>
            <a:pPr indent="0" marL="0">
              <a:lnSpc>
                <a:spcPts val="1300"/>
              </a:lnSpc>
              <a:buNone/>
            </a:pPr>
            <a:r>
              <a:rPr lang="en-US" sz="1050" b="1" dirty="0">
                <a:solidFill>
                  <a:srgbClr val="7FD4D2"/>
                </a:solidFill>
                <a:latin typeface="Courier New" pitchFamily="34" charset="0"/>
                <a:ea typeface="Courier New" pitchFamily="34" charset="-122"/>
                <a:cs typeface="Courier New" pitchFamily="34" charset="-120"/>
              </a:rPr>
              <a:t>     + Σ  w₁ · (c₁ − c₀)     &lt;-- WITHIN</a:t>
            </a:r>
            <a:endParaRPr lang="en-US" sz="1050" dirty="0"/>
          </a:p>
          <a:p>
            <a:pPr indent="0" marL="0">
              <a:lnSpc>
                <a:spcPts val="1300"/>
              </a:lnSpc>
              <a:buNone/>
            </a:pPr>
            <a:endParaRPr lang="en-US" sz="1050" dirty="0"/>
          </a:p>
          <a:p>
            <a:pPr indent="0" marL="0">
              <a:lnSpc>
                <a:spcPts val="1300"/>
              </a:lnSpc>
              <a:buNone/>
            </a:pPr>
            <a:r>
              <a:rPr lang="en-US" sz="1050" dirty="0">
                <a:solidFill>
                  <a:srgbClr val="8FA6C4"/>
                </a:solidFill>
                <a:latin typeface="Courier New" pitchFamily="34" charset="0"/>
                <a:ea typeface="Courier New" pitchFamily="34" charset="-122"/>
                <a:cs typeface="Courier New" pitchFamily="34" charset="-120"/>
              </a:rPr>
              <a:t>w = segment share of successful txns</a:t>
            </a:r>
            <a:endParaRPr lang="en-US" sz="1050" dirty="0"/>
          </a:p>
          <a:p>
            <a:pPr indent="0" marL="0">
              <a:lnSpc>
                <a:spcPts val="1300"/>
              </a:lnSpc>
              <a:buNone/>
            </a:pPr>
            <a:r>
              <a:rPr lang="en-US" sz="1050" dirty="0">
                <a:solidFill>
                  <a:srgbClr val="8FA6C4"/>
                </a:solidFill>
                <a:latin typeface="Courier New" pitchFamily="34" charset="0"/>
                <a:ea typeface="Courier New" pitchFamily="34" charset="-122"/>
                <a:cs typeface="Courier New" pitchFamily="34" charset="-120"/>
              </a:rPr>
              <a:t>c = contribution per txn in that segment</a:t>
            </a:r>
            <a:endParaRPr lang="en-US" sz="1050" dirty="0"/>
          </a:p>
          <a:p>
            <a:pPr indent="0" marL="0">
              <a:lnSpc>
                <a:spcPts val="1300"/>
              </a:lnSpc>
              <a:buNone/>
            </a:pPr>
            <a:r>
              <a:rPr lang="en-US" sz="1050" dirty="0">
                <a:solidFill>
                  <a:srgbClr val="8FA6C4"/>
                </a:solidFill>
                <a:latin typeface="Courier New" pitchFamily="34" charset="0"/>
                <a:ea typeface="Courier New" pitchFamily="34" charset="-122"/>
                <a:cs typeface="Courier New" pitchFamily="34" charset="-120"/>
              </a:rPr>
              <a:t>0 = opening month, 1 = closing month</a:t>
            </a:r>
            <a:endParaRPr lang="en-US" sz="1050" dirty="0"/>
          </a:p>
          <a:p>
            <a:pPr indent="0" marL="0">
              <a:lnSpc>
                <a:spcPts val="1300"/>
              </a:lnSpc>
              <a:buNone/>
            </a:pPr>
            <a:endParaRPr lang="en-US" sz="1050" dirty="0"/>
          </a:p>
          <a:p>
            <a:pPr indent="0" marL="0">
              <a:lnSpc>
                <a:spcPts val="1300"/>
              </a:lnSpc>
              <a:buNone/>
            </a:pPr>
            <a:r>
              <a:rPr lang="en-US" sz="1050" b="1" dirty="0">
                <a:solidFill>
                  <a:srgbClr val="D6E2F0"/>
                </a:solidFill>
                <a:latin typeface="Courier New" pitchFamily="34" charset="0"/>
                <a:ea typeface="Courier New" pitchFamily="34" charset="-122"/>
                <a:cs typeface="Courier New" pitchFamily="34" charset="-120"/>
              </a:rPr>
              <a:t>the two terms sum to Δc with NO residual</a:t>
            </a:r>
            <a:endParaRPr lang="en-US" sz="1050" dirty="0"/>
          </a:p>
        </p:txBody>
      </p:sp>
      <p:sp>
        <p:nvSpPr>
          <p:cNvPr id="9" name="Shape 7"/>
          <p:cNvSpPr/>
          <p:nvPr/>
        </p:nvSpPr>
        <p:spPr>
          <a:xfrm>
            <a:off x="6492240" y="1627632"/>
            <a:ext cx="5120640" cy="1078992"/>
          </a:xfrm>
          <a:prstGeom prst="roundRect">
            <a:avLst>
              <a:gd name="adj" fmla="val 508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Text 8"/>
          <p:cNvSpPr txBox="1"/>
          <p:nvPr/>
        </p:nvSpPr>
        <p:spPr>
          <a:xfrm>
            <a:off x="6693408" y="1719072"/>
            <a:ext cx="4709160" cy="256032"/>
          </a:xfrm>
          <a:prstGeom prst="rect">
            <a:avLst/>
          </a:prstGeom>
          <a:noFill/>
          <a:ln/>
        </p:spPr>
        <p:txBody>
          <a:bodyPr wrap="square" lIns="0" tIns="0" rIns="0" bIns="0" rtlCol="0" anchor="ctr"/>
          <a:lstStyle/>
          <a:p>
            <a:pPr indent="0" marL="0">
              <a:buNone/>
            </a:pPr>
            <a:r>
              <a:rPr lang="en-US" sz="1250" b="1" dirty="0">
                <a:solidFill>
                  <a:srgbClr val="D98324"/>
                </a:solidFill>
                <a:latin typeface="Calibri" pitchFamily="34" charset="0"/>
                <a:ea typeface="Calibri" pitchFamily="34" charset="-122"/>
                <a:cs typeface="Calibri" pitchFamily="34" charset="-120"/>
              </a:rPr>
              <a:t>MIX effect</a:t>
            </a:r>
            <a:endParaRPr lang="en-US" sz="1250" dirty="0"/>
          </a:p>
        </p:txBody>
      </p:sp>
      <p:sp>
        <p:nvSpPr>
          <p:cNvPr id="11" name="Text 9"/>
          <p:cNvSpPr txBox="1"/>
          <p:nvPr/>
        </p:nvSpPr>
        <p:spPr>
          <a:xfrm>
            <a:off x="6693408" y="1975104"/>
            <a:ext cx="4709160" cy="45720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The segment's weight changed. Its own economics may be untouched — the portfolio average moves because the composition moved.</a:t>
            </a:r>
            <a:endParaRPr lang="en-US" sz="1050" dirty="0"/>
          </a:p>
        </p:txBody>
      </p:sp>
      <p:sp>
        <p:nvSpPr>
          <p:cNvPr id="12" name="Text 10"/>
          <p:cNvSpPr txBox="1"/>
          <p:nvPr/>
        </p:nvSpPr>
        <p:spPr>
          <a:xfrm>
            <a:off x="6693408" y="2432304"/>
            <a:ext cx="4709160" cy="219456"/>
          </a:xfrm>
          <a:prstGeom prst="rect">
            <a:avLst/>
          </a:prstGeom>
          <a:noFill/>
          <a:ln/>
        </p:spPr>
        <p:txBody>
          <a:bodyPr wrap="square" lIns="0" tIns="0" rIns="0" bIns="0" rtlCol="0" anchor="ctr"/>
          <a:lstStyle/>
          <a:p>
            <a:pPr indent="0" marL="0">
              <a:buNone/>
            </a:pPr>
            <a:r>
              <a:rPr lang="en-US" sz="1050" b="1" i="1" dirty="0">
                <a:solidFill>
                  <a:srgbClr val="D98324"/>
                </a:solidFill>
                <a:latin typeface="Calibri" pitchFamily="34" charset="0"/>
                <a:ea typeface="Calibri" pitchFamily="34" charset="-122"/>
                <a:cs typeface="Calibri" pitchFamily="34" charset="-120"/>
              </a:rPr>
              <a:t>Commercial question: what are we selling, and to whom?</a:t>
            </a:r>
            <a:endParaRPr lang="en-US" sz="1050" dirty="0"/>
          </a:p>
        </p:txBody>
      </p:sp>
      <p:sp>
        <p:nvSpPr>
          <p:cNvPr id="13" name="Shape 11"/>
          <p:cNvSpPr/>
          <p:nvPr/>
        </p:nvSpPr>
        <p:spPr>
          <a:xfrm>
            <a:off x="6492240" y="2816352"/>
            <a:ext cx="5120640" cy="1078992"/>
          </a:xfrm>
          <a:prstGeom prst="roundRect">
            <a:avLst>
              <a:gd name="adj" fmla="val 508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Text 12"/>
          <p:cNvSpPr txBox="1"/>
          <p:nvPr/>
        </p:nvSpPr>
        <p:spPr>
          <a:xfrm>
            <a:off x="6693408" y="2907792"/>
            <a:ext cx="4709160" cy="256032"/>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WITHIN effect</a:t>
            </a:r>
            <a:endParaRPr lang="en-US" sz="1250" dirty="0"/>
          </a:p>
        </p:txBody>
      </p:sp>
      <p:sp>
        <p:nvSpPr>
          <p:cNvPr id="15" name="Text 13"/>
          <p:cNvSpPr txBox="1"/>
          <p:nvPr/>
        </p:nvSpPr>
        <p:spPr>
          <a:xfrm>
            <a:off x="6693408" y="3163824"/>
            <a:ext cx="4709160" cy="45720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The segment's own contribution per transaction changed. Same customers, same products, worse or better unit economics.</a:t>
            </a:r>
            <a:endParaRPr lang="en-US" sz="1050" dirty="0"/>
          </a:p>
        </p:txBody>
      </p:sp>
      <p:sp>
        <p:nvSpPr>
          <p:cNvPr id="16" name="Text 14"/>
          <p:cNvSpPr txBox="1"/>
          <p:nvPr/>
        </p:nvSpPr>
        <p:spPr>
          <a:xfrm>
            <a:off x="6693408" y="3621024"/>
            <a:ext cx="4709160" cy="219456"/>
          </a:xfrm>
          <a:prstGeom prst="rect">
            <a:avLst/>
          </a:prstGeom>
          <a:noFill/>
          <a:ln/>
        </p:spPr>
        <p:txBody>
          <a:bodyPr wrap="square" lIns="0" tIns="0" rIns="0" bIns="0" rtlCol="0" anchor="ctr"/>
          <a:lstStyle/>
          <a:p>
            <a:pPr indent="0" marL="0">
              <a:buNone/>
            </a:pPr>
            <a:r>
              <a:rPr lang="en-US" sz="1050" b="1" i="1" dirty="0">
                <a:solidFill>
                  <a:srgbClr val="0E7C7B"/>
                </a:solidFill>
                <a:latin typeface="Calibri" pitchFamily="34" charset="0"/>
                <a:ea typeface="Calibri" pitchFamily="34" charset="-122"/>
                <a:cs typeface="Calibri" pitchFamily="34" charset="-120"/>
              </a:rPr>
              <a:t>Operational question: what changed in how we run it?</a:t>
            </a:r>
            <a:endParaRPr lang="en-US" sz="1050" dirty="0"/>
          </a:p>
        </p:txBody>
      </p:sp>
      <p:sp>
        <p:nvSpPr>
          <p:cNvPr id="17" name="Shape 15"/>
          <p:cNvSpPr/>
          <p:nvPr/>
        </p:nvSpPr>
        <p:spPr>
          <a:xfrm>
            <a:off x="548640" y="4069080"/>
            <a:ext cx="11064240" cy="1600200"/>
          </a:xfrm>
          <a:prstGeom prst="roundRect">
            <a:avLst>
              <a:gd name="adj" fmla="val 3429"/>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8" name="Text 16"/>
          <p:cNvSpPr txBox="1"/>
          <p:nvPr/>
        </p:nvSpPr>
        <p:spPr>
          <a:xfrm>
            <a:off x="777240" y="4206240"/>
            <a:ext cx="10607040" cy="256032"/>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Why the distinction decides the entire 60-day plan</a:t>
            </a:r>
            <a:endParaRPr lang="en-US" sz="1300" dirty="0"/>
          </a:p>
        </p:txBody>
      </p:sp>
      <p:sp>
        <p:nvSpPr>
          <p:cNvPr id="19" name="Text 17"/>
          <p:cNvSpPr txBox="1"/>
          <p:nvPr/>
        </p:nvSpPr>
        <p:spPr>
          <a:xfrm>
            <a:off x="777240" y="4498848"/>
            <a:ext cx="10607040" cy="1051560"/>
          </a:xfrm>
          <a:prstGeom prst="rect">
            <a:avLst/>
          </a:prstGeom>
          <a:noFill/>
          <a:ln/>
        </p:spPr>
        <p:txBody>
          <a:bodyPr wrap="square" lIns="0" tIns="0" rIns="0" bIns="0" rtlCol="0" anchor="ctr"/>
          <a:lstStyle/>
          <a:p>
            <a:pPr indent="0" marL="0">
              <a:lnSpc>
                <a:spcPts val="1500"/>
              </a:lnSpc>
              <a:buNone/>
            </a:pPr>
            <a:r>
              <a:rPr lang="en-US" sz="1150" dirty="0">
                <a:solidFill>
                  <a:srgbClr val="4A5663"/>
                </a:solidFill>
                <a:latin typeface="Calibri" pitchFamily="34" charset="0"/>
                <a:ea typeface="Calibri" pitchFamily="34" charset="-122"/>
                <a:cs typeface="Calibri" pitchFamily="34" charset="-120"/>
              </a:rPr>
              <a:t>If the fall were a within effect, the plan would be an operational one: fix the process, retune the model, escalate to the provider. If it is a mix effect, none of that helps — every segment could be performing perfectly and the average would still fall. A mix problem is answered with pricing, routing rules and sales incentives, not with a performance programme. Getting this wrong does not produce a slightly suboptimal plan; it produces a plan aimed at a problem that does not exist.</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5 · CODE</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Twenty lines that carry the argument</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t5_core.py — _effects() returns the unrounded series; rounding happens only for display, so the residual stays exactly zero.</a:t>
            </a:r>
            <a:endParaRPr lang="en-US" sz="1300" dirty="0"/>
          </a:p>
        </p:txBody>
      </p:sp>
      <p:sp>
        <p:nvSpPr>
          <p:cNvPr id="5" name="Shape 3"/>
          <p:cNvSpPr/>
          <p:nvPr/>
        </p:nvSpPr>
        <p:spPr>
          <a:xfrm>
            <a:off x="548640" y="1627632"/>
            <a:ext cx="6766560" cy="3657600"/>
          </a:xfrm>
          <a:prstGeom prst="roundRect">
            <a:avLst>
              <a:gd name="adj" fmla="val 1250"/>
            </a:avLst>
          </a:prstGeom>
          <a:solidFill>
            <a:srgbClr val="16243A"/>
          </a:solidFill>
          <a:ln w="12700">
            <a:solidFill>
              <a:srgbClr val="2E5580"/>
            </a:solidFill>
            <a:prstDash val="solid"/>
          </a:ln>
        </p:spPr>
      </p:sp>
      <p:sp>
        <p:nvSpPr>
          <p:cNvPr id="6" name="Text 4"/>
          <p:cNvSpPr txBox="1"/>
          <p:nvPr/>
        </p:nvSpPr>
        <p:spPr>
          <a:xfrm>
            <a:off x="731520" y="1773936"/>
            <a:ext cx="6400800" cy="3364992"/>
          </a:xfrm>
          <a:prstGeom prst="rect">
            <a:avLst/>
          </a:prstGeom>
          <a:noFill/>
          <a:ln/>
        </p:spPr>
        <p:txBody>
          <a:bodyPr wrap="square" lIns="0" tIns="0" rIns="0" bIns="0" rtlCol="0" anchor="ctr"/>
          <a:lstStyle/>
          <a:p>
            <a:pPr indent="0" marL="0">
              <a:lnSpc>
                <a:spcPts val="1300"/>
              </a:lnSpc>
              <a:buNone/>
            </a:pPr>
            <a:r>
              <a:rPr lang="en-US" sz="1000" b="1" dirty="0">
                <a:solidFill>
                  <a:srgbClr val="7FD4D2"/>
                </a:solidFill>
                <a:latin typeface="Courier New" pitchFamily="34" charset="0"/>
                <a:ea typeface="Courier New" pitchFamily="34" charset="-122"/>
                <a:cs typeface="Courier New" pitchFamily="34" charset="-120"/>
              </a:rPr>
              <a:t>def _effects(f, dim, first, last):</a:t>
            </a:r>
            <a:endParaRPr lang="en-US" sz="1000" dirty="0"/>
          </a:p>
          <a:p>
            <a:pPr indent="0" marL="0">
              <a:lnSpc>
                <a:spcPts val="1300"/>
              </a:lnSpc>
              <a:buNone/>
            </a:pPr>
            <a:r>
              <a:rPr lang="en-US" sz="1000" dirty="0">
                <a:solidFill>
                  <a:srgbClr val="D6E2F0"/>
                </a:solidFill>
                <a:latin typeface="Courier New" pitchFamily="34" charset="0"/>
                <a:ea typeface="Courier New" pitchFamily="34" charset="-122"/>
                <a:cs typeface="Courier New" pitchFamily="34" charset="-120"/>
              </a:rPr>
              <a:t>    a, b = f[f.txn_month == first], f[f.txn_month == last]</a:t>
            </a:r>
            <a:endParaRPr lang="en-US" sz="1000" dirty="0"/>
          </a:p>
          <a:p>
            <a:pPr indent="0" marL="0">
              <a:lnSpc>
                <a:spcPts val="1300"/>
              </a:lnSpc>
              <a:buNone/>
            </a:pPr>
            <a:r>
              <a:rPr lang="en-US" sz="1000" dirty="0">
                <a:solidFill>
                  <a:srgbClr val="D6E2F0"/>
                </a:solidFill>
                <a:latin typeface="Courier New" pitchFamily="34" charset="0"/>
                <a:ea typeface="Courier New" pitchFamily="34" charset="-122"/>
                <a:cs typeface="Courier New" pitchFamily="34" charset="-120"/>
              </a:rPr>
              <a:t>    idx = sorted(set(a[dim].astype(str))</a:t>
            </a:r>
            <a:endParaRPr lang="en-US" sz="1000" dirty="0"/>
          </a:p>
          <a:p>
            <a:pPr indent="0" marL="0">
              <a:lnSpc>
                <a:spcPts val="1300"/>
              </a:lnSpc>
              <a:buNone/>
            </a:pPr>
            <a:r>
              <a:rPr lang="en-US" sz="1000" dirty="0">
                <a:solidFill>
                  <a:srgbClr val="D6E2F0"/>
                </a:solidFill>
                <a:latin typeface="Courier New" pitchFamily="34" charset="0"/>
                <a:ea typeface="Courier New" pitchFamily="34" charset="-122"/>
                <a:cs typeface="Courier New" pitchFamily="34" charset="-120"/>
              </a:rPr>
              <a:t>                 | set(b[dim].astype(str)))</a:t>
            </a:r>
            <a:endParaRPr lang="en-US" sz="1000" dirty="0"/>
          </a:p>
          <a:p>
            <a:pPr indent="0" marL="0">
              <a:lnSpc>
                <a:spcPts val="1300"/>
              </a:lnSpc>
              <a:buNone/>
            </a:pPr>
            <a:endParaRPr lang="en-US" sz="1000" dirty="0"/>
          </a:p>
          <a:p>
            <a:pPr indent="0" marL="0">
              <a:lnSpc>
                <a:spcPts val="1300"/>
              </a:lnSpc>
              <a:buNone/>
            </a:pPr>
            <a:r>
              <a:rPr lang="en-US" sz="1000" dirty="0">
                <a:solidFill>
                  <a:srgbClr val="D6E2F0"/>
                </a:solidFill>
                <a:latin typeface="Courier New" pitchFamily="34" charset="0"/>
                <a:ea typeface="Courier New" pitchFamily="34" charset="-122"/>
                <a:cs typeface="Courier New" pitchFamily="34" charset="-120"/>
              </a:rPr>
              <a:t>    w0 = a[dim].value_counts(normalize=True).reindex(idx).fillna(0)</a:t>
            </a:r>
            <a:endParaRPr lang="en-US" sz="1000" dirty="0"/>
          </a:p>
          <a:p>
            <a:pPr indent="0" marL="0">
              <a:lnSpc>
                <a:spcPts val="1300"/>
              </a:lnSpc>
              <a:buNone/>
            </a:pPr>
            <a:r>
              <a:rPr lang="en-US" sz="1000" dirty="0">
                <a:solidFill>
                  <a:srgbClr val="D6E2F0"/>
                </a:solidFill>
                <a:latin typeface="Courier New" pitchFamily="34" charset="0"/>
                <a:ea typeface="Courier New" pitchFamily="34" charset="-122"/>
                <a:cs typeface="Courier New" pitchFamily="34" charset="-120"/>
              </a:rPr>
              <a:t>    w1 = b[dim].value_counts(normalize=True).reindex(idx).fillna(0)</a:t>
            </a:r>
            <a:endParaRPr lang="en-US" sz="1000" dirty="0"/>
          </a:p>
          <a:p>
            <a:pPr indent="0" marL="0">
              <a:lnSpc>
                <a:spcPts val="1300"/>
              </a:lnSpc>
              <a:buNone/>
            </a:pPr>
            <a:r>
              <a:rPr lang="en-US" sz="1000" dirty="0">
                <a:solidFill>
                  <a:srgbClr val="D6E2F0"/>
                </a:solidFill>
                <a:latin typeface="Courier New" pitchFamily="34" charset="0"/>
                <a:ea typeface="Courier New" pitchFamily="34" charset="-122"/>
                <a:cs typeface="Courier New" pitchFamily="34" charset="-120"/>
              </a:rPr>
              <a:t>    c0 = a.groupby(dim).contribution_usd.mean().reindex(idx).fillna(0)</a:t>
            </a:r>
            <a:endParaRPr lang="en-US" sz="1000" dirty="0"/>
          </a:p>
          <a:p>
            <a:pPr indent="0" marL="0">
              <a:lnSpc>
                <a:spcPts val="1300"/>
              </a:lnSpc>
              <a:buNone/>
            </a:pPr>
            <a:r>
              <a:rPr lang="en-US" sz="1000" dirty="0">
                <a:solidFill>
                  <a:srgbClr val="D6E2F0"/>
                </a:solidFill>
                <a:latin typeface="Courier New" pitchFamily="34" charset="0"/>
                <a:ea typeface="Courier New" pitchFamily="34" charset="-122"/>
                <a:cs typeface="Courier New" pitchFamily="34" charset="-120"/>
              </a:rPr>
              <a:t>    c1 = b.groupby(dim).contribution_usd.mean().reindex(idx).fillna(0)</a:t>
            </a:r>
            <a:endParaRPr lang="en-US" sz="1000" dirty="0"/>
          </a:p>
          <a:p>
            <a:pPr indent="0" marL="0">
              <a:lnSpc>
                <a:spcPts val="1300"/>
              </a:lnSpc>
              <a:buNone/>
            </a:pPr>
            <a:endParaRPr lang="en-US" sz="1000" dirty="0"/>
          </a:p>
          <a:p>
            <a:pPr indent="0" marL="0">
              <a:lnSpc>
                <a:spcPts val="1300"/>
              </a:lnSpc>
              <a:buNone/>
            </a:pPr>
            <a:r>
              <a:rPr lang="en-US" sz="1000" dirty="0">
                <a:solidFill>
                  <a:srgbClr val="D6E2F0"/>
                </a:solidFill>
                <a:latin typeface="Courier New" pitchFamily="34" charset="0"/>
                <a:ea typeface="Courier New" pitchFamily="34" charset="-122"/>
                <a:cs typeface="Courier New" pitchFamily="34" charset="-120"/>
              </a:rPr>
              <a:t>    return idx, w0, w1, c0, c1, \</a:t>
            </a:r>
            <a:endParaRPr lang="en-US" sz="1000" dirty="0"/>
          </a:p>
          <a:p>
            <a:pPr indent="0" marL="0">
              <a:lnSpc>
                <a:spcPts val="1300"/>
              </a:lnSpc>
              <a:buNone/>
            </a:pPr>
            <a:r>
              <a:rPr lang="en-US" sz="1000" b="1" dirty="0">
                <a:solidFill>
                  <a:srgbClr val="F2B366"/>
                </a:solidFill>
                <a:latin typeface="Courier New" pitchFamily="34" charset="0"/>
                <a:ea typeface="Courier New" pitchFamily="34" charset="-122"/>
                <a:cs typeface="Courier New" pitchFamily="34" charset="-120"/>
              </a:rPr>
              <a:t>           (w1 - w0) * c0,   # mix</a:t>
            </a:r>
            <a:endParaRPr lang="en-US" sz="1000" dirty="0"/>
          </a:p>
          <a:p>
            <a:pPr indent="0" marL="0">
              <a:lnSpc>
                <a:spcPts val="1300"/>
              </a:lnSpc>
              <a:buNone/>
            </a:pPr>
            <a:r>
              <a:rPr lang="en-US" sz="1000" b="1" dirty="0">
                <a:solidFill>
                  <a:srgbClr val="7FD4D2"/>
                </a:solidFill>
                <a:latin typeface="Courier New" pitchFamily="34" charset="0"/>
                <a:ea typeface="Courier New" pitchFamily="34" charset="-122"/>
                <a:cs typeface="Courier New" pitchFamily="34" charset="-120"/>
              </a:rPr>
              <a:t>           w1 * (c1 - c0)    # within</a:t>
            </a:r>
            <a:endParaRPr lang="en-US" sz="1000" dirty="0"/>
          </a:p>
        </p:txBody>
      </p:sp>
      <p:sp>
        <p:nvSpPr>
          <p:cNvPr id="7" name="Shape 5"/>
          <p:cNvSpPr/>
          <p:nvPr/>
        </p:nvSpPr>
        <p:spPr>
          <a:xfrm>
            <a:off x="7589520" y="1627632"/>
            <a:ext cx="402336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8" name="Text 6"/>
          <p:cNvSpPr txBox="1"/>
          <p:nvPr/>
        </p:nvSpPr>
        <p:spPr>
          <a:xfrm>
            <a:off x="7772400" y="1719072"/>
            <a:ext cx="3657600" cy="237744"/>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The union of both indexes</a:t>
            </a:r>
            <a:endParaRPr lang="en-US" sz="1100" dirty="0"/>
          </a:p>
        </p:txBody>
      </p:sp>
      <p:sp>
        <p:nvSpPr>
          <p:cNvPr id="9" name="Text 7"/>
          <p:cNvSpPr txBox="1"/>
          <p:nvPr/>
        </p:nvSpPr>
        <p:spPr>
          <a:xfrm>
            <a:off x="7772400" y="1956816"/>
            <a:ext cx="3657600" cy="548640"/>
          </a:xfrm>
          <a:prstGeom prst="rect">
            <a:avLst/>
          </a:prstGeom>
          <a:noFill/>
          <a:ln/>
        </p:spPr>
        <p:txBody>
          <a:bodyPr wrap="square" lIns="0" tIns="0" rIns="0" bIns="0" rtlCol="0" anchor="ctr"/>
          <a:lstStyle/>
          <a:p>
            <a:pPr indent="0" marL="0">
              <a:lnSpc>
                <a:spcPts val="1150"/>
              </a:lnSpc>
              <a:buNone/>
            </a:pPr>
            <a:r>
              <a:rPr lang="en-US" sz="950" dirty="0">
                <a:solidFill>
                  <a:srgbClr val="4A5663"/>
                </a:solidFill>
                <a:latin typeface="Calibri" pitchFamily="34" charset="0"/>
                <a:ea typeface="Calibri" pitchFamily="34" charset="-122"/>
                <a:cs typeface="Calibri" pitchFamily="34" charset="-120"/>
              </a:rPr>
              <a:t>A segment present in December but absent in January must appear with weight 0, not be dropped. Drop it and the weights no longer sum to 1, and the residual stops being zero.</a:t>
            </a:r>
            <a:endParaRPr lang="en-US" sz="950" dirty="0"/>
          </a:p>
        </p:txBody>
      </p:sp>
      <p:sp>
        <p:nvSpPr>
          <p:cNvPr id="10" name="Shape 8"/>
          <p:cNvSpPr/>
          <p:nvPr/>
        </p:nvSpPr>
        <p:spPr>
          <a:xfrm>
            <a:off x="7589520" y="2651760"/>
            <a:ext cx="402336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1" name="Text 9"/>
          <p:cNvSpPr txBox="1"/>
          <p:nvPr/>
        </p:nvSpPr>
        <p:spPr>
          <a:xfrm>
            <a:off x="7772400" y="2743200"/>
            <a:ext cx="3657600" cy="237744"/>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fillna(0) on weights, not on contribution</a:t>
            </a:r>
            <a:endParaRPr lang="en-US" sz="1100" dirty="0"/>
          </a:p>
        </p:txBody>
      </p:sp>
      <p:sp>
        <p:nvSpPr>
          <p:cNvPr id="12" name="Text 10"/>
          <p:cNvSpPr txBox="1"/>
          <p:nvPr/>
        </p:nvSpPr>
        <p:spPr>
          <a:xfrm>
            <a:off x="7772400" y="2980944"/>
            <a:ext cx="3657600" cy="548640"/>
          </a:xfrm>
          <a:prstGeom prst="rect">
            <a:avLst/>
          </a:prstGeom>
          <a:noFill/>
          <a:ln/>
        </p:spPr>
        <p:txBody>
          <a:bodyPr wrap="square" lIns="0" tIns="0" rIns="0" bIns="0" rtlCol="0" anchor="ctr"/>
          <a:lstStyle/>
          <a:p>
            <a:pPr indent="0" marL="0">
              <a:lnSpc>
                <a:spcPts val="1150"/>
              </a:lnSpc>
              <a:buNone/>
            </a:pPr>
            <a:r>
              <a:rPr lang="en-US" sz="950" dirty="0">
                <a:solidFill>
                  <a:srgbClr val="4A5663"/>
                </a:solidFill>
                <a:latin typeface="Calibri" pitchFamily="34" charset="0"/>
                <a:ea typeface="Calibri" pitchFamily="34" charset="-122"/>
                <a:cs typeface="Calibri" pitchFamily="34" charset="-120"/>
              </a:rPr>
              <a:t>A missing weight is genuinely zero. A missing contribution is not — it only appears alongside a zero weight, where it is multiplied out anyway.</a:t>
            </a:r>
            <a:endParaRPr lang="en-US" sz="950" dirty="0"/>
          </a:p>
        </p:txBody>
      </p:sp>
      <p:sp>
        <p:nvSpPr>
          <p:cNvPr id="13" name="Shape 11"/>
          <p:cNvSpPr/>
          <p:nvPr/>
        </p:nvSpPr>
        <p:spPr>
          <a:xfrm>
            <a:off x="7589520" y="3675888"/>
            <a:ext cx="402336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Text 12"/>
          <p:cNvSpPr txBox="1"/>
          <p:nvPr/>
        </p:nvSpPr>
        <p:spPr>
          <a:xfrm>
            <a:off x="7772400" y="3767328"/>
            <a:ext cx="3657600" cy="237744"/>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Rounding is display-only</a:t>
            </a:r>
            <a:endParaRPr lang="en-US" sz="1100" dirty="0"/>
          </a:p>
        </p:txBody>
      </p:sp>
      <p:sp>
        <p:nvSpPr>
          <p:cNvPr id="15" name="Text 13"/>
          <p:cNvSpPr txBox="1"/>
          <p:nvPr/>
        </p:nvSpPr>
        <p:spPr>
          <a:xfrm>
            <a:off x="7772400" y="4005072"/>
            <a:ext cx="3657600" cy="548640"/>
          </a:xfrm>
          <a:prstGeom prst="rect">
            <a:avLst/>
          </a:prstGeom>
          <a:noFill/>
          <a:ln/>
        </p:spPr>
        <p:txBody>
          <a:bodyPr wrap="square" lIns="0" tIns="0" rIns="0" bIns="0" rtlCol="0" anchor="ctr"/>
          <a:lstStyle/>
          <a:p>
            <a:pPr indent="0" marL="0">
              <a:lnSpc>
                <a:spcPts val="1150"/>
              </a:lnSpc>
              <a:buNone/>
            </a:pPr>
            <a:r>
              <a:rPr lang="en-US" sz="950" dirty="0">
                <a:solidFill>
                  <a:srgbClr val="4A5663"/>
                </a:solidFill>
                <a:latin typeface="Calibri" pitchFamily="34" charset="0"/>
                <a:ea typeface="Calibri" pitchFamily="34" charset="-122"/>
                <a:cs typeface="Calibri" pitchFamily="34" charset="-120"/>
              </a:rPr>
              <a:t>Rounding inside the calculation is how a residual of 0 becomes a residual of 0.0003 and a reviewer stops trusting the identity.</a:t>
            </a:r>
            <a:endParaRPr lang="en-US" sz="950" dirty="0"/>
          </a:p>
        </p:txBody>
      </p:sp>
      <p:sp>
        <p:nvSpPr>
          <p:cNvPr id="16" name="Shape 14"/>
          <p:cNvSpPr/>
          <p:nvPr/>
        </p:nvSpPr>
        <p:spPr>
          <a:xfrm>
            <a:off x="7589520" y="4700016"/>
            <a:ext cx="402336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7" name="Text 15"/>
          <p:cNvSpPr txBox="1"/>
          <p:nvPr/>
        </p:nvSpPr>
        <p:spPr>
          <a:xfrm>
            <a:off x="7772400" y="4791456"/>
            <a:ext cx="3657600" cy="237744"/>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Missing merchants get their own segment</a:t>
            </a:r>
            <a:endParaRPr lang="en-US" sz="1100" dirty="0"/>
          </a:p>
        </p:txBody>
      </p:sp>
      <p:sp>
        <p:nvSpPr>
          <p:cNvPr id="18" name="Text 16"/>
          <p:cNvSpPr txBox="1"/>
          <p:nvPr/>
        </p:nvSpPr>
        <p:spPr>
          <a:xfrm>
            <a:off x="7772400" y="5029200"/>
            <a:ext cx="3657600" cy="548640"/>
          </a:xfrm>
          <a:prstGeom prst="rect">
            <a:avLst/>
          </a:prstGeom>
          <a:noFill/>
          <a:ln/>
        </p:spPr>
        <p:txBody>
          <a:bodyPr wrap="square" lIns="0" tIns="0" rIns="0" bIns="0" rtlCol="0" anchor="ctr"/>
          <a:lstStyle/>
          <a:p>
            <a:pPr indent="0" marL="0">
              <a:lnSpc>
                <a:spcPts val="1150"/>
              </a:lnSpc>
              <a:buNone/>
            </a:pPr>
            <a:r>
              <a:rPr lang="en-US" sz="950" dirty="0">
                <a:solidFill>
                  <a:srgbClr val="4A5663"/>
                </a:solidFill>
                <a:latin typeface="Calibri" pitchFamily="34" charset="0"/>
                <a:ea typeface="Calibri" pitchFamily="34" charset="-122"/>
                <a:cs typeface="Calibri" pitchFamily="34" charset="-120"/>
              </a:rPr>
              <a:t>"(unknown)" is a segment, not a dropped row. Dropping it would break the identity and quietly delete 0.68% of real payments.</a:t>
            </a:r>
            <a:endParaRPr lang="en-US" sz="950" dirty="0"/>
          </a:p>
        </p:txBody>
      </p:sp>
      <p:sp>
        <p:nvSpPr>
          <p:cNvPr id="19" name="Text 17"/>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The same function is run over nine dimensions. A dimension where mix and within both come out near zero is not a failure — it is evidence that the dimension is not where the story lives.</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5 · OUTPUT</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Nine dimensions decomposed. One of them answers the question.</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Every row sums to the same actual change of −$0.5310, with residual zero. That is the check that the arithmetic is right before the interpretation starts.</a:t>
            </a:r>
            <a:endParaRPr lang="en-US" sz="1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64240" cy="914400"/>
        </p:xfrm>
        <a:graphic>
          <a:graphicData uri="http://schemas.openxmlformats.org/drawingml/2006/table">
            <a:tbl>
              <a:tblPr/>
              <a:tblGrid>
                <a:gridCol w="1965960"/>
                <a:gridCol w="1143000"/>
                <a:gridCol w="1234440"/>
                <a:gridCol w="1005840"/>
                <a:gridCol w="960120"/>
                <a:gridCol w="1005840"/>
                <a:gridCol w="3749040"/>
              </a:tblGrid>
              <a:tr h="40233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Dimension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Mix effect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Within effect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Sum</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Mix share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Residual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Reading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Ticket size band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−$0.4719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−$0.0609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88.6%</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The answer. Small tickets took over the book.</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Category × country cohort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−$0.4296</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−$0.1014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80.9%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Same story named differently — DIGITAL_GOODS in SG and AE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Merchant category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−$0.41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−$0.12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~77%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Consistent; the cohort view is sharper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Provider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moderate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mixed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Routing drift shows up here as a within effect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Payment channel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moderate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mostly mix</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WALLET grows with the small-ticket cohort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Merchant country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moderate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mostly mix</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SG and AE gain share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Customer segment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Not where the story lives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Merchant risk band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Disproves H3a — risk weights are stable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Pricing plan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moderate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 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~all mix</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Disproves H1b — no plan's own rate fell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Ticket band and the category-country cohort are two views of one phenomenon, which is why they agree: the cohort that grew is the cohort with a $14 median ticket. Reporting both is the honest thing to do — reporting only the higher number would be shopping for a headline.</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5 · OUTPUT</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The mechanism: what grew, what shrank, and what it cost</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The mix effect comes as much from high-value cohorts losing share as from the small-ticket cohort gaining it. An analyst who only looks at what grew misses half the story.</a:t>
            </a:r>
            <a:endParaRPr lang="en-US" sz="1300" dirty="0"/>
          </a:p>
        </p:txBody>
      </p:sp>
      <p:sp>
        <p:nvSpPr>
          <p:cNvPr id="5" name="Shape 3"/>
          <p:cNvSpPr/>
          <p:nvPr/>
        </p:nvSpPr>
        <p:spPr>
          <a:xfrm>
            <a:off x="548640" y="1627632"/>
            <a:ext cx="5486400" cy="4023360"/>
          </a:xfrm>
          <a:prstGeom prst="roundRect">
            <a:avLst>
              <a:gd name="adj" fmla="val 1364"/>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graphicFrame>
        <p:nvGraphicFramePr>
          <p:cNvPr id="6" name="Chart 0" descr=""/>
          <p:cNvGraphicFramePr/>
          <p:nvPr/>
        </p:nvGraphicFramePr>
        <p:xfrm>
          <a:off x="713232" y="1783080"/>
          <a:ext cx="5166360" cy="3703320"/>
        </p:xfrm>
        <a:graphic xmlns:a="http://schemas.openxmlformats.org/drawingml/2006/main">
          <a:graphicData uri="http://schemas.openxmlformats.org/drawingml/2006/chart">
            <c:chart xmlns:c="http://schemas.openxmlformats.org/drawingml/2006/chart" r:id="rId1"/>
          </a:graphicData>
        </a:graphic>
      </p:graphicFrame>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309360" y="1627632"/>
          <a:ext cx="5303520" cy="914400"/>
        </p:xfrm>
        <a:graphic>
          <a:graphicData uri="http://schemas.openxmlformats.org/drawingml/2006/table">
            <a:tbl>
              <a:tblPr/>
              <a:tblGrid>
                <a:gridCol w="1691640"/>
                <a:gridCol w="868680"/>
                <a:gridCol w="868680"/>
                <a:gridCol w="914400"/>
                <a:gridCol w="960120"/>
              </a:tblGrid>
              <a:tr h="40233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Cohort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Weight Jan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Weight Dec</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Contrib / txn Jan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Contrib / txn Dec</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DIGITAL SME, SG+AE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33.9%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$0.083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33D3D"/>
                          </a:solidFill>
                          <a:latin typeface="Calibri" pitchFamily="34" charset="0"/>
                          <a:ea typeface="Calibri" pitchFamily="34" charset="-122"/>
                          <a:cs typeface="Calibri" pitchFamily="34" charset="-120"/>
                        </a:rPr>
                        <a:t>−$0.138</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TRAVEL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12.4%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9.0%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$5.06</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$4.72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ELECTRONICS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7.1%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5.2%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$4.09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$4.66</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GROCERY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30.2%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21.6%</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$1.03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SERVICES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18.9%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13.2%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$1.16</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$1.23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GAMING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15.0%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11.2%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DIGITAL_GOODS (other)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5.9%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$0.71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6309360" y="5120640"/>
            <a:ext cx="5303520" cy="256032"/>
          </a:xfrm>
          <a:prstGeom prst="rect">
            <a:avLst/>
          </a:prstGeom>
          <a:noFill/>
          <a:ln/>
        </p:spPr>
        <p:txBody>
          <a:bodyPr wrap="square" lIns="0" tIns="0" rIns="0" bIns="0" rtlCol="0" anchor="ctr"/>
          <a:lstStyle/>
          <a:p>
            <a:pPr indent="0" marL="0">
              <a:buNone/>
            </a:pPr>
            <a:r>
              <a:rPr lang="en-US" sz="1200" b="1" dirty="0">
                <a:solidFill>
                  <a:srgbClr val="12233C"/>
                </a:solidFill>
                <a:latin typeface="Calibri" pitchFamily="34" charset="0"/>
                <a:ea typeface="Calibri" pitchFamily="34" charset="-122"/>
                <a:cs typeface="Calibri" pitchFamily="34" charset="-120"/>
              </a:rPr>
              <a:t>Read the last column</a:t>
            </a:r>
            <a:endParaRPr lang="en-US" sz="1200" dirty="0"/>
          </a:p>
        </p:txBody>
      </p:sp>
      <p:sp>
        <p:nvSpPr>
          <p:cNvPr id="9" name="Text 5"/>
          <p:cNvSpPr txBox="1"/>
          <p:nvPr/>
        </p:nvSpPr>
        <p:spPr>
          <a:xfrm>
            <a:off x="6309360" y="5394960"/>
            <a:ext cx="5303520" cy="566928"/>
          </a:xfrm>
          <a:prstGeom prst="rect">
            <a:avLst/>
          </a:prstGeom>
          <a:noFill/>
          <a:ln/>
        </p:spPr>
        <p:txBody>
          <a:bodyPr wrap="square" lIns="0" tIns="0" rIns="0" bIns="0" rtlCol="0" anchor="ctr"/>
          <a:lstStyle/>
          <a:p>
            <a:pPr indent="0" marL="0">
              <a:lnSpc>
                <a:spcPts val="1400"/>
              </a:lnSpc>
              <a:buNone/>
            </a:pPr>
            <a:r>
              <a:rPr lang="en-US" sz="1100" dirty="0">
                <a:solidFill>
                  <a:srgbClr val="4A5663"/>
                </a:solidFill>
                <a:latin typeface="Calibri" pitchFamily="34" charset="0"/>
                <a:ea typeface="Calibri" pitchFamily="34" charset="-122"/>
                <a:cs typeface="Calibri" pitchFamily="34" charset="-120"/>
              </a:rPr>
              <a:t>Three of seven cohorts IMPROVED their own economics. Exactly one goes negative — and it is the one that quadrupled its share. That is what a mix problem looks like from the inside.</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5 · OUTPUT</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The bridge: which component of the formula actually moved</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Decomposing the same fall a second way — by formula component rather than by segment — and getting a consistent answer is the cross-check.</a:t>
            </a:r>
            <a:endParaRPr lang="en-US" sz="1300" dirty="0"/>
          </a:p>
        </p:txBody>
      </p:sp>
      <p:sp>
        <p:nvSpPr>
          <p:cNvPr id="5" name="Shape 3"/>
          <p:cNvSpPr/>
          <p:nvPr/>
        </p:nvSpPr>
        <p:spPr>
          <a:xfrm>
            <a:off x="548640" y="1627632"/>
            <a:ext cx="6400800" cy="4023360"/>
          </a:xfrm>
          <a:prstGeom prst="roundRect">
            <a:avLst>
              <a:gd name="adj" fmla="val 1364"/>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graphicFrame>
        <p:nvGraphicFramePr>
          <p:cNvPr id="6" name="Chart 0" descr=""/>
          <p:cNvGraphicFramePr/>
          <p:nvPr/>
        </p:nvGraphicFramePr>
        <p:xfrm>
          <a:off x="713232" y="1810512"/>
          <a:ext cx="6080760" cy="36576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223760" y="1627632"/>
            <a:ext cx="438912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8" name="Text 5"/>
          <p:cNvSpPr txBox="1"/>
          <p:nvPr/>
        </p:nvSpPr>
        <p:spPr>
          <a:xfrm>
            <a:off x="7406640" y="1719072"/>
            <a:ext cx="4023360" cy="237744"/>
          </a:xfrm>
          <a:prstGeom prst="rect">
            <a:avLst/>
          </a:prstGeom>
          <a:noFill/>
          <a:ln/>
        </p:spPr>
        <p:txBody>
          <a:bodyPr wrap="square" lIns="0" tIns="0" rIns="0" bIns="0" rtlCol="0" anchor="ctr"/>
          <a:lstStyle/>
          <a:p>
            <a:pPr indent="0" marL="0">
              <a:buNone/>
            </a:pPr>
            <a:r>
              <a:rPr lang="en-US" sz="1150" b="1" dirty="0">
                <a:solidFill>
                  <a:srgbClr val="12233C"/>
                </a:solidFill>
                <a:latin typeface="Calibri" pitchFamily="34" charset="0"/>
                <a:ea typeface="Calibri" pitchFamily="34" charset="-122"/>
                <a:cs typeface="Calibri" pitchFamily="34" charset="-120"/>
              </a:rPr>
              <a:t>Revenue did all the damage</a:t>
            </a:r>
            <a:endParaRPr lang="en-US" sz="1150" dirty="0"/>
          </a:p>
        </p:txBody>
      </p:sp>
      <p:sp>
        <p:nvSpPr>
          <p:cNvPr id="9" name="Text 6"/>
          <p:cNvSpPr txBox="1"/>
          <p:nvPr/>
        </p:nvSpPr>
        <p:spPr>
          <a:xfrm>
            <a:off x="7406640" y="1956816"/>
            <a:ext cx="4023360" cy="548640"/>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−$0.744 per transaction. A percentage fee on a $14 ticket returns about $0.48; on a $600 ticket it returns $12.</a:t>
            </a:r>
            <a:endParaRPr lang="en-US" sz="1000" dirty="0"/>
          </a:p>
        </p:txBody>
      </p:sp>
      <p:sp>
        <p:nvSpPr>
          <p:cNvPr id="10" name="Shape 7"/>
          <p:cNvSpPr/>
          <p:nvPr/>
        </p:nvSpPr>
        <p:spPr>
          <a:xfrm>
            <a:off x="7223760" y="2651760"/>
            <a:ext cx="438912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1" name="Text 8"/>
          <p:cNvSpPr txBox="1"/>
          <p:nvPr/>
        </p:nvSpPr>
        <p:spPr>
          <a:xfrm>
            <a:off x="7406640" y="2743200"/>
            <a:ext cx="4023360" cy="237744"/>
          </a:xfrm>
          <a:prstGeom prst="rect">
            <a:avLst/>
          </a:prstGeom>
          <a:noFill/>
          <a:ln/>
        </p:spPr>
        <p:txBody>
          <a:bodyPr wrap="square" lIns="0" tIns="0" rIns="0" bIns="0" rtlCol="0" anchor="ctr"/>
          <a:lstStyle/>
          <a:p>
            <a:pPr indent="0" marL="0">
              <a:buNone/>
            </a:pPr>
            <a:r>
              <a:rPr lang="en-US" sz="1150" b="1" dirty="0">
                <a:solidFill>
                  <a:srgbClr val="12233C"/>
                </a:solidFill>
                <a:latin typeface="Calibri" pitchFamily="34" charset="0"/>
                <a:ea typeface="Calibri" pitchFamily="34" charset="-122"/>
                <a:cs typeface="Calibri" pitchFamily="34" charset="-120"/>
              </a:rPr>
              <a:t>Costs actually improved</a:t>
            </a:r>
            <a:endParaRPr lang="en-US" sz="1150" dirty="0"/>
          </a:p>
        </p:txBody>
      </p:sp>
      <p:sp>
        <p:nvSpPr>
          <p:cNvPr id="12" name="Text 9"/>
          <p:cNvSpPr txBox="1"/>
          <p:nvPr/>
        </p:nvSpPr>
        <p:spPr>
          <a:xfrm>
            <a:off x="7406640" y="2980944"/>
            <a:ext cx="4023360" cy="548640"/>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Processing cost per transaction fell from $1.08 to $0.97 and chargeback cost from $0.25 to $0.15 — both help contribution, both are positive bars.</a:t>
            </a:r>
            <a:endParaRPr lang="en-US" sz="1000" dirty="0"/>
          </a:p>
        </p:txBody>
      </p:sp>
      <p:sp>
        <p:nvSpPr>
          <p:cNvPr id="13" name="Shape 10"/>
          <p:cNvSpPr/>
          <p:nvPr/>
        </p:nvSpPr>
        <p:spPr>
          <a:xfrm>
            <a:off x="7223760" y="3675888"/>
            <a:ext cx="438912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Text 11"/>
          <p:cNvSpPr txBox="1"/>
          <p:nvPr/>
        </p:nvSpPr>
        <p:spPr>
          <a:xfrm>
            <a:off x="7406640" y="3767328"/>
            <a:ext cx="4023360" cy="237744"/>
          </a:xfrm>
          <a:prstGeom prst="rect">
            <a:avLst/>
          </a:prstGeom>
          <a:noFill/>
          <a:ln/>
        </p:spPr>
        <p:txBody>
          <a:bodyPr wrap="square" lIns="0" tIns="0" rIns="0" bIns="0" rtlCol="0" anchor="ctr"/>
          <a:lstStyle/>
          <a:p>
            <a:pPr indent="0" marL="0">
              <a:buNone/>
            </a:pPr>
            <a:r>
              <a:rPr lang="en-US" sz="1150" b="1" dirty="0">
                <a:solidFill>
                  <a:srgbClr val="12233C"/>
                </a:solidFill>
                <a:latin typeface="Calibri" pitchFamily="34" charset="0"/>
                <a:ea typeface="Calibri" pitchFamily="34" charset="-122"/>
                <a:cs typeface="Calibri" pitchFamily="34" charset="-120"/>
              </a:rPr>
              <a:t>So the cost story is dead</a:t>
            </a:r>
            <a:endParaRPr lang="en-US" sz="1150" dirty="0"/>
          </a:p>
        </p:txBody>
      </p:sp>
      <p:sp>
        <p:nvSpPr>
          <p:cNvPr id="15" name="Text 12"/>
          <p:cNvSpPr txBox="1"/>
          <p:nvPr/>
        </p:nvSpPr>
        <p:spPr>
          <a:xfrm>
            <a:off x="7406640" y="4005072"/>
            <a:ext cx="4023360" cy="548640"/>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Any recommendation built on "our costs are rising" is contradicted by the model's own output. The routing fix is about cost per SMALL transaction, which is a different claim.</a:t>
            </a:r>
            <a:endParaRPr lang="en-US" sz="1000" dirty="0"/>
          </a:p>
        </p:txBody>
      </p:sp>
      <p:sp>
        <p:nvSpPr>
          <p:cNvPr id="16" name="Shape 13"/>
          <p:cNvSpPr/>
          <p:nvPr/>
        </p:nvSpPr>
        <p:spPr>
          <a:xfrm>
            <a:off x="7223760" y="4700016"/>
            <a:ext cx="438912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7" name="Text 14"/>
          <p:cNvSpPr txBox="1"/>
          <p:nvPr/>
        </p:nvSpPr>
        <p:spPr>
          <a:xfrm>
            <a:off x="7406640" y="4791456"/>
            <a:ext cx="4023360" cy="237744"/>
          </a:xfrm>
          <a:prstGeom prst="rect">
            <a:avLst/>
          </a:prstGeom>
          <a:noFill/>
          <a:ln/>
        </p:spPr>
        <p:txBody>
          <a:bodyPr wrap="square" lIns="0" tIns="0" rIns="0" bIns="0" rtlCol="0" anchor="ctr"/>
          <a:lstStyle/>
          <a:p>
            <a:pPr indent="0" marL="0">
              <a:buNone/>
            </a:pPr>
            <a:r>
              <a:rPr lang="en-US" sz="1150" b="1" dirty="0">
                <a:solidFill>
                  <a:srgbClr val="6B7785"/>
                </a:solidFill>
                <a:latin typeface="Calibri" pitchFamily="34" charset="0"/>
                <a:ea typeface="Calibri" pitchFamily="34" charset="-122"/>
                <a:cs typeface="Calibri" pitchFamily="34" charset="-120"/>
              </a:rPr>
              <a:t>FX is the memo line</a:t>
            </a:r>
            <a:endParaRPr lang="en-US" sz="1150" dirty="0"/>
          </a:p>
        </p:txBody>
      </p:sp>
      <p:sp>
        <p:nvSpPr>
          <p:cNvPr id="18" name="Text 15"/>
          <p:cNvSpPr txBox="1"/>
          <p:nvPr/>
        </p:nvSpPr>
        <p:spPr>
          <a:xfrm>
            <a:off x="7406640" y="5029200"/>
            <a:ext cx="4023360" cy="548640"/>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FX drag moves from −$0.01 to −$0.09, roughly 16% of the fall. Real, secondary, and already inside the revenue bar — not added on top.</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2233C"/>
        </a:solidFill>
      </p:bgPr>
    </p:bg>
    <p:spTree>
      <p:nvGrpSpPr>
        <p:cNvPr id="1" name=""/>
        <p:cNvGrpSpPr/>
        <p:nvPr/>
      </p:nvGrpSpPr>
      <p:grpSpPr>
        <a:xfrm>
          <a:off x="0" y="0"/>
          <a:ext cx="0" cy="0"/>
          <a:chOff x="0" y="0"/>
          <a:chExt cx="0" cy="0"/>
        </a:xfrm>
      </p:grpSpPr>
      <p:sp>
        <p:nvSpPr>
          <p:cNvPr id="2" name="Text 0"/>
          <p:cNvSpPr txBox="1"/>
          <p:nvPr/>
        </p:nvSpPr>
        <p:spPr>
          <a:xfrm>
            <a:off x="822960" y="1828800"/>
            <a:ext cx="2743200" cy="1737360"/>
          </a:xfrm>
          <a:prstGeom prst="rect">
            <a:avLst/>
          </a:prstGeom>
          <a:noFill/>
          <a:ln/>
        </p:spPr>
        <p:txBody>
          <a:bodyPr wrap="square" lIns="0" tIns="0" rIns="0" bIns="0" rtlCol="0" anchor="ctr"/>
          <a:lstStyle/>
          <a:p>
            <a:pPr indent="0" marL="0">
              <a:buNone/>
            </a:pPr>
            <a:r>
              <a:rPr lang="en-US" sz="9600" b="1" dirty="0">
                <a:solidFill>
                  <a:srgbClr val="24406A"/>
                </a:solidFill>
                <a:latin typeface="Cambria" pitchFamily="34" charset="0"/>
                <a:ea typeface="Cambria" pitchFamily="34" charset="-122"/>
                <a:cs typeface="Cambria" pitchFamily="34" charset="-120"/>
              </a:rPr>
              <a:t>06</a:t>
            </a:r>
            <a:endParaRPr lang="en-US" sz="9600" dirty="0"/>
          </a:p>
        </p:txBody>
      </p:sp>
      <p:sp>
        <p:nvSpPr>
          <p:cNvPr id="3" name="Text 1"/>
          <p:cNvSpPr txBox="1"/>
          <p:nvPr/>
        </p:nvSpPr>
        <p:spPr>
          <a:xfrm>
            <a:off x="3108960" y="2148840"/>
            <a:ext cx="841248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Operational and commercial diagnosis</a:t>
            </a:r>
            <a:endParaRPr lang="en-US" sz="3400" dirty="0"/>
          </a:p>
        </p:txBody>
      </p:sp>
      <p:sp>
        <p:nvSpPr>
          <p:cNvPr id="4" name="Text 2"/>
          <p:cNvSpPr txBox="1"/>
          <p:nvPr/>
        </p:nvSpPr>
        <p:spPr>
          <a:xfrm>
            <a:off x="3154680" y="3017520"/>
            <a:ext cx="8229600" cy="457200"/>
          </a:xfrm>
          <a:prstGeom prst="rect">
            <a:avLst/>
          </a:prstGeom>
          <a:noFill/>
          <a:ln/>
        </p:spPr>
        <p:txBody>
          <a:bodyPr wrap="square" lIns="0" tIns="0" rIns="0" bIns="0" rtlCol="0" anchor="ctr"/>
          <a:lstStyle/>
          <a:p>
            <a:pPr indent="0" marL="0">
              <a:lnSpc>
                <a:spcPts val="2000"/>
              </a:lnSpc>
              <a:buNone/>
            </a:pPr>
            <a:r>
              <a:rPr lang="en-US" sz="1500" dirty="0">
                <a:solidFill>
                  <a:srgbClr val="8FA6C4"/>
                </a:solidFill>
                <a:latin typeface="Calibri" pitchFamily="34" charset="0"/>
                <a:ea typeface="Calibri" pitchFamily="34" charset="-122"/>
                <a:cs typeface="Calibri" pitchFamily="34" charset="-120"/>
              </a:rPr>
              <a:t>Task 6 — Testing what the room believed</a:t>
            </a:r>
            <a:endParaRPr lang="en-US" sz="1500" dirty="0"/>
          </a:p>
        </p:txBody>
      </p:sp>
      <p:sp>
        <p:nvSpPr>
          <p:cNvPr id="5" name="Text 3"/>
          <p:cNvSpPr txBox="1"/>
          <p:nvPr/>
        </p:nvSpPr>
        <p:spPr>
          <a:xfrm>
            <a:off x="3154680" y="3611880"/>
            <a:ext cx="8229600" cy="1097280"/>
          </a:xfrm>
          <a:prstGeom prst="rect">
            <a:avLst/>
          </a:prstGeom>
          <a:noFill/>
          <a:ln/>
        </p:spPr>
        <p:txBody>
          <a:bodyPr wrap="square" lIns="0" tIns="0" rIns="0" bIns="0" rtlCol="0" anchor="ctr"/>
          <a:lstStyle/>
          <a:p>
            <a:pPr indent="0" marL="0">
              <a:lnSpc>
                <a:spcPts val="1900"/>
              </a:lnSpc>
              <a:buNone/>
            </a:pPr>
            <a:r>
              <a:rPr lang="en-US" sz="1300" dirty="0">
                <a:solidFill>
                  <a:srgbClr val="7FD4D2"/>
                </a:solidFill>
                <a:latin typeface="Calibri" pitchFamily="34" charset="0"/>
                <a:ea typeface="Calibri" pitchFamily="34" charset="-122"/>
                <a:cs typeface="Calibri" pitchFamily="34" charset="-120"/>
              </a:rPr>
              <a:t>Six hypotheses  ·  Three disproved  ·  One disproved by a data-quality artefact  ·  One real incident measured against the wrong KPI  ·  One confirmed operational driver</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6 · METHOD</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Six tests, each designed so a mix shift cannot fake a rate change</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Every test holds composition constant. Without that, a segment gaining share looks exactly like a segment getting worse.</a:t>
            </a:r>
            <a:endParaRPr lang="en-US" sz="1300" dirty="0"/>
          </a:p>
        </p:txBody>
      </p:sp>
      <p:sp>
        <p:nvSpPr>
          <p:cNvPr id="5" name="Shape 3"/>
          <p:cNvSpPr/>
          <p:nvPr/>
        </p:nvSpPr>
        <p:spPr>
          <a:xfrm>
            <a:off x="548640" y="1627632"/>
            <a:ext cx="5394960" cy="969264"/>
          </a:xfrm>
          <a:prstGeom prst="roundRect">
            <a:avLst>
              <a:gd name="adj" fmla="val 566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6" name="Text 4"/>
          <p:cNvSpPr txBox="1"/>
          <p:nvPr/>
        </p:nvSpPr>
        <p:spPr>
          <a:xfrm>
            <a:off x="749808" y="1746504"/>
            <a:ext cx="4983480" cy="256032"/>
          </a:xfrm>
          <a:prstGeom prst="rect">
            <a:avLst/>
          </a:prstGeom>
          <a:noFill/>
          <a:ln/>
        </p:spPr>
        <p:txBody>
          <a:bodyPr wrap="square" lIns="0" tIns="0" rIns="0" bIns="0" rtlCol="0" anchor="ctr"/>
          <a:lstStyle/>
          <a:p>
            <a:pPr indent="0" marL="0">
              <a:buNone/>
            </a:pPr>
            <a:r>
              <a:rPr lang="en-US" sz="1200" b="1" dirty="0">
                <a:solidFill>
                  <a:srgbClr val="0E7C7B"/>
                </a:solidFill>
                <a:latin typeface="Courier New" pitchFamily="34" charset="0"/>
                <a:ea typeface="Courier New" pitchFamily="34" charset="-122"/>
                <a:cs typeface="Courier New" pitchFamily="34" charset="-120"/>
              </a:rPr>
              <a:t>test_pricing()</a:t>
            </a:r>
            <a:endParaRPr lang="en-US" sz="1200" dirty="0"/>
          </a:p>
        </p:txBody>
      </p:sp>
      <p:sp>
        <p:nvSpPr>
          <p:cNvPr id="7" name="Text 5"/>
          <p:cNvSpPr txBox="1"/>
          <p:nvPr/>
        </p:nvSpPr>
        <p:spPr>
          <a:xfrm>
            <a:off x="749808" y="2020824"/>
            <a:ext cx="4983480" cy="5029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Effective take rate within each pricing plan, month by month. Plan mix is held fixed so a shift between plans cannot masquerade as a price cut.</a:t>
            </a:r>
            <a:endParaRPr lang="en-US" sz="1050" dirty="0"/>
          </a:p>
        </p:txBody>
      </p:sp>
      <p:sp>
        <p:nvSpPr>
          <p:cNvPr id="8" name="Shape 6"/>
          <p:cNvSpPr/>
          <p:nvPr/>
        </p:nvSpPr>
        <p:spPr>
          <a:xfrm>
            <a:off x="6172200" y="1627632"/>
            <a:ext cx="5394960" cy="969264"/>
          </a:xfrm>
          <a:prstGeom prst="roundRect">
            <a:avLst>
              <a:gd name="adj" fmla="val 566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9" name="Text 7"/>
          <p:cNvSpPr txBox="1"/>
          <p:nvPr/>
        </p:nvSpPr>
        <p:spPr>
          <a:xfrm>
            <a:off x="6373368" y="1746504"/>
            <a:ext cx="4983480" cy="256032"/>
          </a:xfrm>
          <a:prstGeom prst="rect">
            <a:avLst/>
          </a:prstGeom>
          <a:noFill/>
          <a:ln/>
        </p:spPr>
        <p:txBody>
          <a:bodyPr wrap="square" lIns="0" tIns="0" rIns="0" bIns="0" rtlCol="0" anchor="ctr"/>
          <a:lstStyle/>
          <a:p>
            <a:pPr indent="0" marL="0">
              <a:buNone/>
            </a:pPr>
            <a:r>
              <a:rPr lang="en-US" sz="1200" b="1" dirty="0">
                <a:solidFill>
                  <a:srgbClr val="0E7C7B"/>
                </a:solidFill>
                <a:latin typeface="Courier New" pitchFamily="34" charset="0"/>
                <a:ea typeface="Courier New" pitchFamily="34" charset="-122"/>
                <a:cs typeface="Courier New" pitchFamily="34" charset="-120"/>
              </a:rPr>
              <a:t>test_routing()</a:t>
            </a:r>
            <a:endParaRPr lang="en-US" sz="1200" dirty="0"/>
          </a:p>
        </p:txBody>
      </p:sp>
      <p:sp>
        <p:nvSpPr>
          <p:cNvPr id="10" name="Text 8"/>
          <p:cNvSpPr txBox="1"/>
          <p:nvPr/>
        </p:nvSpPr>
        <p:spPr>
          <a:xfrm>
            <a:off x="6373368" y="2020824"/>
            <a:ext cx="4983480" cy="5029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Provider share and cost per transaction by ticket band. Separates "traffic moved" from "the provider got dearer" — these need different fixes.</a:t>
            </a:r>
            <a:endParaRPr lang="en-US" sz="1050" dirty="0"/>
          </a:p>
        </p:txBody>
      </p:sp>
      <p:sp>
        <p:nvSpPr>
          <p:cNvPr id="11" name="Shape 9"/>
          <p:cNvSpPr/>
          <p:nvPr/>
        </p:nvSpPr>
        <p:spPr>
          <a:xfrm>
            <a:off x="548640" y="2724912"/>
            <a:ext cx="5394960" cy="969264"/>
          </a:xfrm>
          <a:prstGeom prst="roundRect">
            <a:avLst>
              <a:gd name="adj" fmla="val 566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2" name="Text 10"/>
          <p:cNvSpPr txBox="1"/>
          <p:nvPr/>
        </p:nvSpPr>
        <p:spPr>
          <a:xfrm>
            <a:off x="749808" y="2843784"/>
            <a:ext cx="4983480" cy="256032"/>
          </a:xfrm>
          <a:prstGeom prst="rect">
            <a:avLst/>
          </a:prstGeom>
          <a:noFill/>
          <a:ln/>
        </p:spPr>
        <p:txBody>
          <a:bodyPr wrap="square" lIns="0" tIns="0" rIns="0" bIns="0" rtlCol="0" anchor="ctr"/>
          <a:lstStyle/>
          <a:p>
            <a:pPr indent="0" marL="0">
              <a:buNone/>
            </a:pPr>
            <a:r>
              <a:rPr lang="en-US" sz="1200" b="1" dirty="0">
                <a:solidFill>
                  <a:srgbClr val="0E7C7B"/>
                </a:solidFill>
                <a:latin typeface="Courier New" pitchFamily="34" charset="0"/>
                <a:ea typeface="Courier New" pitchFamily="34" charset="-122"/>
                <a:cs typeface="Courier New" pitchFamily="34" charset="-120"/>
              </a:rPr>
              <a:t>test_latency()</a:t>
            </a:r>
            <a:endParaRPr lang="en-US" sz="1200" dirty="0"/>
          </a:p>
        </p:txBody>
      </p:sp>
      <p:sp>
        <p:nvSpPr>
          <p:cNvPr id="13" name="Text 11"/>
          <p:cNvSpPr txBox="1"/>
          <p:nvPr/>
        </p:nvSpPr>
        <p:spPr>
          <a:xfrm>
            <a:off x="749808" y="3118104"/>
            <a:ext cx="4983480" cy="5029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p95 processing_ms and success rate by provider and month, plus a count of the transactions the incident actually cost.</a:t>
            </a:r>
            <a:endParaRPr lang="en-US" sz="1050" dirty="0"/>
          </a:p>
        </p:txBody>
      </p:sp>
      <p:sp>
        <p:nvSpPr>
          <p:cNvPr id="14" name="Shape 12"/>
          <p:cNvSpPr/>
          <p:nvPr/>
        </p:nvSpPr>
        <p:spPr>
          <a:xfrm>
            <a:off x="6172200" y="2724912"/>
            <a:ext cx="5394960" cy="969264"/>
          </a:xfrm>
          <a:prstGeom prst="roundRect">
            <a:avLst>
              <a:gd name="adj" fmla="val 566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5" name="Text 13"/>
          <p:cNvSpPr txBox="1"/>
          <p:nvPr/>
        </p:nvSpPr>
        <p:spPr>
          <a:xfrm>
            <a:off x="6373368" y="2843784"/>
            <a:ext cx="4983480" cy="256032"/>
          </a:xfrm>
          <a:prstGeom prst="rect">
            <a:avLst/>
          </a:prstGeom>
          <a:noFill/>
          <a:ln/>
        </p:spPr>
        <p:txBody>
          <a:bodyPr wrap="square" lIns="0" tIns="0" rIns="0" bIns="0" rtlCol="0" anchor="ctr"/>
          <a:lstStyle/>
          <a:p>
            <a:pPr indent="0" marL="0">
              <a:buNone/>
            </a:pPr>
            <a:r>
              <a:rPr lang="en-US" sz="1200" b="1" dirty="0">
                <a:solidFill>
                  <a:srgbClr val="0E7C7B"/>
                </a:solidFill>
                <a:latin typeface="Courier New" pitchFamily="34" charset="0"/>
                <a:ea typeface="Courier New" pitchFamily="34" charset="-122"/>
                <a:cs typeface="Courier New" pitchFamily="34" charset="-120"/>
              </a:rPr>
              <a:t>test_fraud()</a:t>
            </a:r>
            <a:endParaRPr lang="en-US" sz="1200" dirty="0"/>
          </a:p>
        </p:txBody>
      </p:sp>
      <p:sp>
        <p:nvSpPr>
          <p:cNvPr id="16" name="Text 14"/>
          <p:cNvSpPr txBox="1"/>
          <p:nvPr/>
        </p:nvSpPr>
        <p:spPr>
          <a:xfrm>
            <a:off x="6373368" y="3118104"/>
            <a:ext cx="4983480" cy="5029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Decline rate at a comparable threshold on the NORMALISED score. Running this on the raw score is the trap.</a:t>
            </a:r>
            <a:endParaRPr lang="en-US" sz="1050" dirty="0"/>
          </a:p>
        </p:txBody>
      </p:sp>
      <p:sp>
        <p:nvSpPr>
          <p:cNvPr id="17" name="Shape 15"/>
          <p:cNvSpPr/>
          <p:nvPr/>
        </p:nvSpPr>
        <p:spPr>
          <a:xfrm>
            <a:off x="548640" y="3822192"/>
            <a:ext cx="5394960" cy="969264"/>
          </a:xfrm>
          <a:prstGeom prst="roundRect">
            <a:avLst>
              <a:gd name="adj" fmla="val 566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8" name="Text 16"/>
          <p:cNvSpPr txBox="1"/>
          <p:nvPr/>
        </p:nvSpPr>
        <p:spPr>
          <a:xfrm>
            <a:off x="749808" y="3941064"/>
            <a:ext cx="4983480" cy="256032"/>
          </a:xfrm>
          <a:prstGeom prst="rect">
            <a:avLst/>
          </a:prstGeom>
          <a:noFill/>
          <a:ln/>
        </p:spPr>
        <p:txBody>
          <a:bodyPr wrap="square" lIns="0" tIns="0" rIns="0" bIns="0" rtlCol="0" anchor="ctr"/>
          <a:lstStyle/>
          <a:p>
            <a:pPr indent="0" marL="0">
              <a:buNone/>
            </a:pPr>
            <a:r>
              <a:rPr lang="en-US" sz="1200" b="1" dirty="0">
                <a:solidFill>
                  <a:srgbClr val="0E7C7B"/>
                </a:solidFill>
                <a:latin typeface="Courier New" pitchFamily="34" charset="0"/>
                <a:ea typeface="Courier New" pitchFamily="34" charset="-122"/>
                <a:cs typeface="Courier New" pitchFamily="34" charset="-120"/>
              </a:rPr>
              <a:t>test_chargebacks()</a:t>
            </a:r>
            <a:endParaRPr lang="en-US" sz="1200" dirty="0"/>
          </a:p>
        </p:txBody>
      </p:sp>
      <p:sp>
        <p:nvSpPr>
          <p:cNvPr id="19" name="Text 17"/>
          <p:cNvSpPr txBox="1"/>
          <p:nvPr/>
        </p:nvSpPr>
        <p:spPr>
          <a:xfrm>
            <a:off x="749808" y="4215384"/>
            <a:ext cx="4983480" cy="5029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Chargeback cost per successful transaction and chargeback rate by category and country.</a:t>
            </a:r>
            <a:endParaRPr lang="en-US" sz="1050" dirty="0"/>
          </a:p>
        </p:txBody>
      </p:sp>
      <p:sp>
        <p:nvSpPr>
          <p:cNvPr id="20" name="Shape 18"/>
          <p:cNvSpPr/>
          <p:nvPr/>
        </p:nvSpPr>
        <p:spPr>
          <a:xfrm>
            <a:off x="6172200" y="3822192"/>
            <a:ext cx="5394960" cy="969264"/>
          </a:xfrm>
          <a:prstGeom prst="roundRect">
            <a:avLst>
              <a:gd name="adj" fmla="val 566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1" name="Text 19"/>
          <p:cNvSpPr txBox="1"/>
          <p:nvPr/>
        </p:nvSpPr>
        <p:spPr>
          <a:xfrm>
            <a:off x="6373368" y="3941064"/>
            <a:ext cx="4983480" cy="256032"/>
          </a:xfrm>
          <a:prstGeom prst="rect">
            <a:avLst/>
          </a:prstGeom>
          <a:noFill/>
          <a:ln/>
        </p:spPr>
        <p:txBody>
          <a:bodyPr wrap="square" lIns="0" tIns="0" rIns="0" bIns="0" rtlCol="0" anchor="ctr"/>
          <a:lstStyle/>
          <a:p>
            <a:pPr indent="0" marL="0">
              <a:buNone/>
            </a:pPr>
            <a:r>
              <a:rPr lang="en-US" sz="1200" b="1" dirty="0">
                <a:solidFill>
                  <a:srgbClr val="0E7C7B"/>
                </a:solidFill>
                <a:latin typeface="Courier New" pitchFamily="34" charset="0"/>
                <a:ea typeface="Courier New" pitchFamily="34" charset="-122"/>
                <a:cs typeface="Courier New" pitchFamily="34" charset="-120"/>
              </a:rPr>
              <a:t>test_fx()</a:t>
            </a:r>
            <a:endParaRPr lang="en-US" sz="1200" dirty="0"/>
          </a:p>
        </p:txBody>
      </p:sp>
      <p:sp>
        <p:nvSpPr>
          <p:cNvPr id="22" name="Text 20"/>
          <p:cNvSpPr txBox="1"/>
          <p:nvPr/>
        </p:nvSpPr>
        <p:spPr>
          <a:xfrm>
            <a:off x="6373368" y="4215384"/>
            <a:ext cx="4983480" cy="5029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Contribution recomputed at constant opening-period FX, differenced against actual, to isolate translation from trading.</a:t>
            </a:r>
            <a:endParaRPr lang="en-US" sz="1050" dirty="0"/>
          </a:p>
        </p:txBody>
      </p:sp>
      <p:sp>
        <p:nvSpPr>
          <p:cNvPr id="23" name="Shape 21"/>
          <p:cNvSpPr/>
          <p:nvPr/>
        </p:nvSpPr>
        <p:spPr>
          <a:xfrm>
            <a:off x="548640" y="4956048"/>
            <a:ext cx="11064240" cy="1005840"/>
          </a:xfrm>
          <a:prstGeom prst="roundRect">
            <a:avLst>
              <a:gd name="adj" fmla="val 545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4" name="Text 22"/>
          <p:cNvSpPr txBox="1"/>
          <p:nvPr/>
        </p:nvSpPr>
        <p:spPr>
          <a:xfrm>
            <a:off x="777240" y="5102352"/>
            <a:ext cx="10607040" cy="731520"/>
          </a:xfrm>
          <a:prstGeom prst="rect">
            <a:avLst/>
          </a:prstGeom>
          <a:noFill/>
          <a:ln/>
        </p:spPr>
        <p:txBody>
          <a:bodyPr wrap="square" lIns="0" tIns="0" rIns="0" bIns="0" rtlCol="0" anchor="ctr"/>
          <a:lstStyle/>
          <a:p>
            <a:pPr indent="0" marL="0">
              <a:lnSpc>
                <a:spcPts val="1500"/>
              </a:lnSpc>
              <a:buNone/>
            </a:pPr>
            <a:r>
              <a:rPr lang="en-US" sz="1150" dirty="0">
                <a:solidFill>
                  <a:srgbClr val="4A5663"/>
                </a:solidFill>
                <a:latin typeface="Calibri" pitchFamily="34" charset="0"/>
                <a:ea typeface="Calibri" pitchFamily="34" charset="-122"/>
                <a:cs typeface="Calibri" pitchFamily="34" charset="-120"/>
              </a:rPr>
              <a:t>Each test returns a table plus a one-line verdict, and the verdicts are assembled into a single table. Sign convention is enforced in one place: a rising cost is a negative effect on contribution, so the verdict table and the bridge can never disagree with each other by accident.</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6 · OUTPUT</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The verdict table</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Three of the four hypotheses that were in the room before the analysis started are wrong.</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64240" cy="914400"/>
        </p:xfrm>
        <a:graphic>
          <a:graphicData uri="http://schemas.openxmlformats.org/drawingml/2006/table">
            <a:tbl>
              <a:tblPr/>
              <a:tblGrid>
                <a:gridCol w="2011680"/>
                <a:gridCol w="1005840"/>
                <a:gridCol w="1234440"/>
                <a:gridCol w="4160520"/>
                <a:gridCol w="960120"/>
                <a:gridCol w="1691640"/>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Driver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Claimed by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Test result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Effect / txn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Verdict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56692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Merchant pricing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Commercial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CFO</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No pricing plan's take rate fell. FLAT_2_0 rose 0.2247pp. Blended rate falls only because plan mix moved.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33D3D"/>
                          </a:solidFill>
                          <a:latin typeface="Calibri" pitchFamily="34" charset="0"/>
                          <a:ea typeface="Calibri" pitchFamily="34" charset="-122"/>
                          <a:cs typeface="Calibri" pitchFamily="34" charset="-120"/>
                        </a:rPr>
                        <a:t>DISPROVED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56692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Fraud controls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Risk</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Risk Head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On the normalised score, decline rate moves −0.014pp. The apparent spike is a score-scale artefact at the v2.1 → v3.0 cutover.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 $0.000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A33D3D"/>
                          </a:solidFill>
                          <a:latin typeface="Calibri" pitchFamily="34" charset="0"/>
                          <a:ea typeface="Calibri" pitchFamily="34" charset="-122"/>
                          <a:cs typeface="Calibri" pitchFamily="34" charset="-120"/>
                        </a:rPr>
                        <a:t>DISPROVED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56692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Chargebacks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Risk</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Risk Head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Chargeback cost per successful txn falls $0.2515 → $0.1495. Rate ranks high, impact ranks last.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+$0.102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33D3D"/>
                          </a:solidFill>
                          <a:latin typeface="Calibri" pitchFamily="34" charset="0"/>
                          <a:ea typeface="Calibri" pitchFamily="34" charset="-122"/>
                          <a:cs typeface="Calibri" pitchFamily="34" charset="-120"/>
                        </a:rPr>
                        <a:t>DISPROVED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56692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Provider latency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Operational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Head of Payments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PROV_MERIDIAN p95 227 → 1,517ms, success 90.3% → 82.5% for eight weeks. Roughly 698 transactions lost.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 $0.000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REAL, WRONG KPI</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56692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FX translation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External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Drag widens −$0.01 → −$0.09 as the settlement spread goes 0.35% → 0.60% in Q4.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−$0.08</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SECONDARY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56692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Routing drift + Orbit repricing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Operational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Our finding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Cohort share on PROV_ORBIT climbs 28% → 89% across the year while Orbit's fixed fee rises 50.6% on 1 July.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CONFIRMED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56692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Ticket-size mix</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Commercial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Our finding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Mix −$0.4719 against within −$0.0609 on ticket band; −$0.4296 / −$0.1014 on the cohort view.</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−$0.43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CONFIRMED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Sizing beats ranking. Chargebacks rank near the top on rate and last on impact; latency is the single most dramatic operational event in the year and contributes almost nothing to this KPI. A ranked list would have put both at the top of the plan.</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6 · DEEP DIVE</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The fraud hypothesis is disproved by a data defect, not a business fact</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This is the most important finding in Task 6, and it is a data-quality finding that happens to answer a commercial question.</a:t>
            </a:r>
            <a:endParaRPr lang="en-US" sz="13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194560"/>
                <a:gridCol w="1828800"/>
                <a:gridCol w="1371600"/>
                <a:gridCol w="1371600"/>
                <a:gridCol w="1280160"/>
                <a:gridCol w="3017520"/>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model_version</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Share of fraud rows</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min score</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max score</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Scale</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a naive reading says</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402336">
                <a:tc>
                  <a:txBody>
                    <a:bodyPr/>
                    <a:lstStyle/>
                    <a:p>
                      <a:pPr algn="l" indent="0" marL="0">
                        <a:buNone/>
                      </a:pPr>
                      <a:r>
                        <a:rPr lang="en-US" sz="1150" b="1" dirty="0">
                          <a:solidFill>
                            <a:srgbClr val="1A1A1A"/>
                          </a:solidFill>
                          <a:latin typeface="Calibri" pitchFamily="34" charset="0"/>
                          <a:ea typeface="Calibri" pitchFamily="34" charset="-122"/>
                          <a:cs typeface="Calibri" pitchFamily="34" charset="-120"/>
                        </a:rPr>
                        <a:t>v2.1</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Calibri" pitchFamily="34" charset="0"/>
                          <a:ea typeface="Calibri" pitchFamily="34" charset="-122"/>
                          <a:cs typeface="Calibri" pitchFamily="34" charset="-120"/>
                        </a:rPr>
                        <a:t>62.1%</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Calibri" pitchFamily="34" charset="0"/>
                          <a:ea typeface="Calibri" pitchFamily="34" charset="-122"/>
                          <a:cs typeface="Calibri" pitchFamily="34" charset="-120"/>
                        </a:rPr>
                        <a:t>0 – 1</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Baseline</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02336">
                <a:tc>
                  <a:txBody>
                    <a:bodyPr/>
                    <a:lstStyle/>
                    <a:p>
                      <a:pPr algn="l" indent="0" marL="0">
                        <a:buNone/>
                      </a:pPr>
                      <a:r>
                        <a:rPr lang="en-US" sz="1150" b="1" dirty="0">
                          <a:solidFill>
                            <a:srgbClr val="1A1A1A"/>
                          </a:solidFill>
                          <a:latin typeface="Calibri" pitchFamily="34" charset="0"/>
                          <a:ea typeface="Calibri" pitchFamily="34" charset="-122"/>
                          <a:cs typeface="Calibri" pitchFamily="34" charset="-120"/>
                        </a:rPr>
                        <a:t>v3.0 (from 1 Sep)</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150" dirty="0">
                          <a:solidFill>
                            <a:srgbClr val="1A1A1A"/>
                          </a:solidFill>
                          <a:latin typeface="Calibri" pitchFamily="34" charset="0"/>
                          <a:ea typeface="Calibri" pitchFamily="34" charset="-122"/>
                          <a:cs typeface="Calibri" pitchFamily="34" charset="-120"/>
                        </a:rPr>
                        <a:t>37.9%</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150" dirty="0">
                          <a:solidFill>
                            <a:srgbClr val="1A1A1A"/>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150" dirty="0">
                          <a:solidFill>
                            <a:srgbClr val="1A1A1A"/>
                          </a:solidFill>
                          <a:latin typeface="Calibri" pitchFamily="34" charset="0"/>
                          <a:ea typeface="Calibri" pitchFamily="34" charset="-122"/>
                          <a:cs typeface="Calibri" pitchFamily="34" charset="-120"/>
                        </a:rPr>
                        <a:t>100.00</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150" dirty="0">
                          <a:solidFill>
                            <a:srgbClr val="1A1A1A"/>
                          </a:solidFill>
                          <a:latin typeface="Calibri" pitchFamily="34" charset="0"/>
                          <a:ea typeface="Calibri" pitchFamily="34" charset="-122"/>
                          <a:cs typeface="Calibri" pitchFamily="34" charset="-120"/>
                        </a:rPr>
                        <a:t>0 – 100</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"Risk scores exploded in September"</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bl>
          </a:graphicData>
        </a:graphic>
      </p:graphicFrame>
      <p:sp>
        <p:nvSpPr>
          <p:cNvPr id="6" name="Shape 3"/>
          <p:cNvSpPr/>
          <p:nvPr/>
        </p:nvSpPr>
        <p:spPr>
          <a:xfrm>
            <a:off x="548640" y="2944368"/>
            <a:ext cx="5394960" cy="1828800"/>
          </a:xfrm>
          <a:prstGeom prst="roundRect">
            <a:avLst>
              <a:gd name="adj" fmla="val 3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7" name="Text 4"/>
          <p:cNvSpPr txBox="1"/>
          <p:nvPr/>
        </p:nvSpPr>
        <p:spPr>
          <a:xfrm>
            <a:off x="777240" y="3081528"/>
            <a:ext cx="4937760" cy="256032"/>
          </a:xfrm>
          <a:prstGeom prst="rect">
            <a:avLst/>
          </a:prstGeom>
          <a:noFill/>
          <a:ln/>
        </p:spPr>
        <p:txBody>
          <a:bodyPr wrap="square" lIns="0" tIns="0" rIns="0" bIns="0" rtlCol="0" anchor="ctr"/>
          <a:lstStyle/>
          <a:p>
            <a:pPr indent="0" marL="0">
              <a:buNone/>
            </a:pPr>
            <a:r>
              <a:rPr lang="en-US" sz="1300" b="1" dirty="0">
                <a:solidFill>
                  <a:srgbClr val="A33D3D"/>
                </a:solidFill>
                <a:latin typeface="Calibri" pitchFamily="34" charset="0"/>
                <a:ea typeface="Calibri" pitchFamily="34" charset="-122"/>
                <a:cs typeface="Calibri" pitchFamily="34" charset="-120"/>
              </a:rPr>
              <a:t>The trap</a:t>
            </a:r>
            <a:endParaRPr lang="en-US" sz="1300" dirty="0"/>
          </a:p>
        </p:txBody>
      </p:sp>
      <p:sp>
        <p:nvSpPr>
          <p:cNvPr id="8" name="Text 5"/>
          <p:cNvSpPr txBox="1"/>
          <p:nvPr/>
        </p:nvSpPr>
        <p:spPr>
          <a:xfrm>
            <a:off x="777240" y="3364992"/>
            <a:ext cx="4937760" cy="1298448"/>
          </a:xfrm>
          <a:prstGeom prst="rect">
            <a:avLst/>
          </a:prstGeom>
          <a:noFill/>
          <a:ln/>
        </p:spPr>
        <p:txBody>
          <a:bodyPr wrap="square" lIns="0" tIns="0" rIns="0" bIns="0" rtlCol="0" anchor="ctr"/>
          <a:lstStyle/>
          <a:p>
            <a:pPr indent="0" marL="0">
              <a:lnSpc>
                <a:spcPts val="1400"/>
              </a:lnSpc>
              <a:buNone/>
            </a:pPr>
            <a:r>
              <a:rPr lang="en-US" sz="1100" dirty="0">
                <a:solidFill>
                  <a:srgbClr val="4A5663"/>
                </a:solidFill>
                <a:latin typeface="Calibri" pitchFamily="34" charset="0"/>
                <a:ea typeface="Calibri" pitchFamily="34" charset="-122"/>
                <a:cs typeface="Calibri" pitchFamily="34" charset="-120"/>
              </a:rPr>
              <a:t>Compare score distributions across 1 September and the mean risk score rises roughly a hundredfold. Compare decline rates at a fixed threshold of 0.8 and everything above 0.8 after the cutover is a v3.0 score — which is almost all of them. The evidence for "the new model is rejecting good payments" is overwhelming, internally consistent, and entirely an artefact of two scales sharing one column.</a:t>
            </a:r>
            <a:endParaRPr lang="en-US" sz="1100" dirty="0"/>
          </a:p>
        </p:txBody>
      </p:sp>
      <p:sp>
        <p:nvSpPr>
          <p:cNvPr id="9" name="Shape 6"/>
          <p:cNvSpPr/>
          <p:nvPr/>
        </p:nvSpPr>
        <p:spPr>
          <a:xfrm>
            <a:off x="6217920" y="2944368"/>
            <a:ext cx="5394960" cy="1828800"/>
          </a:xfrm>
          <a:prstGeom prst="roundRect">
            <a:avLst>
              <a:gd name="adj" fmla="val 3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Text 7"/>
          <p:cNvSpPr txBox="1"/>
          <p:nvPr/>
        </p:nvSpPr>
        <p:spPr>
          <a:xfrm>
            <a:off x="6446520" y="3081528"/>
            <a:ext cx="4937760" cy="256032"/>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After normalising</a:t>
            </a:r>
            <a:endParaRPr lang="en-US" sz="1300" dirty="0"/>
          </a:p>
        </p:txBody>
      </p:sp>
      <p:sp>
        <p:nvSpPr>
          <p:cNvPr id="11" name="Text 8"/>
          <p:cNvSpPr txBox="1"/>
          <p:nvPr/>
        </p:nvSpPr>
        <p:spPr>
          <a:xfrm>
            <a:off x="6446520" y="3364992"/>
            <a:ext cx="4937760" cy="1298448"/>
          </a:xfrm>
          <a:prstGeom prst="rect">
            <a:avLst/>
          </a:prstGeom>
          <a:noFill/>
          <a:ln/>
        </p:spPr>
        <p:txBody>
          <a:bodyPr wrap="square" lIns="0" tIns="0" rIns="0" bIns="0" rtlCol="0" anchor="ctr"/>
          <a:lstStyle/>
          <a:p>
            <a:pPr indent="0" marL="0">
              <a:lnSpc>
                <a:spcPts val="1400"/>
              </a:lnSpc>
              <a:buNone/>
            </a:pPr>
            <a:r>
              <a:rPr lang="en-US" sz="1100" dirty="0">
                <a:solidFill>
                  <a:srgbClr val="4A5663"/>
                </a:solidFill>
                <a:latin typeface="Calibri" pitchFamily="34" charset="0"/>
                <a:ea typeface="Calibri" pitchFamily="34" charset="-122"/>
                <a:cs typeface="Calibri" pitchFamily="34" charset="-120"/>
              </a:rPr>
              <a:t>Divide v3.0 scores by 100 and the distributions line up. Decline rate at a comparable threshold moves −0.014pp across the cutover — declines fall very slightly. Chargeback rate does not rise, which it would if controls had genuinely loosened, and does not fall, which it would if they had tightened. The model is behaving.</a:t>
            </a:r>
            <a:endParaRPr lang="en-US" sz="1100" dirty="0"/>
          </a:p>
        </p:txBody>
      </p:sp>
      <p:sp>
        <p:nvSpPr>
          <p:cNvPr id="12" name="Shape 9"/>
          <p:cNvSpPr/>
          <p:nvPr/>
        </p:nvSpPr>
        <p:spPr>
          <a:xfrm>
            <a:off x="548640" y="4919472"/>
            <a:ext cx="11064240" cy="1143000"/>
          </a:xfrm>
          <a:prstGeom prst="roundRect">
            <a:avLst>
              <a:gd name="adj" fmla="val 48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3" name="Text 10"/>
          <p:cNvSpPr txBox="1"/>
          <p:nvPr/>
        </p:nvSpPr>
        <p:spPr>
          <a:xfrm>
            <a:off x="777240" y="5056632"/>
            <a:ext cx="1060704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Why this belongs in an executive deck and not a data-quality appendix</a:t>
            </a:r>
            <a:endParaRPr lang="en-US" sz="1250" dirty="0"/>
          </a:p>
        </p:txBody>
      </p:sp>
      <p:sp>
        <p:nvSpPr>
          <p:cNvPr id="14" name="Text 11"/>
          <p:cNvSpPr txBox="1"/>
          <p:nvPr/>
        </p:nvSpPr>
        <p:spPr>
          <a:xfrm>
            <a:off x="777240" y="5330952"/>
            <a:ext cx="10607040" cy="658368"/>
          </a:xfrm>
          <a:prstGeom prst="rect">
            <a:avLst/>
          </a:prstGeom>
          <a:noFill/>
          <a:ln/>
        </p:spPr>
        <p:txBody>
          <a:bodyPr wrap="square" lIns="0" tIns="0" rIns="0" bIns="0" rtlCol="0" anchor="ctr"/>
          <a:lstStyle/>
          <a:p>
            <a:pPr indent="0" marL="0">
              <a:lnSpc>
                <a:spcPts val="1500"/>
              </a:lnSpc>
              <a:buNone/>
            </a:pPr>
            <a:r>
              <a:rPr lang="en-US" sz="1150" dirty="0">
                <a:solidFill>
                  <a:srgbClr val="4A5663"/>
                </a:solidFill>
                <a:latin typeface="Calibri" pitchFamily="34" charset="0"/>
                <a:ea typeface="Calibri" pitchFamily="34" charset="-122"/>
                <a:cs typeface="Calibri" pitchFamily="34" charset="-120"/>
              </a:rPr>
              <a:t>Without Task 3, this hypothesis is confirmed with a chart that any reviewer would accept, and the 60-day plan contains a fraud-model rollback that costs engineering time and raises genuine fraud losses. The check that prevents it — "is risk_score inside its declared range?" — takes one line to write and is exactly the kind of check that gets skipped.</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6 · DEEP DIVE</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One real incident, correctly parked. One real driver, correctly promoted.</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The discipline being tested here is sizing an effect rather than reacting to its severity.</a:t>
            </a:r>
            <a:endParaRPr lang="en-US" sz="1300" dirty="0"/>
          </a:p>
        </p:txBody>
      </p:sp>
      <p:sp>
        <p:nvSpPr>
          <p:cNvPr id="5" name="Shape 3"/>
          <p:cNvSpPr/>
          <p:nvPr/>
        </p:nvSpPr>
        <p:spPr>
          <a:xfrm>
            <a:off x="548640" y="1627632"/>
            <a:ext cx="5440680" cy="2395728"/>
          </a:xfrm>
          <a:prstGeom prst="roundRect">
            <a:avLst>
              <a:gd name="adj" fmla="val 229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6" name="Text 4"/>
          <p:cNvSpPr txBox="1"/>
          <p:nvPr/>
        </p:nvSpPr>
        <p:spPr>
          <a:xfrm>
            <a:off x="777240" y="1755648"/>
            <a:ext cx="4983480" cy="256032"/>
          </a:xfrm>
          <a:prstGeom prst="rect">
            <a:avLst/>
          </a:prstGeom>
          <a:noFill/>
          <a:ln/>
        </p:spPr>
        <p:txBody>
          <a:bodyPr wrap="square" lIns="0" tIns="0" rIns="0" bIns="0" rtlCol="0" anchor="ctr"/>
          <a:lstStyle/>
          <a:p>
            <a:pPr indent="0" marL="0">
              <a:buNone/>
            </a:pPr>
            <a:r>
              <a:rPr lang="en-US" sz="1250" b="1" dirty="0">
                <a:solidFill>
                  <a:srgbClr val="D98324"/>
                </a:solidFill>
                <a:latin typeface="Calibri" pitchFamily="34" charset="0"/>
                <a:ea typeface="Calibri" pitchFamily="34" charset="-122"/>
                <a:cs typeface="Calibri" pitchFamily="34" charset="-120"/>
              </a:rPr>
              <a:t>PROV_MERIDIAN latency incident — 1 Aug to 24 Sep</a:t>
            </a:r>
            <a:endParaRPr lang="en-US" sz="12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77240" y="2084832"/>
          <a:ext cx="4983480" cy="914400"/>
        </p:xfrm>
        <a:graphic>
          <a:graphicData uri="http://schemas.openxmlformats.org/drawingml/2006/table">
            <a:tbl>
              <a:tblPr/>
              <a:tblGrid>
                <a:gridCol w="1828800"/>
                <a:gridCol w="786384"/>
                <a:gridCol w="786384"/>
                <a:gridCol w="786384"/>
                <a:gridCol w="795528"/>
              </a:tblGrid>
              <a:tr h="347472">
                <a:tc>
                  <a:txBody>
                    <a:bodyPr/>
                    <a:lstStyle/>
                    <a:p>
                      <a:pPr indent="0" marL="0">
                        <a:buNone/>
                      </a:pP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Jul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Aug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Sep</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Oct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47472">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p95 processing_ms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227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1,517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1,417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227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47472">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Success rate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90.3%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82.5%</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84.2%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89.9%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bl>
          </a:graphicData>
        </a:graphic>
      </p:graphicFrame>
      <p:sp>
        <p:nvSpPr>
          <p:cNvPr id="8" name="Text 5"/>
          <p:cNvSpPr txBox="1"/>
          <p:nvPr/>
        </p:nvSpPr>
        <p:spPr>
          <a:xfrm>
            <a:off x="777240" y="3200400"/>
            <a:ext cx="4983480" cy="77724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Severe, genuine, and worth roughly 698 lost transactions. It costs VOLUME. It barely touches contribution per SUCCESSFUL transaction, because a failed attempt never enters the denominator and incurs almost no cost. If a decomposition assigns this incident a slice of the −$0.53, the model is wrong.</a:t>
            </a:r>
            <a:endParaRPr lang="en-US" sz="1050" dirty="0"/>
          </a:p>
        </p:txBody>
      </p:sp>
      <p:sp>
        <p:nvSpPr>
          <p:cNvPr id="9" name="Shape 6"/>
          <p:cNvSpPr/>
          <p:nvPr/>
        </p:nvSpPr>
        <p:spPr>
          <a:xfrm>
            <a:off x="6172200" y="1627632"/>
            <a:ext cx="5440680" cy="2395728"/>
          </a:xfrm>
          <a:prstGeom prst="roundRect">
            <a:avLst>
              <a:gd name="adj" fmla="val 229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Text 7"/>
          <p:cNvSpPr txBox="1"/>
          <p:nvPr/>
        </p:nvSpPr>
        <p:spPr>
          <a:xfrm>
            <a:off x="6400800" y="1755648"/>
            <a:ext cx="4983480" cy="256032"/>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Routing drift + the 1 July Orbit repricing</a:t>
            </a:r>
            <a:endParaRPr lang="en-US" sz="1250" dirty="0"/>
          </a:p>
        </p:txBody>
      </p:sp>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6400800" y="2084832"/>
          <a:ext cx="4983480" cy="914400"/>
        </p:xfrm>
        <a:graphic>
          <a:graphicData uri="http://schemas.openxmlformats.org/drawingml/2006/table">
            <a:tbl>
              <a:tblPr/>
              <a:tblGrid>
                <a:gridCol w="2377440"/>
                <a:gridCol w="649224"/>
                <a:gridCol w="649224"/>
                <a:gridCol w="649224"/>
                <a:gridCol w="658368"/>
              </a:tblGrid>
              <a:tr h="34747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Small-ticket cohort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Q1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Q2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Q3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Q4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47472">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Share routed to ORBIT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28%</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47%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67%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6400800" y="3127248"/>
            <a:ext cx="4983480" cy="82296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The routing table keys on merchant COUNTRY, not ticket size. As the small-ticket cohort grows in SG and AE, more micro-payments land on the provider with the highest fixed fee — and that fee rose from $0.35 to $0.52 on 1 July, visible as a dated step in route_cost.csv.</a:t>
            </a:r>
            <a:endParaRPr lang="en-US" sz="1050" dirty="0"/>
          </a:p>
        </p:txBody>
      </p:sp>
      <p:sp>
        <p:nvSpPr>
          <p:cNvPr id="13" name="Shape 9"/>
          <p:cNvSpPr/>
          <p:nvPr/>
        </p:nvSpPr>
        <p:spPr>
          <a:xfrm>
            <a:off x="548640" y="4187952"/>
            <a:ext cx="11064240" cy="2121408"/>
          </a:xfrm>
          <a:prstGeom prst="roundRect">
            <a:avLst>
              <a:gd name="adj" fmla="val 2586"/>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Text 10"/>
          <p:cNvSpPr txBox="1"/>
          <p:nvPr/>
        </p:nvSpPr>
        <p:spPr>
          <a:xfrm>
            <a:off x="777240" y="4315968"/>
            <a:ext cx="10607040" cy="256032"/>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The break-even that turns this into a routing rule</a:t>
            </a:r>
            <a:endParaRPr lang="en-US" sz="1300" dirty="0"/>
          </a:p>
        </p:txBody>
      </p:sp>
      <p:graphicFrame>
        <p:nvGraphicFramePr>
          <p:cNvPr id="109" name="Table 2"/>
          <p:cNvGraphicFramePr>
            <a:graphicFrameLocks noGrp="1"/>
          </p:cNvGraphicFramePr>
          <p:nvPr>
            <p:extLst>
              <p:ext uri="{D42A27DB-BD31-4B8C-83A1-F6EECF244321}">
                <p14:modId xmlns:p14="http://schemas.microsoft.com/office/powerpoint/2010/main" val="1579011935"/>
              </p:ext>
            </p:extLst>
          </p:nvPr>
        </p:nvGraphicFramePr>
        <p:xfrm>
          <a:off x="777240" y="4617720"/>
          <a:ext cx="10607040" cy="914400"/>
        </p:xfrm>
        <a:graphic>
          <a:graphicData uri="http://schemas.openxmlformats.org/drawingml/2006/table">
            <a:tbl>
              <a:tblPr/>
              <a:tblGrid>
                <a:gridCol w="1737360"/>
                <a:gridCol w="1691640"/>
                <a:gridCol w="1097280"/>
                <a:gridCol w="2011680"/>
                <a:gridCol w="2057400"/>
                <a:gridCol w="201168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Provider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Fixed fee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Variable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Cost on a $14 ticket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Cost on a $600 ticket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Where it wins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29184">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PROV_NORTH</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$0.05</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0.60%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$0.13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$3.65</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Everything below ~$147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PROV_MERIDIAN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$0.15</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0.45%</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$0.21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$2.85</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Middle of the range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29184">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PROV_ORBIT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$0.52 (was $0.35)</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0.28%</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$0.56</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$2.20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Large tickets only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16" name="Text 11"/>
          <p:cNvSpPr txBox="1"/>
          <p:nvPr/>
        </p:nvSpPr>
        <p:spPr>
          <a:xfrm>
            <a:off x="777240" y="5943600"/>
            <a:ext cx="10607040" cy="292608"/>
          </a:xfrm>
          <a:prstGeom prst="rect">
            <a:avLst/>
          </a:prstGeom>
          <a:noFill/>
          <a:ln/>
        </p:spPr>
        <p:txBody>
          <a:bodyPr wrap="square" lIns="0" tIns="0" rIns="0" bIns="0" rtlCol="0" anchor="ctr"/>
          <a:lstStyle/>
          <a:p>
            <a:pPr indent="0" marL="0">
              <a:buNone/>
            </a:pPr>
            <a:r>
              <a:rPr lang="en-US" sz="1100" i="1" dirty="0">
                <a:solidFill>
                  <a:srgbClr val="6B7785"/>
                </a:solidFill>
                <a:latin typeface="Calibri" pitchFamily="34" charset="0"/>
                <a:ea typeface="Calibri" pitchFamily="34" charset="-122"/>
                <a:cs typeface="Calibri" pitchFamily="34" charset="-120"/>
              </a:rPr>
              <a:t>Break-even between NORTH and ORBIT: about $94 before the repricing, about $147 after. The cohort that grew has a $14 median ticket and was being routed to the provider that only wins above $147.</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2233C"/>
        </a:solidFill>
      </p:bgPr>
    </p:bg>
    <p:spTree>
      <p:nvGrpSpPr>
        <p:cNvPr id="1" name=""/>
        <p:cNvGrpSpPr/>
        <p:nvPr/>
      </p:nvGrpSpPr>
      <p:grpSpPr>
        <a:xfrm>
          <a:off x="0" y="0"/>
          <a:ext cx="0" cy="0"/>
          <a:chOff x="0" y="0"/>
          <a:chExt cx="0" cy="0"/>
        </a:xfrm>
      </p:grpSpPr>
      <p:sp>
        <p:nvSpPr>
          <p:cNvPr id="2" name="Text 0"/>
          <p:cNvSpPr txBox="1"/>
          <p:nvPr/>
        </p:nvSpPr>
        <p:spPr>
          <a:xfrm>
            <a:off x="822960" y="1828800"/>
            <a:ext cx="2743200" cy="1737360"/>
          </a:xfrm>
          <a:prstGeom prst="rect">
            <a:avLst/>
          </a:prstGeom>
          <a:noFill/>
          <a:ln/>
        </p:spPr>
        <p:txBody>
          <a:bodyPr wrap="square" lIns="0" tIns="0" rIns="0" bIns="0" rtlCol="0" anchor="ctr"/>
          <a:lstStyle/>
          <a:p>
            <a:pPr indent="0" marL="0">
              <a:buNone/>
            </a:pPr>
            <a:r>
              <a:rPr lang="en-US" sz="9600" b="1" dirty="0">
                <a:solidFill>
                  <a:srgbClr val="24406A"/>
                </a:solidFill>
                <a:latin typeface="Cambria" pitchFamily="34" charset="0"/>
                <a:ea typeface="Cambria" pitchFamily="34" charset="-122"/>
                <a:cs typeface="Cambria" pitchFamily="34" charset="-120"/>
              </a:rPr>
              <a:t>07</a:t>
            </a:r>
            <a:endParaRPr lang="en-US" sz="9600" dirty="0"/>
          </a:p>
        </p:txBody>
      </p:sp>
      <p:sp>
        <p:nvSpPr>
          <p:cNvPr id="3" name="Text 1"/>
          <p:cNvSpPr txBox="1"/>
          <p:nvPr/>
        </p:nvSpPr>
        <p:spPr>
          <a:xfrm>
            <a:off x="3108960" y="2148840"/>
            <a:ext cx="841248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executive dashboard</a:t>
            </a:r>
            <a:endParaRPr lang="en-US" sz="3400" dirty="0"/>
          </a:p>
        </p:txBody>
      </p:sp>
      <p:sp>
        <p:nvSpPr>
          <p:cNvPr id="4" name="Text 2"/>
          <p:cNvSpPr txBox="1"/>
          <p:nvPr/>
        </p:nvSpPr>
        <p:spPr>
          <a:xfrm>
            <a:off x="3154680" y="3017520"/>
            <a:ext cx="8229600" cy="457200"/>
          </a:xfrm>
          <a:prstGeom prst="rect">
            <a:avLst/>
          </a:prstGeom>
          <a:noFill/>
          <a:ln/>
        </p:spPr>
        <p:txBody>
          <a:bodyPr wrap="square" lIns="0" tIns="0" rIns="0" bIns="0" rtlCol="0" anchor="ctr"/>
          <a:lstStyle/>
          <a:p>
            <a:pPr indent="0" marL="0">
              <a:lnSpc>
                <a:spcPts val="2000"/>
              </a:lnSpc>
              <a:buNone/>
            </a:pPr>
            <a:r>
              <a:rPr lang="en-US" sz="1500" dirty="0">
                <a:solidFill>
                  <a:srgbClr val="8FA6C4"/>
                </a:solidFill>
                <a:latin typeface="Calibri" pitchFamily="34" charset="0"/>
                <a:ea typeface="Calibri" pitchFamily="34" charset="-122"/>
                <a:cs typeface="Calibri" pitchFamily="34" charset="-120"/>
              </a:rPr>
              <a:t>Task 7 — Power BI on the governed model</a:t>
            </a:r>
            <a:endParaRPr lang="en-US" sz="1500" dirty="0"/>
          </a:p>
        </p:txBody>
      </p:sp>
      <p:sp>
        <p:nvSpPr>
          <p:cNvPr id="5" name="Text 3"/>
          <p:cNvSpPr txBox="1"/>
          <p:nvPr/>
        </p:nvSpPr>
        <p:spPr>
          <a:xfrm>
            <a:off x="3154680" y="3611880"/>
            <a:ext cx="8229600" cy="1097280"/>
          </a:xfrm>
          <a:prstGeom prst="rect">
            <a:avLst/>
          </a:prstGeom>
          <a:noFill/>
          <a:ln/>
        </p:spPr>
        <p:txBody>
          <a:bodyPr wrap="square" lIns="0" tIns="0" rIns="0" bIns="0" rtlCol="0" anchor="ctr"/>
          <a:lstStyle/>
          <a:p>
            <a:pPr indent="0" marL="0">
              <a:lnSpc>
                <a:spcPts val="1900"/>
              </a:lnSpc>
              <a:buNone/>
            </a:pPr>
            <a:r>
              <a:rPr lang="en-US" sz="1300" dirty="0">
                <a:solidFill>
                  <a:srgbClr val="7FD4D2"/>
                </a:solidFill>
                <a:latin typeface="Calibri" pitchFamily="34" charset="0"/>
                <a:ea typeface="Calibri" pitchFamily="34" charset="-122"/>
                <a:cs typeface="Calibri" pitchFamily="34" charset="-120"/>
              </a:rPr>
              <a:t>Import the star, not the source files  ·  Measures, not calculated columns  ·  The non-additive trap  ·  Three pages: overview, diagnostic, action</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7 · MODEL</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Power BI consumes the governed star, never the raw files</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Ten tables imported from powerbi_model/. Six many-to-one single-direction relationships. Two analysis tables deliberately left disconnected.</a:t>
            </a:r>
            <a:endParaRPr lang="en-US" sz="13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64240" cy="914400"/>
        </p:xfrm>
        <a:graphic>
          <a:graphicData uri="http://schemas.openxmlformats.org/drawingml/2006/table">
            <a:tbl>
              <a:tblPr/>
              <a:tblGrid>
                <a:gridCol w="2834640"/>
                <a:gridCol w="6766560"/>
                <a:gridCol w="1463040"/>
              </a:tblGrid>
              <a:tr h="31546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Measure</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DAX</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Additive?</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15468">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Attempted Volume</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ourier New" pitchFamily="34" charset="0"/>
                          <a:ea typeface="Courier New" pitchFamily="34" charset="-122"/>
                          <a:cs typeface="Courier New" pitchFamily="34" charset="-120"/>
                        </a:rPr>
                        <a:t>SUM(fact_payment[is_attempt])</a:t>
                      </a:r>
                      <a:endParaRPr lang="en-US" sz="95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7C7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Successful Volume</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ourier New" pitchFamily="34" charset="0"/>
                          <a:ea typeface="Courier New" pitchFamily="34" charset="-122"/>
                          <a:cs typeface="Courier New" pitchFamily="34" charset="-120"/>
                        </a:rPr>
                        <a:t>SUM(fact_payment[is_success])</a:t>
                      </a:r>
                      <a:endParaRPr lang="en-US" sz="95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00" b="1" dirty="0">
                          <a:solidFill>
                            <a:srgbClr val="0E7C7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Gross Payment Value</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ourier New" pitchFamily="34" charset="0"/>
                          <a:ea typeface="Courier New" pitchFamily="34" charset="-122"/>
                          <a:cs typeface="Courier New" pitchFamily="34" charset="-120"/>
                        </a:rPr>
                        <a:t>SUM(fact_payment[gross_usd])</a:t>
                      </a:r>
                      <a:endParaRPr lang="en-US" sz="95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7C7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Merchant Revenue</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ourier New" pitchFamily="34" charset="0"/>
                          <a:ea typeface="Courier New" pitchFamily="34" charset="-122"/>
                          <a:cs typeface="Courier New" pitchFamily="34" charset="-120"/>
                        </a:rPr>
                        <a:t>SUM(fact_payment[merchant_revenue_usd])</a:t>
                      </a:r>
                      <a:endParaRPr lang="en-US" sz="95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00" b="1" dirty="0">
                          <a:solidFill>
                            <a:srgbClr val="0E7C7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Processing Cost</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ourier New" pitchFamily="34" charset="0"/>
                          <a:ea typeface="Courier New" pitchFamily="34" charset="-122"/>
                          <a:cs typeface="Courier New" pitchFamily="34" charset="-120"/>
                        </a:rPr>
                        <a:t>SUM(fact_payment[processing_cost_usd])</a:t>
                      </a:r>
                      <a:endParaRPr lang="en-US" sz="95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7C7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Chargeback Cost</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ourier New" pitchFamily="34" charset="0"/>
                          <a:ea typeface="Courier New" pitchFamily="34" charset="-122"/>
                          <a:cs typeface="Courier New" pitchFamily="34" charset="-120"/>
                        </a:rPr>
                        <a:t>SUM(fact_payment[chargeback_cost_usd])</a:t>
                      </a:r>
                      <a:endParaRPr lang="en-US" sz="95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00" b="1" dirty="0">
                          <a:solidFill>
                            <a:srgbClr val="0E7C7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Contribution Profit</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ourier New" pitchFamily="34" charset="0"/>
                          <a:ea typeface="Courier New" pitchFamily="34" charset="-122"/>
                          <a:cs typeface="Courier New" pitchFamily="34" charset="-120"/>
                        </a:rPr>
                        <a:t>[Merchant Revenue] - [Processing Cost] - [Chargeback Cost]</a:t>
                      </a:r>
                      <a:endParaRPr lang="en-US" sz="95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7C7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Success Rate</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ourier New" pitchFamily="34" charset="0"/>
                          <a:ea typeface="Courier New" pitchFamily="34" charset="-122"/>
                          <a:cs typeface="Courier New" pitchFamily="34" charset="-120"/>
                        </a:rPr>
                        <a:t>DIVIDE([Successful Volume], [Attempted Volume])</a:t>
                      </a:r>
                      <a:endParaRPr lang="en-US" sz="95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00" b="1" dirty="0">
                          <a:solidFill>
                            <a:srgbClr val="A33D3D"/>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Contribution per Successful Txn</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ourier New" pitchFamily="34" charset="0"/>
                          <a:ea typeface="Courier New" pitchFamily="34" charset="-122"/>
                          <a:cs typeface="Courier New" pitchFamily="34" charset="-120"/>
                        </a:rPr>
                        <a:t>DIVIDE([Contribution Profit], [Successful Volume])</a:t>
                      </a:r>
                      <a:endParaRPr lang="en-US" sz="95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A33D3D"/>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Cost per Successful Txn</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ourier New" pitchFamily="34" charset="0"/>
                          <a:ea typeface="Courier New" pitchFamily="34" charset="-122"/>
                          <a:cs typeface="Courier New" pitchFamily="34" charset="-120"/>
                        </a:rPr>
                        <a:t>DIVIDE([Processing Cost], [Successful Volume])</a:t>
                      </a:r>
                      <a:endParaRPr lang="en-US" sz="95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00" b="1" dirty="0">
                          <a:solidFill>
                            <a:srgbClr val="A33D3D"/>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Quarantined Rows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ourier New" pitchFamily="34" charset="0"/>
                          <a:ea typeface="Courier New" pitchFamily="34" charset="-122"/>
                          <a:cs typeface="Courier New" pitchFamily="34" charset="-120"/>
                        </a:rPr>
                        <a:t>CALCULATE(COUNTROWS(fact_payment), fact_payment[dq_quarantined] = TRUE())</a:t>
                      </a:r>
                      <a:endParaRPr lang="en-US" sz="95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7C7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715000"/>
            <a:ext cx="11064240" cy="896112"/>
          </a:xfrm>
          <a:prstGeom prst="roundRect">
            <a:avLst>
              <a:gd name="adj" fmla="val 6122"/>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7" name="Text 4"/>
          <p:cNvSpPr txBox="1"/>
          <p:nvPr/>
        </p:nvSpPr>
        <p:spPr>
          <a:xfrm>
            <a:off x="777240" y="5833872"/>
            <a:ext cx="10607040" cy="685800"/>
          </a:xfrm>
          <a:prstGeom prst="rect">
            <a:avLst/>
          </a:prstGeom>
          <a:noFill/>
          <a:ln/>
        </p:spPr>
        <p:txBody>
          <a:bodyPr wrap="square" lIns="0" tIns="0" rIns="0" bIns="0" rtlCol="0" anchor="ctr"/>
          <a:lstStyle/>
          <a:p>
            <a:pPr indent="0" marL="0">
              <a:lnSpc>
                <a:spcPts val="1500"/>
              </a:lnSpc>
              <a:buNone/>
            </a:pPr>
            <a:r>
              <a:rPr lang="en-US" sz="1150" dirty="0">
                <a:solidFill>
                  <a:srgbClr val="4A5663"/>
                </a:solidFill>
                <a:latin typeface="Calibri" pitchFamily="34" charset="0"/>
                <a:ea typeface="Calibri" pitchFamily="34" charset="-122"/>
                <a:cs typeface="Calibri" pitchFamily="34" charset="-120"/>
              </a:rPr>
              <a:t>Three model rules: all measures live in a blank _Measures table so they sit at the top of the field list; dim_date is marked as the date table; dim_ticket_band[ticket_band] is sorted by a separate band_sort column so bands render smallest-first rather than alphabetically.</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7 · THE TRAPS</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Non-additive measures, and five build errors worth writing down</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The executive KPI is a ratio. Ratios do not sum, and Power BI will happily sum one for you without complaint.</a:t>
            </a:r>
            <a:endParaRPr lang="en-US" sz="1300" dirty="0"/>
          </a:p>
        </p:txBody>
      </p:sp>
      <p:sp>
        <p:nvSpPr>
          <p:cNvPr id="5" name="Shape 3"/>
          <p:cNvSpPr/>
          <p:nvPr/>
        </p:nvSpPr>
        <p:spPr>
          <a:xfrm>
            <a:off x="548640" y="1627632"/>
            <a:ext cx="5440680" cy="2377440"/>
          </a:xfrm>
          <a:prstGeom prst="roundRect">
            <a:avLst>
              <a:gd name="adj" fmla="val 230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6" name="Text 4"/>
          <p:cNvSpPr txBox="1"/>
          <p:nvPr/>
        </p:nvSpPr>
        <p:spPr>
          <a:xfrm>
            <a:off x="777240" y="1755648"/>
            <a:ext cx="498348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The non-additive rule, applied three ways</a:t>
            </a:r>
            <a:endParaRPr lang="en-US" sz="1250" dirty="0"/>
          </a:p>
        </p:txBody>
      </p:sp>
      <p:sp>
        <p:nvSpPr>
          <p:cNvPr id="7" name="Text 5"/>
          <p:cNvSpPr txBox="1"/>
          <p:nvPr/>
        </p:nvSpPr>
        <p:spPr>
          <a:xfrm>
            <a:off x="822960" y="2084832"/>
            <a:ext cx="4937760" cy="1828800"/>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100" dirty="0">
                <a:solidFill>
                  <a:srgbClr val="4A5663"/>
                </a:solidFill>
                <a:latin typeface="Calibri" pitchFamily="34" charset="0"/>
                <a:ea typeface="Calibri" pitchFamily="34" charset="-122"/>
                <a:cs typeface="Calibri" pitchFamily="34" charset="-120"/>
              </a:rPr>
              <a:t>Every ratio is written as DIVIDE of two additive measures, so it recomputes at any filter level instead of aggregating a pre-computed value.</a:t>
            </a:r>
            <a:endParaRPr lang="en-US" sz="1100" dirty="0"/>
          </a:p>
          <a:p>
            <a:pPr marL="342900" indent="-342900">
              <a:lnSpc>
                <a:spcPts val="1400"/>
              </a:lnSpc>
              <a:spcAft>
                <a:spcPts val="700"/>
              </a:spcAft>
              <a:buSzPct val="100000"/>
              <a:buChar char="•"/>
            </a:pPr>
            <a:r>
              <a:rPr lang="en-US" sz="1100" dirty="0">
                <a:solidFill>
                  <a:srgbClr val="4A5663"/>
                </a:solidFill>
                <a:latin typeface="Calibri" pitchFamily="34" charset="0"/>
                <a:ea typeface="Calibri" pitchFamily="34" charset="-122"/>
                <a:cs typeface="Calibri" pitchFamily="34" charset="-120"/>
              </a:rPr>
              <a:t>No ratio is ever placed in a stacked or 100% stacked visual, where a reader naturally reads the parts as summing to the whole.</a:t>
            </a:r>
            <a:endParaRPr lang="en-US" sz="1100" dirty="0"/>
          </a:p>
          <a:p>
            <a:pPr marL="342900" indent="-342900">
              <a:lnSpc>
                <a:spcPts val="1400"/>
              </a:lnSpc>
              <a:spcAft>
                <a:spcPts val="700"/>
              </a:spcAft>
              <a:buSzPct val="100000"/>
              <a:buChar char="•"/>
            </a:pPr>
            <a:r>
              <a:rPr lang="en-US" sz="1100" dirty="0">
                <a:solidFill>
                  <a:srgbClr val="4A5663"/>
                </a:solidFill>
                <a:latin typeface="Calibri" pitchFamily="34" charset="0"/>
                <a:ea typeface="Calibri" pitchFamily="34" charset="-122"/>
                <a:cs typeface="Calibri" pitchFamily="34" charset="-120"/>
              </a:rPr>
              <a:t>Naming carries the signal: anything containing "per" or "Rate" is non-additive. Say it out loud when presenting.</a:t>
            </a:r>
            <a:endParaRPr lang="en-US" sz="1100" dirty="0"/>
          </a:p>
        </p:txBody>
      </p:sp>
      <p:sp>
        <p:nvSpPr>
          <p:cNvPr id="8" name="Shape 6"/>
          <p:cNvSpPr/>
          <p:nvPr/>
        </p:nvSpPr>
        <p:spPr>
          <a:xfrm>
            <a:off x="6172200" y="1627632"/>
            <a:ext cx="5440680" cy="2377440"/>
          </a:xfrm>
          <a:prstGeom prst="roundRect">
            <a:avLst>
              <a:gd name="adj" fmla="val 230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9" name="Text 7"/>
          <p:cNvSpPr txBox="1"/>
          <p:nvPr/>
        </p:nvSpPr>
        <p:spPr>
          <a:xfrm>
            <a:off x="6400800" y="1755648"/>
            <a:ext cx="498348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What the dashboard deliberately does not do</a:t>
            </a:r>
            <a:endParaRPr lang="en-US" sz="1250" dirty="0"/>
          </a:p>
        </p:txBody>
      </p:sp>
      <p:sp>
        <p:nvSpPr>
          <p:cNvPr id="10" name="Text 8"/>
          <p:cNvSpPr txBox="1"/>
          <p:nvPr/>
        </p:nvSpPr>
        <p:spPr>
          <a:xfrm>
            <a:off x="6446520" y="2084832"/>
            <a:ext cx="4937760" cy="1828800"/>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100" dirty="0">
                <a:solidFill>
                  <a:srgbClr val="4A5663"/>
                </a:solidFill>
                <a:latin typeface="Calibri" pitchFamily="34" charset="0"/>
                <a:ea typeface="Calibri" pitchFamily="34" charset="-122"/>
                <a:cs typeface="Calibri" pitchFamily="34" charset="-120"/>
              </a:rPr>
              <a:t>It does not let a user slice contribution per successful transaction by a shifting-weight dimension without also showing volume — that is how a mix effect gets misread as a performance effect.</a:t>
            </a:r>
            <a:endParaRPr lang="en-US" sz="1100" dirty="0"/>
          </a:p>
          <a:p>
            <a:pPr marL="342900" indent="-342900">
              <a:lnSpc>
                <a:spcPts val="1400"/>
              </a:lnSpc>
              <a:spcAft>
                <a:spcPts val="700"/>
              </a:spcAft>
              <a:buSzPct val="100000"/>
              <a:buChar char="•"/>
            </a:pPr>
            <a:r>
              <a:rPr lang="en-US" sz="1100" dirty="0">
                <a:solidFill>
                  <a:srgbClr val="4A5663"/>
                </a:solidFill>
                <a:latin typeface="Calibri" pitchFamily="34" charset="0"/>
                <a:ea typeface="Calibri" pitchFamily="34" charset="-122"/>
                <a:cs typeface="Calibri" pitchFamily="34" charset="-120"/>
              </a:rPr>
              <a:t>It does not expose raw risk_score. Only the normalised score is in the model, because the raw values are not comparable across model versions.</a:t>
            </a:r>
            <a:endParaRPr lang="en-US" sz="1100" dirty="0"/>
          </a:p>
          <a:p>
            <a:pPr marL="342900" indent="-342900">
              <a:lnSpc>
                <a:spcPts val="1400"/>
              </a:lnSpc>
              <a:spcAft>
                <a:spcPts val="700"/>
              </a:spcAft>
              <a:buSzPct val="100000"/>
              <a:buChar char="•"/>
            </a:pPr>
            <a:r>
              <a:rPr lang="en-US" sz="1100" dirty="0">
                <a:solidFill>
                  <a:srgbClr val="4A5663"/>
                </a:solidFill>
                <a:latin typeface="Calibri" pitchFamily="34" charset="0"/>
                <a:ea typeface="Calibri" pitchFamily="34" charset="-122"/>
                <a:cs typeface="Calibri" pitchFamily="34" charset="-120"/>
              </a:rPr>
              <a:t>It does not include quarantined rows in any measure. They stay in the fact table, flagged, so the count is still reportable.</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11064240" cy="914400"/>
        </p:xfrm>
        <a:graphic>
          <a:graphicData uri="http://schemas.openxmlformats.org/drawingml/2006/table">
            <a:tbl>
              <a:tblPr/>
              <a:tblGrid>
                <a:gridCol w="3566160"/>
                <a:gridCol w="4297680"/>
                <a:gridCol w="3200400"/>
              </a:tblGrid>
              <a:tr h="36576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Error hit during the build</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actually was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Fix</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65760">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Columns imported as Column1..Column5</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Power Query did not promote the header row</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Transform → Use First Row as Headers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65760">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DataFormat.Error: couldn't convert to Number — "True"</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Boolean flags arrive as the text "True"</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Change type Text → True/False → Whole Number, in two hops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65760">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Circular dependency: ticket_band ↔ ticket_band_sort</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The sort column was derived from the band it sorts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Rewrite the sort column to read gross_usd directly</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65760">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Cost per Successful Txn renders blank</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Created as a calculated column, not a measure — the card read "Sum of..."</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Delete it and recreate with New measure</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65760">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Processing Cost shows $91K instead of $234K</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A visual-level filter on ticket_band left over from an earlier experiment</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Check the Filters pane at visual level, not just page level</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7 · DASHBOARD</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Page 1 — Executive overview</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Five KPI cards plus the scissors chart</a:t>
            </a:r>
            <a:endParaRPr lang="en-US" sz="1300" dirty="0"/>
          </a:p>
        </p:txBody>
      </p:sp>
      <p:sp>
        <p:nvSpPr>
          <p:cNvPr id="5" name="Shape 3"/>
          <p:cNvSpPr/>
          <p:nvPr/>
        </p:nvSpPr>
        <p:spPr>
          <a:xfrm>
            <a:off x="548640" y="1627632"/>
            <a:ext cx="6949440" cy="4343400"/>
          </a:xfrm>
          <a:prstGeom prst="roundRect">
            <a:avLst>
              <a:gd name="adj" fmla="val 842"/>
            </a:avLst>
          </a:prstGeom>
          <a:solidFill>
            <a:srgbClr val="E9EDF1"/>
          </a:solidFill>
          <a:ln w="19050">
            <a:solidFill>
              <a:srgbClr val="9AA5B1"/>
            </a:solidFill>
            <a:prstDash val="dash"/>
          </a:ln>
        </p:spPr>
      </p:sp>
      <p:sp>
        <p:nvSpPr>
          <p:cNvPr id="6" name="Text 4"/>
          <p:cNvSpPr txBox="1"/>
          <p:nvPr/>
        </p:nvSpPr>
        <p:spPr>
          <a:xfrm>
            <a:off x="777240" y="3415284"/>
            <a:ext cx="6492240" cy="310896"/>
          </a:xfrm>
          <a:prstGeom prst="rect">
            <a:avLst/>
          </a:prstGeom>
          <a:noFill/>
          <a:ln/>
        </p:spPr>
        <p:txBody>
          <a:bodyPr wrap="square" lIns="0" tIns="0" rIns="0" bIns="0" rtlCol="0" anchor="ctr"/>
          <a:lstStyle/>
          <a:p>
            <a:pPr algn="ctr" indent="0" marL="0">
              <a:buNone/>
            </a:pPr>
            <a:r>
              <a:rPr lang="en-US" sz="1300" b="1" dirty="0">
                <a:solidFill>
                  <a:srgbClr val="12233C"/>
                </a:solidFill>
                <a:latin typeface="Calibri" pitchFamily="34" charset="0"/>
                <a:ea typeface="Calibri" pitchFamily="34" charset="-122"/>
                <a:cs typeface="Calibri" pitchFamily="34" charset="-120"/>
              </a:rPr>
              <a:t>[ PASTE POWER BI SCREENSHOT HERE ]</a:t>
            </a:r>
            <a:endParaRPr lang="en-US" sz="1300" dirty="0"/>
          </a:p>
        </p:txBody>
      </p:sp>
      <p:sp>
        <p:nvSpPr>
          <p:cNvPr id="7" name="Text 5"/>
          <p:cNvSpPr txBox="1"/>
          <p:nvPr/>
        </p:nvSpPr>
        <p:spPr>
          <a:xfrm>
            <a:off x="777240" y="3753612"/>
            <a:ext cx="6492240" cy="548640"/>
          </a:xfrm>
          <a:prstGeom prst="rect">
            <a:avLst/>
          </a:prstGeom>
          <a:noFill/>
          <a:ln/>
        </p:spPr>
        <p:txBody>
          <a:bodyPr wrap="square" lIns="0" tIns="0" rIns="0" bIns="0" rtlCol="0" anchor="ctr"/>
          <a:lstStyle/>
          <a:p>
            <a:pPr algn="ctr" indent="0" marL="0">
              <a:lnSpc>
                <a:spcPts val="1300"/>
              </a:lnSpc>
              <a:buNone/>
            </a:pPr>
            <a:r>
              <a:rPr lang="en-US" sz="1050" i="1" dirty="0">
                <a:solidFill>
                  <a:srgbClr val="6B7785"/>
                </a:solidFill>
                <a:latin typeface="Calibri" pitchFamily="34" charset="0"/>
                <a:ea typeface="Calibri" pitchFamily="34" charset="-122"/>
                <a:cs typeface="Calibri" pitchFamily="34" charset="-120"/>
              </a:rPr>
              <a:t>Page 1 — Executive overview — full page capture</a:t>
            </a:r>
            <a:endParaRPr lang="en-US" sz="1050" dirty="0"/>
          </a:p>
        </p:txBody>
      </p:sp>
      <p:sp>
        <p:nvSpPr>
          <p:cNvPr id="8" name="Text 6"/>
          <p:cNvSpPr txBox="1"/>
          <p:nvPr/>
        </p:nvSpPr>
        <p:spPr>
          <a:xfrm>
            <a:off x="7726680" y="1691640"/>
            <a:ext cx="388620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How to read this page</a:t>
            </a:r>
            <a:endParaRPr lang="en-US" sz="1300" dirty="0"/>
          </a:p>
        </p:txBody>
      </p:sp>
      <p:sp>
        <p:nvSpPr>
          <p:cNvPr id="9" name="Shape 7"/>
          <p:cNvSpPr/>
          <p:nvPr/>
        </p:nvSpPr>
        <p:spPr>
          <a:xfrm>
            <a:off x="7726680" y="20574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Shape 8"/>
          <p:cNvSpPr/>
          <p:nvPr/>
        </p:nvSpPr>
        <p:spPr>
          <a:xfrm>
            <a:off x="7909560" y="2203704"/>
            <a:ext cx="274320" cy="274320"/>
          </a:xfrm>
          <a:prstGeom prst="ellipse">
            <a:avLst/>
          </a:prstGeom>
          <a:solidFill>
            <a:srgbClr val="0E7C7B"/>
          </a:solidFill>
          <a:ln/>
        </p:spPr>
      </p:sp>
      <p:sp>
        <p:nvSpPr>
          <p:cNvPr id="11" name="Text 9"/>
          <p:cNvSpPr txBox="1"/>
          <p:nvPr/>
        </p:nvSpPr>
        <p:spPr>
          <a:xfrm>
            <a:off x="7909560" y="22037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2" name="Text 10"/>
          <p:cNvSpPr txBox="1"/>
          <p:nvPr/>
        </p:nvSpPr>
        <p:spPr>
          <a:xfrm>
            <a:off x="8275320" y="2185416"/>
            <a:ext cx="3200400" cy="1051560"/>
          </a:xfrm>
          <a:prstGeom prst="rect">
            <a:avLst/>
          </a:prstGeom>
          <a:noFill/>
          <a:ln/>
        </p:spPr>
        <p:txBody>
          <a:bodyPr wrap="square" lIns="0" tIns="0" rIns="0" bIns="0" rtlCol="0" anchor="ctr"/>
          <a:lstStyle/>
          <a:p>
            <a:pPr indent="0" marL="0">
              <a:lnSpc>
                <a:spcPts val="1200"/>
              </a:lnSpc>
              <a:buNone/>
            </a:pPr>
            <a:r>
              <a:rPr lang="en-US" sz="950" dirty="0">
                <a:solidFill>
                  <a:srgbClr val="4A5663"/>
                </a:solidFill>
                <a:latin typeface="Calibri" pitchFamily="34" charset="0"/>
                <a:ea typeface="Calibri" pitchFamily="34" charset="-122"/>
                <a:cs typeface="Calibri" pitchFamily="34" charset="-120"/>
              </a:rPr>
              <a:t>Attempted Volume, Successful Volume, Success Rate, Contribution Profit, and Contribution per Successful Txn — the last one sized to dominate, because it is the KPI the executive question is asked in.</a:t>
            </a:r>
            <a:endParaRPr lang="en-US" sz="950" dirty="0"/>
          </a:p>
        </p:txBody>
      </p:sp>
      <p:sp>
        <p:nvSpPr>
          <p:cNvPr id="13" name="Shape 11"/>
          <p:cNvSpPr/>
          <p:nvPr/>
        </p:nvSpPr>
        <p:spPr>
          <a:xfrm>
            <a:off x="7726680" y="34290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Shape 12"/>
          <p:cNvSpPr/>
          <p:nvPr/>
        </p:nvSpPr>
        <p:spPr>
          <a:xfrm>
            <a:off x="7909560" y="3575304"/>
            <a:ext cx="274320" cy="274320"/>
          </a:xfrm>
          <a:prstGeom prst="ellipse">
            <a:avLst/>
          </a:prstGeom>
          <a:solidFill>
            <a:srgbClr val="0E7C7B"/>
          </a:solidFill>
          <a:ln/>
        </p:spPr>
      </p:sp>
      <p:sp>
        <p:nvSpPr>
          <p:cNvPr id="15" name="Text 13"/>
          <p:cNvSpPr txBox="1"/>
          <p:nvPr/>
        </p:nvSpPr>
        <p:spPr>
          <a:xfrm>
            <a:off x="7909560" y="35753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6" name="Text 14"/>
          <p:cNvSpPr txBox="1"/>
          <p:nvPr/>
        </p:nvSpPr>
        <p:spPr>
          <a:xfrm>
            <a:off x="8275320" y="3557016"/>
            <a:ext cx="3200400" cy="1051560"/>
          </a:xfrm>
          <a:prstGeom prst="rect">
            <a:avLst/>
          </a:prstGeom>
          <a:noFill/>
          <a:ln/>
        </p:spPr>
        <p:txBody>
          <a:bodyPr wrap="square" lIns="0" tIns="0" rIns="0" bIns="0" rtlCol="0" anchor="ctr"/>
          <a:lstStyle/>
          <a:p>
            <a:pPr indent="0" marL="0">
              <a:lnSpc>
                <a:spcPts val="1200"/>
              </a:lnSpc>
              <a:buNone/>
            </a:pPr>
            <a:r>
              <a:rPr lang="en-US" sz="950" dirty="0">
                <a:solidFill>
                  <a:srgbClr val="4A5663"/>
                </a:solidFill>
                <a:latin typeface="Calibri" pitchFamily="34" charset="0"/>
                <a:ea typeface="Calibri" pitchFamily="34" charset="-122"/>
                <a:cs typeface="Calibri" pitchFamily="34" charset="-120"/>
              </a:rPr>
              <a:t>Visual 1: line and clustered column. Columns are Contribution Profit (rising). The line on the secondary axis is Contribution per Successful Txn (falling). The two lines crossing is the entire paradox in one picture.</a:t>
            </a:r>
            <a:endParaRPr lang="en-US" sz="950" dirty="0"/>
          </a:p>
        </p:txBody>
      </p:sp>
      <p:sp>
        <p:nvSpPr>
          <p:cNvPr id="17" name="Shape 15"/>
          <p:cNvSpPr/>
          <p:nvPr/>
        </p:nvSpPr>
        <p:spPr>
          <a:xfrm>
            <a:off x="7726680" y="48006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8" name="Shape 16"/>
          <p:cNvSpPr/>
          <p:nvPr/>
        </p:nvSpPr>
        <p:spPr>
          <a:xfrm>
            <a:off x="7909560" y="4946904"/>
            <a:ext cx="274320" cy="274320"/>
          </a:xfrm>
          <a:prstGeom prst="ellipse">
            <a:avLst/>
          </a:prstGeom>
          <a:solidFill>
            <a:srgbClr val="0E7C7B"/>
          </a:solidFill>
          <a:ln/>
        </p:spPr>
      </p:sp>
      <p:sp>
        <p:nvSpPr>
          <p:cNvPr id="19" name="Text 17"/>
          <p:cNvSpPr txBox="1"/>
          <p:nvPr/>
        </p:nvSpPr>
        <p:spPr>
          <a:xfrm>
            <a:off x="7909560" y="49469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0" name="Text 18"/>
          <p:cNvSpPr txBox="1"/>
          <p:nvPr/>
        </p:nvSpPr>
        <p:spPr>
          <a:xfrm>
            <a:off x="8275320" y="4928616"/>
            <a:ext cx="3200400" cy="1051560"/>
          </a:xfrm>
          <a:prstGeom prst="rect">
            <a:avLst/>
          </a:prstGeom>
          <a:noFill/>
          <a:ln/>
        </p:spPr>
        <p:txBody>
          <a:bodyPr wrap="square" lIns="0" tIns="0" rIns="0" bIns="0" rtlCol="0" anchor="ctr"/>
          <a:lstStyle/>
          <a:p>
            <a:pPr indent="0" marL="0">
              <a:lnSpc>
                <a:spcPts val="1200"/>
              </a:lnSpc>
              <a:buNone/>
            </a:pPr>
            <a:r>
              <a:rPr lang="en-US" sz="950" dirty="0">
                <a:solidFill>
                  <a:srgbClr val="4A5663"/>
                </a:solidFill>
                <a:latin typeface="Calibri" pitchFamily="34" charset="0"/>
                <a:ea typeface="Calibri" pitchFamily="34" charset="-122"/>
                <a:cs typeface="Calibri" pitchFamily="34" charset="-120"/>
              </a:rPr>
              <a:t>Slicers for quarter, merchant category and provider, synced across all three pages.</a:t>
            </a:r>
            <a:endParaRPr lang="en-US" sz="950" dirty="0"/>
          </a:p>
        </p:txBody>
      </p:sp>
      <p:sp>
        <p:nvSpPr>
          <p:cNvPr id="21" name="Text 19"/>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Placeholder — replace the dashed frame with the Power BI screenshot of this page before submitting.</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7 · DASHBOARD</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Page 2 — Diagnostic</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Where the decline comes from, and whether it is mix or performance</a:t>
            </a:r>
            <a:endParaRPr lang="en-US" sz="1300" dirty="0"/>
          </a:p>
        </p:txBody>
      </p:sp>
      <p:sp>
        <p:nvSpPr>
          <p:cNvPr id="5" name="Shape 3"/>
          <p:cNvSpPr/>
          <p:nvPr/>
        </p:nvSpPr>
        <p:spPr>
          <a:xfrm>
            <a:off x="548640" y="1627632"/>
            <a:ext cx="6949440" cy="4343400"/>
          </a:xfrm>
          <a:prstGeom prst="roundRect">
            <a:avLst>
              <a:gd name="adj" fmla="val 842"/>
            </a:avLst>
          </a:prstGeom>
          <a:solidFill>
            <a:srgbClr val="E9EDF1"/>
          </a:solidFill>
          <a:ln w="19050">
            <a:solidFill>
              <a:srgbClr val="9AA5B1"/>
            </a:solidFill>
            <a:prstDash val="dash"/>
          </a:ln>
        </p:spPr>
      </p:sp>
      <p:sp>
        <p:nvSpPr>
          <p:cNvPr id="6" name="Text 4"/>
          <p:cNvSpPr txBox="1"/>
          <p:nvPr/>
        </p:nvSpPr>
        <p:spPr>
          <a:xfrm>
            <a:off x="777240" y="3415284"/>
            <a:ext cx="6492240" cy="310896"/>
          </a:xfrm>
          <a:prstGeom prst="rect">
            <a:avLst/>
          </a:prstGeom>
          <a:noFill/>
          <a:ln/>
        </p:spPr>
        <p:txBody>
          <a:bodyPr wrap="square" lIns="0" tIns="0" rIns="0" bIns="0" rtlCol="0" anchor="ctr"/>
          <a:lstStyle/>
          <a:p>
            <a:pPr algn="ctr" indent="0" marL="0">
              <a:buNone/>
            </a:pPr>
            <a:r>
              <a:rPr lang="en-US" sz="1300" b="1" dirty="0">
                <a:solidFill>
                  <a:srgbClr val="12233C"/>
                </a:solidFill>
                <a:latin typeface="Calibri" pitchFamily="34" charset="0"/>
                <a:ea typeface="Calibri" pitchFamily="34" charset="-122"/>
                <a:cs typeface="Calibri" pitchFamily="34" charset="-120"/>
              </a:rPr>
              <a:t>[ PASTE POWER BI SCREENSHOT HERE ]</a:t>
            </a:r>
            <a:endParaRPr lang="en-US" sz="1300" dirty="0"/>
          </a:p>
        </p:txBody>
      </p:sp>
      <p:sp>
        <p:nvSpPr>
          <p:cNvPr id="7" name="Text 5"/>
          <p:cNvSpPr txBox="1"/>
          <p:nvPr/>
        </p:nvSpPr>
        <p:spPr>
          <a:xfrm>
            <a:off x="777240" y="3753612"/>
            <a:ext cx="6492240" cy="548640"/>
          </a:xfrm>
          <a:prstGeom prst="rect">
            <a:avLst/>
          </a:prstGeom>
          <a:noFill/>
          <a:ln/>
        </p:spPr>
        <p:txBody>
          <a:bodyPr wrap="square" lIns="0" tIns="0" rIns="0" bIns="0" rtlCol="0" anchor="ctr"/>
          <a:lstStyle/>
          <a:p>
            <a:pPr algn="ctr" indent="0" marL="0">
              <a:lnSpc>
                <a:spcPts val="1300"/>
              </a:lnSpc>
              <a:buNone/>
            </a:pPr>
            <a:r>
              <a:rPr lang="en-US" sz="1050" i="1" dirty="0">
                <a:solidFill>
                  <a:srgbClr val="6B7785"/>
                </a:solidFill>
                <a:latin typeface="Calibri" pitchFamily="34" charset="0"/>
                <a:ea typeface="Calibri" pitchFamily="34" charset="-122"/>
                <a:cs typeface="Calibri" pitchFamily="34" charset="-120"/>
              </a:rPr>
              <a:t>Page 2 — Diagnostic — full page capture</a:t>
            </a:r>
            <a:endParaRPr lang="en-US" sz="1050" dirty="0"/>
          </a:p>
        </p:txBody>
      </p:sp>
      <p:sp>
        <p:nvSpPr>
          <p:cNvPr id="8" name="Text 6"/>
          <p:cNvSpPr txBox="1"/>
          <p:nvPr/>
        </p:nvSpPr>
        <p:spPr>
          <a:xfrm>
            <a:off x="7726680" y="1691640"/>
            <a:ext cx="388620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How to read this page</a:t>
            </a:r>
            <a:endParaRPr lang="en-US" sz="1300" dirty="0"/>
          </a:p>
        </p:txBody>
      </p:sp>
      <p:sp>
        <p:nvSpPr>
          <p:cNvPr id="9" name="Shape 7"/>
          <p:cNvSpPr/>
          <p:nvPr/>
        </p:nvSpPr>
        <p:spPr>
          <a:xfrm>
            <a:off x="7726680" y="20574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Shape 8"/>
          <p:cNvSpPr/>
          <p:nvPr/>
        </p:nvSpPr>
        <p:spPr>
          <a:xfrm>
            <a:off x="7909560" y="2203704"/>
            <a:ext cx="274320" cy="274320"/>
          </a:xfrm>
          <a:prstGeom prst="ellipse">
            <a:avLst/>
          </a:prstGeom>
          <a:solidFill>
            <a:srgbClr val="0E7C7B"/>
          </a:solidFill>
          <a:ln/>
        </p:spPr>
      </p:sp>
      <p:sp>
        <p:nvSpPr>
          <p:cNvPr id="11" name="Text 9"/>
          <p:cNvSpPr txBox="1"/>
          <p:nvPr/>
        </p:nvSpPr>
        <p:spPr>
          <a:xfrm>
            <a:off x="7909560" y="22037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2" name="Text 10"/>
          <p:cNvSpPr txBox="1"/>
          <p:nvPr/>
        </p:nvSpPr>
        <p:spPr>
          <a:xfrm>
            <a:off x="8275320" y="2185416"/>
            <a:ext cx="3200400" cy="1051560"/>
          </a:xfrm>
          <a:prstGeom prst="rect">
            <a:avLst/>
          </a:prstGeom>
          <a:noFill/>
          <a:ln/>
        </p:spPr>
        <p:txBody>
          <a:bodyPr wrap="square" lIns="0" tIns="0" rIns="0" bIns="0" rtlCol="0" anchor="ctr"/>
          <a:lstStyle/>
          <a:p>
            <a:pPr indent="0" marL="0">
              <a:lnSpc>
                <a:spcPts val="1200"/>
              </a:lnSpc>
              <a:buNone/>
            </a:pPr>
            <a:r>
              <a:rPr lang="en-US" sz="950" dirty="0">
                <a:solidFill>
                  <a:srgbClr val="4A5663"/>
                </a:solidFill>
                <a:latin typeface="Calibri" pitchFamily="34" charset="0"/>
                <a:ea typeface="Calibri" pitchFamily="34" charset="-122"/>
                <a:cs typeface="Calibri" pitchFamily="34" charset="-120"/>
              </a:rPr>
              <a:t>Visual 2: stacked bar from analysis_decomposition, filtered to dimension = "Ticket size band", showing mix_effect against within_effect per band. The bars are almost entirely mix, which is the finding.</a:t>
            </a:r>
            <a:endParaRPr lang="en-US" sz="950" dirty="0"/>
          </a:p>
        </p:txBody>
      </p:sp>
      <p:sp>
        <p:nvSpPr>
          <p:cNvPr id="13" name="Shape 11"/>
          <p:cNvSpPr/>
          <p:nvPr/>
        </p:nvSpPr>
        <p:spPr>
          <a:xfrm>
            <a:off x="7726680" y="34290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Shape 12"/>
          <p:cNvSpPr/>
          <p:nvPr/>
        </p:nvSpPr>
        <p:spPr>
          <a:xfrm>
            <a:off x="7909560" y="3575304"/>
            <a:ext cx="274320" cy="274320"/>
          </a:xfrm>
          <a:prstGeom prst="ellipse">
            <a:avLst/>
          </a:prstGeom>
          <a:solidFill>
            <a:srgbClr val="0E7C7B"/>
          </a:solidFill>
          <a:ln/>
        </p:spPr>
      </p:sp>
      <p:sp>
        <p:nvSpPr>
          <p:cNvPr id="15" name="Text 13"/>
          <p:cNvSpPr txBox="1"/>
          <p:nvPr/>
        </p:nvSpPr>
        <p:spPr>
          <a:xfrm>
            <a:off x="7909560" y="35753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6" name="Text 14"/>
          <p:cNvSpPr txBox="1"/>
          <p:nvPr/>
        </p:nvSpPr>
        <p:spPr>
          <a:xfrm>
            <a:off x="8275320" y="3557016"/>
            <a:ext cx="3200400" cy="1051560"/>
          </a:xfrm>
          <a:prstGeom prst="rect">
            <a:avLst/>
          </a:prstGeom>
          <a:noFill/>
          <a:ln/>
        </p:spPr>
        <p:txBody>
          <a:bodyPr wrap="square" lIns="0" tIns="0" rIns="0" bIns="0" rtlCol="0" anchor="ctr"/>
          <a:lstStyle/>
          <a:p>
            <a:pPr indent="0" marL="0">
              <a:lnSpc>
                <a:spcPts val="1200"/>
              </a:lnSpc>
              <a:buNone/>
            </a:pPr>
            <a:r>
              <a:rPr lang="en-US" sz="950" dirty="0">
                <a:solidFill>
                  <a:srgbClr val="4A5663"/>
                </a:solidFill>
                <a:latin typeface="Calibri" pitchFamily="34" charset="0"/>
                <a:ea typeface="Calibri" pitchFamily="34" charset="-122"/>
                <a:cs typeface="Calibri" pitchFamily="34" charset="-120"/>
              </a:rPr>
              <a:t>Visual 3: matrix of Cost per Successful Txn with provider on rows and ticket band on columns, plus Successful Volume as a second value so the reader sees where the volume actually sits. ORBIT at $0.53 under $25 against NORTH at $0.14 is visible in one cell.</a:t>
            </a:r>
            <a:endParaRPr lang="en-US" sz="950" dirty="0"/>
          </a:p>
        </p:txBody>
      </p:sp>
      <p:sp>
        <p:nvSpPr>
          <p:cNvPr id="17" name="Shape 15"/>
          <p:cNvSpPr/>
          <p:nvPr/>
        </p:nvSpPr>
        <p:spPr>
          <a:xfrm>
            <a:off x="7726680" y="48006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8" name="Shape 16"/>
          <p:cNvSpPr/>
          <p:nvPr/>
        </p:nvSpPr>
        <p:spPr>
          <a:xfrm>
            <a:off x="7909560" y="4946904"/>
            <a:ext cx="274320" cy="274320"/>
          </a:xfrm>
          <a:prstGeom prst="ellipse">
            <a:avLst/>
          </a:prstGeom>
          <a:solidFill>
            <a:srgbClr val="0E7C7B"/>
          </a:solidFill>
          <a:ln/>
        </p:spPr>
      </p:sp>
      <p:sp>
        <p:nvSpPr>
          <p:cNvPr id="19" name="Text 17"/>
          <p:cNvSpPr txBox="1"/>
          <p:nvPr/>
        </p:nvSpPr>
        <p:spPr>
          <a:xfrm>
            <a:off x="7909560" y="49469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0" name="Text 18"/>
          <p:cNvSpPr txBox="1"/>
          <p:nvPr/>
        </p:nvSpPr>
        <p:spPr>
          <a:xfrm>
            <a:off x="8275320" y="4928616"/>
            <a:ext cx="3200400" cy="1051560"/>
          </a:xfrm>
          <a:prstGeom prst="rect">
            <a:avLst/>
          </a:prstGeom>
          <a:noFill/>
          <a:ln/>
        </p:spPr>
        <p:txBody>
          <a:bodyPr wrap="square" lIns="0" tIns="0" rIns="0" bIns="0" rtlCol="0" anchor="ctr"/>
          <a:lstStyle/>
          <a:p>
            <a:pPr indent="0" marL="0">
              <a:lnSpc>
                <a:spcPts val="1200"/>
              </a:lnSpc>
              <a:buNone/>
            </a:pPr>
            <a:r>
              <a:rPr lang="en-US" sz="950" dirty="0">
                <a:solidFill>
                  <a:srgbClr val="4A5663"/>
                </a:solidFill>
                <a:latin typeface="Calibri" pitchFamily="34" charset="0"/>
                <a:ea typeface="Calibri" pitchFamily="34" charset="-122"/>
                <a:cs typeface="Calibri" pitchFamily="34" charset="-120"/>
              </a:rPr>
              <a:t>Supporting visuals: ticket-band share over time, cohort economics crossing zero, and effective take rate by pricing plan — the last of which disproves the CFO at a glance.</a:t>
            </a:r>
            <a:endParaRPr lang="en-US" sz="950" dirty="0"/>
          </a:p>
        </p:txBody>
      </p:sp>
      <p:sp>
        <p:nvSpPr>
          <p:cNvPr id="21" name="Text 19"/>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Placeholder — replace the dashed frame with the Power BI screenshot of this page before submitting.</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7 · DASHBOARD</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Page 3 — Action</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The bridge and the 60-day plan</a:t>
            </a:r>
            <a:endParaRPr lang="en-US" sz="1300" dirty="0"/>
          </a:p>
        </p:txBody>
      </p:sp>
      <p:sp>
        <p:nvSpPr>
          <p:cNvPr id="5" name="Shape 3"/>
          <p:cNvSpPr/>
          <p:nvPr/>
        </p:nvSpPr>
        <p:spPr>
          <a:xfrm>
            <a:off x="548640" y="1627632"/>
            <a:ext cx="6949440" cy="4343400"/>
          </a:xfrm>
          <a:prstGeom prst="roundRect">
            <a:avLst>
              <a:gd name="adj" fmla="val 842"/>
            </a:avLst>
          </a:prstGeom>
          <a:solidFill>
            <a:srgbClr val="E9EDF1"/>
          </a:solidFill>
          <a:ln w="19050">
            <a:solidFill>
              <a:srgbClr val="9AA5B1"/>
            </a:solidFill>
            <a:prstDash val="dash"/>
          </a:ln>
        </p:spPr>
      </p:sp>
      <p:sp>
        <p:nvSpPr>
          <p:cNvPr id="6" name="Text 4"/>
          <p:cNvSpPr txBox="1"/>
          <p:nvPr/>
        </p:nvSpPr>
        <p:spPr>
          <a:xfrm>
            <a:off x="777240" y="3415284"/>
            <a:ext cx="6492240" cy="310896"/>
          </a:xfrm>
          <a:prstGeom prst="rect">
            <a:avLst/>
          </a:prstGeom>
          <a:noFill/>
          <a:ln/>
        </p:spPr>
        <p:txBody>
          <a:bodyPr wrap="square" lIns="0" tIns="0" rIns="0" bIns="0" rtlCol="0" anchor="ctr"/>
          <a:lstStyle/>
          <a:p>
            <a:pPr algn="ctr" indent="0" marL="0">
              <a:buNone/>
            </a:pPr>
            <a:r>
              <a:rPr lang="en-US" sz="1300" b="1" dirty="0">
                <a:solidFill>
                  <a:srgbClr val="12233C"/>
                </a:solidFill>
                <a:latin typeface="Calibri" pitchFamily="34" charset="0"/>
                <a:ea typeface="Calibri" pitchFamily="34" charset="-122"/>
                <a:cs typeface="Calibri" pitchFamily="34" charset="-120"/>
              </a:rPr>
              <a:t>[ PASTE POWER BI SCREENSHOT HERE ]</a:t>
            </a:r>
            <a:endParaRPr lang="en-US" sz="1300" dirty="0"/>
          </a:p>
        </p:txBody>
      </p:sp>
      <p:sp>
        <p:nvSpPr>
          <p:cNvPr id="7" name="Text 5"/>
          <p:cNvSpPr txBox="1"/>
          <p:nvPr/>
        </p:nvSpPr>
        <p:spPr>
          <a:xfrm>
            <a:off x="777240" y="3753612"/>
            <a:ext cx="6492240" cy="548640"/>
          </a:xfrm>
          <a:prstGeom prst="rect">
            <a:avLst/>
          </a:prstGeom>
          <a:noFill/>
          <a:ln/>
        </p:spPr>
        <p:txBody>
          <a:bodyPr wrap="square" lIns="0" tIns="0" rIns="0" bIns="0" rtlCol="0" anchor="ctr"/>
          <a:lstStyle/>
          <a:p>
            <a:pPr algn="ctr" indent="0" marL="0">
              <a:lnSpc>
                <a:spcPts val="1300"/>
              </a:lnSpc>
              <a:buNone/>
            </a:pPr>
            <a:r>
              <a:rPr lang="en-US" sz="1050" i="1" dirty="0">
                <a:solidFill>
                  <a:srgbClr val="6B7785"/>
                </a:solidFill>
                <a:latin typeface="Calibri" pitchFamily="34" charset="0"/>
                <a:ea typeface="Calibri" pitchFamily="34" charset="-122"/>
                <a:cs typeface="Calibri" pitchFamily="34" charset="-120"/>
              </a:rPr>
              <a:t>Page 3 — Action — full page capture</a:t>
            </a:r>
            <a:endParaRPr lang="en-US" sz="1050" dirty="0"/>
          </a:p>
        </p:txBody>
      </p:sp>
      <p:sp>
        <p:nvSpPr>
          <p:cNvPr id="8" name="Text 6"/>
          <p:cNvSpPr txBox="1"/>
          <p:nvPr/>
        </p:nvSpPr>
        <p:spPr>
          <a:xfrm>
            <a:off x="7726680" y="1691640"/>
            <a:ext cx="3886200" cy="274320"/>
          </a:xfrm>
          <a:prstGeom prst="rect">
            <a:avLst/>
          </a:prstGeom>
          <a:noFill/>
          <a:ln/>
        </p:spPr>
        <p:txBody>
          <a:bodyPr wrap="square" lIns="0" tIns="0" rIns="0" bIns="0" rtlCol="0" anchor="ctr"/>
          <a:lstStyle/>
          <a:p>
            <a:pPr indent="0" marL="0">
              <a:buNone/>
            </a:pPr>
            <a:r>
              <a:rPr lang="en-US" sz="1300" b="1" dirty="0">
                <a:solidFill>
                  <a:srgbClr val="12233C"/>
                </a:solidFill>
                <a:latin typeface="Calibri" pitchFamily="34" charset="0"/>
                <a:ea typeface="Calibri" pitchFamily="34" charset="-122"/>
                <a:cs typeface="Calibri" pitchFamily="34" charset="-120"/>
              </a:rPr>
              <a:t>How to read this page</a:t>
            </a:r>
            <a:endParaRPr lang="en-US" sz="1300" dirty="0"/>
          </a:p>
        </p:txBody>
      </p:sp>
      <p:sp>
        <p:nvSpPr>
          <p:cNvPr id="9" name="Shape 7"/>
          <p:cNvSpPr/>
          <p:nvPr/>
        </p:nvSpPr>
        <p:spPr>
          <a:xfrm>
            <a:off x="7726680" y="20574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Shape 8"/>
          <p:cNvSpPr/>
          <p:nvPr/>
        </p:nvSpPr>
        <p:spPr>
          <a:xfrm>
            <a:off x="7909560" y="2203704"/>
            <a:ext cx="274320" cy="274320"/>
          </a:xfrm>
          <a:prstGeom prst="ellipse">
            <a:avLst/>
          </a:prstGeom>
          <a:solidFill>
            <a:srgbClr val="0E7C7B"/>
          </a:solidFill>
          <a:ln/>
        </p:spPr>
      </p:sp>
      <p:sp>
        <p:nvSpPr>
          <p:cNvPr id="11" name="Text 9"/>
          <p:cNvSpPr txBox="1"/>
          <p:nvPr/>
        </p:nvSpPr>
        <p:spPr>
          <a:xfrm>
            <a:off x="7909560" y="22037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2" name="Text 10"/>
          <p:cNvSpPr txBox="1"/>
          <p:nvPr/>
        </p:nvSpPr>
        <p:spPr>
          <a:xfrm>
            <a:off x="8275320" y="2185416"/>
            <a:ext cx="3200400" cy="1051560"/>
          </a:xfrm>
          <a:prstGeom prst="rect">
            <a:avLst/>
          </a:prstGeom>
          <a:noFill/>
          <a:ln/>
        </p:spPr>
        <p:txBody>
          <a:bodyPr wrap="square" lIns="0" tIns="0" rIns="0" bIns="0" rtlCol="0" anchor="ctr"/>
          <a:lstStyle/>
          <a:p>
            <a:pPr indent="0" marL="0">
              <a:lnSpc>
                <a:spcPts val="1200"/>
              </a:lnSpc>
              <a:buNone/>
            </a:pPr>
            <a:r>
              <a:rPr lang="en-US" sz="950" dirty="0">
                <a:solidFill>
                  <a:srgbClr val="4A5663"/>
                </a:solidFill>
                <a:latin typeface="Calibri" pitchFamily="34" charset="0"/>
                <a:ea typeface="Calibri" pitchFamily="34" charset="-122"/>
                <a:cs typeface="Calibri" pitchFamily="34" charset="-120"/>
              </a:rPr>
              <a:t>Visual 4: waterfall from analysis_bridge. Opening $1.613, then merchant revenue −$0.744, processing cost +$0.109, chargeback cost +$0.102. No closing row is supplied — Power BI computes its own total, so a hand-written closing row is counted twice.</a:t>
            </a:r>
            <a:endParaRPr lang="en-US" sz="950" dirty="0"/>
          </a:p>
        </p:txBody>
      </p:sp>
      <p:sp>
        <p:nvSpPr>
          <p:cNvPr id="13" name="Shape 11"/>
          <p:cNvSpPr/>
          <p:nvPr/>
        </p:nvSpPr>
        <p:spPr>
          <a:xfrm>
            <a:off x="7726680" y="34290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Shape 12"/>
          <p:cNvSpPr/>
          <p:nvPr/>
        </p:nvSpPr>
        <p:spPr>
          <a:xfrm>
            <a:off x="7909560" y="3575304"/>
            <a:ext cx="274320" cy="274320"/>
          </a:xfrm>
          <a:prstGeom prst="ellipse">
            <a:avLst/>
          </a:prstGeom>
          <a:solidFill>
            <a:srgbClr val="0E7C7B"/>
          </a:solidFill>
          <a:ln/>
        </p:spPr>
      </p:sp>
      <p:sp>
        <p:nvSpPr>
          <p:cNvPr id="15" name="Text 13"/>
          <p:cNvSpPr txBox="1"/>
          <p:nvPr/>
        </p:nvSpPr>
        <p:spPr>
          <a:xfrm>
            <a:off x="7909560" y="35753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6" name="Text 14"/>
          <p:cNvSpPr txBox="1"/>
          <p:nvPr/>
        </p:nvSpPr>
        <p:spPr>
          <a:xfrm>
            <a:off x="8275320" y="3557016"/>
            <a:ext cx="3200400" cy="1051560"/>
          </a:xfrm>
          <a:prstGeom prst="rect">
            <a:avLst/>
          </a:prstGeom>
          <a:noFill/>
          <a:ln/>
        </p:spPr>
        <p:txBody>
          <a:bodyPr wrap="square" lIns="0" tIns="0" rIns="0" bIns="0" rtlCol="0" anchor="ctr"/>
          <a:lstStyle/>
          <a:p>
            <a:pPr indent="0" marL="0">
              <a:lnSpc>
                <a:spcPts val="1200"/>
              </a:lnSpc>
              <a:buNone/>
            </a:pPr>
            <a:r>
              <a:rPr lang="en-US" sz="950" dirty="0">
                <a:solidFill>
                  <a:srgbClr val="4A5663"/>
                </a:solidFill>
                <a:latin typeface="Calibri" pitchFamily="34" charset="0"/>
                <a:ea typeface="Calibri" pitchFamily="34" charset="-122"/>
                <a:cs typeface="Calibri" pitchFamily="34" charset="-120"/>
              </a:rPr>
              <a:t>The Task 6 verdict table sits beside it as a supporting table: driver, type, claimed by, result, verdict. It is the audit trail for the three disproved hypotheses.</a:t>
            </a:r>
            <a:endParaRPr lang="en-US" sz="950" dirty="0"/>
          </a:p>
        </p:txBody>
      </p:sp>
      <p:sp>
        <p:nvSpPr>
          <p:cNvPr id="17" name="Shape 15"/>
          <p:cNvSpPr/>
          <p:nvPr/>
        </p:nvSpPr>
        <p:spPr>
          <a:xfrm>
            <a:off x="7726680" y="48006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8" name="Shape 16"/>
          <p:cNvSpPr/>
          <p:nvPr/>
        </p:nvSpPr>
        <p:spPr>
          <a:xfrm>
            <a:off x="7909560" y="4946904"/>
            <a:ext cx="274320" cy="274320"/>
          </a:xfrm>
          <a:prstGeom prst="ellipse">
            <a:avLst/>
          </a:prstGeom>
          <a:solidFill>
            <a:srgbClr val="0E7C7B"/>
          </a:solidFill>
          <a:ln/>
        </p:spPr>
      </p:sp>
      <p:sp>
        <p:nvSpPr>
          <p:cNvPr id="19" name="Text 17"/>
          <p:cNvSpPr txBox="1"/>
          <p:nvPr/>
        </p:nvSpPr>
        <p:spPr>
          <a:xfrm>
            <a:off x="7909560" y="49469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0" name="Text 18"/>
          <p:cNvSpPr txBox="1"/>
          <p:nvPr/>
        </p:nvSpPr>
        <p:spPr>
          <a:xfrm>
            <a:off x="8275320" y="4928616"/>
            <a:ext cx="3200400" cy="1051560"/>
          </a:xfrm>
          <a:prstGeom prst="rect">
            <a:avLst/>
          </a:prstGeom>
          <a:noFill/>
          <a:ln/>
        </p:spPr>
        <p:txBody>
          <a:bodyPr wrap="square" lIns="0" tIns="0" rIns="0" bIns="0" rtlCol="0" anchor="ctr"/>
          <a:lstStyle/>
          <a:p>
            <a:pPr indent="0" marL="0">
              <a:lnSpc>
                <a:spcPts val="1200"/>
              </a:lnSpc>
              <a:buNone/>
            </a:pPr>
            <a:r>
              <a:rPr lang="en-US" sz="950" dirty="0">
                <a:solidFill>
                  <a:srgbClr val="4A5663"/>
                </a:solidFill>
                <a:latin typeface="Calibri" pitchFamily="34" charset="0"/>
                <a:ea typeface="Calibri" pitchFamily="34" charset="-122"/>
                <a:cs typeface="Calibri" pitchFamily="34" charset="-120"/>
              </a:rPr>
              <a:t>Below: the five-action 60-day table, imported from actions_60day.csv so the deck, the dashboard and the repository all quote the same five actions.</a:t>
            </a:r>
            <a:endParaRPr lang="en-US" sz="950" dirty="0"/>
          </a:p>
        </p:txBody>
      </p:sp>
      <p:sp>
        <p:nvSpPr>
          <p:cNvPr id="21" name="Text 19"/>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Placeholder — replace the dashed frame with the Power BI screenshot of this page before submitting.</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2233C"/>
        </a:solidFill>
      </p:bgPr>
    </p:bg>
    <p:spTree>
      <p:nvGrpSpPr>
        <p:cNvPr id="1" name=""/>
        <p:cNvGrpSpPr/>
        <p:nvPr/>
      </p:nvGrpSpPr>
      <p:grpSpPr>
        <a:xfrm>
          <a:off x="0" y="0"/>
          <a:ext cx="0" cy="0"/>
          <a:chOff x="0" y="0"/>
          <a:chExt cx="0" cy="0"/>
        </a:xfrm>
      </p:grpSpPr>
      <p:sp>
        <p:nvSpPr>
          <p:cNvPr id="2" name="Text 0"/>
          <p:cNvSpPr txBox="1"/>
          <p:nvPr/>
        </p:nvSpPr>
        <p:spPr>
          <a:xfrm>
            <a:off x="822960" y="1828800"/>
            <a:ext cx="2743200" cy="1737360"/>
          </a:xfrm>
          <a:prstGeom prst="rect">
            <a:avLst/>
          </a:prstGeom>
          <a:noFill/>
          <a:ln/>
        </p:spPr>
        <p:txBody>
          <a:bodyPr wrap="square" lIns="0" tIns="0" rIns="0" bIns="0" rtlCol="0" anchor="ctr"/>
          <a:lstStyle/>
          <a:p>
            <a:pPr indent="0" marL="0">
              <a:buNone/>
            </a:pPr>
            <a:r>
              <a:rPr lang="en-US" sz="9600" b="1" dirty="0">
                <a:solidFill>
                  <a:srgbClr val="24406A"/>
                </a:solidFill>
                <a:latin typeface="Cambria" pitchFamily="34" charset="0"/>
                <a:ea typeface="Cambria" pitchFamily="34" charset="-122"/>
                <a:cs typeface="Cambria" pitchFamily="34" charset="-120"/>
              </a:rPr>
              <a:t>08</a:t>
            </a:r>
            <a:endParaRPr lang="en-US" sz="9600" dirty="0"/>
          </a:p>
        </p:txBody>
      </p:sp>
      <p:sp>
        <p:nvSpPr>
          <p:cNvPr id="3" name="Text 1"/>
          <p:cNvSpPr txBox="1"/>
          <p:nvPr/>
        </p:nvSpPr>
        <p:spPr>
          <a:xfrm>
            <a:off x="3108960" y="2148840"/>
            <a:ext cx="841248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Decision and conclusion</a:t>
            </a:r>
            <a:endParaRPr lang="en-US" sz="3400" dirty="0"/>
          </a:p>
        </p:txBody>
      </p:sp>
      <p:sp>
        <p:nvSpPr>
          <p:cNvPr id="4" name="Text 2"/>
          <p:cNvSpPr txBox="1"/>
          <p:nvPr/>
        </p:nvSpPr>
        <p:spPr>
          <a:xfrm>
            <a:off x="3154680" y="3017520"/>
            <a:ext cx="8229600" cy="457200"/>
          </a:xfrm>
          <a:prstGeom prst="rect">
            <a:avLst/>
          </a:prstGeom>
          <a:noFill/>
          <a:ln/>
        </p:spPr>
        <p:txBody>
          <a:bodyPr wrap="square" lIns="0" tIns="0" rIns="0" bIns="0" rtlCol="0" anchor="ctr"/>
          <a:lstStyle/>
          <a:p>
            <a:pPr indent="0" marL="0">
              <a:lnSpc>
                <a:spcPts val="2000"/>
              </a:lnSpc>
              <a:buNone/>
            </a:pPr>
            <a:r>
              <a:rPr lang="en-US" sz="1500" dirty="0">
                <a:solidFill>
                  <a:srgbClr val="8FA6C4"/>
                </a:solidFill>
                <a:latin typeface="Calibri" pitchFamily="34" charset="0"/>
                <a:ea typeface="Calibri" pitchFamily="34" charset="-122"/>
                <a:cs typeface="Calibri" pitchFamily="34" charset="-120"/>
              </a:rPr>
              <a:t>Task 8 — What should change in the next 60 days</a:t>
            </a:r>
            <a:endParaRPr lang="en-US" sz="1500" dirty="0"/>
          </a:p>
        </p:txBody>
      </p:sp>
      <p:sp>
        <p:nvSpPr>
          <p:cNvPr id="5" name="Text 3"/>
          <p:cNvSpPr txBox="1"/>
          <p:nvPr/>
        </p:nvSpPr>
        <p:spPr>
          <a:xfrm>
            <a:off x="3154680" y="3611880"/>
            <a:ext cx="8229600" cy="1097280"/>
          </a:xfrm>
          <a:prstGeom prst="rect">
            <a:avLst/>
          </a:prstGeom>
          <a:noFill/>
          <a:ln/>
        </p:spPr>
        <p:txBody>
          <a:bodyPr wrap="square" lIns="0" tIns="0" rIns="0" bIns="0" rtlCol="0" anchor="ctr"/>
          <a:lstStyle/>
          <a:p>
            <a:pPr indent="0" marL="0">
              <a:lnSpc>
                <a:spcPts val="1900"/>
              </a:lnSpc>
              <a:buNone/>
            </a:pPr>
            <a:r>
              <a:rPr lang="en-US" sz="1300" dirty="0">
                <a:solidFill>
                  <a:srgbClr val="7FD4D2"/>
                </a:solidFill>
                <a:latin typeface="Calibri" pitchFamily="34" charset="0"/>
                <a:ea typeface="Calibri" pitchFamily="34" charset="-122"/>
                <a:cs typeface="Calibri" pitchFamily="34" charset="-120"/>
              </a:rPr>
              <a:t>Five actions with named owners  ·  What the plan is not  ·  Risks and the checks that surface them  ·  The limits of the analysis  ·  The closing position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8 · RECOMMENDATION</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Price the floor, route the floor, defend the top</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Small tickets are not the problem. Small tickets priced and routed like large ones are.</a:t>
            </a:r>
            <a:endParaRPr lang="en-US" sz="1300" dirty="0"/>
          </a:p>
        </p:txBody>
      </p:sp>
      <p:sp>
        <p:nvSpPr>
          <p:cNvPr id="5" name="Shape 3"/>
          <p:cNvSpPr/>
          <p:nvPr/>
        </p:nvSpPr>
        <p:spPr>
          <a:xfrm>
            <a:off x="548640" y="1627632"/>
            <a:ext cx="3538728" cy="4023360"/>
          </a:xfrm>
          <a:prstGeom prst="roundRect">
            <a:avLst>
              <a:gd name="adj" fmla="val 155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6" name="Text 4"/>
          <p:cNvSpPr txBox="1"/>
          <p:nvPr/>
        </p:nvSpPr>
        <p:spPr>
          <a:xfrm>
            <a:off x="786384" y="1792224"/>
            <a:ext cx="3063240" cy="256032"/>
          </a:xfrm>
          <a:prstGeom prst="rect">
            <a:avLst/>
          </a:prstGeom>
          <a:noFill/>
          <a:ln/>
        </p:spPr>
        <p:txBody>
          <a:bodyPr wrap="square" lIns="0" tIns="0" rIns="0" bIns="0" rtlCol="0" anchor="ctr"/>
          <a:lstStyle/>
          <a:p>
            <a:pPr indent="0" marL="0">
              <a:buNone/>
            </a:pPr>
            <a:r>
              <a:rPr lang="en-US" sz="1100" b="1" spc="200" kern="0" dirty="0">
                <a:solidFill>
                  <a:srgbClr val="D98324"/>
                </a:solidFill>
                <a:latin typeface="Calibri" pitchFamily="34" charset="0"/>
                <a:ea typeface="Calibri" pitchFamily="34" charset="-122"/>
                <a:cs typeface="Calibri" pitchFamily="34" charset="-120"/>
              </a:rPr>
              <a:t>PRICE</a:t>
            </a:r>
            <a:endParaRPr lang="en-US" sz="1100" dirty="0"/>
          </a:p>
        </p:txBody>
      </p:sp>
      <p:sp>
        <p:nvSpPr>
          <p:cNvPr id="7" name="Text 5"/>
          <p:cNvSpPr txBox="1"/>
          <p:nvPr/>
        </p:nvSpPr>
        <p:spPr>
          <a:xfrm>
            <a:off x="786384" y="2103120"/>
            <a:ext cx="3063240" cy="914400"/>
          </a:xfrm>
          <a:prstGeom prst="rect">
            <a:avLst/>
          </a:prstGeom>
          <a:noFill/>
          <a:ln/>
        </p:spPr>
        <p:txBody>
          <a:bodyPr wrap="square" lIns="0" tIns="0" rIns="0" bIns="0" rtlCol="0" anchor="ctr"/>
          <a:lstStyle/>
          <a:p>
            <a:pPr indent="0" marL="0">
              <a:lnSpc>
                <a:spcPts val="2100"/>
              </a:lnSpc>
              <a:buNone/>
            </a:pPr>
            <a:r>
              <a:rPr lang="en-US" sz="1700" b="1" dirty="0">
                <a:solidFill>
                  <a:srgbClr val="12233C"/>
                </a:solidFill>
                <a:latin typeface="Cambria" pitchFamily="34" charset="0"/>
                <a:ea typeface="Cambria" pitchFamily="34" charset="-122"/>
                <a:cs typeface="Cambria" pitchFamily="34" charset="-120"/>
              </a:rPr>
              <a:t>Minimum per-transaction fee of $0.35 on FLAT_2_0</a:t>
            </a:r>
            <a:endParaRPr lang="en-US" sz="1700" dirty="0"/>
          </a:p>
        </p:txBody>
      </p:sp>
      <p:sp>
        <p:nvSpPr>
          <p:cNvPr id="8" name="Text 6"/>
          <p:cNvSpPr txBox="1"/>
          <p:nvPr/>
        </p:nvSpPr>
        <p:spPr>
          <a:xfrm>
            <a:off x="786384" y="3127248"/>
            <a:ext cx="3063240" cy="1371600"/>
          </a:xfrm>
          <a:prstGeom prst="rect">
            <a:avLst/>
          </a:prstGeom>
          <a:noFill/>
          <a:ln/>
        </p:spPr>
        <p:txBody>
          <a:bodyPr wrap="square" lIns="0" tIns="0" rIns="0" bIns="0" rtlCol="0" anchor="ctr"/>
          <a:lstStyle/>
          <a:p>
            <a:pPr indent="0" marL="0">
              <a:lnSpc>
                <a:spcPts val="1500"/>
              </a:lnSpc>
              <a:buNone/>
            </a:pPr>
            <a:r>
              <a:rPr lang="en-US" sz="1150" dirty="0">
                <a:solidFill>
                  <a:srgbClr val="4A5663"/>
                </a:solidFill>
                <a:latin typeface="Calibri" pitchFamily="34" charset="0"/>
                <a:ea typeface="Calibri" pitchFamily="34" charset="-122"/>
                <a:cs typeface="Calibri" pitchFamily="34" charset="-120"/>
              </a:rPr>
              <a:t>A 2.00% + $0.20 plan returns about $0.48 on a $14 ticket, against $0.56 of Orbit cost. The cohort is loss-making by design, not by accident.</a:t>
            </a:r>
            <a:endParaRPr lang="en-US" sz="1150" dirty="0"/>
          </a:p>
        </p:txBody>
      </p:sp>
      <p:sp>
        <p:nvSpPr>
          <p:cNvPr id="9" name="Shape 7"/>
          <p:cNvSpPr/>
          <p:nvPr/>
        </p:nvSpPr>
        <p:spPr>
          <a:xfrm>
            <a:off x="786384" y="4754880"/>
            <a:ext cx="3063240" cy="749808"/>
          </a:xfrm>
          <a:prstGeom prst="roundRect">
            <a:avLst>
              <a:gd name="adj" fmla="val 6098"/>
            </a:avLst>
          </a:prstGeom>
          <a:solidFill>
            <a:srgbClr val="E8F1F1"/>
          </a:solidFill>
          <a:ln w="12700">
            <a:solidFill>
              <a:srgbClr val="E8F1F1"/>
            </a:solidFill>
            <a:prstDash val="solid"/>
          </a:ln>
        </p:spPr>
      </p:sp>
      <p:sp>
        <p:nvSpPr>
          <p:cNvPr id="10" name="Text 8"/>
          <p:cNvSpPr txBox="1"/>
          <p:nvPr/>
        </p:nvSpPr>
        <p:spPr>
          <a:xfrm>
            <a:off x="914400" y="4828032"/>
            <a:ext cx="2807208" cy="621792"/>
          </a:xfrm>
          <a:prstGeom prst="rect">
            <a:avLst/>
          </a:prstGeom>
          <a:noFill/>
          <a:ln/>
        </p:spPr>
        <p:txBody>
          <a:bodyPr wrap="square" lIns="0" tIns="0" rIns="0" bIns="0" rtlCol="0" anchor="ctr"/>
          <a:lstStyle/>
          <a:p>
            <a:pPr indent="0" marL="0">
              <a:lnSpc>
                <a:spcPts val="1300"/>
              </a:lnSpc>
              <a:buNone/>
            </a:pPr>
            <a:r>
              <a:rPr lang="en-US" sz="1050" b="1" dirty="0">
                <a:solidFill>
                  <a:srgbClr val="0E7C7B"/>
                </a:solidFill>
                <a:latin typeface="Calibri" pitchFamily="34" charset="0"/>
                <a:ea typeface="Calibri" pitchFamily="34" charset="-122"/>
                <a:cs typeface="Calibri" pitchFamily="34" charset="-120"/>
              </a:rPr>
              <a:t>Returns the small-ticket cohort from −$0.138 to positive</a:t>
            </a:r>
            <a:endParaRPr lang="en-US" sz="1050" dirty="0"/>
          </a:p>
        </p:txBody>
      </p:sp>
      <p:sp>
        <p:nvSpPr>
          <p:cNvPr id="11" name="Shape 9"/>
          <p:cNvSpPr/>
          <p:nvPr/>
        </p:nvSpPr>
        <p:spPr>
          <a:xfrm>
            <a:off x="4325112" y="1627632"/>
            <a:ext cx="3538728" cy="4023360"/>
          </a:xfrm>
          <a:prstGeom prst="roundRect">
            <a:avLst>
              <a:gd name="adj" fmla="val 155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2" name="Text 10"/>
          <p:cNvSpPr txBox="1"/>
          <p:nvPr/>
        </p:nvSpPr>
        <p:spPr>
          <a:xfrm>
            <a:off x="4562856" y="1792224"/>
            <a:ext cx="3063240" cy="256032"/>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ROUTE</a:t>
            </a:r>
            <a:endParaRPr lang="en-US" sz="1100" dirty="0"/>
          </a:p>
        </p:txBody>
      </p:sp>
      <p:sp>
        <p:nvSpPr>
          <p:cNvPr id="13" name="Text 11"/>
          <p:cNvSpPr txBox="1"/>
          <p:nvPr/>
        </p:nvSpPr>
        <p:spPr>
          <a:xfrm>
            <a:off x="4562856" y="2103120"/>
            <a:ext cx="3063240" cy="914400"/>
          </a:xfrm>
          <a:prstGeom prst="rect">
            <a:avLst/>
          </a:prstGeom>
          <a:noFill/>
          <a:ln/>
        </p:spPr>
        <p:txBody>
          <a:bodyPr wrap="square" lIns="0" tIns="0" rIns="0" bIns="0" rtlCol="0" anchor="ctr"/>
          <a:lstStyle/>
          <a:p>
            <a:pPr indent="0" marL="0">
              <a:lnSpc>
                <a:spcPts val="2100"/>
              </a:lnSpc>
              <a:buNone/>
            </a:pPr>
            <a:r>
              <a:rPr lang="en-US" sz="1700" b="1" dirty="0">
                <a:solidFill>
                  <a:srgbClr val="12233C"/>
                </a:solidFill>
                <a:latin typeface="Cambria" pitchFamily="34" charset="0"/>
                <a:ea typeface="Cambria" pitchFamily="34" charset="-122"/>
                <a:cs typeface="Cambria" pitchFamily="34" charset="-120"/>
              </a:rPr>
              <a:t>Send sub-$90 volume to PROV_NORTH</a:t>
            </a:r>
            <a:endParaRPr lang="en-US" sz="1700" dirty="0"/>
          </a:p>
        </p:txBody>
      </p:sp>
      <p:sp>
        <p:nvSpPr>
          <p:cNvPr id="14" name="Text 12"/>
          <p:cNvSpPr txBox="1"/>
          <p:nvPr/>
        </p:nvSpPr>
        <p:spPr>
          <a:xfrm>
            <a:off x="4562856" y="3127248"/>
            <a:ext cx="3063240" cy="1371600"/>
          </a:xfrm>
          <a:prstGeom prst="rect">
            <a:avLst/>
          </a:prstGeom>
          <a:noFill/>
          <a:ln/>
        </p:spPr>
        <p:txBody>
          <a:bodyPr wrap="square" lIns="0" tIns="0" rIns="0" bIns="0" rtlCol="0" anchor="ctr"/>
          <a:lstStyle/>
          <a:p>
            <a:pPr indent="0" marL="0">
              <a:lnSpc>
                <a:spcPts val="1500"/>
              </a:lnSpc>
              <a:buNone/>
            </a:pPr>
            <a:r>
              <a:rPr lang="en-US" sz="1150" dirty="0">
                <a:solidFill>
                  <a:srgbClr val="4A5663"/>
                </a:solidFill>
                <a:latin typeface="Calibri" pitchFamily="34" charset="0"/>
                <a:ea typeface="Calibri" pitchFamily="34" charset="-122"/>
                <a:cs typeface="Calibri" pitchFamily="34" charset="-120"/>
              </a:rPr>
              <a:t>Break-even against ORBIT is about $147 after the July repricing. Below it, NORTH costs $0.13 where ORBIT costs $0.56.</a:t>
            </a:r>
            <a:endParaRPr lang="en-US" sz="1150" dirty="0"/>
          </a:p>
        </p:txBody>
      </p:sp>
      <p:sp>
        <p:nvSpPr>
          <p:cNvPr id="15" name="Shape 13"/>
          <p:cNvSpPr/>
          <p:nvPr/>
        </p:nvSpPr>
        <p:spPr>
          <a:xfrm>
            <a:off x="4562856" y="4754880"/>
            <a:ext cx="3063240" cy="749808"/>
          </a:xfrm>
          <a:prstGeom prst="roundRect">
            <a:avLst>
              <a:gd name="adj" fmla="val 6098"/>
            </a:avLst>
          </a:prstGeom>
          <a:solidFill>
            <a:srgbClr val="E8F1F1"/>
          </a:solidFill>
          <a:ln w="12700">
            <a:solidFill>
              <a:srgbClr val="E8F1F1"/>
            </a:solidFill>
            <a:prstDash val="solid"/>
          </a:ln>
        </p:spPr>
      </p:sp>
      <p:sp>
        <p:nvSpPr>
          <p:cNvPr id="16" name="Text 14"/>
          <p:cNvSpPr txBox="1"/>
          <p:nvPr/>
        </p:nvSpPr>
        <p:spPr>
          <a:xfrm>
            <a:off x="4690872" y="4828032"/>
            <a:ext cx="2807208" cy="621792"/>
          </a:xfrm>
          <a:prstGeom prst="rect">
            <a:avLst/>
          </a:prstGeom>
          <a:noFill/>
          <a:ln/>
        </p:spPr>
        <p:txBody>
          <a:bodyPr wrap="square" lIns="0" tIns="0" rIns="0" bIns="0" rtlCol="0" anchor="ctr"/>
          <a:lstStyle/>
          <a:p>
            <a:pPr indent="0" marL="0">
              <a:lnSpc>
                <a:spcPts val="1300"/>
              </a:lnSpc>
              <a:buNone/>
            </a:pPr>
            <a:r>
              <a:rPr lang="en-US" sz="1050" b="1" dirty="0">
                <a:solidFill>
                  <a:srgbClr val="0E7C7B"/>
                </a:solidFill>
                <a:latin typeface="Calibri" pitchFamily="34" charset="0"/>
                <a:ea typeface="Calibri" pitchFamily="34" charset="-122"/>
                <a:cs typeface="Calibri" pitchFamily="34" charset="-120"/>
              </a:rPr>
              <a:t>About $0.30–$0.40 per txn on roughly 34% of volume</a:t>
            </a:r>
            <a:endParaRPr lang="en-US" sz="1050" dirty="0"/>
          </a:p>
        </p:txBody>
      </p:sp>
      <p:sp>
        <p:nvSpPr>
          <p:cNvPr id="17" name="Shape 15"/>
          <p:cNvSpPr/>
          <p:nvPr/>
        </p:nvSpPr>
        <p:spPr>
          <a:xfrm>
            <a:off x="8101584" y="1627632"/>
            <a:ext cx="3538728" cy="4023360"/>
          </a:xfrm>
          <a:prstGeom prst="roundRect">
            <a:avLst>
              <a:gd name="adj" fmla="val 155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8" name="Text 16"/>
          <p:cNvSpPr txBox="1"/>
          <p:nvPr/>
        </p:nvSpPr>
        <p:spPr>
          <a:xfrm>
            <a:off x="8339328" y="1792224"/>
            <a:ext cx="3063240" cy="256032"/>
          </a:xfrm>
          <a:prstGeom prst="rect">
            <a:avLst/>
          </a:prstGeom>
          <a:noFill/>
          <a:ln/>
        </p:spPr>
        <p:txBody>
          <a:bodyPr wrap="square" lIns="0" tIns="0" rIns="0" bIns="0" rtlCol="0" anchor="ctr"/>
          <a:lstStyle/>
          <a:p>
            <a:pPr indent="0" marL="0">
              <a:buNone/>
            </a:pPr>
            <a:r>
              <a:rPr lang="en-US" sz="1100" b="1" spc="200" kern="0" dirty="0">
                <a:solidFill>
                  <a:srgbClr val="12233C"/>
                </a:solidFill>
                <a:latin typeface="Calibri" pitchFamily="34" charset="0"/>
                <a:ea typeface="Calibri" pitchFamily="34" charset="-122"/>
                <a:cs typeface="Calibri" pitchFamily="34" charset="-120"/>
              </a:rPr>
              <a:t>DEFEND</a:t>
            </a:r>
            <a:endParaRPr lang="en-US" sz="1100" dirty="0"/>
          </a:p>
        </p:txBody>
      </p:sp>
      <p:sp>
        <p:nvSpPr>
          <p:cNvPr id="19" name="Text 17"/>
          <p:cNvSpPr txBox="1"/>
          <p:nvPr/>
        </p:nvSpPr>
        <p:spPr>
          <a:xfrm>
            <a:off x="8339328" y="2103120"/>
            <a:ext cx="3063240" cy="914400"/>
          </a:xfrm>
          <a:prstGeom prst="rect">
            <a:avLst/>
          </a:prstGeom>
          <a:noFill/>
          <a:ln/>
        </p:spPr>
        <p:txBody>
          <a:bodyPr wrap="square" lIns="0" tIns="0" rIns="0" bIns="0" rtlCol="0" anchor="ctr"/>
          <a:lstStyle/>
          <a:p>
            <a:pPr indent="0" marL="0">
              <a:lnSpc>
                <a:spcPts val="2100"/>
              </a:lnSpc>
              <a:buNone/>
            </a:pPr>
            <a:r>
              <a:rPr lang="en-US" sz="1700" b="1" dirty="0">
                <a:solidFill>
                  <a:srgbClr val="12233C"/>
                </a:solidFill>
                <a:latin typeface="Cambria" pitchFamily="34" charset="0"/>
                <a:ea typeface="Cambria" pitchFamily="34" charset="-122"/>
                <a:cs typeface="Cambria" pitchFamily="34" charset="-120"/>
              </a:rPr>
              <a:t>Protect over-$500 volume and renegotiate Orbit</a:t>
            </a:r>
            <a:endParaRPr lang="en-US" sz="1700" dirty="0"/>
          </a:p>
        </p:txBody>
      </p:sp>
      <p:sp>
        <p:nvSpPr>
          <p:cNvPr id="20" name="Text 18"/>
          <p:cNvSpPr txBox="1"/>
          <p:nvPr/>
        </p:nvSpPr>
        <p:spPr>
          <a:xfrm>
            <a:off x="8339328" y="3127248"/>
            <a:ext cx="3063240" cy="1371600"/>
          </a:xfrm>
          <a:prstGeom prst="rect">
            <a:avLst/>
          </a:prstGeom>
          <a:noFill/>
          <a:ln/>
        </p:spPr>
        <p:txBody>
          <a:bodyPr wrap="square" lIns="0" tIns="0" rIns="0" bIns="0" rtlCol="0" anchor="ctr"/>
          <a:lstStyle/>
          <a:p>
            <a:pPr indent="0" marL="0">
              <a:lnSpc>
                <a:spcPts val="1500"/>
              </a:lnSpc>
              <a:buNone/>
            </a:pPr>
            <a:r>
              <a:rPr lang="en-US" sz="1150" dirty="0">
                <a:solidFill>
                  <a:srgbClr val="4A5663"/>
                </a:solidFill>
                <a:latin typeface="Calibri" pitchFamily="34" charset="0"/>
                <a:ea typeface="Calibri" pitchFamily="34" charset="-122"/>
                <a:cs typeface="Calibri" pitchFamily="34" charset="-120"/>
              </a:rPr>
              <a:t>TRAVEL and ELECTRONICS improved their own economics while losing share. Orbit's fixed fee rose 50.6% with no repricing on our side.</a:t>
            </a:r>
            <a:endParaRPr lang="en-US" sz="1150" dirty="0"/>
          </a:p>
        </p:txBody>
      </p:sp>
      <p:sp>
        <p:nvSpPr>
          <p:cNvPr id="21" name="Shape 19"/>
          <p:cNvSpPr/>
          <p:nvPr/>
        </p:nvSpPr>
        <p:spPr>
          <a:xfrm>
            <a:off x="8339328" y="4754880"/>
            <a:ext cx="3063240" cy="749808"/>
          </a:xfrm>
          <a:prstGeom prst="roundRect">
            <a:avLst>
              <a:gd name="adj" fmla="val 6098"/>
            </a:avLst>
          </a:prstGeom>
          <a:solidFill>
            <a:srgbClr val="E8F1F1"/>
          </a:solidFill>
          <a:ln w="12700">
            <a:solidFill>
              <a:srgbClr val="E8F1F1"/>
            </a:solidFill>
            <a:prstDash val="solid"/>
          </a:ln>
        </p:spPr>
      </p:sp>
      <p:sp>
        <p:nvSpPr>
          <p:cNvPr id="22" name="Text 20"/>
          <p:cNvSpPr txBox="1"/>
          <p:nvPr/>
        </p:nvSpPr>
        <p:spPr>
          <a:xfrm>
            <a:off x="8467344" y="4828032"/>
            <a:ext cx="2807208" cy="621792"/>
          </a:xfrm>
          <a:prstGeom prst="rect">
            <a:avLst/>
          </a:prstGeom>
          <a:noFill/>
          <a:ln/>
        </p:spPr>
        <p:txBody>
          <a:bodyPr wrap="square" lIns="0" tIns="0" rIns="0" bIns="0" rtlCol="0" anchor="ctr"/>
          <a:lstStyle/>
          <a:p>
            <a:pPr indent="0" marL="0">
              <a:lnSpc>
                <a:spcPts val="1300"/>
              </a:lnSpc>
              <a:buNone/>
            </a:pPr>
            <a:r>
              <a:rPr lang="en-US" sz="1050" b="1" dirty="0">
                <a:solidFill>
                  <a:srgbClr val="0E7C7B"/>
                </a:solidFill>
                <a:latin typeface="Calibri" pitchFamily="34" charset="0"/>
                <a:ea typeface="Calibri" pitchFamily="34" charset="-122"/>
                <a:cs typeface="Calibri" pitchFamily="34" charset="-120"/>
              </a:rPr>
              <a:t>Halts the 39.3% of the decline caused by large tickets losing share</a:t>
            </a:r>
            <a:endParaRPr lang="en-US" sz="1050" dirty="0"/>
          </a:p>
        </p:txBody>
      </p:sp>
      <p:sp>
        <p:nvSpPr>
          <p:cNvPr id="23" name="Text 21"/>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What is NOT recommended: a fraud-model rollback, a chargeback programme, or a pricing renegotiation. All three were tested. None of them moves this KPI, and two of them cost money to attempt.</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8 · THE PLAN</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The next 60 days</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Five actions, each with a named owner, a success metric measurable inside the window, and the data needed to measure it.</a:t>
            </a:r>
            <a:endParaRPr lang="en-US" sz="13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64240" cy="914400"/>
        </p:xfrm>
        <a:graphic>
          <a:graphicData uri="http://schemas.openxmlformats.org/drawingml/2006/table">
            <a:tbl>
              <a:tblPr/>
              <a:tblGrid>
                <a:gridCol w="384048"/>
                <a:gridCol w="2606040"/>
                <a:gridCol w="1234440"/>
                <a:gridCol w="2148840"/>
                <a:gridCol w="2148840"/>
                <a:gridCol w="1783080"/>
                <a:gridCol w="758952"/>
              </a:tblGrid>
              <a:tr h="58521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Action</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Owner</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Expected effect</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Risk</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Success metric</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Window</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585216">
                <a:tc>
                  <a:txBody>
                    <a:bodyPr/>
                    <a:lstStyle/>
                    <a:p>
                      <a:pPr algn="ctr" indent="0" marL="0">
                        <a:buNone/>
                      </a:pPr>
                      <a:r>
                        <a:rPr lang="en-US" sz="900" b="1" dirty="0">
                          <a:solidFill>
                            <a:srgbClr val="0E7C7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Route transactions under $90 to PROV_NORTH</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Head of Payments</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~$0.30 per txn on 34% of volume</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Capacity limits at North; needs a volume commitment check first</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Cost per successful txn by ticket band</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Calibri" pitchFamily="34" charset="0"/>
                          <a:ea typeface="Calibri" pitchFamily="34" charset="-122"/>
                          <a:cs typeface="Calibri" pitchFamily="34" charset="-120"/>
                        </a:rPr>
                        <a:t>Days 1–20</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585216">
                <a:tc>
                  <a:txBody>
                    <a:bodyPr/>
                    <a:lstStyle/>
                    <a:p>
                      <a:pPr algn="ctr" indent="0" marL="0">
                        <a:buNone/>
                      </a:pPr>
                      <a:r>
                        <a:rPr lang="en-US" sz="900" b="1" dirty="0">
                          <a:solidFill>
                            <a:srgbClr val="0E7C7B"/>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Minimum per-transaction fee of $0.35 on FLAT_2_0</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CFO</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Returns the small-ticket cohort to positive</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Merchant churn among DIGITAL_GOODS SME accounts</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Contribution per txn, DIGITAL_GOODS SG and AE</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00" dirty="0">
                          <a:solidFill>
                            <a:srgbClr val="1A1A1A"/>
                          </a:solidFill>
                          <a:latin typeface="Calibri" pitchFamily="34" charset="0"/>
                          <a:ea typeface="Calibri" pitchFamily="34" charset="-122"/>
                          <a:cs typeface="Calibri" pitchFamily="34" charset="-120"/>
                        </a:rPr>
                        <a:t>Days 1–30</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585216">
                <a:tc>
                  <a:txBody>
                    <a:bodyPr/>
                    <a:lstStyle/>
                    <a:p>
                      <a:pPr algn="ctr" indent="0" marL="0">
                        <a:buNone/>
                      </a:pPr>
                      <a:r>
                        <a:rPr lang="en-US" sz="900" b="1" dirty="0">
                          <a:solidFill>
                            <a:srgbClr val="0E7C7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Renegotiate the PROV_ORBIT fixed fee</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Procurement</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Reverses the 50.6% mid-year rise, ~$0.17 per txn on Orbit volume</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Orbit may refuse; contract may have no reopener until renewal</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Fixed fee recorded in route_cost</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Calibri" pitchFamily="34" charset="0"/>
                          <a:ea typeface="Calibri" pitchFamily="34" charset="-122"/>
                          <a:cs typeface="Calibri" pitchFamily="34" charset="-120"/>
                        </a:rPr>
                        <a:t>Days 10–60</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585216">
                <a:tc>
                  <a:txBody>
                    <a:bodyPr/>
                    <a:lstStyle/>
                    <a:p>
                      <a:pPr algn="ctr" indent="0" marL="0">
                        <a:buNone/>
                      </a:pPr>
                      <a:r>
                        <a:rPr lang="en-US" sz="900" b="1" dirty="0">
                          <a:solidFill>
                            <a:srgbClr val="0E7C7B"/>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Protect large-ticket volume in TRAVEL and ELECTRONICS</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Commercial</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Halts the 39% of the decline caused by mix</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Slower headline volume growth; incentives reward count, not value</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Share of successful volume above $500</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00" dirty="0">
                          <a:solidFill>
                            <a:srgbClr val="1A1A1A"/>
                          </a:solidFill>
                          <a:latin typeface="Calibri" pitchFamily="34" charset="0"/>
                          <a:ea typeface="Calibri" pitchFamily="34" charset="-122"/>
                          <a:cs typeface="Calibri" pitchFamily="34" charset="-120"/>
                        </a:rPr>
                        <a:t>Days 15–60</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585216">
                <a:tc>
                  <a:txBody>
                    <a:bodyPr/>
                    <a:lstStyle/>
                    <a:p>
                      <a:pPr algn="ctr" indent="0" marL="0">
                        <a:buNone/>
                      </a:pPr>
                      <a:r>
                        <a:rPr lang="en-US" sz="900" b="1" dirty="0">
                          <a:solidFill>
                            <a:srgbClr val="0E7C7B"/>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Fix the wallet integration dropping merchant_id</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Data Head</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Restores attribution on 2.1% of wallet transactions</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Engineering capacity; competing roadmap items</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Missing merchant_id rate by channel</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Calibri" pitchFamily="34" charset="0"/>
                          <a:ea typeface="Calibri" pitchFamily="34" charset="-122"/>
                          <a:cs typeface="Calibri" pitchFamily="34" charset="-120"/>
                        </a:rPr>
                        <a:t>Days 20–45</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504688"/>
            <a:ext cx="11064240" cy="841248"/>
          </a:xfrm>
          <a:prstGeom prst="roundRect">
            <a:avLst>
              <a:gd name="adj" fmla="val 6522"/>
            </a:avLst>
          </a:prstGeom>
          <a:solidFill>
            <a:srgbClr val="FDF3E7"/>
          </a:solidFill>
          <a:ln w="12700">
            <a:solidFill>
              <a:srgbClr val="F2D9BB"/>
            </a:solidFill>
            <a:prstDash val="solid"/>
          </a:ln>
        </p:spPr>
      </p:sp>
      <p:sp>
        <p:nvSpPr>
          <p:cNvPr id="7" name="Text 4"/>
          <p:cNvSpPr txBox="1"/>
          <p:nvPr/>
        </p:nvSpPr>
        <p:spPr>
          <a:xfrm>
            <a:off x="822960" y="5614416"/>
            <a:ext cx="10515600" cy="658368"/>
          </a:xfrm>
          <a:prstGeom prst="rect">
            <a:avLst/>
          </a:prstGeom>
          <a:noFill/>
          <a:ln/>
        </p:spPr>
        <p:txBody>
          <a:bodyPr wrap="square" lIns="0" tIns="0" rIns="0" bIns="0" rtlCol="0" anchor="ctr"/>
          <a:lstStyle/>
          <a:p>
            <a:pPr indent="0" marL="0">
              <a:lnSpc>
                <a:spcPts val="1400"/>
              </a:lnSpc>
              <a:buNone/>
            </a:pPr>
            <a:r>
              <a:rPr lang="en-US" sz="1100" dirty="0">
                <a:solidFill>
                  <a:srgbClr val="7A4B14"/>
                </a:solidFill>
                <a:latin typeface="Calibri" pitchFamily="34" charset="0"/>
                <a:ea typeface="Calibri" pitchFamily="34" charset="-122"/>
                <a:cs typeface="Calibri" pitchFamily="34" charset="-120"/>
              </a:rPr>
              <a:t>Day-60 test: contribution per successful transaction stops falling and recovers toward $1.30, with the under-$25 cohort back above zero. If it has not moved, actions 1 and 2 were not the binding constraint and the pricing-plan analysis is re-opened. Ordering is by speed to a measurable effect, not by size — routing moves first because it needs no merchant conversation.</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233C"/>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37744"/>
          </a:xfrm>
          <a:prstGeom prst="rect">
            <a:avLst/>
          </a:prstGeom>
          <a:noFill/>
          <a:ln/>
        </p:spPr>
        <p:txBody>
          <a:bodyPr wrap="square" lIns="0" tIns="0" rIns="0" bIns="0" rtlCol="0" anchor="ctr"/>
          <a:lstStyle/>
          <a:p>
            <a:pPr indent="0" marL="0">
              <a:buNone/>
            </a:pPr>
            <a:r>
              <a:rPr lang="en-US" sz="1050" b="1" spc="200" kern="0" dirty="0">
                <a:solidFill>
                  <a:srgbClr val="F2B366"/>
                </a:solidFill>
                <a:latin typeface="Calibri" pitchFamily="34" charset="0"/>
                <a:ea typeface="Calibri" pitchFamily="34" charset="-122"/>
                <a:cs typeface="Calibri" pitchFamily="34" charset="-120"/>
              </a:rPr>
              <a:t>TASK 8 · RISK</a:t>
            </a:r>
            <a:endParaRPr lang="en-US" sz="1050" dirty="0"/>
          </a:p>
        </p:txBody>
      </p:sp>
      <p:sp>
        <p:nvSpPr>
          <p:cNvPr id="3" name="Text 1"/>
          <p:cNvSpPr txBox="1"/>
          <p:nvPr/>
        </p:nvSpPr>
        <p:spPr>
          <a:xfrm>
            <a:off x="594360" y="603504"/>
            <a:ext cx="1097280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What could make this wrong</a:t>
            </a:r>
            <a:endParaRPr lang="en-US" sz="2600" dirty="0"/>
          </a:p>
        </p:txBody>
      </p:sp>
      <p:sp>
        <p:nvSpPr>
          <p:cNvPr id="4" name="Text 2"/>
          <p:cNvSpPr txBox="1"/>
          <p:nvPr/>
        </p:nvSpPr>
        <p:spPr>
          <a:xfrm>
            <a:off x="594360" y="1115568"/>
            <a:ext cx="10972800" cy="310896"/>
          </a:xfrm>
          <a:prstGeom prst="rect">
            <a:avLst/>
          </a:prstGeom>
          <a:noFill/>
          <a:ln/>
        </p:spPr>
        <p:txBody>
          <a:bodyPr wrap="square" lIns="0" tIns="0" rIns="0" bIns="0" rtlCol="0" anchor="ctr"/>
          <a:lstStyle/>
          <a:p>
            <a:pPr indent="0" marL="0">
              <a:buNone/>
            </a:pPr>
            <a:r>
              <a:rPr lang="en-US" sz="1300" dirty="0">
                <a:solidFill>
                  <a:srgbClr val="CBD7E6"/>
                </a:solidFill>
                <a:latin typeface="Calibri" pitchFamily="34" charset="0"/>
                <a:ea typeface="Calibri" pitchFamily="34" charset="-122"/>
                <a:cs typeface="Calibri" pitchFamily="34" charset="-120"/>
              </a:rPr>
              <a:t>Four soft spots in the recommendation, and the check that would surface each one before it costs money.</a:t>
            </a:r>
            <a:endParaRPr lang="en-US" sz="1300" dirty="0"/>
          </a:p>
        </p:txBody>
      </p:sp>
      <p:sp>
        <p:nvSpPr>
          <p:cNvPr id="5" name="Shape 3"/>
          <p:cNvSpPr/>
          <p:nvPr/>
        </p:nvSpPr>
        <p:spPr>
          <a:xfrm>
            <a:off x="594360" y="1691640"/>
            <a:ext cx="5349240" cy="1993392"/>
          </a:xfrm>
          <a:prstGeom prst="roundRect">
            <a:avLst>
              <a:gd name="adj" fmla="val 2752"/>
            </a:avLst>
          </a:prstGeom>
          <a:solidFill>
            <a:srgbClr val="1B3A5F"/>
          </a:solidFill>
          <a:ln w="12700">
            <a:solidFill>
              <a:srgbClr val="2E5580"/>
            </a:solidFill>
            <a:prstDash val="solid"/>
          </a:ln>
        </p:spPr>
      </p:sp>
      <p:sp>
        <p:nvSpPr>
          <p:cNvPr id="6" name="Text 4"/>
          <p:cNvSpPr txBox="1"/>
          <p:nvPr/>
        </p:nvSpPr>
        <p:spPr>
          <a:xfrm>
            <a:off x="850392" y="1837944"/>
            <a:ext cx="4846320" cy="274320"/>
          </a:xfrm>
          <a:prstGeom prst="rect">
            <a:avLst/>
          </a:prstGeom>
          <a:noFill/>
          <a:ln/>
        </p:spPr>
        <p:txBody>
          <a:bodyPr wrap="square" lIns="0" tIns="0" rIns="0" bIns="0" rtlCol="0" anchor="ctr"/>
          <a:lstStyle/>
          <a:p>
            <a:pPr indent="0" marL="0">
              <a:buNone/>
            </a:pPr>
            <a:r>
              <a:rPr lang="en-US" sz="1300" b="1" dirty="0">
                <a:solidFill>
                  <a:srgbClr val="F2B366"/>
                </a:solidFill>
                <a:latin typeface="Calibri" pitchFamily="34" charset="0"/>
                <a:ea typeface="Calibri" pitchFamily="34" charset="-122"/>
                <a:cs typeface="Calibri" pitchFamily="34" charset="-120"/>
              </a:rPr>
              <a:t>Elasticity is unmeasured</a:t>
            </a:r>
            <a:endParaRPr lang="en-US" sz="1300" dirty="0"/>
          </a:p>
        </p:txBody>
      </p:sp>
      <p:sp>
        <p:nvSpPr>
          <p:cNvPr id="7" name="Text 5"/>
          <p:cNvSpPr txBox="1"/>
          <p:nvPr/>
        </p:nvSpPr>
        <p:spPr>
          <a:xfrm>
            <a:off x="850392" y="2167128"/>
            <a:ext cx="4846320" cy="822960"/>
          </a:xfrm>
          <a:prstGeom prst="rect">
            <a:avLst/>
          </a:prstGeom>
          <a:noFill/>
          <a:ln/>
        </p:spPr>
        <p:txBody>
          <a:bodyPr wrap="square" lIns="0" tIns="0" rIns="0" bIns="0" rtlCol="0" anchor="ctr"/>
          <a:lstStyle/>
          <a:p>
            <a:pPr indent="0" marL="0">
              <a:lnSpc>
                <a:spcPts val="1400"/>
              </a:lnSpc>
              <a:buNone/>
            </a:pPr>
            <a:r>
              <a:rPr lang="en-US" sz="1100" dirty="0">
                <a:solidFill>
                  <a:srgbClr val="CBD7E6"/>
                </a:solidFill>
                <a:latin typeface="Calibri" pitchFamily="34" charset="0"/>
                <a:ea typeface="Calibri" pitchFamily="34" charset="-122"/>
                <a:cs typeface="Calibri" pitchFamily="34" charset="-120"/>
              </a:rPr>
              <a:t>A fee floor lifts contribution per transaction. How many merchants leave when it lands is not in the data — there is no historical price change to estimate from.</a:t>
            </a:r>
            <a:endParaRPr lang="en-US" sz="1100" dirty="0"/>
          </a:p>
        </p:txBody>
      </p:sp>
      <p:sp>
        <p:nvSpPr>
          <p:cNvPr id="8" name="Text 6"/>
          <p:cNvSpPr txBox="1"/>
          <p:nvPr/>
        </p:nvSpPr>
        <p:spPr>
          <a:xfrm>
            <a:off x="850392" y="3026664"/>
            <a:ext cx="4846320" cy="548640"/>
          </a:xfrm>
          <a:prstGeom prst="rect">
            <a:avLst/>
          </a:prstGeom>
          <a:noFill/>
          <a:ln/>
        </p:spPr>
        <p:txBody>
          <a:bodyPr wrap="square" lIns="0" tIns="0" rIns="0" bIns="0" rtlCol="0" anchor="ctr"/>
          <a:lstStyle/>
          <a:p>
            <a:pPr indent="0" marL="0">
              <a:lnSpc>
                <a:spcPts val="1300"/>
              </a:lnSpc>
              <a:buNone/>
            </a:pPr>
            <a:r>
              <a:rPr lang="en-US" sz="1050" b="1" dirty="0">
                <a:solidFill>
                  <a:srgbClr val="7FD4D2"/>
                </a:solidFill>
                <a:latin typeface="Calibri" pitchFamily="34" charset="0"/>
                <a:ea typeface="Calibri" pitchFamily="34" charset="-122"/>
                <a:cs typeface="Calibri" pitchFamily="34" charset="-120"/>
              </a:rPr>
              <a:t>Launch on the top 50 merchants only; track churn weekly on FLAT_2_0 accounts before extending.</a:t>
            </a:r>
            <a:endParaRPr lang="en-US" sz="1050" dirty="0"/>
          </a:p>
        </p:txBody>
      </p:sp>
      <p:sp>
        <p:nvSpPr>
          <p:cNvPr id="9" name="Shape 7"/>
          <p:cNvSpPr/>
          <p:nvPr/>
        </p:nvSpPr>
        <p:spPr>
          <a:xfrm>
            <a:off x="6217920" y="1691640"/>
            <a:ext cx="5349240" cy="1993392"/>
          </a:xfrm>
          <a:prstGeom prst="roundRect">
            <a:avLst>
              <a:gd name="adj" fmla="val 2752"/>
            </a:avLst>
          </a:prstGeom>
          <a:solidFill>
            <a:srgbClr val="1B3A5F"/>
          </a:solidFill>
          <a:ln w="12700">
            <a:solidFill>
              <a:srgbClr val="2E5580"/>
            </a:solidFill>
            <a:prstDash val="solid"/>
          </a:ln>
        </p:spPr>
      </p:sp>
      <p:sp>
        <p:nvSpPr>
          <p:cNvPr id="10" name="Text 8"/>
          <p:cNvSpPr txBox="1"/>
          <p:nvPr/>
        </p:nvSpPr>
        <p:spPr>
          <a:xfrm>
            <a:off x="6473952" y="1837944"/>
            <a:ext cx="4846320" cy="274320"/>
          </a:xfrm>
          <a:prstGeom prst="rect">
            <a:avLst/>
          </a:prstGeom>
          <a:noFill/>
          <a:ln/>
        </p:spPr>
        <p:txBody>
          <a:bodyPr wrap="square" lIns="0" tIns="0" rIns="0" bIns="0" rtlCol="0" anchor="ctr"/>
          <a:lstStyle/>
          <a:p>
            <a:pPr indent="0" marL="0">
              <a:buNone/>
            </a:pPr>
            <a:r>
              <a:rPr lang="en-US" sz="1300" b="1" dirty="0">
                <a:solidFill>
                  <a:srgbClr val="F2B366"/>
                </a:solidFill>
                <a:latin typeface="Calibri" pitchFamily="34" charset="0"/>
                <a:ea typeface="Calibri" pitchFamily="34" charset="-122"/>
                <a:cs typeface="Calibri" pitchFamily="34" charset="-120"/>
              </a:rPr>
              <a:t>Capacity at PROV_NORTH</a:t>
            </a:r>
            <a:endParaRPr lang="en-US" sz="1300" dirty="0"/>
          </a:p>
        </p:txBody>
      </p:sp>
      <p:sp>
        <p:nvSpPr>
          <p:cNvPr id="11" name="Text 9"/>
          <p:cNvSpPr txBox="1"/>
          <p:nvPr/>
        </p:nvSpPr>
        <p:spPr>
          <a:xfrm>
            <a:off x="6473952" y="2167128"/>
            <a:ext cx="4846320" cy="822960"/>
          </a:xfrm>
          <a:prstGeom prst="rect">
            <a:avLst/>
          </a:prstGeom>
          <a:noFill/>
          <a:ln/>
        </p:spPr>
        <p:txBody>
          <a:bodyPr wrap="square" lIns="0" tIns="0" rIns="0" bIns="0" rtlCol="0" anchor="ctr"/>
          <a:lstStyle/>
          <a:p>
            <a:pPr indent="0" marL="0">
              <a:lnSpc>
                <a:spcPts val="1400"/>
              </a:lnSpc>
              <a:buNone/>
            </a:pPr>
            <a:r>
              <a:rPr lang="en-US" sz="1100" dirty="0">
                <a:solidFill>
                  <a:srgbClr val="CBD7E6"/>
                </a:solidFill>
                <a:latin typeface="Calibri" pitchFamily="34" charset="0"/>
                <a:ea typeface="Calibri" pitchFamily="34" charset="-122"/>
                <a:cs typeface="Calibri" pitchFamily="34" charset="-120"/>
              </a:rPr>
              <a:t>The routing shift assumes NORTH can absorb roughly 34% more volume at the quoted rate. Rate cards usually assume a volume band.</a:t>
            </a:r>
            <a:endParaRPr lang="en-US" sz="1100" dirty="0"/>
          </a:p>
        </p:txBody>
      </p:sp>
      <p:sp>
        <p:nvSpPr>
          <p:cNvPr id="12" name="Text 10"/>
          <p:cNvSpPr txBox="1"/>
          <p:nvPr/>
        </p:nvSpPr>
        <p:spPr>
          <a:xfrm>
            <a:off x="6473952" y="3026664"/>
            <a:ext cx="4846320" cy="548640"/>
          </a:xfrm>
          <a:prstGeom prst="rect">
            <a:avLst/>
          </a:prstGeom>
          <a:noFill/>
          <a:ln/>
        </p:spPr>
        <p:txBody>
          <a:bodyPr wrap="square" lIns="0" tIns="0" rIns="0" bIns="0" rtlCol="0" anchor="ctr"/>
          <a:lstStyle/>
          <a:p>
            <a:pPr indent="0" marL="0">
              <a:lnSpc>
                <a:spcPts val="1300"/>
              </a:lnSpc>
              <a:buNone/>
            </a:pPr>
            <a:r>
              <a:rPr lang="en-US" sz="1050" b="1" dirty="0">
                <a:solidFill>
                  <a:srgbClr val="7FD4D2"/>
                </a:solidFill>
                <a:latin typeface="Calibri" pitchFamily="34" charset="0"/>
                <a:ea typeface="Calibri" pitchFamily="34" charset="-122"/>
                <a:cs typeface="Calibri" pitchFamily="34" charset="-120"/>
              </a:rPr>
              <a:t>Confirm a volume commitment and re-quote before moving any traffic.</a:t>
            </a:r>
            <a:endParaRPr lang="en-US" sz="1050" dirty="0"/>
          </a:p>
        </p:txBody>
      </p:sp>
      <p:sp>
        <p:nvSpPr>
          <p:cNvPr id="13" name="Shape 11"/>
          <p:cNvSpPr/>
          <p:nvPr/>
        </p:nvSpPr>
        <p:spPr>
          <a:xfrm>
            <a:off x="594360" y="3886200"/>
            <a:ext cx="5349240" cy="1993392"/>
          </a:xfrm>
          <a:prstGeom prst="roundRect">
            <a:avLst>
              <a:gd name="adj" fmla="val 2752"/>
            </a:avLst>
          </a:prstGeom>
          <a:solidFill>
            <a:srgbClr val="1B3A5F"/>
          </a:solidFill>
          <a:ln w="12700">
            <a:solidFill>
              <a:srgbClr val="2E5580"/>
            </a:solidFill>
            <a:prstDash val="solid"/>
          </a:ln>
        </p:spPr>
      </p:sp>
      <p:sp>
        <p:nvSpPr>
          <p:cNvPr id="14" name="Text 12"/>
          <p:cNvSpPr txBox="1"/>
          <p:nvPr/>
        </p:nvSpPr>
        <p:spPr>
          <a:xfrm>
            <a:off x="850392" y="4032504"/>
            <a:ext cx="4846320" cy="274320"/>
          </a:xfrm>
          <a:prstGeom prst="rect">
            <a:avLst/>
          </a:prstGeom>
          <a:noFill/>
          <a:ln/>
        </p:spPr>
        <p:txBody>
          <a:bodyPr wrap="square" lIns="0" tIns="0" rIns="0" bIns="0" rtlCol="0" anchor="ctr"/>
          <a:lstStyle/>
          <a:p>
            <a:pPr indent="0" marL="0">
              <a:buNone/>
            </a:pPr>
            <a:r>
              <a:rPr lang="en-US" sz="1300" b="1" dirty="0">
                <a:solidFill>
                  <a:srgbClr val="F2B366"/>
                </a:solidFill>
                <a:latin typeface="Calibri" pitchFamily="34" charset="0"/>
                <a:ea typeface="Calibri" pitchFamily="34" charset="-122"/>
                <a:cs typeface="Calibri" pitchFamily="34" charset="-120"/>
              </a:rPr>
              <a:t>A blind spot in the data</a:t>
            </a:r>
            <a:endParaRPr lang="en-US" sz="1300" dirty="0"/>
          </a:p>
        </p:txBody>
      </p:sp>
      <p:sp>
        <p:nvSpPr>
          <p:cNvPr id="15" name="Text 13"/>
          <p:cNvSpPr txBox="1"/>
          <p:nvPr/>
        </p:nvSpPr>
        <p:spPr>
          <a:xfrm>
            <a:off x="850392" y="4361688"/>
            <a:ext cx="4846320" cy="822960"/>
          </a:xfrm>
          <a:prstGeom prst="rect">
            <a:avLst/>
          </a:prstGeom>
          <a:noFill/>
          <a:ln/>
        </p:spPr>
        <p:txBody>
          <a:bodyPr wrap="square" lIns="0" tIns="0" rIns="0" bIns="0" rtlCol="0" anchor="ctr"/>
          <a:lstStyle/>
          <a:p>
            <a:pPr indent="0" marL="0">
              <a:lnSpc>
                <a:spcPts val="1400"/>
              </a:lnSpc>
              <a:buNone/>
            </a:pPr>
            <a:r>
              <a:rPr lang="en-US" sz="1100" dirty="0">
                <a:solidFill>
                  <a:srgbClr val="CBD7E6"/>
                </a:solidFill>
                <a:latin typeface="Calibri" pitchFamily="34" charset="0"/>
                <a:ea typeface="Calibri" pitchFamily="34" charset="-122"/>
                <a:cs typeface="Calibri" pitchFamily="34" charset="-120"/>
              </a:rPr>
              <a:t>2.1% of wallet transactions carry no merchant, so cohort and merchant-level figures are computed on the remainder. Ten of 26 quality checks failed.</a:t>
            </a:r>
            <a:endParaRPr lang="en-US" sz="1100" dirty="0"/>
          </a:p>
        </p:txBody>
      </p:sp>
      <p:sp>
        <p:nvSpPr>
          <p:cNvPr id="16" name="Text 14"/>
          <p:cNvSpPr txBox="1"/>
          <p:nvPr/>
        </p:nvSpPr>
        <p:spPr>
          <a:xfrm>
            <a:off x="850392" y="5221224"/>
            <a:ext cx="4846320" cy="548640"/>
          </a:xfrm>
          <a:prstGeom prst="rect">
            <a:avLst/>
          </a:prstGeom>
          <a:noFill/>
          <a:ln/>
        </p:spPr>
        <p:txBody>
          <a:bodyPr wrap="square" lIns="0" tIns="0" rIns="0" bIns="0" rtlCol="0" anchor="ctr"/>
          <a:lstStyle/>
          <a:p>
            <a:pPr indent="0" marL="0">
              <a:lnSpc>
                <a:spcPts val="1300"/>
              </a:lnSpc>
              <a:buNone/>
            </a:pPr>
            <a:r>
              <a:rPr lang="en-US" sz="1050" b="1" dirty="0">
                <a:solidFill>
                  <a:srgbClr val="7FD4D2"/>
                </a:solidFill>
                <a:latin typeface="Calibri" pitchFamily="34" charset="0"/>
                <a:ea typeface="Calibri" pitchFamily="34" charset="-122"/>
                <a:cs typeface="Calibri" pitchFamily="34" charset="-120"/>
              </a:rPr>
              <a:t>Action 5 restores attribution; the decomposition is re-run once it lands and the numbers are restated if they move.</a:t>
            </a:r>
            <a:endParaRPr lang="en-US" sz="1050" dirty="0"/>
          </a:p>
        </p:txBody>
      </p:sp>
      <p:sp>
        <p:nvSpPr>
          <p:cNvPr id="17" name="Shape 15"/>
          <p:cNvSpPr/>
          <p:nvPr/>
        </p:nvSpPr>
        <p:spPr>
          <a:xfrm>
            <a:off x="6217920" y="3886200"/>
            <a:ext cx="5349240" cy="1993392"/>
          </a:xfrm>
          <a:prstGeom prst="roundRect">
            <a:avLst>
              <a:gd name="adj" fmla="val 2752"/>
            </a:avLst>
          </a:prstGeom>
          <a:solidFill>
            <a:srgbClr val="1B3A5F"/>
          </a:solidFill>
          <a:ln w="12700">
            <a:solidFill>
              <a:srgbClr val="2E5580"/>
            </a:solidFill>
            <a:prstDash val="solid"/>
          </a:ln>
        </p:spPr>
      </p:sp>
      <p:sp>
        <p:nvSpPr>
          <p:cNvPr id="18" name="Text 16"/>
          <p:cNvSpPr txBox="1"/>
          <p:nvPr/>
        </p:nvSpPr>
        <p:spPr>
          <a:xfrm>
            <a:off x="6473952" y="4032504"/>
            <a:ext cx="4846320" cy="274320"/>
          </a:xfrm>
          <a:prstGeom prst="rect">
            <a:avLst/>
          </a:prstGeom>
          <a:noFill/>
          <a:ln/>
        </p:spPr>
        <p:txBody>
          <a:bodyPr wrap="square" lIns="0" tIns="0" rIns="0" bIns="0" rtlCol="0" anchor="ctr"/>
          <a:lstStyle/>
          <a:p>
            <a:pPr indent="0" marL="0">
              <a:buNone/>
            </a:pPr>
            <a:r>
              <a:rPr lang="en-US" sz="1300" b="1" dirty="0">
                <a:solidFill>
                  <a:srgbClr val="F2B366"/>
                </a:solidFill>
                <a:latin typeface="Calibri" pitchFamily="34" charset="0"/>
                <a:ea typeface="Calibri" pitchFamily="34" charset="-122"/>
                <a:cs typeface="Calibri" pitchFamily="34" charset="-120"/>
              </a:rPr>
              <a:t>Causality is inferred, not tested</a:t>
            </a:r>
            <a:endParaRPr lang="en-US" sz="1300" dirty="0"/>
          </a:p>
        </p:txBody>
      </p:sp>
      <p:sp>
        <p:nvSpPr>
          <p:cNvPr id="19" name="Text 17"/>
          <p:cNvSpPr txBox="1"/>
          <p:nvPr/>
        </p:nvSpPr>
        <p:spPr>
          <a:xfrm>
            <a:off x="6473952" y="4361688"/>
            <a:ext cx="4846320" cy="822960"/>
          </a:xfrm>
          <a:prstGeom prst="rect">
            <a:avLst/>
          </a:prstGeom>
          <a:noFill/>
          <a:ln/>
        </p:spPr>
        <p:txBody>
          <a:bodyPr wrap="square" lIns="0" tIns="0" rIns="0" bIns="0" rtlCol="0" anchor="ctr"/>
          <a:lstStyle/>
          <a:p>
            <a:pPr indent="0" marL="0">
              <a:lnSpc>
                <a:spcPts val="1400"/>
              </a:lnSpc>
              <a:buNone/>
            </a:pPr>
            <a:r>
              <a:rPr lang="en-US" sz="1100" dirty="0">
                <a:solidFill>
                  <a:srgbClr val="CBD7E6"/>
                </a:solidFill>
                <a:latin typeface="Calibri" pitchFamily="34" charset="0"/>
                <a:ea typeface="Calibri" pitchFamily="34" charset="-122"/>
                <a:cs typeface="Calibri" pitchFamily="34" charset="-120"/>
              </a:rPr>
              <a:t>The decomposition is exact arithmetic on what happened, not a controlled experiment on what would happen.</a:t>
            </a:r>
            <a:endParaRPr lang="en-US" sz="1100" dirty="0"/>
          </a:p>
        </p:txBody>
      </p:sp>
      <p:sp>
        <p:nvSpPr>
          <p:cNvPr id="20" name="Text 18"/>
          <p:cNvSpPr txBox="1"/>
          <p:nvPr/>
        </p:nvSpPr>
        <p:spPr>
          <a:xfrm>
            <a:off x="6473952" y="5221224"/>
            <a:ext cx="4846320" cy="548640"/>
          </a:xfrm>
          <a:prstGeom prst="rect">
            <a:avLst/>
          </a:prstGeom>
          <a:noFill/>
          <a:ln/>
        </p:spPr>
        <p:txBody>
          <a:bodyPr wrap="square" lIns="0" tIns="0" rIns="0" bIns="0" rtlCol="0" anchor="ctr"/>
          <a:lstStyle/>
          <a:p>
            <a:pPr indent="0" marL="0">
              <a:lnSpc>
                <a:spcPts val="1300"/>
              </a:lnSpc>
              <a:buNone/>
            </a:pPr>
            <a:r>
              <a:rPr lang="en-US" sz="1050" b="1" dirty="0">
                <a:solidFill>
                  <a:srgbClr val="7FD4D2"/>
                </a:solidFill>
                <a:latin typeface="Calibri" pitchFamily="34" charset="0"/>
                <a:ea typeface="Calibri" pitchFamily="34" charset="-122"/>
                <a:cs typeface="Calibri" pitchFamily="34" charset="-120"/>
              </a:rPr>
              <a:t>Actions 1 and 2 launch on a subset so the effect is measured against a control rather than assumed.</a:t>
            </a:r>
            <a:endParaRPr lang="en-US" sz="1050" dirty="0"/>
          </a:p>
        </p:txBody>
      </p:sp>
      <p:sp>
        <p:nvSpPr>
          <p:cNvPr id="21" name="Text 19"/>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8FA6C4"/>
                </a:solidFill>
                <a:latin typeface="Calibri" pitchFamily="34" charset="0"/>
                <a:ea typeface="Calibri" pitchFamily="34" charset="-122"/>
                <a:cs typeface="Calibri" pitchFamily="34" charset="-120"/>
              </a:rPr>
              <a:t>Next data to ask for: merchant churn history, a volume-committed quote from PROV_NORTH, and provider invoices to reconcile against the rate card.</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2233C"/>
        </a:solidFill>
      </p:bgPr>
    </p:bg>
    <p:spTree>
      <p:nvGrpSpPr>
        <p:cNvPr id="1" name=""/>
        <p:cNvGrpSpPr/>
        <p:nvPr/>
      </p:nvGrpSpPr>
      <p:grpSpPr>
        <a:xfrm>
          <a:off x="0" y="0"/>
          <a:ext cx="0" cy="0"/>
          <a:chOff x="0" y="0"/>
          <a:chExt cx="0" cy="0"/>
        </a:xfrm>
      </p:grpSpPr>
      <p:sp>
        <p:nvSpPr>
          <p:cNvPr id="2" name="Text 0"/>
          <p:cNvSpPr txBox="1"/>
          <p:nvPr/>
        </p:nvSpPr>
        <p:spPr>
          <a:xfrm>
            <a:off x="731520" y="685800"/>
            <a:ext cx="7315200" cy="256032"/>
          </a:xfrm>
          <a:prstGeom prst="rect">
            <a:avLst/>
          </a:prstGeom>
          <a:noFill/>
          <a:ln/>
        </p:spPr>
        <p:txBody>
          <a:bodyPr wrap="square" lIns="0" tIns="0" rIns="0" bIns="0" rtlCol="0" anchor="ctr"/>
          <a:lstStyle/>
          <a:p>
            <a:pPr indent="0" marL="0">
              <a:buNone/>
            </a:pPr>
            <a:r>
              <a:rPr lang="en-US" sz="1100" b="1" spc="200" kern="0" dirty="0">
                <a:solidFill>
                  <a:srgbClr val="F2B366"/>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731520" y="1005840"/>
            <a:ext cx="1069848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Dilution of a high-value book, not deterioration of it</a:t>
            </a:r>
            <a:endParaRPr lang="en-US" sz="3200" dirty="0"/>
          </a:p>
        </p:txBody>
      </p:sp>
      <p:sp>
        <p:nvSpPr>
          <p:cNvPr id="4" name="Text 2"/>
          <p:cNvSpPr txBox="1"/>
          <p:nvPr/>
        </p:nvSpPr>
        <p:spPr>
          <a:xfrm>
            <a:off x="731520" y="1965960"/>
            <a:ext cx="1600200" cy="804672"/>
          </a:xfrm>
          <a:prstGeom prst="rect">
            <a:avLst/>
          </a:prstGeom>
          <a:noFill/>
          <a:ln/>
        </p:spPr>
        <p:txBody>
          <a:bodyPr wrap="square" lIns="0" tIns="0" rIns="0" bIns="0" rtlCol="0" anchor="ctr"/>
          <a:lstStyle/>
          <a:p>
            <a:pPr indent="0" marL="0">
              <a:buNone/>
            </a:pPr>
            <a:r>
              <a:rPr lang="en-US" sz="1300" b="1" dirty="0">
                <a:solidFill>
                  <a:srgbClr val="F2B366"/>
                </a:solidFill>
                <a:latin typeface="Calibri" pitchFamily="34" charset="0"/>
                <a:ea typeface="Calibri" pitchFamily="34" charset="-122"/>
                <a:cs typeface="Calibri" pitchFamily="34" charset="-120"/>
              </a:rPr>
              <a:t>Situation</a:t>
            </a:r>
            <a:endParaRPr lang="en-US" sz="1300" dirty="0"/>
          </a:p>
        </p:txBody>
      </p:sp>
      <p:sp>
        <p:nvSpPr>
          <p:cNvPr id="5" name="Text 3"/>
          <p:cNvSpPr txBox="1"/>
          <p:nvPr/>
        </p:nvSpPr>
        <p:spPr>
          <a:xfrm>
            <a:off x="2468880" y="1965960"/>
            <a:ext cx="8961120" cy="804672"/>
          </a:xfrm>
          <a:prstGeom prst="rect">
            <a:avLst/>
          </a:prstGeom>
          <a:noFill/>
          <a:ln/>
        </p:spPr>
        <p:txBody>
          <a:bodyPr wrap="square" lIns="0" tIns="0" rIns="0" bIns="0" rtlCol="0" anchor="ctr"/>
          <a:lstStyle/>
          <a:p>
            <a:pPr indent="0" marL="0">
              <a:lnSpc>
                <a:spcPts val="1650"/>
              </a:lnSpc>
              <a:buNone/>
            </a:pPr>
            <a:r>
              <a:rPr lang="en-US" sz="1200" dirty="0">
                <a:solidFill>
                  <a:srgbClr val="CBD7E6"/>
                </a:solidFill>
                <a:latin typeface="Calibri" pitchFamily="34" charset="0"/>
                <a:ea typeface="Calibri" pitchFamily="34" charset="-122"/>
                <a:cs typeface="Calibri" pitchFamily="34" charset="-120"/>
              </a:rPr>
              <a:t>Volume grew 70% across 2025, from 16,400 attempts in January to 27,903 in December. Total contribution profit grew 14%. On those two numbers the year was a success.</a:t>
            </a:r>
            <a:endParaRPr lang="en-US" sz="1200" dirty="0"/>
          </a:p>
        </p:txBody>
      </p:sp>
      <p:sp>
        <p:nvSpPr>
          <p:cNvPr id="6" name="Text 4"/>
          <p:cNvSpPr txBox="1"/>
          <p:nvPr/>
        </p:nvSpPr>
        <p:spPr>
          <a:xfrm>
            <a:off x="731520" y="2834640"/>
            <a:ext cx="1600200" cy="804672"/>
          </a:xfrm>
          <a:prstGeom prst="rect">
            <a:avLst/>
          </a:prstGeom>
          <a:noFill/>
          <a:ln/>
        </p:spPr>
        <p:txBody>
          <a:bodyPr wrap="square" lIns="0" tIns="0" rIns="0" bIns="0" rtlCol="0" anchor="ctr"/>
          <a:lstStyle/>
          <a:p>
            <a:pPr indent="0" marL="0">
              <a:buNone/>
            </a:pPr>
            <a:r>
              <a:rPr lang="en-US" sz="1300" b="1" dirty="0">
                <a:solidFill>
                  <a:srgbClr val="F2B366"/>
                </a:solidFill>
                <a:latin typeface="Calibri" pitchFamily="34" charset="0"/>
                <a:ea typeface="Calibri" pitchFamily="34" charset="-122"/>
                <a:cs typeface="Calibri" pitchFamily="34" charset="-120"/>
              </a:rPr>
              <a:t>Complication</a:t>
            </a:r>
            <a:endParaRPr lang="en-US" sz="1300" dirty="0"/>
          </a:p>
        </p:txBody>
      </p:sp>
      <p:sp>
        <p:nvSpPr>
          <p:cNvPr id="7" name="Text 5"/>
          <p:cNvSpPr txBox="1"/>
          <p:nvPr/>
        </p:nvSpPr>
        <p:spPr>
          <a:xfrm>
            <a:off x="2468880" y="2834640"/>
            <a:ext cx="8961120" cy="804672"/>
          </a:xfrm>
          <a:prstGeom prst="rect">
            <a:avLst/>
          </a:prstGeom>
          <a:noFill/>
          <a:ln/>
        </p:spPr>
        <p:txBody>
          <a:bodyPr wrap="square" lIns="0" tIns="0" rIns="0" bIns="0" rtlCol="0" anchor="ctr"/>
          <a:lstStyle/>
          <a:p>
            <a:pPr indent="0" marL="0">
              <a:lnSpc>
                <a:spcPts val="1650"/>
              </a:lnSpc>
              <a:buNone/>
            </a:pPr>
            <a:r>
              <a:rPr lang="en-US" sz="1200" dirty="0">
                <a:solidFill>
                  <a:srgbClr val="CBD7E6"/>
                </a:solidFill>
                <a:latin typeface="Calibri" pitchFamily="34" charset="0"/>
                <a:ea typeface="Calibri" pitchFamily="34" charset="-122"/>
                <a:cs typeface="Calibri" pitchFamily="34" charset="-120"/>
              </a:rPr>
              <a:t>Contribution profit per successful transaction fell 33%, from $1.620 to $1.089. Every additional transaction is now worth a third less than it was, and four stakeholders each had a different explanation — three of which were wrong.</a:t>
            </a:r>
            <a:endParaRPr lang="en-US" sz="1200" dirty="0"/>
          </a:p>
        </p:txBody>
      </p:sp>
      <p:sp>
        <p:nvSpPr>
          <p:cNvPr id="8" name="Text 6"/>
          <p:cNvSpPr txBox="1"/>
          <p:nvPr/>
        </p:nvSpPr>
        <p:spPr>
          <a:xfrm>
            <a:off x="731520" y="3703320"/>
            <a:ext cx="1600200" cy="804672"/>
          </a:xfrm>
          <a:prstGeom prst="rect">
            <a:avLst/>
          </a:prstGeom>
          <a:noFill/>
          <a:ln/>
        </p:spPr>
        <p:txBody>
          <a:bodyPr wrap="square" lIns="0" tIns="0" rIns="0" bIns="0" rtlCol="0" anchor="ctr"/>
          <a:lstStyle/>
          <a:p>
            <a:pPr indent="0" marL="0">
              <a:buNone/>
            </a:pPr>
            <a:r>
              <a:rPr lang="en-US" sz="1300" b="1" dirty="0">
                <a:solidFill>
                  <a:srgbClr val="F2B366"/>
                </a:solidFill>
                <a:latin typeface="Calibri" pitchFamily="34" charset="0"/>
                <a:ea typeface="Calibri" pitchFamily="34" charset="-122"/>
                <a:cs typeface="Calibri" pitchFamily="34" charset="-120"/>
              </a:rPr>
              <a:t>Question</a:t>
            </a:r>
            <a:endParaRPr lang="en-US" sz="1300" dirty="0"/>
          </a:p>
        </p:txBody>
      </p:sp>
      <p:sp>
        <p:nvSpPr>
          <p:cNvPr id="9" name="Text 7"/>
          <p:cNvSpPr txBox="1"/>
          <p:nvPr/>
        </p:nvSpPr>
        <p:spPr>
          <a:xfrm>
            <a:off x="2468880" y="3703320"/>
            <a:ext cx="8961120" cy="804672"/>
          </a:xfrm>
          <a:prstGeom prst="rect">
            <a:avLst/>
          </a:prstGeom>
          <a:noFill/>
          <a:ln/>
        </p:spPr>
        <p:txBody>
          <a:bodyPr wrap="square" lIns="0" tIns="0" rIns="0" bIns="0" rtlCol="0" anchor="ctr"/>
          <a:lstStyle/>
          <a:p>
            <a:pPr indent="0" marL="0">
              <a:lnSpc>
                <a:spcPts val="1650"/>
              </a:lnSpc>
              <a:buNone/>
            </a:pPr>
            <a:r>
              <a:rPr lang="en-US" sz="1200" dirty="0">
                <a:solidFill>
                  <a:srgbClr val="CBD7E6"/>
                </a:solidFill>
                <a:latin typeface="Calibri" pitchFamily="34" charset="0"/>
                <a:ea typeface="Calibri" pitchFamily="34" charset="-122"/>
                <a:cs typeface="Calibri" pitchFamily="34" charset="-120"/>
              </a:rPr>
              <a:t>Is this a performance problem or a composition problem, and what should change in the next 60 days?</a:t>
            </a:r>
            <a:endParaRPr lang="en-US" sz="1200" dirty="0"/>
          </a:p>
        </p:txBody>
      </p:sp>
      <p:sp>
        <p:nvSpPr>
          <p:cNvPr id="10" name="Text 8"/>
          <p:cNvSpPr txBox="1"/>
          <p:nvPr/>
        </p:nvSpPr>
        <p:spPr>
          <a:xfrm>
            <a:off x="731520" y="4572000"/>
            <a:ext cx="1600200" cy="1417320"/>
          </a:xfrm>
          <a:prstGeom prst="rect">
            <a:avLst/>
          </a:prstGeom>
          <a:noFill/>
          <a:ln/>
        </p:spPr>
        <p:txBody>
          <a:bodyPr wrap="square" lIns="0" tIns="0" rIns="0" bIns="0" rtlCol="0" anchor="ctr"/>
          <a:lstStyle/>
          <a:p>
            <a:pPr indent="0" marL="0">
              <a:buNone/>
            </a:pPr>
            <a:r>
              <a:rPr lang="en-US" sz="1300" b="1" dirty="0">
                <a:solidFill>
                  <a:srgbClr val="7FD4D2"/>
                </a:solidFill>
                <a:latin typeface="Calibri" pitchFamily="34" charset="0"/>
                <a:ea typeface="Calibri" pitchFamily="34" charset="-122"/>
                <a:cs typeface="Calibri" pitchFamily="34" charset="-120"/>
              </a:rPr>
              <a:t>Answer</a:t>
            </a:r>
            <a:endParaRPr lang="en-US" sz="1300" dirty="0"/>
          </a:p>
        </p:txBody>
      </p:sp>
      <p:sp>
        <p:nvSpPr>
          <p:cNvPr id="11" name="Text 9"/>
          <p:cNvSpPr txBox="1"/>
          <p:nvPr/>
        </p:nvSpPr>
        <p:spPr>
          <a:xfrm>
            <a:off x="2468880" y="4572000"/>
            <a:ext cx="8961120" cy="1417320"/>
          </a:xfrm>
          <a:prstGeom prst="rect">
            <a:avLst/>
          </a:prstGeom>
          <a:noFill/>
          <a:ln/>
        </p:spPr>
        <p:txBody>
          <a:bodyPr wrap="square" lIns="0" tIns="0" rIns="0" bIns="0" rtlCol="0" anchor="ctr"/>
          <a:lstStyle/>
          <a:p>
            <a:pPr indent="0" marL="0">
              <a:lnSpc>
                <a:spcPts val="1650"/>
              </a:lnSpc>
              <a:buNone/>
            </a:pPr>
            <a:r>
              <a:rPr lang="en-US" sz="1250" dirty="0">
                <a:solidFill>
                  <a:srgbClr val="FFFFFF"/>
                </a:solidFill>
                <a:latin typeface="Calibri" pitchFamily="34" charset="0"/>
                <a:ea typeface="Calibri" pitchFamily="34" charset="-122"/>
                <a:cs typeface="Calibri" pitchFamily="34" charset="-120"/>
              </a:rPr>
              <a:t>Composition. 88.6% of the decline is the mix of ticket sizes shifting, not any segment performing worse — three of seven cohorts improved their own economics. A $14-median digital-goods cohort went from 8.1% to 33.9% of the book while TRAVEL, ELECTRONICS and GROCERY all lost share. We then routed that cohort down a pipe priced for large tickets and let its fixed fee rise 50.6% mid-year without repricing. The fix is a fee floor, a routing rule keyed on ticket size rather than country, and a defence of large-ticket volume — all startable inside 60 days.</a:t>
            </a:r>
            <a:endParaRPr lang="en-US" sz="1250" dirty="0"/>
          </a:p>
        </p:txBody>
      </p:sp>
      <p:sp>
        <p:nvSpPr>
          <p:cNvPr id="12" name="Text 10"/>
          <p:cNvSpPr txBox="1"/>
          <p:nvPr/>
        </p:nvSpPr>
        <p:spPr>
          <a:xfrm>
            <a:off x="731520" y="5989320"/>
            <a:ext cx="10698480" cy="365760"/>
          </a:xfrm>
          <a:prstGeom prst="rect">
            <a:avLst/>
          </a:prstGeom>
          <a:noFill/>
          <a:ln/>
        </p:spPr>
        <p:txBody>
          <a:bodyPr wrap="square" lIns="0" tIns="0" rIns="0" bIns="0" rtlCol="0" anchor="ctr"/>
          <a:lstStyle/>
          <a:p>
            <a:pPr indent="0" marL="0">
              <a:buNone/>
            </a:pPr>
            <a:r>
              <a:rPr lang="en-US" sz="1250" i="1" dirty="0">
                <a:solidFill>
                  <a:srgbClr val="8FA6C4"/>
                </a:solidFill>
                <a:latin typeface="Calibri" pitchFamily="34" charset="0"/>
                <a:ea typeface="Calibri" pitchFamily="34" charset="-122"/>
                <a:cs typeface="Calibri" pitchFamily="34" charset="-120"/>
              </a:rPr>
              <a:t>Volume growth is not the same thing as value growth. This year AstraPay bought a lot of the first and sold some of the second.</a:t>
            </a:r>
            <a:endParaRPr lang="en-US" sz="12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APPENDIX</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Repository map — every number in this deck is reproducible</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Deterministic on seed 42. Regenerating the data produces byte-identical files.</a:t>
            </a:r>
            <a:endParaRPr lang="en-US" sz="13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64240" cy="914400"/>
        </p:xfrm>
        <a:graphic>
          <a:graphicData uri="http://schemas.openxmlformats.org/drawingml/2006/table">
            <a:tbl>
              <a:tblPr/>
              <a:tblGrid>
                <a:gridCol w="3200400"/>
                <a:gridCol w="6217920"/>
                <a:gridCol w="1645920"/>
              </a:tblGrid>
              <a:tr h="43891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Path</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contains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Deliverable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438912">
                <a:tc>
                  <a:txBody>
                    <a:bodyPr/>
                    <a:lstStyle/>
                    <a:p>
                      <a:pPr algn="l" indent="0" marL="0">
                        <a:buNone/>
                      </a:pPr>
                      <a:r>
                        <a:rPr lang="en-US" sz="1000" b="1" dirty="0">
                          <a:solidFill>
                            <a:srgbClr val="1A1A1A"/>
                          </a:solidFill>
                          <a:latin typeface="Courier New" pitchFamily="34" charset="0"/>
                          <a:ea typeface="Courier New" pitchFamily="34" charset="-122"/>
                          <a:cs typeface="Courier New" pitchFamily="34" charset="-120"/>
                        </a:rPr>
                        <a:t>generate_astrapay_data.py</a:t>
                      </a:r>
                      <a:endParaRPr lang="en-US" sz="10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Synthetic data generator. Two strictly separated passes: generate_clean() then corrupt()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38912">
                <a:tc>
                  <a:txBody>
                    <a:bodyPr/>
                    <a:lstStyle/>
                    <a:p>
                      <a:pPr algn="l" indent="0" marL="0">
                        <a:buNone/>
                      </a:pPr>
                      <a:r>
                        <a:rPr lang="en-US" sz="1000" b="1" dirty="0">
                          <a:solidFill>
                            <a:srgbClr val="1A1A1A"/>
                          </a:solidFill>
                          <a:latin typeface="Courier New" pitchFamily="34" charset="0"/>
                          <a:ea typeface="Courier New" pitchFamily="34" charset="-122"/>
                          <a:cs typeface="Courier New" pitchFamily="34" charset="-120"/>
                        </a:rPr>
                        <a:t>01_problem_framing/</a:t>
                      </a:r>
                      <a:endParaRPr lang="en-US" sz="10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SMART statement, KPI definitions, MECE hypothesis tree, scope and assumptions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01 .docx</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38912">
                <a:tc>
                  <a:txBody>
                    <a:bodyPr/>
                    <a:lstStyle/>
                    <a:p>
                      <a:pPr algn="l" indent="0" marL="0">
                        <a:buNone/>
                      </a:pPr>
                      <a:r>
                        <a:rPr lang="en-US" sz="1000" b="1" dirty="0">
                          <a:solidFill>
                            <a:srgbClr val="1A1A1A"/>
                          </a:solidFill>
                          <a:latin typeface="Courier New" pitchFamily="34" charset="0"/>
                          <a:ea typeface="Courier New" pitchFamily="34" charset="-122"/>
                          <a:cs typeface="Courier New" pitchFamily="34" charset="-120"/>
                        </a:rPr>
                        <a:t>02_data_contract/</a:t>
                      </a:r>
                      <a:endParaRPr lang="en-US" sz="10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Dataset contract, join risk register, KPI date basis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02 .xlsx</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38912">
                <a:tc>
                  <a:txBody>
                    <a:bodyPr/>
                    <a:lstStyle/>
                    <a:p>
                      <a:pPr algn="l" indent="0" marL="0">
                        <a:buNone/>
                      </a:pPr>
                      <a:r>
                        <a:rPr lang="en-US" sz="1000" b="1" dirty="0">
                          <a:solidFill>
                            <a:srgbClr val="1A1A1A"/>
                          </a:solidFill>
                          <a:latin typeface="Courier New" pitchFamily="34" charset="0"/>
                          <a:ea typeface="Courier New" pitchFamily="34" charset="-122"/>
                          <a:cs typeface="Courier New" pitchFamily="34" charset="-120"/>
                        </a:rPr>
                        <a:t>03_dq_investigation/</a:t>
                      </a:r>
                      <a:endParaRPr lang="en-US" sz="10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dq_core.py and the notebook. 26 checks, detail sheets, evidence rows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03 .ipynb + .xlsx</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38912">
                <a:tc>
                  <a:txBody>
                    <a:bodyPr/>
                    <a:lstStyle/>
                    <a:p>
                      <a:pPr algn="l" indent="0" marL="0">
                        <a:buNone/>
                      </a:pPr>
                      <a:r>
                        <a:rPr lang="en-US" sz="1000" b="1" dirty="0">
                          <a:solidFill>
                            <a:srgbClr val="1A1A1A"/>
                          </a:solidFill>
                          <a:latin typeface="Courier New" pitchFamily="34" charset="0"/>
                          <a:ea typeface="Courier New" pitchFamily="34" charset="-122"/>
                          <a:cs typeface="Courier New" pitchFamily="34" charset="-120"/>
                        </a:rPr>
                        <a:t>04_profitability_model/</a:t>
                      </a:r>
                      <a:endParaRPr lang="en-US" sz="10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t4_core.py. Staging, star schema build, fact table, validation checks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04 .ipynb</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38912">
                <a:tc>
                  <a:txBody>
                    <a:bodyPr/>
                    <a:lstStyle/>
                    <a:p>
                      <a:pPr algn="l" indent="0" marL="0">
                        <a:buNone/>
                      </a:pPr>
                      <a:r>
                        <a:rPr lang="en-US" sz="1000" b="1" dirty="0">
                          <a:solidFill>
                            <a:srgbClr val="1A1A1A"/>
                          </a:solidFill>
                          <a:latin typeface="Courier New" pitchFamily="34" charset="0"/>
                          <a:ea typeface="Courier New" pitchFamily="34" charset="-122"/>
                          <a:cs typeface="Courier New" pitchFamily="34" charset="-120"/>
                        </a:rPr>
                        <a:t>05_root_cause_investigation/</a:t>
                      </a:r>
                      <a:endParaRPr lang="en-US" sz="10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t5_core.py. Decomposition across nine dimensions, 14 output sheets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05 .ipynb + .xlsx</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38912">
                <a:tc>
                  <a:txBody>
                    <a:bodyPr/>
                    <a:lstStyle/>
                    <a:p>
                      <a:pPr algn="l" indent="0" marL="0">
                        <a:buNone/>
                      </a:pPr>
                      <a:r>
                        <a:rPr lang="en-US" sz="1000" b="1" dirty="0">
                          <a:solidFill>
                            <a:srgbClr val="1A1A1A"/>
                          </a:solidFill>
                          <a:latin typeface="Courier New" pitchFamily="34" charset="0"/>
                          <a:ea typeface="Courier New" pitchFamily="34" charset="-122"/>
                          <a:cs typeface="Courier New" pitchFamily="34" charset="-120"/>
                        </a:rPr>
                        <a:t>06_operational_diagnosis/</a:t>
                      </a:r>
                      <a:endParaRPr lang="en-US" sz="10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t6_core.py. Six hypothesis tests and the verdict table, 14 sheets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06 .ipynb + .xlsx</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38912">
                <a:tc>
                  <a:txBody>
                    <a:bodyPr/>
                    <a:lstStyle/>
                    <a:p>
                      <a:pPr algn="l" indent="0" marL="0">
                        <a:buNone/>
                      </a:pPr>
                      <a:r>
                        <a:rPr lang="en-US" sz="1000" b="1" dirty="0">
                          <a:solidFill>
                            <a:srgbClr val="1A1A1A"/>
                          </a:solidFill>
                          <a:latin typeface="Courier New" pitchFamily="34" charset="0"/>
                          <a:ea typeface="Courier New" pitchFamily="34" charset="-122"/>
                          <a:cs typeface="Courier New" pitchFamily="34" charset="-120"/>
                        </a:rPr>
                        <a:t>07_executive_recommendation/</a:t>
                      </a:r>
                      <a:endParaRPr lang="en-US" sz="10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Power BI file, design notes, this deck, bridge.csv, actions_60day.csv</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07 .pptx + .pbix</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38912">
                <a:tc>
                  <a:txBody>
                    <a:bodyPr/>
                    <a:lstStyle/>
                    <a:p>
                      <a:pPr algn="l" indent="0" marL="0">
                        <a:buNone/>
                      </a:pPr>
                      <a:r>
                        <a:rPr lang="en-US" sz="1000" b="1" dirty="0">
                          <a:solidFill>
                            <a:srgbClr val="1A1A1A"/>
                          </a:solidFill>
                          <a:latin typeface="Courier New" pitchFamily="34" charset="0"/>
                          <a:ea typeface="Courier New" pitchFamily="34" charset="-122"/>
                          <a:cs typeface="Courier New" pitchFamily="34" charset="-120"/>
                        </a:rPr>
                        <a:t>NOT COMMITTED</a:t>
                      </a:r>
                      <a:endParaRPr lang="en-US" sz="10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data/ (135 MB), model_output/, powerbi_model/, truth_manifest.md, **/_answer_key/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A33D3D"/>
                          </a:solidFill>
                          <a:latin typeface="Calibri" pitchFamily="34" charset="0"/>
                          <a:ea typeface="Calibri" pitchFamily="34" charset="-122"/>
                          <a:cs typeface="Calibri" pitchFamily="34" charset="-120"/>
                        </a:rPr>
                        <a:t>gitignored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truth_manifest.md is the generator's answer key. It is deliberately excluded from the submission — committing it would hand the reader the answers to Tasks 5 and 6 and make the analysis unverifiable as independent work.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AstraPay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AstraPay - Payment Profitability, Data Trust &amp; Executive Decision</dc:title>
  <dc:subject>PptxGenJS Presentation</dc:subject>
  <dc:creator>Junaid Mustafa</dc:creator>
  <cp:lastModifiedBy>Junaid Mustafa</cp:lastModifiedBy>
  <cp:revision>1</cp:revision>
  <dcterms:created xsi:type="dcterms:W3CDTF">2026-09-16T04:24:19Z</dcterms:created>
  <dcterms:modified xsi:type="dcterms:W3CDTF">2026-09-16T04:24:19Z</dcterms:modified>
</cp:coreProperties>
</file>